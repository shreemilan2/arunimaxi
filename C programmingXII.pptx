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7" r:id="rId2"/>
    <p:sldId id="263" r:id="rId3"/>
    <p:sldId id="264" r:id="rId4"/>
    <p:sldId id="256" r:id="rId5"/>
    <p:sldId id="258" r:id="rId6"/>
    <p:sldId id="260" r:id="rId7"/>
    <p:sldId id="259" r:id="rId8"/>
    <p:sldId id="261" r:id="rId9"/>
    <p:sldId id="262" r:id="rId10"/>
    <p:sldId id="265" r:id="rId11"/>
    <p:sldId id="266" r:id="rId12"/>
    <p:sldId id="267" r:id="rId13"/>
    <p:sldId id="268" r:id="rId14"/>
    <p:sldId id="269" r:id="rId15"/>
    <p:sldId id="270" r:id="rId16"/>
    <p:sldId id="272" r:id="rId17"/>
    <p:sldId id="275" r:id="rId18"/>
    <p:sldId id="273" r:id="rId19"/>
    <p:sldId id="274" r:id="rId20"/>
    <p:sldId id="276" r:id="rId21"/>
    <p:sldId id="277" r:id="rId22"/>
    <p:sldId id="278" r:id="rId23"/>
    <p:sldId id="279" r:id="rId24"/>
    <p:sldId id="280" r:id="rId25"/>
    <p:sldId id="282" r:id="rId26"/>
    <p:sldId id="281" r:id="rId27"/>
    <p:sldId id="283" r:id="rId28"/>
    <p:sldId id="284" r:id="rId29"/>
    <p:sldId id="285" r:id="rId30"/>
    <p:sldId id="286" r:id="rId31"/>
    <p:sldId id="287" r:id="rId32"/>
    <p:sldId id="288" r:id="rId33"/>
    <p:sldId id="291" r:id="rId34"/>
    <p:sldId id="290" r:id="rId35"/>
    <p:sldId id="292" r:id="rId36"/>
    <p:sldId id="294" r:id="rId37"/>
    <p:sldId id="293" r:id="rId38"/>
    <p:sldId id="295" r:id="rId39"/>
    <p:sldId id="298" r:id="rId40"/>
    <p:sldId id="296" r:id="rId41"/>
    <p:sldId id="297" r:id="rId42"/>
    <p:sldId id="305" r:id="rId43"/>
    <p:sldId id="300" r:id="rId44"/>
    <p:sldId id="299" r:id="rId45"/>
    <p:sldId id="310" r:id="rId46"/>
    <p:sldId id="311" r:id="rId47"/>
    <p:sldId id="303" r:id="rId48"/>
    <p:sldId id="304" r:id="rId49"/>
    <p:sldId id="306" r:id="rId50"/>
    <p:sldId id="307" r:id="rId51"/>
    <p:sldId id="308" r:id="rId52"/>
    <p:sldId id="312" r:id="rId53"/>
    <p:sldId id="313" r:id="rId54"/>
    <p:sldId id="314" r:id="rId55"/>
    <p:sldId id="318" r:id="rId56"/>
    <p:sldId id="319" r:id="rId57"/>
    <p:sldId id="320" r:id="rId58"/>
    <p:sldId id="321" r:id="rId59"/>
    <p:sldId id="322" r:id="rId60"/>
    <p:sldId id="323" r:id="rId61"/>
    <p:sldId id="324" r:id="rId62"/>
    <p:sldId id="326" r:id="rId63"/>
    <p:sldId id="327" r:id="rId64"/>
    <p:sldId id="328" r:id="rId65"/>
    <p:sldId id="329" r:id="rId66"/>
    <p:sldId id="325" r:id="rId67"/>
    <p:sldId id="330" r:id="rId68"/>
    <p:sldId id="331" r:id="rId69"/>
    <p:sldId id="346" r:id="rId70"/>
    <p:sldId id="332" r:id="rId71"/>
    <p:sldId id="333" r:id="rId72"/>
    <p:sldId id="334" r:id="rId73"/>
    <p:sldId id="335" r:id="rId74"/>
    <p:sldId id="336" r:id="rId75"/>
    <p:sldId id="337" r:id="rId76"/>
    <p:sldId id="338" r:id="rId77"/>
    <p:sldId id="339" r:id="rId78"/>
    <p:sldId id="340" r:id="rId79"/>
    <p:sldId id="341" r:id="rId80"/>
    <p:sldId id="347" r:id="rId81"/>
    <p:sldId id="342" r:id="rId82"/>
    <p:sldId id="348" r:id="rId83"/>
    <p:sldId id="343" r:id="rId84"/>
    <p:sldId id="350" r:id="rId85"/>
    <p:sldId id="351" r:id="rId86"/>
    <p:sldId id="352" r:id="rId87"/>
    <p:sldId id="353" r:id="rId88"/>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57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9"/>
    <p:restoredTop sz="93732"/>
  </p:normalViewPr>
  <p:slideViewPr>
    <p:cSldViewPr snapToGrid="0">
      <p:cViewPr varScale="1">
        <p:scale>
          <a:sx n="115" d="100"/>
          <a:sy n="115" d="100"/>
        </p:scale>
        <p:origin x="264" y="20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38.159"/>
    </inkml:context>
    <inkml:brush xml:id="br0">
      <inkml:brushProperty name="width" value="0.025" units="cm"/>
      <inkml:brushProperty name="height" value="0.15" units="cm"/>
      <inkml:brushProperty name="inkEffects" value="pencil"/>
    </inkml:brush>
  </inkml:definitions>
  <inkml:trace contextRef="#ctx0" brushRef="#br0">1 1 16383,'0'0'0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6.469"/>
    </inkml:context>
    <inkml:brush xml:id="br0">
      <inkml:brushProperty name="width" value="0.05" units="cm"/>
      <inkml:brushProperty name="height" value="0.3" units="cm"/>
      <inkml:brushProperty name="inkEffects" value="pencil"/>
    </inkml:brush>
  </inkml:definitions>
  <inkml:trace contextRef="#ctx0" brushRef="#br0">1 1 16383,'0'0'0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7.884"/>
    </inkml:context>
    <inkml:brush xml:id="br0">
      <inkml:brushProperty name="width" value="0.05" units="cm"/>
      <inkml:brushProperty name="height" value="0.3" units="cm"/>
      <inkml:brushProperty name="inkEffects" value="pencil"/>
    </inkml:brush>
  </inkml:definitions>
  <inkml:trace contextRef="#ctx0" brushRef="#br0">17 96 16383,'-8'-12'0,"4"-10"0,0-4 0,4 6 0,0 4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1:48.535"/>
    </inkml:context>
    <inkml:brush xml:id="br0">
      <inkml:brushProperty name="width" value="0.05" units="cm"/>
      <inkml:brushProperty name="height" value="0.3" units="cm"/>
      <inkml:brushProperty name="inkEffects" value="pencil"/>
    </inkml:brush>
  </inkml:definitions>
  <inkml:trace contextRef="#ctx0" brushRef="#br0">1 0 16383,'0'0'0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3T02:22:01.815"/>
    </inkml:context>
    <inkml:brush xml:id="br0">
      <inkml:brushProperty name="width" value="0.035" units="cm"/>
      <inkml:brushProperty name="height" value="0.035" units="cm"/>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FE81C-1908-1F49-BA4C-5892D72ED2F1}" type="datetimeFigureOut">
              <a:rPr lang="en-NP" smtClean="0"/>
              <a:t>04/11/2025</a:t>
            </a:fld>
            <a:endParaRPr lang="en-N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514827-F661-2644-BFD7-D4DA40C75B3F}" type="slidenum">
              <a:rPr lang="en-NP" smtClean="0"/>
              <a:t>‹#›</a:t>
            </a:fld>
            <a:endParaRPr lang="en-NP"/>
          </a:p>
        </p:txBody>
      </p:sp>
    </p:spTree>
    <p:extLst>
      <p:ext uri="{BB962C8B-B14F-4D97-AF65-F5344CB8AC3E}">
        <p14:creationId xmlns:p14="http://schemas.microsoft.com/office/powerpoint/2010/main" val="2008192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a:p>
        </p:txBody>
      </p:sp>
      <p:sp>
        <p:nvSpPr>
          <p:cNvPr id="4" name="Slide Number Placeholder 3"/>
          <p:cNvSpPr>
            <a:spLocks noGrp="1"/>
          </p:cNvSpPr>
          <p:nvPr>
            <p:ph type="sldNum" sz="quarter" idx="5"/>
          </p:nvPr>
        </p:nvSpPr>
        <p:spPr/>
        <p:txBody>
          <a:bodyPr/>
          <a:lstStyle/>
          <a:p>
            <a:fld id="{37514827-F661-2644-BFD7-D4DA40C75B3F}" type="slidenum">
              <a:rPr lang="en-NP" smtClean="0"/>
              <a:t>5</a:t>
            </a:fld>
            <a:endParaRPr lang="en-NP"/>
          </a:p>
        </p:txBody>
      </p:sp>
    </p:spTree>
    <p:extLst>
      <p:ext uri="{BB962C8B-B14F-4D97-AF65-F5344CB8AC3E}">
        <p14:creationId xmlns:p14="http://schemas.microsoft.com/office/powerpoint/2010/main" val="2896845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26</a:t>
            </a:fld>
            <a:endParaRPr lang="en-NP"/>
          </a:p>
        </p:txBody>
      </p:sp>
    </p:spTree>
    <p:extLst>
      <p:ext uri="{BB962C8B-B14F-4D97-AF65-F5344CB8AC3E}">
        <p14:creationId xmlns:p14="http://schemas.microsoft.com/office/powerpoint/2010/main" val="1939640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35</a:t>
            </a:fld>
            <a:endParaRPr lang="en-NP"/>
          </a:p>
        </p:txBody>
      </p:sp>
    </p:spTree>
    <p:extLst>
      <p:ext uri="{BB962C8B-B14F-4D97-AF65-F5344CB8AC3E}">
        <p14:creationId xmlns:p14="http://schemas.microsoft.com/office/powerpoint/2010/main" val="791021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18F36-E30D-871A-A6D3-9F8402D3B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95D4F-E1EB-8F75-2268-9BE4536C4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5790A-8FB1-4404-0A59-D9DA07B598A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3F47CD0C-11CC-0F7C-8801-D8EF4E0AD93A}"/>
              </a:ext>
            </a:extLst>
          </p:cNvPr>
          <p:cNvSpPr>
            <a:spLocks noGrp="1"/>
          </p:cNvSpPr>
          <p:nvPr>
            <p:ph type="sldNum" sz="quarter" idx="5"/>
          </p:nvPr>
        </p:nvSpPr>
        <p:spPr/>
        <p:txBody>
          <a:bodyPr/>
          <a:lstStyle/>
          <a:p>
            <a:fld id="{37514827-F661-2644-BFD7-D4DA40C75B3F}" type="slidenum">
              <a:rPr lang="en-NP" smtClean="0"/>
              <a:t>36</a:t>
            </a:fld>
            <a:endParaRPr lang="en-NP"/>
          </a:p>
        </p:txBody>
      </p:sp>
    </p:spTree>
    <p:extLst>
      <p:ext uri="{BB962C8B-B14F-4D97-AF65-F5344CB8AC3E}">
        <p14:creationId xmlns:p14="http://schemas.microsoft.com/office/powerpoint/2010/main" val="1345962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40</a:t>
            </a:fld>
            <a:endParaRPr lang="en-NP"/>
          </a:p>
        </p:txBody>
      </p:sp>
    </p:spTree>
    <p:extLst>
      <p:ext uri="{BB962C8B-B14F-4D97-AF65-F5344CB8AC3E}">
        <p14:creationId xmlns:p14="http://schemas.microsoft.com/office/powerpoint/2010/main" val="583143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41</a:t>
            </a:fld>
            <a:endParaRPr lang="en-NP"/>
          </a:p>
        </p:txBody>
      </p:sp>
    </p:spTree>
    <p:extLst>
      <p:ext uri="{BB962C8B-B14F-4D97-AF65-F5344CB8AC3E}">
        <p14:creationId xmlns:p14="http://schemas.microsoft.com/office/powerpoint/2010/main" val="289400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473BF-EB40-EC61-EAF5-3E99C913E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4C1C1-C3A8-F031-6D5F-CD7C1551D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80D6C-8BE1-B660-C3E7-9113049B0D04}"/>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EF0E0DCA-4D52-F18D-CBE6-9C87B6E69B27}"/>
              </a:ext>
            </a:extLst>
          </p:cNvPr>
          <p:cNvSpPr>
            <a:spLocks noGrp="1"/>
          </p:cNvSpPr>
          <p:nvPr>
            <p:ph type="sldNum" sz="quarter" idx="5"/>
          </p:nvPr>
        </p:nvSpPr>
        <p:spPr/>
        <p:txBody>
          <a:bodyPr/>
          <a:lstStyle/>
          <a:p>
            <a:fld id="{37514827-F661-2644-BFD7-D4DA40C75B3F}" type="slidenum">
              <a:rPr lang="en-NP" smtClean="0"/>
              <a:t>43</a:t>
            </a:fld>
            <a:endParaRPr lang="en-NP"/>
          </a:p>
        </p:txBody>
      </p:sp>
    </p:spTree>
    <p:extLst>
      <p:ext uri="{BB962C8B-B14F-4D97-AF65-F5344CB8AC3E}">
        <p14:creationId xmlns:p14="http://schemas.microsoft.com/office/powerpoint/2010/main" val="547321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44</a:t>
            </a:fld>
            <a:endParaRPr lang="en-NP"/>
          </a:p>
        </p:txBody>
      </p:sp>
    </p:spTree>
    <p:extLst>
      <p:ext uri="{BB962C8B-B14F-4D97-AF65-F5344CB8AC3E}">
        <p14:creationId xmlns:p14="http://schemas.microsoft.com/office/powerpoint/2010/main" val="242294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5247-30CA-B291-7423-951B9B2F8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CA57C-BF0B-4311-BEB7-906E25EB5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18ED1A-D125-A54E-F302-F1B175DA9F9B}"/>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29F82F7D-91BE-67A8-ED34-575E4F9AD453}"/>
              </a:ext>
            </a:extLst>
          </p:cNvPr>
          <p:cNvSpPr>
            <a:spLocks noGrp="1"/>
          </p:cNvSpPr>
          <p:nvPr>
            <p:ph type="sldNum" sz="quarter" idx="5"/>
          </p:nvPr>
        </p:nvSpPr>
        <p:spPr/>
        <p:txBody>
          <a:bodyPr/>
          <a:lstStyle/>
          <a:p>
            <a:fld id="{37514827-F661-2644-BFD7-D4DA40C75B3F}" type="slidenum">
              <a:rPr lang="en-NP" smtClean="0"/>
              <a:t>45</a:t>
            </a:fld>
            <a:endParaRPr lang="en-NP"/>
          </a:p>
        </p:txBody>
      </p:sp>
    </p:spTree>
    <p:extLst>
      <p:ext uri="{BB962C8B-B14F-4D97-AF65-F5344CB8AC3E}">
        <p14:creationId xmlns:p14="http://schemas.microsoft.com/office/powerpoint/2010/main" val="3602022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D5AB2-DD79-CD63-9E15-73C52B77F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C90181-C09C-CB99-00E0-73C43B5EF8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B41E78-4E5D-FAB3-BD48-62DD9C100CA2}"/>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0C644A4F-B466-8843-450B-1BAF3CD38F1D}"/>
              </a:ext>
            </a:extLst>
          </p:cNvPr>
          <p:cNvSpPr>
            <a:spLocks noGrp="1"/>
          </p:cNvSpPr>
          <p:nvPr>
            <p:ph type="sldNum" sz="quarter" idx="5"/>
          </p:nvPr>
        </p:nvSpPr>
        <p:spPr/>
        <p:txBody>
          <a:bodyPr/>
          <a:lstStyle/>
          <a:p>
            <a:fld id="{37514827-F661-2644-BFD7-D4DA40C75B3F}" type="slidenum">
              <a:rPr lang="en-NP" smtClean="0"/>
              <a:t>46</a:t>
            </a:fld>
            <a:endParaRPr lang="en-NP"/>
          </a:p>
        </p:txBody>
      </p:sp>
    </p:spTree>
    <p:extLst>
      <p:ext uri="{BB962C8B-B14F-4D97-AF65-F5344CB8AC3E}">
        <p14:creationId xmlns:p14="http://schemas.microsoft.com/office/powerpoint/2010/main" val="4081926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4AAD-FEF2-11CE-EFE9-211575F01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2CFC0-5613-F34B-2F6C-D5B89ED59C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BD12F-9FAD-0990-CB65-DD3348854C4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FF9FB579-0584-B87F-C418-E19CB49D2F25}"/>
              </a:ext>
            </a:extLst>
          </p:cNvPr>
          <p:cNvSpPr>
            <a:spLocks noGrp="1"/>
          </p:cNvSpPr>
          <p:nvPr>
            <p:ph type="sldNum" sz="quarter" idx="5"/>
          </p:nvPr>
        </p:nvSpPr>
        <p:spPr/>
        <p:txBody>
          <a:bodyPr/>
          <a:lstStyle/>
          <a:p>
            <a:fld id="{37514827-F661-2644-BFD7-D4DA40C75B3F}" type="slidenum">
              <a:rPr lang="en-NP" smtClean="0"/>
              <a:t>47</a:t>
            </a:fld>
            <a:endParaRPr lang="en-NP"/>
          </a:p>
        </p:txBody>
      </p:sp>
    </p:spTree>
    <p:extLst>
      <p:ext uri="{BB962C8B-B14F-4D97-AF65-F5344CB8AC3E}">
        <p14:creationId xmlns:p14="http://schemas.microsoft.com/office/powerpoint/2010/main" val="2804597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48</a:t>
            </a:fld>
            <a:endParaRPr lang="en-NP"/>
          </a:p>
        </p:txBody>
      </p:sp>
    </p:spTree>
    <p:extLst>
      <p:ext uri="{BB962C8B-B14F-4D97-AF65-F5344CB8AC3E}">
        <p14:creationId xmlns:p14="http://schemas.microsoft.com/office/powerpoint/2010/main" val="1604639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49</a:t>
            </a:fld>
            <a:endParaRPr lang="en-NP"/>
          </a:p>
        </p:txBody>
      </p:sp>
    </p:spTree>
    <p:extLst>
      <p:ext uri="{BB962C8B-B14F-4D97-AF65-F5344CB8AC3E}">
        <p14:creationId xmlns:p14="http://schemas.microsoft.com/office/powerpoint/2010/main" val="221315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50</a:t>
            </a:fld>
            <a:endParaRPr lang="en-NP"/>
          </a:p>
        </p:txBody>
      </p:sp>
    </p:spTree>
    <p:extLst>
      <p:ext uri="{BB962C8B-B14F-4D97-AF65-F5344CB8AC3E}">
        <p14:creationId xmlns:p14="http://schemas.microsoft.com/office/powerpoint/2010/main" val="4254833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51</a:t>
            </a:fld>
            <a:endParaRPr lang="en-NP"/>
          </a:p>
        </p:txBody>
      </p:sp>
    </p:spTree>
    <p:extLst>
      <p:ext uri="{BB962C8B-B14F-4D97-AF65-F5344CB8AC3E}">
        <p14:creationId xmlns:p14="http://schemas.microsoft.com/office/powerpoint/2010/main" val="4243556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0806-C78C-4E97-497D-DC7AF5956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29A4D8-58F2-31EB-9EAF-E8C64FA45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AE483-0A12-EFE2-EBF9-6D26302D3B6C}"/>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3F0FFD11-A6D6-5E47-A688-D197856937F1}"/>
              </a:ext>
            </a:extLst>
          </p:cNvPr>
          <p:cNvSpPr>
            <a:spLocks noGrp="1"/>
          </p:cNvSpPr>
          <p:nvPr>
            <p:ph type="sldNum" sz="quarter" idx="5"/>
          </p:nvPr>
        </p:nvSpPr>
        <p:spPr/>
        <p:txBody>
          <a:bodyPr/>
          <a:lstStyle/>
          <a:p>
            <a:fld id="{37514827-F661-2644-BFD7-D4DA40C75B3F}" type="slidenum">
              <a:rPr lang="en-NP" smtClean="0"/>
              <a:t>52</a:t>
            </a:fld>
            <a:endParaRPr lang="en-NP"/>
          </a:p>
        </p:txBody>
      </p:sp>
    </p:spTree>
    <p:extLst>
      <p:ext uri="{BB962C8B-B14F-4D97-AF65-F5344CB8AC3E}">
        <p14:creationId xmlns:p14="http://schemas.microsoft.com/office/powerpoint/2010/main" val="1830832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996B-EC18-1ABC-7AE5-2F3A9D358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B6C9-63FA-E960-61D3-48F961631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F4194C-B179-C79B-6297-F46E2C4945A4}"/>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D3F193DE-38B5-1539-F94C-E3F979352320}"/>
              </a:ext>
            </a:extLst>
          </p:cNvPr>
          <p:cNvSpPr>
            <a:spLocks noGrp="1"/>
          </p:cNvSpPr>
          <p:nvPr>
            <p:ph type="sldNum" sz="quarter" idx="5"/>
          </p:nvPr>
        </p:nvSpPr>
        <p:spPr/>
        <p:txBody>
          <a:bodyPr/>
          <a:lstStyle/>
          <a:p>
            <a:fld id="{37514827-F661-2644-BFD7-D4DA40C75B3F}" type="slidenum">
              <a:rPr lang="en-NP" smtClean="0"/>
              <a:t>53</a:t>
            </a:fld>
            <a:endParaRPr lang="en-NP"/>
          </a:p>
        </p:txBody>
      </p:sp>
    </p:spTree>
    <p:extLst>
      <p:ext uri="{BB962C8B-B14F-4D97-AF65-F5344CB8AC3E}">
        <p14:creationId xmlns:p14="http://schemas.microsoft.com/office/powerpoint/2010/main" val="3138833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7B51-9BB4-0894-977F-41FAB45B7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0CC87-560A-3181-F09B-5700313789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F76FB-4D56-9E9F-5A97-B9F042A15247}"/>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9A89860C-949A-EF08-824A-29E1FE1DC07E}"/>
              </a:ext>
            </a:extLst>
          </p:cNvPr>
          <p:cNvSpPr>
            <a:spLocks noGrp="1"/>
          </p:cNvSpPr>
          <p:nvPr>
            <p:ph type="sldNum" sz="quarter" idx="5"/>
          </p:nvPr>
        </p:nvSpPr>
        <p:spPr/>
        <p:txBody>
          <a:bodyPr/>
          <a:lstStyle/>
          <a:p>
            <a:fld id="{37514827-F661-2644-BFD7-D4DA40C75B3F}" type="slidenum">
              <a:rPr lang="en-NP" smtClean="0"/>
              <a:t>54</a:t>
            </a:fld>
            <a:endParaRPr lang="en-NP"/>
          </a:p>
        </p:txBody>
      </p:sp>
    </p:spTree>
    <p:extLst>
      <p:ext uri="{BB962C8B-B14F-4D97-AF65-F5344CB8AC3E}">
        <p14:creationId xmlns:p14="http://schemas.microsoft.com/office/powerpoint/2010/main" val="815321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P" dirty="0"/>
          </a:p>
        </p:txBody>
      </p:sp>
      <p:sp>
        <p:nvSpPr>
          <p:cNvPr id="4" name="Slide Number Placeholder 3"/>
          <p:cNvSpPr>
            <a:spLocks noGrp="1"/>
          </p:cNvSpPr>
          <p:nvPr>
            <p:ph type="sldNum" sz="quarter" idx="5"/>
          </p:nvPr>
        </p:nvSpPr>
        <p:spPr/>
        <p:txBody>
          <a:bodyPr/>
          <a:lstStyle/>
          <a:p>
            <a:fld id="{37514827-F661-2644-BFD7-D4DA40C75B3F}" type="slidenum">
              <a:rPr lang="en-NP" smtClean="0"/>
              <a:t>85</a:t>
            </a:fld>
            <a:endParaRPr lang="en-NP"/>
          </a:p>
        </p:txBody>
      </p:sp>
    </p:spTree>
    <p:extLst>
      <p:ext uri="{BB962C8B-B14F-4D97-AF65-F5344CB8AC3E}">
        <p14:creationId xmlns:p14="http://schemas.microsoft.com/office/powerpoint/2010/main" val="667102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39C8F-07B8-F2A4-BC13-E0AD04C85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88234-784B-6CB1-8880-14BFF93ED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7F433-4391-9C58-3114-22293C5D180F}"/>
              </a:ext>
            </a:extLst>
          </p:cNvPr>
          <p:cNvSpPr>
            <a:spLocks noGrp="1"/>
          </p:cNvSpPr>
          <p:nvPr>
            <p:ph type="body" idx="1"/>
          </p:nvPr>
        </p:nvSpPr>
        <p:spPr/>
        <p:txBody>
          <a:bodyPr/>
          <a:lstStyle/>
          <a:p>
            <a:endParaRPr lang="en-NP" dirty="0"/>
          </a:p>
        </p:txBody>
      </p:sp>
      <p:sp>
        <p:nvSpPr>
          <p:cNvPr id="4" name="Slide Number Placeholder 3">
            <a:extLst>
              <a:ext uri="{FF2B5EF4-FFF2-40B4-BE49-F238E27FC236}">
                <a16:creationId xmlns:a16="http://schemas.microsoft.com/office/drawing/2014/main" id="{9DDCE509-B0B9-F398-D585-1E22BAB113AF}"/>
              </a:ext>
            </a:extLst>
          </p:cNvPr>
          <p:cNvSpPr>
            <a:spLocks noGrp="1"/>
          </p:cNvSpPr>
          <p:nvPr>
            <p:ph type="sldNum" sz="quarter" idx="5"/>
          </p:nvPr>
        </p:nvSpPr>
        <p:spPr/>
        <p:txBody>
          <a:bodyPr/>
          <a:lstStyle/>
          <a:p>
            <a:fld id="{37514827-F661-2644-BFD7-D4DA40C75B3F}" type="slidenum">
              <a:rPr lang="en-NP" smtClean="0"/>
              <a:t>87</a:t>
            </a:fld>
            <a:endParaRPr lang="en-NP"/>
          </a:p>
        </p:txBody>
      </p:sp>
    </p:spTree>
    <p:extLst>
      <p:ext uri="{BB962C8B-B14F-4D97-AF65-F5344CB8AC3E}">
        <p14:creationId xmlns:p14="http://schemas.microsoft.com/office/powerpoint/2010/main" val="4290878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CFD96-5FDF-D8A0-CA55-C3C4208AB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029CD234-5FAA-F501-2221-7158237F2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09E8922A-7C70-34D5-828E-15E11869C8CD}"/>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5" name="Footer Placeholder 4">
            <a:extLst>
              <a:ext uri="{FF2B5EF4-FFF2-40B4-BE49-F238E27FC236}">
                <a16:creationId xmlns:a16="http://schemas.microsoft.com/office/drawing/2014/main" id="{70D4C6B5-B34D-A90B-5E9E-A0E1336860A1}"/>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145E7791-4602-AB1D-CEAA-335CDB7428A4}"/>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805583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616D2-E878-9942-714B-5986CAA07BAC}"/>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6D487CBC-3A85-B964-67A5-97978C3C71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AB8ABA92-42BB-5099-77E4-493BF02E7F8D}"/>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5" name="Footer Placeholder 4">
            <a:extLst>
              <a:ext uri="{FF2B5EF4-FFF2-40B4-BE49-F238E27FC236}">
                <a16:creationId xmlns:a16="http://schemas.microsoft.com/office/drawing/2014/main" id="{EB34C90F-C889-B1DE-9F6F-AC369CD261A2}"/>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E9C7595E-DA81-97FE-EF46-5FD1B0BE3958}"/>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1386062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3099C-F682-6DED-7D04-AD87442FEC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D95E670A-8B3E-EFCD-853B-0711D80218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DC58C2-A30B-954C-8D46-3320B56170A9}"/>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5" name="Footer Placeholder 4">
            <a:extLst>
              <a:ext uri="{FF2B5EF4-FFF2-40B4-BE49-F238E27FC236}">
                <a16:creationId xmlns:a16="http://schemas.microsoft.com/office/drawing/2014/main" id="{BD15506F-BDF6-D1D5-2084-AE33D00B3370}"/>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2A8D7D2-72FB-A731-65E4-B8B51C353F47}"/>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76133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B4EAC-B109-593A-5CA5-F367F9235842}"/>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0591EFE1-8D30-AC87-A299-29F6112768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CFE78647-3650-2930-F147-3D913E363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EC5AB263-9B1A-82A4-3FAE-7504857FEC3B}"/>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6" name="Footer Placeholder 5">
            <a:extLst>
              <a:ext uri="{FF2B5EF4-FFF2-40B4-BE49-F238E27FC236}">
                <a16:creationId xmlns:a16="http://schemas.microsoft.com/office/drawing/2014/main" id="{D8CFB063-8289-C56B-4EC2-C531CA557A1A}"/>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636DB395-13BE-8450-F921-473838E40892}"/>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4128986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46F7-0A9B-62BD-5D90-1EE299992011}"/>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00321C9D-5821-BC93-0EDA-963C16B14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435546-1303-0F64-96B1-FAE280F2E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0344AC5C-9C99-D3E4-CC72-28FE78A3C5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33D58C-6FC6-3EDE-3B24-C14E35067E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C14E1FE4-02CB-BA52-598D-A572AE0D4ABE}"/>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8" name="Footer Placeholder 7">
            <a:extLst>
              <a:ext uri="{FF2B5EF4-FFF2-40B4-BE49-F238E27FC236}">
                <a16:creationId xmlns:a16="http://schemas.microsoft.com/office/drawing/2014/main" id="{7B9447F4-7906-55F9-482E-FCC24B2517EE}"/>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AE9D554C-197B-06BE-EB13-87D6AAF7AA54}"/>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50362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2696-9D19-1BCE-1ECD-39963FFF401D}"/>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9CEB0607-762D-9FBC-56FE-91D5E143601D}"/>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4" name="Footer Placeholder 3">
            <a:extLst>
              <a:ext uri="{FF2B5EF4-FFF2-40B4-BE49-F238E27FC236}">
                <a16:creationId xmlns:a16="http://schemas.microsoft.com/office/drawing/2014/main" id="{9FC481AA-941B-7968-17C6-AEEFFA04A896}"/>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DFB5ABC4-9236-3FA4-0394-D0FA9D4F02FF}"/>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697089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78CEE9-9F6E-A2B8-FE24-6DCE283ED7ED}"/>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3" name="Footer Placeholder 2">
            <a:extLst>
              <a:ext uri="{FF2B5EF4-FFF2-40B4-BE49-F238E27FC236}">
                <a16:creationId xmlns:a16="http://schemas.microsoft.com/office/drawing/2014/main" id="{D0099B53-8F96-1959-45C5-C3C8A9743C80}"/>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62283C75-C361-9B16-6367-B07DC16377AE}"/>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289611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DC7E-D07C-2944-90F0-9FCCB31C8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0D65AAA5-1F91-3500-2061-A7BA7686C9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7401CAED-120E-EFB3-6D19-973D84AF44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F4F45-5425-ACF0-1AB2-46A9CFBAB35F}"/>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6" name="Footer Placeholder 5">
            <a:extLst>
              <a:ext uri="{FF2B5EF4-FFF2-40B4-BE49-F238E27FC236}">
                <a16:creationId xmlns:a16="http://schemas.microsoft.com/office/drawing/2014/main" id="{DE8DAC53-317F-BEE8-A639-773426F47377}"/>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4C67E7A0-1C0C-BB52-C335-211E6FCA450F}"/>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99693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F5D5-9F4D-C312-531F-E14C4BE42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74FCDF1E-8002-602D-CA9B-AAFD15CBC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31870014-2750-BBE6-24E2-9FF0151439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02706A-28CB-D5F9-F657-5C13CFB399AE}"/>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6" name="Footer Placeholder 5">
            <a:extLst>
              <a:ext uri="{FF2B5EF4-FFF2-40B4-BE49-F238E27FC236}">
                <a16:creationId xmlns:a16="http://schemas.microsoft.com/office/drawing/2014/main" id="{26CAED4C-BEB3-143B-D7C9-5CB7320E7A50}"/>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81DFF982-C343-17AC-B0B2-BD778571AC37}"/>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10848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2323-7E9A-B9DD-49D6-89FF2CDAC4A2}"/>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39A8CC89-F1A4-E348-F1EA-DC6BF6DA58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247EC6B7-5F60-A5DC-73E3-6A13D2BDB314}"/>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5" name="Footer Placeholder 4">
            <a:extLst>
              <a:ext uri="{FF2B5EF4-FFF2-40B4-BE49-F238E27FC236}">
                <a16:creationId xmlns:a16="http://schemas.microsoft.com/office/drawing/2014/main" id="{F1DBC77A-2BE9-41AD-E72F-DC807E86DC94}"/>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15BEC37-80E3-5CD6-EE72-3BD92D231D2A}"/>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3821022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DF7050-F65B-D0BF-EE4D-B3DD1519C6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72E2777E-150A-D2DE-B361-92F46625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6D90B841-62D3-3CFE-FB84-AA16A37439AF}"/>
              </a:ext>
            </a:extLst>
          </p:cNvPr>
          <p:cNvSpPr>
            <a:spLocks noGrp="1"/>
          </p:cNvSpPr>
          <p:nvPr>
            <p:ph type="dt" sz="half" idx="10"/>
          </p:nvPr>
        </p:nvSpPr>
        <p:spPr/>
        <p:txBody>
          <a:bodyPr/>
          <a:lstStyle/>
          <a:p>
            <a:fld id="{7F50CC2E-DA95-E241-9AF9-734D8F1B335E}" type="datetimeFigureOut">
              <a:rPr lang="en-NP" smtClean="0"/>
              <a:t>04/11/2025</a:t>
            </a:fld>
            <a:endParaRPr lang="en-NP"/>
          </a:p>
        </p:txBody>
      </p:sp>
      <p:sp>
        <p:nvSpPr>
          <p:cNvPr id="5" name="Footer Placeholder 4">
            <a:extLst>
              <a:ext uri="{FF2B5EF4-FFF2-40B4-BE49-F238E27FC236}">
                <a16:creationId xmlns:a16="http://schemas.microsoft.com/office/drawing/2014/main" id="{EAC93E19-98D3-19A6-CE9F-85AC7FF3F2A6}"/>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4F8515A1-9C1D-6A62-92BD-5EE527F6943C}"/>
              </a:ext>
            </a:extLst>
          </p:cNvPr>
          <p:cNvSpPr>
            <a:spLocks noGrp="1"/>
          </p:cNvSpPr>
          <p:nvPr>
            <p:ph type="sldNum" sz="quarter" idx="12"/>
          </p:nvPr>
        </p:nvSpPr>
        <p:spPr/>
        <p:txBody>
          <a:bodyPr/>
          <a:lstStyle/>
          <a:p>
            <a:fld id="{3A55DD22-CE28-384C-AE64-9C0FE8D8DDB4}" type="slidenum">
              <a:rPr lang="en-NP" smtClean="0"/>
              <a:t>‹#›</a:t>
            </a:fld>
            <a:endParaRPr lang="en-NP"/>
          </a:p>
        </p:txBody>
      </p:sp>
    </p:spTree>
    <p:extLst>
      <p:ext uri="{BB962C8B-B14F-4D97-AF65-F5344CB8AC3E}">
        <p14:creationId xmlns:p14="http://schemas.microsoft.com/office/powerpoint/2010/main" val="289950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E76F97-B408-654D-8213-0E1C382B8D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97163335-992F-F7F0-2863-A2B6AFD556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36F91622-0EBB-A808-8B43-1E1AF74045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50CC2E-DA95-E241-9AF9-734D8F1B335E}" type="datetimeFigureOut">
              <a:rPr lang="en-NP" smtClean="0"/>
              <a:t>04/11/2025</a:t>
            </a:fld>
            <a:endParaRPr lang="en-NP"/>
          </a:p>
        </p:txBody>
      </p:sp>
      <p:sp>
        <p:nvSpPr>
          <p:cNvPr id="5" name="Footer Placeholder 4">
            <a:extLst>
              <a:ext uri="{FF2B5EF4-FFF2-40B4-BE49-F238E27FC236}">
                <a16:creationId xmlns:a16="http://schemas.microsoft.com/office/drawing/2014/main" id="{C1BD9963-DB55-AE55-C406-63F8311C2E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P"/>
          </a:p>
        </p:txBody>
      </p:sp>
      <p:sp>
        <p:nvSpPr>
          <p:cNvPr id="6" name="Slide Number Placeholder 5">
            <a:extLst>
              <a:ext uri="{FF2B5EF4-FFF2-40B4-BE49-F238E27FC236}">
                <a16:creationId xmlns:a16="http://schemas.microsoft.com/office/drawing/2014/main" id="{759B27B0-1B98-02E5-68E7-D93B5C9BAA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55DD22-CE28-384C-AE64-9C0FE8D8DDB4}" type="slidenum">
              <a:rPr lang="en-NP" smtClean="0"/>
              <a:t>‹#›</a:t>
            </a:fld>
            <a:endParaRPr lang="en-NP"/>
          </a:p>
        </p:txBody>
      </p:sp>
    </p:spTree>
    <p:extLst>
      <p:ext uri="{BB962C8B-B14F-4D97-AF65-F5344CB8AC3E}">
        <p14:creationId xmlns:p14="http://schemas.microsoft.com/office/powerpoint/2010/main" val="3044579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2.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0.xml"/><Relationship Id="rId5" Type="http://schemas.openxmlformats.org/officeDocument/2006/relationships/customXml" Target="../ink/ink7.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9.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11.xml"/><Relationship Id="rId7" Type="http://schemas.openxmlformats.org/officeDocument/2006/relationships/customXml" Target="../ink/ink13.xml"/><Relationship Id="rId12"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15.xml"/><Relationship Id="rId5" Type="http://schemas.openxmlformats.org/officeDocument/2006/relationships/customXml" Target="../ink/ink12.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14.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customXml" Target="../ink/ink16.xml"/><Relationship Id="rId7" Type="http://schemas.openxmlformats.org/officeDocument/2006/relationships/customXml" Target="../ink/ink18.xml"/><Relationship Id="rId12"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customXml" Target="../ink/ink20.xml"/><Relationship Id="rId5" Type="http://schemas.openxmlformats.org/officeDocument/2006/relationships/customXml" Target="../ink/ink17.xml"/><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customXml" Target="../ink/ink19.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DA0F54-788F-8DBA-096C-D8888C3BA773}"/>
              </a:ext>
            </a:extLst>
          </p:cNvPr>
          <p:cNvSpPr>
            <a:spLocks noGrp="1"/>
          </p:cNvSpPr>
          <p:nvPr>
            <p:ph idx="1"/>
          </p:nvPr>
        </p:nvSpPr>
        <p:spPr>
          <a:xfrm>
            <a:off x="838200" y="716096"/>
            <a:ext cx="10515600" cy="5762763"/>
          </a:xfrm>
        </p:spPr>
        <p:txBody>
          <a:bodyPr/>
          <a:lstStyle/>
          <a:p>
            <a:pPr marL="0" indent="0">
              <a:buNone/>
            </a:pPr>
            <a:r>
              <a:rPr lang="en-NP" dirty="0"/>
              <a:t>		</a:t>
            </a:r>
          </a:p>
          <a:p>
            <a:pPr marL="0" indent="0">
              <a:buNone/>
            </a:pPr>
            <a:r>
              <a:rPr lang="en-NP" dirty="0"/>
              <a:t>Chapter 4:                             </a:t>
            </a:r>
            <a:r>
              <a:rPr lang="en-NP" b="1" u="sng" dirty="0"/>
              <a:t>Programming Concept With C</a:t>
            </a:r>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r>
              <a:rPr lang="en-NP" dirty="0"/>
              <a:t>				</a:t>
            </a:r>
          </a:p>
          <a:p>
            <a:pPr marL="0" indent="0">
              <a:buNone/>
            </a:pPr>
            <a:r>
              <a:rPr lang="en-NP" dirty="0"/>
              <a:t>						Presented By Milan Bista Sir</a:t>
            </a:r>
          </a:p>
        </p:txBody>
      </p:sp>
    </p:spTree>
    <p:extLst>
      <p:ext uri="{BB962C8B-B14F-4D97-AF65-F5344CB8AC3E}">
        <p14:creationId xmlns:p14="http://schemas.microsoft.com/office/powerpoint/2010/main" val="2738263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CF5F4-DBC0-6658-A860-CBE203811B32}"/>
              </a:ext>
            </a:extLst>
          </p:cNvPr>
          <p:cNvSpPr>
            <a:spLocks noGrp="1"/>
          </p:cNvSpPr>
          <p:nvPr>
            <p:ph idx="1"/>
          </p:nvPr>
        </p:nvSpPr>
        <p:spPr>
          <a:xfrm>
            <a:off x="838200" y="228600"/>
            <a:ext cx="10515600" cy="6379029"/>
          </a:xfrm>
        </p:spPr>
        <p:txBody>
          <a:bodyPr>
            <a:normAutofit fontScale="92500" lnSpcReduction="10000"/>
          </a:bodyPr>
          <a:lstStyle/>
          <a:p>
            <a:pPr marL="0" indent="0">
              <a:buNone/>
            </a:pPr>
            <a:r>
              <a:rPr lang="en-NP"/>
              <a:t>Review of Grade XI</a:t>
            </a:r>
          </a:p>
          <a:p>
            <a:pPr marL="0" indent="0">
              <a:buNone/>
            </a:pPr>
            <a:r>
              <a:rPr lang="en-NP" sz="2000"/>
              <a:t>Defination of C, Importance of C, Variable,Constant,data types,format specifier,keywords,headerfile,library function,etc</a:t>
            </a:r>
          </a:p>
          <a:p>
            <a:pPr marL="0" indent="0">
              <a:buNone/>
            </a:pPr>
            <a:r>
              <a:rPr lang="en-NP" sz="2400" b="1"/>
              <a:t>(1)  Control Structure</a:t>
            </a:r>
          </a:p>
          <a:p>
            <a:pPr marL="0" indent="0">
              <a:buNone/>
            </a:pPr>
            <a:r>
              <a:rPr lang="en-NP" sz="2400"/>
              <a:t>        A) Sequence   B) Branching Statements   and	 C) Looping Statements</a:t>
            </a:r>
          </a:p>
          <a:p>
            <a:pPr marL="0" indent="0">
              <a:buNone/>
            </a:pPr>
            <a:r>
              <a:rPr lang="en-NP" sz="2400"/>
              <a:t> 	A) </a:t>
            </a:r>
            <a:r>
              <a:rPr lang="en-NP" sz="2400">
                <a:highlight>
                  <a:srgbClr val="FFFF00"/>
                </a:highlight>
              </a:rPr>
              <a:t>Sequence: </a:t>
            </a:r>
            <a:endParaRPr lang="en-NP" sz="2400">
              <a:highlight>
                <a:srgbClr val="FFFF00"/>
              </a:highlight>
              <a:sym typeface="Wingdings" pitchFamily="2" charset="2"/>
            </a:endParaRPr>
          </a:p>
          <a:p>
            <a:pPr marL="0" indent="0">
              <a:buNone/>
            </a:pPr>
            <a:r>
              <a:rPr lang="en-NP" sz="2400">
                <a:sym typeface="Wingdings" pitchFamily="2" charset="2"/>
              </a:rPr>
              <a:t> 	B) </a:t>
            </a:r>
            <a:r>
              <a:rPr lang="en-NP" sz="2400">
                <a:highlight>
                  <a:srgbClr val="FFFF00"/>
                </a:highlight>
                <a:sym typeface="Wingdings" pitchFamily="2" charset="2"/>
              </a:rPr>
              <a:t>Branching: </a:t>
            </a:r>
            <a:r>
              <a:rPr lang="en-NP" sz="2400">
                <a:sym typeface="Wingdings" pitchFamily="2" charset="2"/>
              </a:rPr>
              <a:t> (i) condtional and (2) unconditional </a:t>
            </a:r>
          </a:p>
          <a:p>
            <a:pPr marL="0" indent="0">
              <a:buNone/>
            </a:pPr>
            <a:r>
              <a:rPr lang="en-NP" sz="2400">
                <a:sym typeface="Wingdings" pitchFamily="2" charset="2"/>
              </a:rPr>
              <a:t>                     		i) Condtional: </a:t>
            </a:r>
            <a:r>
              <a:rPr lang="en-NP" sz="2400"/>
              <a:t> if(), if elseif(), and nested elseif()</a:t>
            </a:r>
          </a:p>
          <a:p>
            <a:pPr marL="0" indent="0">
              <a:buNone/>
            </a:pPr>
            <a:r>
              <a:rPr lang="en-NP" sz="2400"/>
              <a:t>	        		ii) Unconditional: </a:t>
            </a:r>
            <a:r>
              <a:rPr lang="en-NP" sz="2400">
                <a:sym typeface="Wingdings" pitchFamily="2" charset="2"/>
              </a:rPr>
              <a:t> </a:t>
            </a:r>
            <a:r>
              <a:rPr lang="en-NP" sz="2400"/>
              <a:t>switch() case:, break,continue,goto etc.</a:t>
            </a:r>
          </a:p>
          <a:p>
            <a:pPr marL="0" indent="0">
              <a:buNone/>
            </a:pPr>
            <a:r>
              <a:rPr lang="en-NP" sz="2400"/>
              <a:t>	C) </a:t>
            </a:r>
            <a:r>
              <a:rPr lang="en-NP" sz="2400">
                <a:highlight>
                  <a:srgbClr val="FFFF00"/>
                </a:highlight>
              </a:rPr>
              <a:t>Loop/iteration:</a:t>
            </a:r>
          </a:p>
          <a:p>
            <a:pPr marL="0" indent="0">
              <a:buNone/>
            </a:pPr>
            <a:r>
              <a:rPr lang="en-NP" sz="2400"/>
              <a:t>                   		i) while(), do while(), for(), nested loop</a:t>
            </a:r>
          </a:p>
          <a:p>
            <a:pPr marL="457200" indent="-457200">
              <a:buAutoNum type="arabicParenBoth" startAt="2"/>
            </a:pPr>
            <a:r>
              <a:rPr lang="en-NP" sz="2400" b="1"/>
              <a:t> Array</a:t>
            </a:r>
          </a:p>
          <a:p>
            <a:pPr marL="0" indent="0">
              <a:buNone/>
            </a:pPr>
            <a:r>
              <a:rPr lang="en-NP" sz="2400" b="1"/>
              <a:t>          	</a:t>
            </a:r>
            <a:r>
              <a:rPr lang="en-NP" sz="2400"/>
              <a:t>A) 1-Dimensional	B) 2-Dimensional or Multi-Dimensional</a:t>
            </a:r>
          </a:p>
          <a:p>
            <a:pPr marL="0" indent="0">
              <a:buNone/>
            </a:pPr>
            <a:r>
              <a:rPr lang="en-NP" sz="2400" b="1"/>
              <a:t>(3)  String : </a:t>
            </a:r>
            <a:r>
              <a:rPr lang="en-NP" sz="2400"/>
              <a:t>strlen(),strlwr(),strupr(),strcpy(),strcat(),strrev(),strcmp() etc.</a:t>
            </a:r>
            <a:endParaRPr lang="en-NP" sz="2400" b="1"/>
          </a:p>
          <a:p>
            <a:pPr marL="0" indent="0">
              <a:buNone/>
            </a:pPr>
            <a:endParaRPr lang="en-NP" sz="2400"/>
          </a:p>
          <a:p>
            <a:pPr marL="0" indent="0">
              <a:buNone/>
            </a:pPr>
            <a:r>
              <a:rPr lang="en-NP" sz="2400" b="1"/>
              <a:t>  </a:t>
            </a:r>
          </a:p>
          <a:p>
            <a:pPr marL="0" indent="0">
              <a:buNone/>
            </a:pPr>
            <a:endParaRPr lang="en-NP" sz="2400"/>
          </a:p>
          <a:p>
            <a:pPr marL="0" indent="0">
              <a:buNone/>
            </a:pPr>
            <a:endParaRPr lang="en-NP" sz="2400"/>
          </a:p>
          <a:p>
            <a:pPr marL="0" indent="0">
              <a:buNone/>
            </a:pPr>
            <a:endParaRPr lang="en-NP" sz="2400"/>
          </a:p>
        </p:txBody>
      </p:sp>
    </p:spTree>
    <p:extLst>
      <p:ext uri="{BB962C8B-B14F-4D97-AF65-F5344CB8AC3E}">
        <p14:creationId xmlns:p14="http://schemas.microsoft.com/office/powerpoint/2010/main" val="250163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B88140-CB3E-1884-41C7-F39E875E76AE}"/>
              </a:ext>
            </a:extLst>
          </p:cNvPr>
          <p:cNvSpPr>
            <a:spLocks noGrp="1"/>
          </p:cNvSpPr>
          <p:nvPr>
            <p:ph idx="1"/>
          </p:nvPr>
        </p:nvSpPr>
        <p:spPr>
          <a:xfrm>
            <a:off x="762836" y="347484"/>
            <a:ext cx="10515600" cy="5654449"/>
          </a:xfrm>
        </p:spPr>
        <p:txBody>
          <a:bodyPr/>
          <a:lstStyle/>
          <a:p>
            <a:pPr marL="0" indent="0">
              <a:buNone/>
            </a:pPr>
            <a:r>
              <a:rPr lang="en-NP" u="sng"/>
              <a:t>Grade XII</a:t>
            </a:r>
          </a:p>
          <a:p>
            <a:pPr marL="0" indent="0">
              <a:buNone/>
            </a:pPr>
            <a:r>
              <a:rPr lang="en-NP"/>
              <a:t>(4) </a:t>
            </a:r>
            <a:r>
              <a:rPr lang="en-NP">
                <a:highlight>
                  <a:srgbClr val="FFFF00"/>
                </a:highlight>
              </a:rPr>
              <a:t>Function:-&gt; </a:t>
            </a:r>
            <a:r>
              <a:rPr lang="en-NP"/>
              <a:t>User define function vs Library Function,</a:t>
            </a:r>
          </a:p>
          <a:p>
            <a:pPr marL="0" indent="0">
              <a:buNone/>
            </a:pPr>
            <a:r>
              <a:rPr lang="en-NP"/>
              <a:t>                                categories of User Define Function</a:t>
            </a:r>
          </a:p>
          <a:p>
            <a:pPr marL="0" indent="0">
              <a:buNone/>
            </a:pPr>
            <a:r>
              <a:rPr lang="en-NP"/>
              <a:t>(5) </a:t>
            </a:r>
            <a:r>
              <a:rPr lang="en-NP">
                <a:highlight>
                  <a:srgbClr val="FFFF00"/>
                </a:highlight>
              </a:rPr>
              <a:t>Structure and Union:</a:t>
            </a:r>
          </a:p>
          <a:p>
            <a:pPr marL="0" indent="0">
              <a:buNone/>
            </a:pPr>
            <a:r>
              <a:rPr lang="en-NP"/>
              <a:t>(6) </a:t>
            </a:r>
            <a:r>
              <a:rPr lang="en-NP">
                <a:highlight>
                  <a:srgbClr val="FFFF00"/>
                </a:highlight>
              </a:rPr>
              <a:t>Pointer:</a:t>
            </a:r>
          </a:p>
          <a:p>
            <a:pPr marL="0" indent="0">
              <a:buNone/>
            </a:pPr>
            <a:r>
              <a:rPr lang="en-NP"/>
              <a:t>(7) </a:t>
            </a:r>
            <a:r>
              <a:rPr lang="en-NP">
                <a:highlight>
                  <a:srgbClr val="FFFF00"/>
                </a:highlight>
              </a:rPr>
              <a:t>File Handling:</a:t>
            </a:r>
          </a:p>
        </p:txBody>
      </p:sp>
    </p:spTree>
    <p:extLst>
      <p:ext uri="{BB962C8B-B14F-4D97-AF65-F5344CB8AC3E}">
        <p14:creationId xmlns:p14="http://schemas.microsoft.com/office/powerpoint/2010/main" val="2676351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F01D5CB-EC80-EE0D-4938-F2D0EDD12E31}"/>
              </a:ext>
            </a:extLst>
          </p:cNvPr>
          <p:cNvSpPr>
            <a:spLocks noGrp="1"/>
          </p:cNvSpPr>
          <p:nvPr>
            <p:ph idx="1"/>
          </p:nvPr>
        </p:nvSpPr>
        <p:spPr>
          <a:xfrm>
            <a:off x="838200" y="205740"/>
            <a:ext cx="10515600" cy="6183629"/>
          </a:xfrm>
        </p:spPr>
        <p:txBody>
          <a:bodyPr>
            <a:normAutofit/>
          </a:bodyPr>
          <a:lstStyle/>
          <a:p>
            <a:pPr marL="0" indent="0">
              <a:buNone/>
            </a:pPr>
            <a:r>
              <a:rPr lang="en-NP" b="1" dirty="0"/>
              <a:t>Function:</a:t>
            </a:r>
          </a:p>
          <a:p>
            <a:pPr marL="0" indent="0">
              <a:buNone/>
            </a:pPr>
            <a:r>
              <a:rPr lang="en-NP" dirty="0"/>
              <a:t>Functions are the building block of statements, which takes some data, manipulate them and can return a value. Bug free function can be used repeatedly from other part of the program. There are two types of functions:</a:t>
            </a:r>
          </a:p>
          <a:p>
            <a:pPr marL="0" indent="0">
              <a:buNone/>
            </a:pPr>
            <a:r>
              <a:rPr lang="en-NP" dirty="0"/>
              <a:t> </a:t>
            </a:r>
          </a:p>
          <a:p>
            <a:pPr marL="0" indent="0">
              <a:buNone/>
            </a:pPr>
            <a:r>
              <a:rPr lang="en-NP" b="1" dirty="0"/>
              <a:t>1. Library Functions </a:t>
            </a:r>
            <a:r>
              <a:rPr lang="en-NP" b="1" dirty="0">
                <a:highlight>
                  <a:srgbClr val="FFFF00"/>
                </a:highlight>
              </a:rPr>
              <a:t>(built in or ready made): </a:t>
            </a:r>
            <a:r>
              <a:rPr lang="en-NP" dirty="0"/>
              <a:t>C has the facilities to provide library function for performing some operation. These functions are present in the c library and they are predefined. for eg.</a:t>
            </a:r>
          </a:p>
          <a:p>
            <a:pPr marL="0" indent="0">
              <a:buNone/>
            </a:pPr>
            <a:r>
              <a:rPr lang="en-NP" dirty="0"/>
              <a:t>a. scanf( );</a:t>
            </a:r>
          </a:p>
          <a:p>
            <a:pPr marL="0" indent="0">
              <a:buNone/>
            </a:pPr>
            <a:r>
              <a:rPr lang="en-NP" dirty="0"/>
              <a:t>b. printf( );</a:t>
            </a:r>
          </a:p>
          <a:p>
            <a:pPr marL="0" indent="0">
              <a:buNone/>
            </a:pPr>
            <a:r>
              <a:rPr lang="en-NP" dirty="0"/>
              <a:t>c. getchar( );</a:t>
            </a:r>
          </a:p>
          <a:p>
            <a:pPr marL="0" indent="0">
              <a:buNone/>
            </a:pPr>
            <a:r>
              <a:rPr lang="en-NP" dirty="0"/>
              <a:t>d. putchar( );</a:t>
            </a:r>
          </a:p>
          <a:p>
            <a:pPr marL="0" indent="0">
              <a:buNone/>
            </a:pPr>
            <a:endParaRPr lang="en-NP" dirty="0"/>
          </a:p>
        </p:txBody>
      </p:sp>
    </p:spTree>
    <p:extLst>
      <p:ext uri="{BB962C8B-B14F-4D97-AF65-F5344CB8AC3E}">
        <p14:creationId xmlns:p14="http://schemas.microsoft.com/office/powerpoint/2010/main" val="1307488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207A93-0161-620F-F2AE-04D9F00F4AA9}"/>
              </a:ext>
            </a:extLst>
          </p:cNvPr>
          <p:cNvSpPr>
            <a:spLocks noGrp="1"/>
          </p:cNvSpPr>
          <p:nvPr>
            <p:ph idx="1"/>
          </p:nvPr>
        </p:nvSpPr>
        <p:spPr>
          <a:xfrm>
            <a:off x="838200" y="185057"/>
            <a:ext cx="10515600" cy="6560299"/>
          </a:xfrm>
        </p:spPr>
        <p:txBody>
          <a:bodyPr>
            <a:normAutofit fontScale="85000" lnSpcReduction="20000"/>
          </a:bodyPr>
          <a:lstStyle/>
          <a:p>
            <a:pPr marL="0" indent="0">
              <a:buNone/>
            </a:pPr>
            <a:endParaRPr lang="en-NP" sz="3300" b="1" dirty="0"/>
          </a:p>
          <a:p>
            <a:pPr marL="0" indent="0" algn="just">
              <a:buNone/>
            </a:pPr>
            <a:r>
              <a:rPr lang="en-NP" sz="3300" b="1" dirty="0"/>
              <a:t>2. User Defined functions (Defined by user according to need): </a:t>
            </a:r>
            <a:r>
              <a:rPr lang="en-NP" sz="3300" dirty="0"/>
              <a:t>user can creates 	their own function for performing this type of a function are called user define function.</a:t>
            </a:r>
          </a:p>
          <a:p>
            <a:pPr marL="0" indent="0">
              <a:buNone/>
            </a:pPr>
            <a:r>
              <a:rPr lang="en-NP" sz="3300" b="1" dirty="0"/>
              <a:t>Syntax of user defined functions</a:t>
            </a:r>
          </a:p>
          <a:p>
            <a:pPr marL="0" indent="0">
              <a:buNone/>
            </a:pPr>
            <a:r>
              <a:rPr lang="en-NP" sz="3300" dirty="0"/>
              <a:t># include&lt;stdio.h&gt;</a:t>
            </a:r>
          </a:p>
          <a:p>
            <a:pPr marL="0" indent="0">
              <a:buNone/>
            </a:pPr>
            <a:r>
              <a:rPr lang="en-NP" sz="3300" dirty="0"/>
              <a:t># include&lt;conio.h&gt;</a:t>
            </a:r>
          </a:p>
          <a:p>
            <a:pPr marL="0" indent="0">
              <a:buNone/>
            </a:pPr>
            <a:r>
              <a:rPr lang="en-NP" sz="3300" dirty="0">
                <a:highlight>
                  <a:srgbClr val="FFFF00"/>
                </a:highlight>
              </a:rPr>
              <a:t>void main( )</a:t>
            </a:r>
          </a:p>
          <a:p>
            <a:pPr marL="0" indent="0">
              <a:buNone/>
            </a:pPr>
            <a:r>
              <a:rPr lang="en-NP" sz="3300" dirty="0">
                <a:highlight>
                  <a:srgbClr val="FFFF00"/>
                </a:highlight>
              </a:rPr>
              <a:t>{</a:t>
            </a:r>
            <a:endParaRPr lang="en-US" sz="3300" dirty="0">
              <a:highlight>
                <a:srgbClr val="FFFF00"/>
              </a:highlight>
            </a:endParaRPr>
          </a:p>
          <a:p>
            <a:pPr marL="0" indent="0">
              <a:buNone/>
            </a:pPr>
            <a:r>
              <a:rPr lang="en-US" sz="3300" dirty="0">
                <a:highlight>
                  <a:srgbClr val="FFFF00"/>
                </a:highlight>
              </a:rPr>
              <a:t>…………..</a:t>
            </a:r>
            <a:endParaRPr lang="en-NP" sz="3300" dirty="0">
              <a:highlight>
                <a:srgbClr val="FFFF00"/>
              </a:highlight>
            </a:endParaRPr>
          </a:p>
          <a:p>
            <a:pPr marL="0" indent="0">
              <a:buNone/>
            </a:pPr>
            <a:r>
              <a:rPr lang="en-NP" sz="3300" dirty="0">
                <a:highlight>
                  <a:srgbClr val="FFFF00"/>
                </a:highlight>
                <a:sym typeface="Wingdings" pitchFamily="2" charset="2"/>
              </a:rPr>
              <a:t>…………… calling functionm</a:t>
            </a:r>
            <a:endParaRPr lang="en-NP" sz="3300" dirty="0">
              <a:highlight>
                <a:srgbClr val="FFFF00"/>
              </a:highlight>
            </a:endParaRPr>
          </a:p>
          <a:p>
            <a:pPr marL="0" indent="0">
              <a:buNone/>
            </a:pPr>
            <a:r>
              <a:rPr lang="en-NP" sz="3300" dirty="0">
                <a:highlight>
                  <a:srgbClr val="FFFF00"/>
                </a:highlight>
              </a:rPr>
              <a:t>}</a:t>
            </a:r>
          </a:p>
          <a:p>
            <a:pPr marL="0" indent="0">
              <a:buNone/>
            </a:pPr>
            <a:r>
              <a:rPr lang="en-NP" sz="3300" dirty="0">
                <a:highlight>
                  <a:srgbClr val="FFFF00"/>
                </a:highlight>
              </a:rPr>
              <a:t>function ( ). // user defined function</a:t>
            </a:r>
          </a:p>
          <a:p>
            <a:pPr marL="0" indent="0">
              <a:buNone/>
            </a:pPr>
            <a:r>
              <a:rPr lang="en-NP" sz="3300" dirty="0">
                <a:highlight>
                  <a:srgbClr val="FFFF00"/>
                </a:highlight>
              </a:rPr>
              <a:t>{</a:t>
            </a:r>
          </a:p>
          <a:p>
            <a:pPr marL="0" indent="0">
              <a:buNone/>
            </a:pPr>
            <a:r>
              <a:rPr lang="en-NP" sz="3300" dirty="0">
                <a:highlight>
                  <a:srgbClr val="FFFF00"/>
                </a:highlight>
              </a:rPr>
              <a:t>body of the function</a:t>
            </a:r>
          </a:p>
          <a:p>
            <a:pPr marL="0" indent="0">
              <a:buNone/>
            </a:pPr>
            <a:r>
              <a:rPr lang="en-NP" sz="3300" dirty="0">
                <a:highlight>
                  <a:srgbClr val="FFFF00"/>
                </a:highlight>
              </a:rPr>
              <a:t>}</a:t>
            </a:r>
          </a:p>
          <a:p>
            <a:pPr marL="0" indent="0">
              <a:buNone/>
            </a:pPr>
            <a:endParaRPr lang="en-NP" dirty="0"/>
          </a:p>
          <a:p>
            <a:pPr marL="0" indent="0">
              <a:buNone/>
            </a:pPr>
            <a:endParaRPr lang="en-NP" dirty="0"/>
          </a:p>
        </p:txBody>
      </p:sp>
    </p:spTree>
    <p:extLst>
      <p:ext uri="{BB962C8B-B14F-4D97-AF65-F5344CB8AC3E}">
        <p14:creationId xmlns:p14="http://schemas.microsoft.com/office/powerpoint/2010/main" val="899478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FE964C-FB86-4644-BA4B-73EAA5ABB743}"/>
              </a:ext>
            </a:extLst>
          </p:cNvPr>
          <p:cNvSpPr>
            <a:spLocks noGrp="1"/>
          </p:cNvSpPr>
          <p:nvPr>
            <p:ph idx="1"/>
          </p:nvPr>
        </p:nvSpPr>
        <p:spPr>
          <a:xfrm>
            <a:off x="838200" y="479502"/>
            <a:ext cx="10515600" cy="5697461"/>
          </a:xfrm>
        </p:spPr>
        <p:txBody>
          <a:bodyPr>
            <a:normAutofit/>
          </a:bodyPr>
          <a:lstStyle/>
          <a:p>
            <a:pPr marL="0" indent="0">
              <a:buNone/>
            </a:pPr>
            <a:r>
              <a:rPr lang="en-NP" b="1"/>
              <a:t>Advantages of Function:</a:t>
            </a:r>
          </a:p>
          <a:p>
            <a:pPr marL="0" indent="0">
              <a:buNone/>
            </a:pPr>
            <a:r>
              <a:rPr lang="en-NP"/>
              <a:t>1. Big programs can be divided into smaller module using functions.</a:t>
            </a:r>
          </a:p>
          <a:p>
            <a:pPr marL="0" indent="0">
              <a:buNone/>
            </a:pPr>
            <a:r>
              <a:rPr lang="en-NP"/>
              <a:t>2. Program development will be faster.</a:t>
            </a:r>
          </a:p>
          <a:p>
            <a:pPr marL="0" indent="0">
              <a:buNone/>
            </a:pPr>
            <a:r>
              <a:rPr lang="en-NP"/>
              <a:t>3. Program debugging will be easier and faster.</a:t>
            </a:r>
          </a:p>
          <a:p>
            <a:pPr marL="0" indent="0">
              <a:buNone/>
            </a:pPr>
            <a:r>
              <a:rPr lang="en-NP"/>
              <a:t>4. Use of functions reduce program complexity.</a:t>
            </a:r>
          </a:p>
          <a:p>
            <a:pPr marL="0" indent="0">
              <a:buNone/>
            </a:pPr>
            <a:r>
              <a:rPr lang="en-NP"/>
              <a:t>5. Program length can be reduced through code reusability.</a:t>
            </a:r>
          </a:p>
          <a:p>
            <a:pPr marL="0" indent="0">
              <a:buNone/>
            </a:pPr>
            <a:r>
              <a:rPr lang="en-NP"/>
              <a:t>6. Use of functions enhance program readability.</a:t>
            </a:r>
          </a:p>
          <a:p>
            <a:pPr marL="0" indent="0">
              <a:buNone/>
            </a:pPr>
            <a:r>
              <a:rPr lang="en-NP"/>
              <a:t>7. Several developer can work on a single project.</a:t>
            </a:r>
          </a:p>
          <a:p>
            <a:pPr marL="0" indent="0">
              <a:buNone/>
            </a:pPr>
            <a:r>
              <a:rPr lang="en-NP"/>
              <a:t>8. Functions are used to create own header file i.e math.h</a:t>
            </a:r>
          </a:p>
          <a:p>
            <a:pPr marL="0" indent="0">
              <a:buNone/>
            </a:pPr>
            <a:r>
              <a:rPr lang="en-NP"/>
              <a:t>9. Functions can be independently tested.</a:t>
            </a:r>
          </a:p>
          <a:p>
            <a:pPr marL="0" indent="0">
              <a:buNone/>
            </a:pPr>
            <a:endParaRPr lang="en-NP"/>
          </a:p>
        </p:txBody>
      </p:sp>
    </p:spTree>
    <p:extLst>
      <p:ext uri="{BB962C8B-B14F-4D97-AF65-F5344CB8AC3E}">
        <p14:creationId xmlns:p14="http://schemas.microsoft.com/office/powerpoint/2010/main" val="3420907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DCF7FB-2056-A8E0-987D-67AB8FFDE7A2}"/>
              </a:ext>
            </a:extLst>
          </p:cNvPr>
          <p:cNvSpPr>
            <a:spLocks noGrp="1"/>
          </p:cNvSpPr>
          <p:nvPr>
            <p:ph idx="1"/>
          </p:nvPr>
        </p:nvSpPr>
        <p:spPr>
          <a:xfrm>
            <a:off x="838200" y="635620"/>
            <a:ext cx="10515600" cy="5541343"/>
          </a:xfrm>
        </p:spPr>
        <p:txBody>
          <a:bodyPr>
            <a:normAutofit/>
          </a:bodyPr>
          <a:lstStyle/>
          <a:p>
            <a:pPr marL="0" indent="0">
              <a:buNone/>
            </a:pPr>
            <a:r>
              <a:rPr lang="en-US" b="1" dirty="0"/>
              <a:t>Arguments and Parameters</a:t>
            </a:r>
          </a:p>
          <a:p>
            <a:pPr marL="0" indent="0" algn="just">
              <a:buNone/>
            </a:pPr>
            <a:r>
              <a:rPr lang="en-US" b="1" dirty="0"/>
              <a:t>Arguments: </a:t>
            </a:r>
            <a:r>
              <a:rPr lang="en-US" dirty="0"/>
              <a:t>The variable used in the function reference called 'arguments’. These are written within the </a:t>
            </a:r>
            <a:r>
              <a:rPr lang="en-US" u="sng" dirty="0"/>
              <a:t>parenthesis </a:t>
            </a:r>
            <a:r>
              <a:rPr lang="en-US" dirty="0"/>
              <a:t>followed by the function name. They are also called </a:t>
            </a:r>
            <a:r>
              <a:rPr lang="en-US" dirty="0">
                <a:highlight>
                  <a:srgbClr val="FFFF00"/>
                </a:highlight>
              </a:rPr>
              <a:t>actual parameters </a:t>
            </a:r>
            <a:r>
              <a:rPr lang="en-US" dirty="0"/>
              <a:t>which they are accepted in the main program.</a:t>
            </a:r>
          </a:p>
          <a:p>
            <a:pPr marL="0" indent="0" algn="just">
              <a:buNone/>
            </a:pPr>
            <a:endParaRPr lang="en-US" dirty="0"/>
          </a:p>
          <a:p>
            <a:pPr marL="0" indent="0" algn="just">
              <a:buNone/>
            </a:pPr>
            <a:r>
              <a:rPr lang="en-US" b="1" dirty="0"/>
              <a:t>Parameters: </a:t>
            </a:r>
            <a:r>
              <a:rPr lang="en-US" dirty="0"/>
              <a:t>The variables used in the function definition are called 'parameters.’ They receive value from the calling function. Parameters must be written within the parenthesis followed by the name of function in the function prototype.</a:t>
            </a:r>
          </a:p>
          <a:p>
            <a:pPr marL="0" indent="0">
              <a:buNone/>
            </a:pPr>
            <a:endParaRPr lang="en-NP"/>
          </a:p>
        </p:txBody>
      </p:sp>
    </p:spTree>
    <p:extLst>
      <p:ext uri="{BB962C8B-B14F-4D97-AF65-F5344CB8AC3E}">
        <p14:creationId xmlns:p14="http://schemas.microsoft.com/office/powerpoint/2010/main" val="2580692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D68A3-13EC-53A2-B151-3F9C80B9FA13}"/>
              </a:ext>
            </a:extLst>
          </p:cNvPr>
          <p:cNvSpPr>
            <a:spLocks noGrp="1"/>
          </p:cNvSpPr>
          <p:nvPr>
            <p:ph idx="1"/>
          </p:nvPr>
        </p:nvSpPr>
        <p:spPr>
          <a:xfrm>
            <a:off x="838200" y="524107"/>
            <a:ext cx="10515600" cy="5652856"/>
          </a:xfrm>
        </p:spPr>
        <p:txBody>
          <a:bodyPr/>
          <a:lstStyle/>
          <a:p>
            <a:pPr>
              <a:buFont typeface="Wingdings" pitchFamily="2" charset="2"/>
              <a:buChar char="Ø"/>
            </a:pPr>
            <a:r>
              <a:rPr lang="en-NP" b="1" dirty="0"/>
              <a:t>Elements of function</a:t>
            </a:r>
          </a:p>
          <a:p>
            <a:pPr marL="514350" indent="-514350">
              <a:buFont typeface="+mj-lt"/>
              <a:buAutoNum type="arabicPeriod"/>
            </a:pPr>
            <a:r>
              <a:rPr lang="en-NP" dirty="0"/>
              <a:t> Function prototyping (function declaration)</a:t>
            </a:r>
          </a:p>
          <a:p>
            <a:pPr marL="514350" indent="-514350">
              <a:buFont typeface="+mj-lt"/>
              <a:buAutoNum type="arabicPeriod"/>
            </a:pPr>
            <a:r>
              <a:rPr lang="en-NP" dirty="0"/>
              <a:t> Function calling</a:t>
            </a:r>
          </a:p>
          <a:p>
            <a:pPr marL="514350" indent="-514350">
              <a:buFont typeface="+mj-lt"/>
              <a:buAutoNum type="arabicPeriod"/>
            </a:pPr>
            <a:r>
              <a:rPr lang="en-NP" dirty="0"/>
              <a:t> Function definition</a:t>
            </a:r>
          </a:p>
          <a:p>
            <a:pPr marL="514350" indent="-514350">
              <a:buFont typeface="+mj-lt"/>
              <a:buAutoNum type="arabicPeriod"/>
            </a:pPr>
            <a:r>
              <a:rPr lang="en-NP" dirty="0"/>
              <a:t>Return Statement</a:t>
            </a:r>
          </a:p>
          <a:p>
            <a:pPr marL="0" indent="0">
              <a:buNone/>
            </a:pPr>
            <a:endParaRPr lang="en-NP" dirty="0"/>
          </a:p>
        </p:txBody>
      </p:sp>
    </p:spTree>
    <p:extLst>
      <p:ext uri="{BB962C8B-B14F-4D97-AF65-F5344CB8AC3E}">
        <p14:creationId xmlns:p14="http://schemas.microsoft.com/office/powerpoint/2010/main" val="3848751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F825A2-9F45-57DA-140B-57EB4ED23792}"/>
              </a:ext>
            </a:extLst>
          </p:cNvPr>
          <p:cNvSpPr>
            <a:spLocks noGrp="1"/>
          </p:cNvSpPr>
          <p:nvPr>
            <p:ph idx="1"/>
          </p:nvPr>
        </p:nvSpPr>
        <p:spPr>
          <a:xfrm>
            <a:off x="685800" y="202655"/>
            <a:ext cx="10515600" cy="6452689"/>
          </a:xfrm>
        </p:spPr>
        <p:txBody>
          <a:bodyPr>
            <a:normAutofit fontScale="92500" lnSpcReduction="20000"/>
          </a:bodyPr>
          <a:lstStyle/>
          <a:p>
            <a:pPr marL="0" indent="0">
              <a:buNone/>
            </a:pPr>
            <a:r>
              <a:rPr lang="en-US" sz="2000" b="1" dirty="0"/>
              <a:t>a)    Function prototype:</a:t>
            </a:r>
          </a:p>
          <a:p>
            <a:pPr algn="just">
              <a:lnSpc>
                <a:spcPct val="120000"/>
              </a:lnSpc>
              <a:buFont typeface="Wingdings" pitchFamily="2" charset="2"/>
              <a:buChar char="Ø"/>
            </a:pPr>
            <a:r>
              <a:rPr lang="en-US" sz="2200" dirty="0"/>
              <a:t>Function prototype is the actual name of the function. The function name and the parameter list together constitute the function signature. The function prototype is written at the beginning of a program. The function prototype provides the following information to the compiler.</a:t>
            </a:r>
          </a:p>
          <a:p>
            <a:pPr lvl="1" algn="just"/>
            <a:r>
              <a:rPr lang="en-US" sz="2200" dirty="0"/>
              <a:t>The type of data type which is going to return</a:t>
            </a:r>
          </a:p>
          <a:p>
            <a:pPr lvl="1" algn="just"/>
            <a:r>
              <a:rPr lang="en-US" sz="2200" dirty="0"/>
              <a:t>The function name</a:t>
            </a:r>
          </a:p>
          <a:p>
            <a:pPr lvl="1" algn="just"/>
            <a:r>
              <a:rPr lang="en-US" sz="2200" dirty="0"/>
              <a:t>The types of argument and number of argument</a:t>
            </a:r>
          </a:p>
          <a:p>
            <a:pPr marL="0" indent="0">
              <a:buNone/>
            </a:pPr>
            <a:r>
              <a:rPr lang="en-US" sz="2200" b="1" dirty="0"/>
              <a:t>Syntax: </a:t>
            </a:r>
            <a:r>
              <a:rPr lang="en-US" sz="2200" dirty="0"/>
              <a:t>return_data type function_name( argument 1, argument 2, argument 3,….)</a:t>
            </a:r>
          </a:p>
          <a:p>
            <a:pPr marL="0" indent="0">
              <a:buNone/>
            </a:pPr>
            <a:r>
              <a:rPr lang="en-NP" sz="2000" dirty="0"/>
              <a:t>			</a:t>
            </a:r>
          </a:p>
          <a:p>
            <a:pPr marL="0" indent="0">
              <a:buNone/>
            </a:pPr>
            <a:endParaRPr lang="en-NP" sz="2000" dirty="0"/>
          </a:p>
          <a:p>
            <a:pPr marL="0" indent="0">
              <a:buNone/>
            </a:pPr>
            <a:endParaRPr lang="en-NP" sz="2000" dirty="0"/>
          </a:p>
          <a:p>
            <a:pPr marL="0" indent="0">
              <a:buNone/>
            </a:pPr>
            <a:endParaRPr lang="en-NP" sz="2000" dirty="0"/>
          </a:p>
          <a:p>
            <a:pPr marL="0" indent="0">
              <a:buNone/>
            </a:pPr>
            <a:endParaRPr lang="en-NP" sz="2000" dirty="0"/>
          </a:p>
          <a:p>
            <a:pPr marL="0" indent="0">
              <a:buNone/>
            </a:pPr>
            <a:endParaRPr lang="en-NP" sz="2000" dirty="0"/>
          </a:p>
          <a:p>
            <a:endParaRPr lang="en-US" sz="1600" dirty="0"/>
          </a:p>
          <a:p>
            <a:pPr marL="0" indent="0">
              <a:buNone/>
            </a:pPr>
            <a:r>
              <a:rPr lang="en-US" sz="1600" dirty="0"/>
              <a:t>	</a:t>
            </a:r>
            <a:r>
              <a:rPr lang="en-US" sz="1600" b="1" dirty="0"/>
              <a:t>Example:</a:t>
            </a:r>
          </a:p>
          <a:p>
            <a:pPr marL="0" indent="0">
              <a:buNone/>
            </a:pPr>
            <a:r>
              <a:rPr lang="en-US" sz="1600" b="1" dirty="0"/>
              <a:t>	int area (int, int)</a:t>
            </a:r>
          </a:p>
          <a:p>
            <a:pPr marL="0" indent="0">
              <a:buNone/>
            </a:pPr>
            <a:r>
              <a:rPr lang="en-US" sz="1900" dirty="0"/>
              <a:t>In this example, area is the function name which consists int type two arguments and return</a:t>
            </a:r>
          </a:p>
          <a:p>
            <a:pPr marL="0" indent="0">
              <a:buNone/>
            </a:pPr>
            <a:r>
              <a:rPr lang="en-US" sz="1900" dirty="0"/>
              <a:t>type is integer.</a:t>
            </a:r>
          </a:p>
          <a:p>
            <a:pPr marL="0" indent="0">
              <a:buNone/>
            </a:pPr>
            <a:endParaRPr lang="en-US" sz="1600" dirty="0"/>
          </a:p>
          <a:p>
            <a:pPr marL="0" indent="0">
              <a:buNone/>
            </a:pPr>
            <a:endParaRPr lang="en-NP" sz="2000" dirty="0"/>
          </a:p>
        </p:txBody>
      </p:sp>
      <p:graphicFrame>
        <p:nvGraphicFramePr>
          <p:cNvPr id="2" name="Table 1">
            <a:extLst>
              <a:ext uri="{FF2B5EF4-FFF2-40B4-BE49-F238E27FC236}">
                <a16:creationId xmlns:a16="http://schemas.microsoft.com/office/drawing/2014/main" id="{D1C34C01-5465-F7C5-7E4C-F83923440CAB}"/>
              </a:ext>
            </a:extLst>
          </p:cNvPr>
          <p:cNvGraphicFramePr>
            <a:graphicFrameLocks noGrp="1"/>
          </p:cNvGraphicFramePr>
          <p:nvPr>
            <p:extLst>
              <p:ext uri="{D42A27DB-BD31-4B8C-83A1-F6EECF244321}">
                <p14:modId xmlns:p14="http://schemas.microsoft.com/office/powerpoint/2010/main" val="139217802"/>
              </p:ext>
            </p:extLst>
          </p:nvPr>
        </p:nvGraphicFramePr>
        <p:xfrm>
          <a:off x="1316891" y="3310466"/>
          <a:ext cx="8128000" cy="17526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Where,</a:t>
                      </a:r>
                    </a:p>
                  </a:txBody>
                  <a:tcPr/>
                </a:tc>
                <a:tc hMerge="1">
                  <a:txBody>
                    <a:bodyPr/>
                    <a:lstStyle/>
                    <a:p>
                      <a:endParaRPr lang="en-NP" dirty="0"/>
                    </a:p>
                  </a:txBody>
                  <a:tcPr/>
                </a:tc>
                <a:extLst>
                  <a:ext uri="{0D108BD9-81ED-4DB2-BD59-A6C34878D82A}">
                    <a16:rowId xmlns:a16="http://schemas.microsoft.com/office/drawing/2014/main" val="34845805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data_type </a:t>
                      </a:r>
                    </a:p>
                    <a:p>
                      <a:endParaRPr lang="en-NP"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effectLst/>
                          <a:latin typeface="+mn-lt"/>
                          <a:ea typeface="+mn-ea"/>
                          <a:cs typeface="+mn-cs"/>
                        </a:rPr>
                        <a:t>the type of data type such as int, float </a:t>
                      </a:r>
                      <a:r>
                        <a:rPr lang="en-US" sz="1800" kern="1200" dirty="0" err="1">
                          <a:solidFill>
                            <a:schemeClr val="tx1"/>
                          </a:solidFill>
                          <a:effectLst/>
                          <a:latin typeface="+mn-lt"/>
                          <a:ea typeface="+mn-ea"/>
                          <a:cs typeface="+mn-cs"/>
                        </a:rPr>
                        <a:t>etc</a:t>
                      </a:r>
                      <a:endParaRPr lang="en-US" sz="1800" kern="1200" dirty="0">
                        <a:solidFill>
                          <a:schemeClr val="tx1"/>
                        </a:solidFill>
                        <a:effectLst/>
                        <a:latin typeface="+mn-lt"/>
                        <a:ea typeface="+mn-ea"/>
                        <a:cs typeface="+mn-cs"/>
                      </a:endParaRP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751722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8DD9A9-5B46-B268-A0DD-0A1F37F915B7}"/>
              </a:ext>
            </a:extLst>
          </p:cNvPr>
          <p:cNvSpPr>
            <a:spLocks noGrp="1"/>
          </p:cNvSpPr>
          <p:nvPr>
            <p:ph idx="1"/>
          </p:nvPr>
        </p:nvSpPr>
        <p:spPr>
          <a:xfrm>
            <a:off x="838200" y="375138"/>
            <a:ext cx="10515600" cy="6154616"/>
          </a:xfrm>
        </p:spPr>
        <p:txBody>
          <a:bodyPr>
            <a:normAutofit fontScale="85000" lnSpcReduction="20000"/>
          </a:bodyPr>
          <a:lstStyle/>
          <a:p>
            <a:pPr marL="0" indent="0">
              <a:buNone/>
            </a:pPr>
            <a:r>
              <a:rPr lang="en-US" sz="2400" b="1"/>
              <a:t>b)  Function Definition:</a:t>
            </a:r>
          </a:p>
          <a:p>
            <a:pPr>
              <a:lnSpc>
                <a:spcPct val="120000"/>
              </a:lnSpc>
              <a:buFont typeface="Wingdings" pitchFamily="2" charset="2"/>
              <a:buChar char="Ø"/>
            </a:pPr>
            <a:r>
              <a:rPr lang="en-US" sz="2400"/>
              <a:t>Before using the function, it must be defined. Function definition consists of the type of data type which is going to return, functions name and the data type and numbers of arguments. </a:t>
            </a:r>
          </a:p>
          <a:p>
            <a:pPr marL="0" indent="0">
              <a:buNone/>
            </a:pPr>
            <a:r>
              <a:rPr lang="en-US" sz="2400" b="1"/>
              <a:t>Syntax: </a:t>
            </a:r>
            <a:r>
              <a:rPr lang="en-US" sz="2400" err="1"/>
              <a:t>data_type</a:t>
            </a:r>
            <a:r>
              <a:rPr lang="en-US" sz="2400"/>
              <a:t> </a:t>
            </a:r>
            <a:r>
              <a:rPr lang="en-US" sz="2400" err="1"/>
              <a:t>function_name</a:t>
            </a:r>
            <a:r>
              <a:rPr lang="en-US" sz="2400"/>
              <a:t>( argument 1, argument 2, argument 3,….)  where</a:t>
            </a:r>
          </a:p>
          <a:p>
            <a:pPr marL="0" indent="0">
              <a:buNone/>
            </a:pPr>
            <a:r>
              <a:rPr lang="en-NP" sz="2400"/>
              <a:t>			</a:t>
            </a:r>
          </a:p>
          <a:p>
            <a:pPr marL="0" indent="0">
              <a:buNone/>
            </a:pPr>
            <a:endParaRPr lang="en-NP" sz="2400"/>
          </a:p>
          <a:p>
            <a:pPr marL="0" indent="0">
              <a:buNone/>
            </a:pPr>
            <a:endParaRPr lang="en-NP" sz="2400"/>
          </a:p>
          <a:p>
            <a:pPr marL="0" indent="0">
              <a:buNone/>
            </a:pPr>
            <a:endParaRPr lang="en-NP" sz="2400"/>
          </a:p>
          <a:p>
            <a:pPr marL="0" indent="0">
              <a:buNone/>
            </a:pPr>
            <a:endParaRPr lang="en-US" sz="1900" b="1"/>
          </a:p>
          <a:p>
            <a:pPr marL="0" indent="0">
              <a:buNone/>
            </a:pPr>
            <a:endParaRPr lang="en-US" sz="1900" b="1"/>
          </a:p>
          <a:p>
            <a:pPr marL="0" indent="0">
              <a:buNone/>
            </a:pPr>
            <a:r>
              <a:rPr lang="en-US" sz="2100" b="1"/>
              <a:t>Example:</a:t>
            </a:r>
            <a:endParaRPr lang="en-US" sz="2100"/>
          </a:p>
          <a:p>
            <a:pPr marL="0" indent="0">
              <a:buNone/>
            </a:pPr>
            <a:r>
              <a:rPr lang="en-US" sz="1900"/>
              <a:t>	</a:t>
            </a:r>
            <a:r>
              <a:rPr lang="en-US" sz="2100"/>
              <a:t>int area (int l, int b)</a:t>
            </a:r>
          </a:p>
          <a:p>
            <a:pPr marL="0" indent="0">
              <a:buNone/>
            </a:pPr>
            <a:r>
              <a:rPr lang="en-US" sz="2100"/>
              <a:t>	{ int a; </a:t>
            </a:r>
          </a:p>
          <a:p>
            <a:pPr marL="0" indent="0">
              <a:buNone/>
            </a:pPr>
            <a:r>
              <a:rPr lang="en-US" sz="2100"/>
              <a:t>	a = l*b </a:t>
            </a:r>
          </a:p>
          <a:p>
            <a:pPr marL="0" indent="0">
              <a:buNone/>
            </a:pPr>
            <a:r>
              <a:rPr lang="en-US" sz="2100"/>
              <a:t>	return (a)</a:t>
            </a:r>
          </a:p>
          <a:p>
            <a:pPr marL="0" indent="0">
              <a:buNone/>
            </a:pPr>
            <a:r>
              <a:rPr lang="en-US" sz="2100"/>
              <a:t>	}</a:t>
            </a:r>
          </a:p>
          <a:p>
            <a:pPr marL="0" indent="0">
              <a:buNone/>
            </a:pPr>
            <a:r>
              <a:rPr lang="en-US" sz="2400"/>
              <a:t>In the above example, area is the name of function, l and b are the argument that are used to</a:t>
            </a:r>
          </a:p>
          <a:p>
            <a:pPr marL="0" indent="0">
              <a:buNone/>
            </a:pPr>
            <a:r>
              <a:rPr lang="en-US" sz="2400"/>
              <a:t>receive the value sent by calling statement and return value after processing.</a:t>
            </a:r>
          </a:p>
          <a:p>
            <a:pPr marL="0" indent="0">
              <a:buNone/>
            </a:pPr>
            <a:endParaRPr lang="en-NP" sz="2400"/>
          </a:p>
          <a:p>
            <a:pPr marL="0" indent="0">
              <a:buNone/>
            </a:pPr>
            <a:endParaRPr lang="en-NP" sz="2400"/>
          </a:p>
          <a:p>
            <a:pPr marL="0" indent="0">
              <a:buNone/>
            </a:pPr>
            <a:endParaRPr lang="en-NP"/>
          </a:p>
        </p:txBody>
      </p:sp>
      <p:graphicFrame>
        <p:nvGraphicFramePr>
          <p:cNvPr id="4" name="Table 3">
            <a:extLst>
              <a:ext uri="{FF2B5EF4-FFF2-40B4-BE49-F238E27FC236}">
                <a16:creationId xmlns:a16="http://schemas.microsoft.com/office/drawing/2014/main" id="{636DA5E3-6EEB-1AE3-75FC-4A420E07C1B1}"/>
              </a:ext>
            </a:extLst>
          </p:cNvPr>
          <p:cNvGraphicFramePr>
            <a:graphicFrameLocks noGrp="1"/>
          </p:cNvGraphicFramePr>
          <p:nvPr>
            <p:extLst>
              <p:ext uri="{D42A27DB-BD31-4B8C-83A1-F6EECF244321}">
                <p14:modId xmlns:p14="http://schemas.microsoft.com/office/powerpoint/2010/main" val="2349624490"/>
              </p:ext>
            </p:extLst>
          </p:nvPr>
        </p:nvGraphicFramePr>
        <p:xfrm>
          <a:off x="1164490" y="2024611"/>
          <a:ext cx="8128000" cy="1381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data_type</a:t>
                      </a:r>
                      <a:r>
                        <a:rPr lang="en-US" sz="1800" kern="1200">
                          <a:solidFill>
                            <a:schemeClr val="tx1"/>
                          </a:solidFill>
                          <a:effectLst/>
                          <a:latin typeface="+mn-lt"/>
                          <a:ea typeface="+mn-ea"/>
                          <a:cs typeface="+mn-cs"/>
                        </a:rPr>
                        <a:t> </a:t>
                      </a:r>
                    </a:p>
                    <a:p>
                      <a:endParaRPr lang="en-NP"/>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type of data type such as int, float etc.</a:t>
                      </a: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1051125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8B891-ECC0-45EC-413F-10EB1C3533B3}"/>
              </a:ext>
            </a:extLst>
          </p:cNvPr>
          <p:cNvSpPr>
            <a:spLocks noGrp="1"/>
          </p:cNvSpPr>
          <p:nvPr>
            <p:ph idx="1"/>
          </p:nvPr>
        </p:nvSpPr>
        <p:spPr>
          <a:xfrm>
            <a:off x="838200" y="539262"/>
            <a:ext cx="10515600" cy="6072553"/>
          </a:xfrm>
        </p:spPr>
        <p:txBody>
          <a:bodyPr>
            <a:normAutofit/>
          </a:bodyPr>
          <a:lstStyle/>
          <a:p>
            <a:pPr marL="0" indent="0" algn="just">
              <a:buNone/>
            </a:pPr>
            <a:r>
              <a:rPr lang="en-US" sz="2400" b="1"/>
              <a:t>c) Calling the function:</a:t>
            </a:r>
          </a:p>
          <a:p>
            <a:pPr marL="0" indent="0" algn="just">
              <a:buNone/>
            </a:pPr>
            <a:r>
              <a:rPr lang="en-US" sz="2400"/>
              <a:t>The functions are defined for calling. It can be called anytime from anywhere in the program. A call function is written with the function name exactly defined. It is followed by the list of arguments that are declared during the definition. </a:t>
            </a:r>
            <a:r>
              <a:rPr lang="en-US" sz="2400" b="1"/>
              <a:t>Syntax</a:t>
            </a:r>
            <a:r>
              <a:rPr lang="en-US" sz="2400"/>
              <a:t>: variable = </a:t>
            </a:r>
            <a:r>
              <a:rPr lang="en-US" sz="2400" err="1"/>
              <a:t>function_name</a:t>
            </a:r>
            <a:r>
              <a:rPr lang="en-US" sz="2400"/>
              <a:t> (argument 1, argument 2, argument 3,……..)</a:t>
            </a:r>
          </a:p>
          <a:p>
            <a:pPr marL="0" indent="0" algn="just">
              <a:buNone/>
            </a:pPr>
            <a:r>
              <a:rPr lang="en-US" sz="2400"/>
              <a:t>Where,</a:t>
            </a:r>
          </a:p>
          <a:p>
            <a:pPr marL="0" indent="0" algn="just">
              <a:buNone/>
            </a:pPr>
            <a:r>
              <a:rPr lang="en-NP" sz="2400"/>
              <a:t>	</a:t>
            </a:r>
          </a:p>
          <a:p>
            <a:pPr marL="0" indent="0" algn="just">
              <a:buNone/>
            </a:pPr>
            <a:endParaRPr lang="en-NP" sz="2400"/>
          </a:p>
          <a:p>
            <a:pPr marL="0" indent="0" algn="just">
              <a:buNone/>
            </a:pPr>
            <a:endParaRPr lang="en-NP" sz="2400"/>
          </a:p>
          <a:p>
            <a:pPr marL="0" indent="0">
              <a:buNone/>
            </a:pPr>
            <a:endParaRPr lang="en-US" sz="2400" b="1"/>
          </a:p>
          <a:p>
            <a:pPr marL="0" indent="0">
              <a:buNone/>
            </a:pPr>
            <a:r>
              <a:rPr lang="en-US" sz="2400" b="1"/>
              <a:t>Example:</a:t>
            </a:r>
            <a:endParaRPr lang="en-US" sz="2400"/>
          </a:p>
          <a:p>
            <a:pPr marL="0" indent="0">
              <a:buNone/>
            </a:pPr>
            <a:r>
              <a:rPr lang="en-US" sz="2400"/>
              <a:t>x = area (l, b); sum (a, b);</a:t>
            </a:r>
          </a:p>
          <a:p>
            <a:pPr marL="0" indent="0" algn="just">
              <a:buNone/>
            </a:pPr>
            <a:endParaRPr lang="en-NP" sz="2400"/>
          </a:p>
        </p:txBody>
      </p:sp>
      <p:graphicFrame>
        <p:nvGraphicFramePr>
          <p:cNvPr id="4" name="Table 3">
            <a:extLst>
              <a:ext uri="{FF2B5EF4-FFF2-40B4-BE49-F238E27FC236}">
                <a16:creationId xmlns:a16="http://schemas.microsoft.com/office/drawing/2014/main" id="{E0DD202D-9EF5-B5DA-5620-ED887BF61E75}"/>
              </a:ext>
            </a:extLst>
          </p:cNvPr>
          <p:cNvGraphicFramePr>
            <a:graphicFrameLocks noGrp="1"/>
          </p:cNvGraphicFramePr>
          <p:nvPr>
            <p:extLst>
              <p:ext uri="{D42A27DB-BD31-4B8C-83A1-F6EECF244321}">
                <p14:modId xmlns:p14="http://schemas.microsoft.com/office/powerpoint/2010/main" val="2105973069"/>
              </p:ext>
            </p:extLst>
          </p:nvPr>
        </p:nvGraphicFramePr>
        <p:xfrm>
          <a:off x="1094152" y="3100204"/>
          <a:ext cx="8128000" cy="13817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23437115"/>
                    </a:ext>
                  </a:extLst>
                </a:gridCol>
                <a:gridCol w="4064000">
                  <a:extLst>
                    <a:ext uri="{9D8B030D-6E8A-4147-A177-3AD203B41FA5}">
                      <a16:colId xmlns:a16="http://schemas.microsoft.com/office/drawing/2014/main" val="221298109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variable</a:t>
                      </a:r>
                    </a:p>
                    <a:p>
                      <a:endParaRPr lang="en-NP"/>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name that variable that store returned value</a:t>
                      </a:r>
                    </a:p>
                  </a:txBody>
                  <a:tcPr/>
                </a:tc>
                <a:extLst>
                  <a:ext uri="{0D108BD9-81ED-4DB2-BD59-A6C34878D82A}">
                    <a16:rowId xmlns:a16="http://schemas.microsoft.com/office/drawing/2014/main" val="26942853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err="1">
                          <a:solidFill>
                            <a:schemeClr val="tx1"/>
                          </a:solidFill>
                          <a:effectLst/>
                          <a:latin typeface="+mn-lt"/>
                          <a:ea typeface="+mn-ea"/>
                          <a:cs typeface="+mn-cs"/>
                        </a:rPr>
                        <a:t>function_name</a:t>
                      </a:r>
                      <a:r>
                        <a:rPr lang="en-US" sz="1800" kern="1200">
                          <a:solidFill>
                            <a:schemeClr val="tx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name of the function</a:t>
                      </a:r>
                    </a:p>
                  </a:txBody>
                  <a:tcPr/>
                </a:tc>
                <a:extLst>
                  <a:ext uri="{0D108BD9-81ED-4DB2-BD59-A6C34878D82A}">
                    <a16:rowId xmlns:a16="http://schemas.microsoft.com/office/drawing/2014/main" val="1710854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argument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a:solidFill>
                            <a:schemeClr val="tx1"/>
                          </a:solidFill>
                          <a:effectLst/>
                          <a:latin typeface="+mn-lt"/>
                          <a:ea typeface="+mn-ea"/>
                          <a:cs typeface="+mn-cs"/>
                        </a:rPr>
                        <a:t>the list of variable</a:t>
                      </a:r>
                    </a:p>
                  </a:txBody>
                  <a:tcPr/>
                </a:tc>
                <a:extLst>
                  <a:ext uri="{0D108BD9-81ED-4DB2-BD59-A6C34878D82A}">
                    <a16:rowId xmlns:a16="http://schemas.microsoft.com/office/drawing/2014/main" val="2950001175"/>
                  </a:ext>
                </a:extLst>
              </a:tr>
            </a:tbl>
          </a:graphicData>
        </a:graphic>
      </p:graphicFrame>
    </p:spTree>
    <p:extLst>
      <p:ext uri="{BB962C8B-B14F-4D97-AF65-F5344CB8AC3E}">
        <p14:creationId xmlns:p14="http://schemas.microsoft.com/office/powerpoint/2010/main" val="1132992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5AA789-0EFD-4D15-6456-9185386BC4AC}"/>
              </a:ext>
            </a:extLst>
          </p:cNvPr>
          <p:cNvSpPr>
            <a:spLocks noGrp="1"/>
          </p:cNvSpPr>
          <p:nvPr>
            <p:ph idx="1"/>
          </p:nvPr>
        </p:nvSpPr>
        <p:spPr>
          <a:xfrm>
            <a:off x="838200" y="422031"/>
            <a:ext cx="10515600" cy="5754932"/>
          </a:xfrm>
        </p:spPr>
        <p:txBody>
          <a:bodyPr>
            <a:normAutofit/>
          </a:bodyPr>
          <a:lstStyle/>
          <a:p>
            <a:pPr marL="0" indent="0" algn="just">
              <a:buNone/>
            </a:pPr>
            <a:endParaRPr lang="en-NP" sz="2400"/>
          </a:p>
          <a:p>
            <a:pPr marL="0" indent="0" algn="just">
              <a:buNone/>
            </a:pPr>
            <a:r>
              <a:rPr lang="en-NP" sz="2400" b="1"/>
              <a:t>d) </a:t>
            </a:r>
            <a:r>
              <a:rPr lang="en-US" sz="2400" b="1"/>
              <a:t> Return statement:</a:t>
            </a:r>
          </a:p>
          <a:p>
            <a:pPr marL="0" indent="0" algn="just">
              <a:buNone/>
            </a:pPr>
            <a:r>
              <a:rPr lang="en-US" sz="2400"/>
              <a:t>After manipulation data within the function, the final value should be returned. The final value is returned by using the return statement to the calling module. The return keyword followed variable or expression that going to return. The return statement returns single value at a time.</a:t>
            </a:r>
          </a:p>
          <a:p>
            <a:pPr marL="0" indent="0" algn="just">
              <a:buNone/>
            </a:pPr>
            <a:r>
              <a:rPr lang="en-US" sz="2400" b="1"/>
              <a:t>Syntax</a:t>
            </a:r>
            <a:r>
              <a:rPr lang="en-US" sz="2400"/>
              <a:t>: return expression</a:t>
            </a:r>
          </a:p>
          <a:p>
            <a:pPr marL="0" indent="0" algn="just">
              <a:buNone/>
            </a:pPr>
            <a:r>
              <a:rPr lang="en-US" sz="2400"/>
              <a:t>Where, expression is the value that is going to return. </a:t>
            </a:r>
          </a:p>
          <a:p>
            <a:pPr marL="0" indent="0" algn="just">
              <a:buNone/>
            </a:pPr>
            <a:r>
              <a:rPr lang="en-US" sz="2400" b="1"/>
              <a:t>Example</a:t>
            </a:r>
            <a:r>
              <a:rPr lang="en-US" sz="2400"/>
              <a:t>: return a; </a:t>
            </a:r>
          </a:p>
          <a:p>
            <a:pPr marL="0" indent="0" algn="just">
              <a:buNone/>
            </a:pPr>
            <a:endParaRPr lang="en-NP" sz="2400"/>
          </a:p>
        </p:txBody>
      </p:sp>
    </p:spTree>
    <p:extLst>
      <p:ext uri="{BB962C8B-B14F-4D97-AF65-F5344CB8AC3E}">
        <p14:creationId xmlns:p14="http://schemas.microsoft.com/office/powerpoint/2010/main" val="182180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71F00-1BAA-522F-5187-2FBE0E8C5856}"/>
              </a:ext>
            </a:extLst>
          </p:cNvPr>
          <p:cNvSpPr>
            <a:spLocks noGrp="1"/>
          </p:cNvSpPr>
          <p:nvPr>
            <p:ph idx="1"/>
          </p:nvPr>
        </p:nvSpPr>
        <p:spPr>
          <a:xfrm>
            <a:off x="838199" y="88136"/>
            <a:ext cx="11236287" cy="6654187"/>
          </a:xfrm>
        </p:spPr>
        <p:txBody>
          <a:bodyPr>
            <a:noAutofit/>
          </a:bodyPr>
          <a:lstStyle/>
          <a:p>
            <a:pPr marL="0" indent="0">
              <a:lnSpc>
                <a:spcPct val="120000"/>
              </a:lnSpc>
              <a:spcBef>
                <a:spcPts val="0"/>
              </a:spcBef>
              <a:buNone/>
            </a:pPr>
            <a:r>
              <a:rPr lang="en-US" sz="1800" b="1" i="1" dirty="0"/>
              <a:t>Example-1. Write a program to input any two numbers and find sum of the number.</a:t>
            </a:r>
            <a:endParaRPr lang="en-US" sz="1800" dirty="0"/>
          </a:p>
          <a:p>
            <a:pPr marL="0" indent="0">
              <a:lnSpc>
                <a:spcPct val="120000"/>
              </a:lnSpc>
              <a:spcBef>
                <a:spcPts val="0"/>
              </a:spcBef>
              <a:buNone/>
            </a:pPr>
            <a:r>
              <a:rPr lang="en-US" sz="1800" b="1" dirty="0"/>
              <a:t>#include&lt;stdio.h&gt;</a:t>
            </a:r>
          </a:p>
          <a:p>
            <a:pPr marL="0" indent="0">
              <a:lnSpc>
                <a:spcPct val="120000"/>
              </a:lnSpc>
              <a:spcBef>
                <a:spcPts val="0"/>
              </a:spcBef>
              <a:buNone/>
            </a:pPr>
            <a:r>
              <a:rPr lang="en-US" sz="1800" b="1" dirty="0">
                <a:highlight>
                  <a:srgbClr val="00FF00"/>
                </a:highlight>
              </a:rPr>
              <a:t>int sum (int, int);</a:t>
            </a:r>
            <a:r>
              <a:rPr lang="en-US" sz="1800" b="1" dirty="0"/>
              <a:t>	 </a:t>
            </a:r>
            <a:r>
              <a:rPr lang="en-US" sz="1800" b="1" dirty="0">
                <a:highlight>
                  <a:srgbClr val="FFFF00"/>
                </a:highlight>
              </a:rPr>
              <a:t>//---------------------------- function prototype declaration</a:t>
            </a:r>
          </a:p>
          <a:p>
            <a:pPr marL="0" indent="0">
              <a:lnSpc>
                <a:spcPct val="120000"/>
              </a:lnSpc>
              <a:spcBef>
                <a:spcPts val="0"/>
              </a:spcBef>
              <a:buNone/>
            </a:pPr>
            <a:r>
              <a:rPr lang="en-US" sz="1800" b="1" dirty="0">
                <a:highlight>
                  <a:srgbClr val="00FFFF"/>
                </a:highlight>
              </a:rPr>
              <a:t>int main ( )</a:t>
            </a:r>
          </a:p>
          <a:p>
            <a:pPr marL="0" indent="0">
              <a:lnSpc>
                <a:spcPct val="120000"/>
              </a:lnSpc>
              <a:spcBef>
                <a:spcPts val="0"/>
              </a:spcBef>
              <a:buNone/>
            </a:pPr>
            <a:r>
              <a:rPr lang="en-US" sz="1800" b="1" dirty="0">
                <a:highlight>
                  <a:srgbClr val="00FFFF"/>
                </a:highlight>
              </a:rPr>
              <a:t>{</a:t>
            </a:r>
          </a:p>
          <a:p>
            <a:pPr marL="0" indent="0">
              <a:lnSpc>
                <a:spcPct val="120000"/>
              </a:lnSpc>
              <a:spcBef>
                <a:spcPts val="0"/>
              </a:spcBef>
              <a:buNone/>
            </a:pPr>
            <a:r>
              <a:rPr lang="en-US" sz="1800" b="1" dirty="0">
                <a:highlight>
                  <a:srgbClr val="00FFFF"/>
                </a:highlight>
              </a:rPr>
              <a:t>int a, b, s;</a:t>
            </a:r>
          </a:p>
          <a:p>
            <a:pPr marL="0" indent="0">
              <a:lnSpc>
                <a:spcPct val="120000"/>
              </a:lnSpc>
              <a:spcBef>
                <a:spcPts val="0"/>
              </a:spcBef>
              <a:buNone/>
            </a:pPr>
            <a:r>
              <a:rPr lang="en-US" sz="1800" b="1" dirty="0">
                <a:highlight>
                  <a:srgbClr val="00FFFF"/>
                </a:highlight>
              </a:rPr>
              <a:t>printf ("\n Enter first number");</a:t>
            </a:r>
          </a:p>
          <a:p>
            <a:pPr marL="0" indent="0">
              <a:lnSpc>
                <a:spcPct val="120000"/>
              </a:lnSpc>
              <a:spcBef>
                <a:spcPts val="0"/>
              </a:spcBef>
              <a:buNone/>
            </a:pPr>
            <a:r>
              <a:rPr lang="en-US" sz="1800" b="1" dirty="0">
                <a:highlight>
                  <a:srgbClr val="00FFFF"/>
                </a:highlight>
              </a:rPr>
              <a:t>scanf ("%d", &amp;a);</a:t>
            </a:r>
          </a:p>
          <a:p>
            <a:pPr marL="0" indent="0">
              <a:lnSpc>
                <a:spcPct val="120000"/>
              </a:lnSpc>
              <a:spcBef>
                <a:spcPts val="0"/>
              </a:spcBef>
              <a:buNone/>
            </a:pPr>
            <a:r>
              <a:rPr lang="en-US" sz="1800" b="1" dirty="0">
                <a:highlight>
                  <a:srgbClr val="00FFFF"/>
                </a:highlight>
              </a:rPr>
              <a:t>printf ("\n Enter second number");</a:t>
            </a:r>
          </a:p>
          <a:p>
            <a:pPr marL="0" indent="0">
              <a:lnSpc>
                <a:spcPct val="120000"/>
              </a:lnSpc>
              <a:spcBef>
                <a:spcPts val="0"/>
              </a:spcBef>
              <a:buNone/>
            </a:pPr>
            <a:r>
              <a:rPr lang="en-US" sz="1800" b="1" dirty="0">
                <a:highlight>
                  <a:srgbClr val="00FFFF"/>
                </a:highlight>
              </a:rPr>
              <a:t>scanf ("%d", &amp;b);</a:t>
            </a:r>
          </a:p>
          <a:p>
            <a:pPr marL="0" indent="0">
              <a:lnSpc>
                <a:spcPct val="120000"/>
              </a:lnSpc>
              <a:spcBef>
                <a:spcPts val="0"/>
              </a:spcBef>
              <a:buNone/>
            </a:pPr>
            <a:r>
              <a:rPr lang="en-US" sz="1800" b="1" dirty="0">
                <a:highlight>
                  <a:srgbClr val="00FFFF"/>
                </a:highlight>
              </a:rPr>
              <a:t>s = sum (a, b); 	</a:t>
            </a:r>
            <a:r>
              <a:rPr lang="en-US" sz="1800" b="1" dirty="0">
                <a:highlight>
                  <a:srgbClr val="FFFF00"/>
                </a:highlight>
              </a:rPr>
              <a:t>//-------------------- calling function</a:t>
            </a:r>
          </a:p>
          <a:p>
            <a:pPr marL="0" indent="0">
              <a:lnSpc>
                <a:spcPct val="120000"/>
              </a:lnSpc>
              <a:spcBef>
                <a:spcPts val="0"/>
              </a:spcBef>
              <a:buNone/>
            </a:pPr>
            <a:r>
              <a:rPr lang="en-US" sz="1800" b="1" dirty="0">
                <a:highlight>
                  <a:srgbClr val="00FFFF"/>
                </a:highlight>
              </a:rPr>
              <a:t>printf ("\n The sum is %d", s);</a:t>
            </a:r>
          </a:p>
          <a:p>
            <a:pPr marL="0" indent="0">
              <a:lnSpc>
                <a:spcPct val="120000"/>
              </a:lnSpc>
              <a:spcBef>
                <a:spcPts val="0"/>
              </a:spcBef>
              <a:buNone/>
            </a:pPr>
            <a:r>
              <a:rPr lang="en-US" sz="1800" b="1" dirty="0">
                <a:highlight>
                  <a:srgbClr val="00FFFF"/>
                </a:highlight>
              </a:rPr>
              <a:t>return 0;</a:t>
            </a:r>
          </a:p>
          <a:p>
            <a:pPr marL="0" indent="0">
              <a:lnSpc>
                <a:spcPct val="120000"/>
              </a:lnSpc>
              <a:spcBef>
                <a:spcPts val="0"/>
              </a:spcBef>
              <a:buNone/>
            </a:pPr>
            <a:r>
              <a:rPr lang="en-US" sz="1800" b="1" dirty="0">
                <a:highlight>
                  <a:srgbClr val="00FFFF"/>
                </a:highlight>
              </a:rPr>
              <a:t>}</a:t>
            </a:r>
          </a:p>
          <a:p>
            <a:pPr marL="0" indent="0">
              <a:lnSpc>
                <a:spcPct val="120000"/>
              </a:lnSpc>
              <a:spcBef>
                <a:spcPts val="0"/>
              </a:spcBef>
              <a:buNone/>
            </a:pPr>
            <a:r>
              <a:rPr lang="en-US" sz="1800" b="1" dirty="0">
                <a:highlight>
                  <a:srgbClr val="00FF00"/>
                </a:highlight>
              </a:rPr>
              <a:t>int sum (int a, int b)   </a:t>
            </a:r>
            <a:r>
              <a:rPr lang="en-US" sz="1800" b="1" dirty="0">
                <a:highlight>
                  <a:srgbClr val="FFFF00"/>
                </a:highlight>
              </a:rPr>
              <a:t>//------------ function </a:t>
            </a:r>
            <a:r>
              <a:rPr lang="en-US" sz="1800" b="1" dirty="0" err="1">
                <a:highlight>
                  <a:srgbClr val="FFFF00"/>
                </a:highlight>
              </a:rPr>
              <a:t>defination</a:t>
            </a:r>
            <a:endParaRPr lang="en-US" sz="1800" b="1" dirty="0">
              <a:highlight>
                <a:srgbClr val="FFFF00"/>
              </a:highlight>
            </a:endParaRPr>
          </a:p>
          <a:p>
            <a:pPr marL="0" indent="0">
              <a:lnSpc>
                <a:spcPct val="120000"/>
              </a:lnSpc>
              <a:spcBef>
                <a:spcPts val="0"/>
              </a:spcBef>
              <a:buNone/>
            </a:pPr>
            <a:r>
              <a:rPr lang="en-US" sz="1800" b="1" dirty="0">
                <a:highlight>
                  <a:srgbClr val="FF00FF"/>
                </a:highlight>
              </a:rPr>
              <a:t>{</a:t>
            </a:r>
          </a:p>
          <a:p>
            <a:pPr marL="0" indent="0">
              <a:lnSpc>
                <a:spcPct val="120000"/>
              </a:lnSpc>
              <a:spcBef>
                <a:spcPts val="0"/>
              </a:spcBef>
              <a:buNone/>
            </a:pPr>
            <a:r>
              <a:rPr lang="en-US" sz="1800" b="1" dirty="0">
                <a:highlight>
                  <a:srgbClr val="FF00FF"/>
                </a:highlight>
              </a:rPr>
              <a:t>int t;</a:t>
            </a:r>
          </a:p>
          <a:p>
            <a:pPr marL="0" indent="0">
              <a:lnSpc>
                <a:spcPct val="120000"/>
              </a:lnSpc>
              <a:spcBef>
                <a:spcPts val="0"/>
              </a:spcBef>
              <a:buNone/>
            </a:pPr>
            <a:r>
              <a:rPr lang="en-US" sz="1800" b="1" dirty="0">
                <a:highlight>
                  <a:srgbClr val="FF00FF"/>
                </a:highlight>
              </a:rPr>
              <a:t>t = a + b;</a:t>
            </a:r>
          </a:p>
          <a:p>
            <a:pPr marL="0" indent="0">
              <a:lnSpc>
                <a:spcPct val="120000"/>
              </a:lnSpc>
              <a:spcBef>
                <a:spcPts val="0"/>
              </a:spcBef>
              <a:buNone/>
            </a:pPr>
            <a:r>
              <a:rPr lang="en-US" sz="1800" b="1" dirty="0">
                <a:highlight>
                  <a:srgbClr val="FF00FF"/>
                </a:highlight>
              </a:rPr>
              <a:t>return (t);      </a:t>
            </a:r>
            <a:r>
              <a:rPr lang="en-US" sz="1800" b="1" dirty="0">
                <a:highlight>
                  <a:srgbClr val="FFFF00"/>
                </a:highlight>
              </a:rPr>
              <a:t>//-------------------------- returning value//return statement</a:t>
            </a:r>
          </a:p>
          <a:p>
            <a:pPr marL="0" indent="0">
              <a:lnSpc>
                <a:spcPct val="120000"/>
              </a:lnSpc>
              <a:spcBef>
                <a:spcPts val="0"/>
              </a:spcBef>
              <a:buNone/>
            </a:pPr>
            <a:r>
              <a:rPr lang="en-US" sz="1800" b="1" dirty="0">
                <a:highlight>
                  <a:srgbClr val="FF00FF"/>
                </a:highlight>
              </a:rPr>
              <a:t>}</a:t>
            </a:r>
          </a:p>
          <a:p>
            <a:pPr marL="0" indent="0">
              <a:lnSpc>
                <a:spcPct val="120000"/>
              </a:lnSpc>
              <a:spcBef>
                <a:spcPts val="0"/>
              </a:spcBef>
              <a:buNone/>
            </a:pPr>
            <a:endParaRPr lang="en-NP" sz="1800" dirty="0"/>
          </a:p>
        </p:txBody>
      </p:sp>
      <p:pic>
        <p:nvPicPr>
          <p:cNvPr id="2" name="Picture 1">
            <a:extLst>
              <a:ext uri="{FF2B5EF4-FFF2-40B4-BE49-F238E27FC236}">
                <a16:creationId xmlns:a16="http://schemas.microsoft.com/office/drawing/2014/main" id="{E9846859-E6BD-D450-50E7-09CE44242267}"/>
              </a:ext>
            </a:extLst>
          </p:cNvPr>
          <p:cNvPicPr>
            <a:picLocks noChangeAspect="1"/>
          </p:cNvPicPr>
          <p:nvPr/>
        </p:nvPicPr>
        <p:blipFill>
          <a:blip r:embed="rId2"/>
          <a:stretch>
            <a:fillRect/>
          </a:stretch>
        </p:blipFill>
        <p:spPr>
          <a:xfrm>
            <a:off x="6176647" y="4740893"/>
            <a:ext cx="4025900" cy="1257300"/>
          </a:xfrm>
          <a:prstGeom prst="rect">
            <a:avLst/>
          </a:prstGeom>
        </p:spPr>
      </p:pic>
      <p:pic>
        <p:nvPicPr>
          <p:cNvPr id="4" name="Picture 3">
            <a:extLst>
              <a:ext uri="{FF2B5EF4-FFF2-40B4-BE49-F238E27FC236}">
                <a16:creationId xmlns:a16="http://schemas.microsoft.com/office/drawing/2014/main" id="{C59F5186-C8D1-861B-4657-8ADA7C838D36}"/>
              </a:ext>
            </a:extLst>
          </p:cNvPr>
          <p:cNvPicPr>
            <a:picLocks noChangeAspect="1"/>
          </p:cNvPicPr>
          <p:nvPr/>
        </p:nvPicPr>
        <p:blipFill>
          <a:blip r:embed="rId3"/>
          <a:stretch>
            <a:fillRect/>
          </a:stretch>
        </p:blipFill>
        <p:spPr>
          <a:xfrm>
            <a:off x="5849955" y="1129229"/>
            <a:ext cx="4997067" cy="2286000"/>
          </a:xfrm>
          <a:prstGeom prst="rect">
            <a:avLst/>
          </a:prstGeom>
        </p:spPr>
      </p:pic>
      <p:sp>
        <p:nvSpPr>
          <p:cNvPr id="6" name="Arc 5">
            <a:extLst>
              <a:ext uri="{FF2B5EF4-FFF2-40B4-BE49-F238E27FC236}">
                <a16:creationId xmlns:a16="http://schemas.microsoft.com/office/drawing/2014/main" id="{653290A7-D4AA-E7C2-0939-934A25A1F6E7}"/>
              </a:ext>
            </a:extLst>
          </p:cNvPr>
          <p:cNvSpPr/>
          <p:nvPr/>
        </p:nvSpPr>
        <p:spPr>
          <a:xfrm>
            <a:off x="436469" y="5159336"/>
            <a:ext cx="605927" cy="1472817"/>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7" name="TextBox 6">
            <a:extLst>
              <a:ext uri="{FF2B5EF4-FFF2-40B4-BE49-F238E27FC236}">
                <a16:creationId xmlns:a16="http://schemas.microsoft.com/office/drawing/2014/main" id="{04585470-275F-1D5A-C55C-F93628DBF597}"/>
              </a:ext>
            </a:extLst>
          </p:cNvPr>
          <p:cNvSpPr txBox="1"/>
          <p:nvPr/>
        </p:nvSpPr>
        <p:spPr>
          <a:xfrm rot="16200000">
            <a:off x="-658000" y="5695690"/>
            <a:ext cx="1760738" cy="400110"/>
          </a:xfrm>
          <a:prstGeom prst="rect">
            <a:avLst/>
          </a:prstGeom>
          <a:noFill/>
        </p:spPr>
        <p:txBody>
          <a:bodyPr wrap="none" rtlCol="0">
            <a:spAutoFit/>
          </a:bodyPr>
          <a:lstStyle/>
          <a:p>
            <a:r>
              <a:rPr lang="en-US" sz="2000">
                <a:highlight>
                  <a:srgbClr val="FFFF00"/>
                </a:highlight>
              </a:rPr>
              <a:t>F</a:t>
            </a:r>
            <a:r>
              <a:rPr lang="en-NP" sz="2000">
                <a:highlight>
                  <a:srgbClr val="FFFF00"/>
                </a:highlight>
              </a:rPr>
              <a:t>unction body</a:t>
            </a:r>
          </a:p>
        </p:txBody>
      </p:sp>
      <p:sp>
        <p:nvSpPr>
          <p:cNvPr id="5" name="TextBox 4">
            <a:extLst>
              <a:ext uri="{FF2B5EF4-FFF2-40B4-BE49-F238E27FC236}">
                <a16:creationId xmlns:a16="http://schemas.microsoft.com/office/drawing/2014/main" id="{BF592C9B-655E-0B09-C353-70BE39C61D38}"/>
              </a:ext>
            </a:extLst>
          </p:cNvPr>
          <p:cNvSpPr txBox="1"/>
          <p:nvPr/>
        </p:nvSpPr>
        <p:spPr>
          <a:xfrm>
            <a:off x="7630885" y="5607089"/>
            <a:ext cx="605927" cy="369332"/>
          </a:xfrm>
          <a:prstGeom prst="rect">
            <a:avLst/>
          </a:prstGeom>
          <a:noFill/>
        </p:spPr>
        <p:txBody>
          <a:bodyPr wrap="square" rtlCol="0">
            <a:spAutoFit/>
          </a:bodyPr>
          <a:lstStyle/>
          <a:p>
            <a:r>
              <a:rPr lang="en-NP">
                <a:highlight>
                  <a:srgbClr val="FFFF00"/>
                </a:highlight>
              </a:rPr>
              <a:t>15</a:t>
            </a:r>
          </a:p>
        </p:txBody>
      </p:sp>
    </p:spTree>
    <p:extLst>
      <p:ext uri="{BB962C8B-B14F-4D97-AF65-F5344CB8AC3E}">
        <p14:creationId xmlns:p14="http://schemas.microsoft.com/office/powerpoint/2010/main" val="2743645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D45E98C-936E-C291-9853-9B46C33A839B}"/>
              </a:ext>
            </a:extLst>
          </p:cNvPr>
          <p:cNvPicPr>
            <a:picLocks noChangeAspect="1"/>
          </p:cNvPicPr>
          <p:nvPr/>
        </p:nvPicPr>
        <p:blipFill>
          <a:blip r:embed="rId2"/>
          <a:stretch>
            <a:fillRect/>
          </a:stretch>
        </p:blipFill>
        <p:spPr>
          <a:xfrm>
            <a:off x="4135358" y="2412235"/>
            <a:ext cx="6438900" cy="1790700"/>
          </a:xfrm>
          <a:prstGeom prst="rect">
            <a:avLst/>
          </a:prstGeom>
        </p:spPr>
      </p:pic>
      <p:sp>
        <p:nvSpPr>
          <p:cNvPr id="4" name="Title 3">
            <a:extLst>
              <a:ext uri="{FF2B5EF4-FFF2-40B4-BE49-F238E27FC236}">
                <a16:creationId xmlns:a16="http://schemas.microsoft.com/office/drawing/2014/main" id="{5048D64E-26D7-5568-535C-49B61C47F93A}"/>
              </a:ext>
            </a:extLst>
          </p:cNvPr>
          <p:cNvSpPr>
            <a:spLocks noGrp="1"/>
          </p:cNvSpPr>
          <p:nvPr>
            <p:ph type="title"/>
          </p:nvPr>
        </p:nvSpPr>
        <p:spPr>
          <a:xfrm>
            <a:off x="838200" y="1"/>
            <a:ext cx="10515600" cy="1729648"/>
          </a:xfrm>
        </p:spPr>
        <p:txBody>
          <a:bodyPr>
            <a:noAutofit/>
          </a:bodyPr>
          <a:lstStyle/>
          <a:p>
            <a:br>
              <a:rPr lang="en-US" sz="2000" b="1"/>
            </a:br>
            <a:r>
              <a:rPr lang="en-US" sz="2000" b="1"/>
              <a:t>Void statement:</a:t>
            </a:r>
            <a:br>
              <a:rPr lang="en-US" sz="2000"/>
            </a:br>
            <a:r>
              <a:rPr lang="en-US" sz="2000"/>
              <a:t>If a function does not return any value to the calling module, then it is called the function’s return type is void. In this function, the function accepts the values though the arguments and execute the result within the function after the manipulation with that values.</a:t>
            </a:r>
            <a:br>
              <a:rPr lang="en-US" sz="2000"/>
            </a:br>
            <a:br>
              <a:rPr lang="en-US" sz="2000"/>
            </a:br>
            <a:r>
              <a:rPr lang="en-US" sz="1800" b="1" i="1"/>
              <a:t>Example: Write a program to input length and breadth of rectangle and find area</a:t>
            </a:r>
            <a:r>
              <a:rPr lang="en-US" sz="1800"/>
              <a:t>.</a:t>
            </a:r>
            <a:br>
              <a:rPr lang="en-US" sz="2000"/>
            </a:br>
            <a:endParaRPr lang="en-NP" sz="2000"/>
          </a:p>
        </p:txBody>
      </p:sp>
      <p:sp>
        <p:nvSpPr>
          <p:cNvPr id="5" name="Content Placeholder 4">
            <a:extLst>
              <a:ext uri="{FF2B5EF4-FFF2-40B4-BE49-F238E27FC236}">
                <a16:creationId xmlns:a16="http://schemas.microsoft.com/office/drawing/2014/main" id="{FD3C6E0E-1767-DDAA-CD58-90067EF18378}"/>
              </a:ext>
            </a:extLst>
          </p:cNvPr>
          <p:cNvSpPr>
            <a:spLocks noGrp="1"/>
          </p:cNvSpPr>
          <p:nvPr>
            <p:ph sz="half" idx="1"/>
          </p:nvPr>
        </p:nvSpPr>
        <p:spPr>
          <a:xfrm>
            <a:off x="838198" y="1817783"/>
            <a:ext cx="10889945" cy="4770305"/>
          </a:xfrm>
        </p:spPr>
        <p:txBody>
          <a:bodyPr>
            <a:normAutofit fontScale="47500" lnSpcReduction="20000"/>
          </a:bodyPr>
          <a:lstStyle/>
          <a:p>
            <a:pPr marL="0" indent="0">
              <a:lnSpc>
                <a:spcPct val="120000"/>
              </a:lnSpc>
              <a:spcBef>
                <a:spcPts val="0"/>
              </a:spcBef>
              <a:buNone/>
            </a:pPr>
            <a:r>
              <a:rPr lang="en-US" sz="3600" b="1" dirty="0"/>
              <a:t># include&lt;stdio.h&gt;</a:t>
            </a:r>
            <a:br>
              <a:rPr lang="en-US" sz="3600" b="1" dirty="0"/>
            </a:br>
            <a:r>
              <a:rPr lang="en-US" sz="3600" b="1" dirty="0">
                <a:highlight>
                  <a:srgbClr val="00FF00"/>
                </a:highlight>
              </a:rPr>
              <a:t>void</a:t>
            </a:r>
            <a:r>
              <a:rPr lang="en-US" sz="3600" b="1" dirty="0"/>
              <a:t> area (int, int); 	          </a:t>
            </a:r>
            <a:r>
              <a:rPr lang="en-US" sz="3600" b="1" dirty="0">
                <a:highlight>
                  <a:srgbClr val="FFFF00"/>
                </a:highlight>
              </a:rPr>
              <a:t>// function prototype declaration</a:t>
            </a:r>
          </a:p>
          <a:p>
            <a:pPr marL="0" indent="0">
              <a:lnSpc>
                <a:spcPct val="120000"/>
              </a:lnSpc>
              <a:spcBef>
                <a:spcPts val="0"/>
              </a:spcBef>
              <a:buNone/>
            </a:pPr>
            <a:r>
              <a:rPr lang="en-US" sz="3600" b="1" dirty="0"/>
              <a:t>int main ( )</a:t>
            </a:r>
          </a:p>
          <a:p>
            <a:pPr marL="0" indent="0">
              <a:lnSpc>
                <a:spcPct val="120000"/>
              </a:lnSpc>
              <a:spcBef>
                <a:spcPts val="0"/>
              </a:spcBef>
              <a:buNone/>
            </a:pPr>
            <a:r>
              <a:rPr lang="en-US" sz="3600" b="1" dirty="0"/>
              <a:t>{</a:t>
            </a:r>
          </a:p>
          <a:p>
            <a:pPr marL="0" indent="0">
              <a:lnSpc>
                <a:spcPct val="120000"/>
              </a:lnSpc>
              <a:spcBef>
                <a:spcPts val="0"/>
              </a:spcBef>
              <a:buNone/>
            </a:pPr>
            <a:r>
              <a:rPr lang="en-US" sz="3600" b="1" dirty="0"/>
              <a:t>int l, b, s;</a:t>
            </a:r>
          </a:p>
          <a:p>
            <a:pPr marL="0" indent="0">
              <a:lnSpc>
                <a:spcPct val="120000"/>
              </a:lnSpc>
              <a:spcBef>
                <a:spcPts val="0"/>
              </a:spcBef>
              <a:buNone/>
            </a:pPr>
            <a:r>
              <a:rPr lang="en-US" sz="3600" b="1" dirty="0"/>
              <a:t>printf ("\n Enter the length");</a:t>
            </a:r>
          </a:p>
          <a:p>
            <a:pPr marL="0" indent="0">
              <a:lnSpc>
                <a:spcPct val="120000"/>
              </a:lnSpc>
              <a:spcBef>
                <a:spcPts val="0"/>
              </a:spcBef>
              <a:buNone/>
            </a:pPr>
            <a:r>
              <a:rPr lang="en-US" sz="3600" b="1" dirty="0"/>
              <a:t>scanf ("%d", &amp; l);</a:t>
            </a:r>
          </a:p>
          <a:p>
            <a:pPr marL="0" indent="0">
              <a:lnSpc>
                <a:spcPct val="120000"/>
              </a:lnSpc>
              <a:spcBef>
                <a:spcPts val="0"/>
              </a:spcBef>
              <a:buNone/>
            </a:pPr>
            <a:r>
              <a:rPr lang="en-US" sz="3600" b="1" dirty="0"/>
              <a:t>printf ("\n Enter the breadth");</a:t>
            </a:r>
          </a:p>
          <a:p>
            <a:pPr marL="0" indent="0">
              <a:lnSpc>
                <a:spcPct val="120000"/>
              </a:lnSpc>
              <a:spcBef>
                <a:spcPts val="0"/>
              </a:spcBef>
              <a:buNone/>
            </a:pPr>
            <a:r>
              <a:rPr lang="en-US" sz="3600" b="1" dirty="0"/>
              <a:t>scanf ("%d", &amp;b);</a:t>
            </a:r>
          </a:p>
          <a:p>
            <a:pPr marL="0" indent="0">
              <a:lnSpc>
                <a:spcPct val="120000"/>
              </a:lnSpc>
              <a:spcBef>
                <a:spcPts val="0"/>
              </a:spcBef>
              <a:buNone/>
            </a:pPr>
            <a:r>
              <a:rPr lang="en-US" sz="3600" b="1" dirty="0"/>
              <a:t>area(l, b); </a:t>
            </a:r>
            <a:r>
              <a:rPr lang="en-US" sz="3600" b="1" dirty="0">
                <a:highlight>
                  <a:srgbClr val="FFFF00"/>
                </a:highlight>
              </a:rPr>
              <a:t>// Call the area function to compute and print the area</a:t>
            </a:r>
            <a:br>
              <a:rPr lang="en-US" sz="3600" b="1" dirty="0"/>
            </a:br>
            <a:r>
              <a:rPr lang="en-US" sz="3600" b="1" dirty="0"/>
              <a:t>}</a:t>
            </a:r>
          </a:p>
          <a:p>
            <a:pPr marL="0" indent="0">
              <a:lnSpc>
                <a:spcPct val="120000"/>
              </a:lnSpc>
              <a:spcBef>
                <a:spcPts val="0"/>
              </a:spcBef>
              <a:buNone/>
            </a:pPr>
            <a:r>
              <a:rPr lang="en-US" sz="3600" b="1" dirty="0">
                <a:highlight>
                  <a:srgbClr val="00FF00"/>
                </a:highlight>
              </a:rPr>
              <a:t>void</a:t>
            </a:r>
            <a:r>
              <a:rPr lang="en-US" sz="3600" b="1" dirty="0"/>
              <a:t> area (int l, int b)</a:t>
            </a:r>
          </a:p>
          <a:p>
            <a:pPr marL="0" indent="0">
              <a:lnSpc>
                <a:spcPct val="120000"/>
              </a:lnSpc>
              <a:spcBef>
                <a:spcPts val="0"/>
              </a:spcBef>
              <a:buNone/>
            </a:pPr>
            <a:r>
              <a:rPr lang="en-US" sz="3600" b="1" dirty="0"/>
              <a:t>{</a:t>
            </a:r>
          </a:p>
          <a:p>
            <a:pPr marL="0" indent="0">
              <a:lnSpc>
                <a:spcPct val="120000"/>
              </a:lnSpc>
              <a:spcBef>
                <a:spcPts val="0"/>
              </a:spcBef>
              <a:buNone/>
            </a:pPr>
            <a:r>
              <a:rPr lang="en-US" sz="3600" b="1" dirty="0"/>
              <a:t>int </a:t>
            </a:r>
            <a:r>
              <a:rPr lang="en-US" sz="3600" b="1" dirty="0" err="1"/>
              <a:t>ar</a:t>
            </a:r>
            <a:r>
              <a:rPr lang="en-US" sz="3600" b="1" dirty="0"/>
              <a:t>;</a:t>
            </a:r>
          </a:p>
          <a:p>
            <a:pPr marL="0" indent="0">
              <a:lnSpc>
                <a:spcPct val="120000"/>
              </a:lnSpc>
              <a:spcBef>
                <a:spcPts val="0"/>
              </a:spcBef>
              <a:buNone/>
            </a:pPr>
            <a:r>
              <a:rPr lang="en-US" sz="3600" b="1" dirty="0" err="1"/>
              <a:t>ar</a:t>
            </a:r>
            <a:r>
              <a:rPr lang="en-US" sz="3600" b="1" dirty="0"/>
              <a:t> = l*b;</a:t>
            </a:r>
          </a:p>
          <a:p>
            <a:pPr marL="0" indent="0">
              <a:lnSpc>
                <a:spcPct val="120000"/>
              </a:lnSpc>
              <a:spcBef>
                <a:spcPts val="0"/>
              </a:spcBef>
              <a:buNone/>
            </a:pPr>
            <a:r>
              <a:rPr lang="en-US" sz="3600" b="1" dirty="0"/>
              <a:t>printf ("\n The area is %d", </a:t>
            </a:r>
            <a:r>
              <a:rPr lang="en-US" sz="3600" b="1" dirty="0" err="1"/>
              <a:t>ar</a:t>
            </a:r>
            <a:r>
              <a:rPr lang="en-US" sz="3600" b="1" dirty="0"/>
              <a:t>);</a:t>
            </a:r>
          </a:p>
          <a:p>
            <a:pPr marL="0" indent="0">
              <a:lnSpc>
                <a:spcPct val="120000"/>
              </a:lnSpc>
              <a:spcBef>
                <a:spcPts val="0"/>
              </a:spcBef>
              <a:buNone/>
            </a:pPr>
            <a:r>
              <a:rPr lang="en-US" sz="3600" b="1" dirty="0"/>
              <a:t>}</a:t>
            </a:r>
          </a:p>
          <a:p>
            <a:pPr marL="0" indent="0">
              <a:lnSpc>
                <a:spcPct val="120000"/>
              </a:lnSpc>
              <a:spcBef>
                <a:spcPts val="0"/>
              </a:spcBef>
              <a:buNone/>
            </a:pPr>
            <a:endParaRPr lang="en-US" b="1" dirty="0"/>
          </a:p>
        </p:txBody>
      </p:sp>
      <p:pic>
        <p:nvPicPr>
          <p:cNvPr id="7" name="Content Placeholder 6">
            <a:extLst>
              <a:ext uri="{FF2B5EF4-FFF2-40B4-BE49-F238E27FC236}">
                <a16:creationId xmlns:a16="http://schemas.microsoft.com/office/drawing/2014/main" id="{AE1A6C54-9B16-7CAD-2897-546A38ED8E6B}"/>
              </a:ext>
            </a:extLst>
          </p:cNvPr>
          <p:cNvPicPr>
            <a:picLocks noGrp="1" noChangeAspect="1"/>
          </p:cNvPicPr>
          <p:nvPr>
            <p:ph sz="half" idx="2"/>
          </p:nvPr>
        </p:nvPicPr>
        <p:blipFill>
          <a:blip r:embed="rId3"/>
          <a:stretch>
            <a:fillRect/>
          </a:stretch>
        </p:blipFill>
        <p:spPr>
          <a:xfrm>
            <a:off x="4396014" y="4625849"/>
            <a:ext cx="3975100" cy="1473200"/>
          </a:xfrm>
          <a:prstGeom prst="rect">
            <a:avLst/>
          </a:prstGeom>
        </p:spPr>
      </p:pic>
    </p:spTree>
    <p:extLst>
      <p:ext uri="{BB962C8B-B14F-4D97-AF65-F5344CB8AC3E}">
        <p14:creationId xmlns:p14="http://schemas.microsoft.com/office/powerpoint/2010/main" val="2340961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B85423-8953-A937-E539-27C584E26CAF}"/>
              </a:ext>
            </a:extLst>
          </p:cNvPr>
          <p:cNvSpPr>
            <a:spLocks noGrp="1"/>
          </p:cNvSpPr>
          <p:nvPr>
            <p:ph idx="1"/>
          </p:nvPr>
        </p:nvSpPr>
        <p:spPr>
          <a:xfrm>
            <a:off x="275422" y="143218"/>
            <a:ext cx="11788048" cy="6510969"/>
          </a:xfrm>
        </p:spPr>
        <p:txBody>
          <a:bodyPr>
            <a:normAutofit/>
          </a:bodyPr>
          <a:lstStyle/>
          <a:p>
            <a:pPr marL="0" indent="0">
              <a:buNone/>
            </a:pPr>
            <a:r>
              <a:rPr lang="en-NP" sz="2400" b="1"/>
              <a:t>(1)</a:t>
            </a:r>
            <a:r>
              <a:rPr lang="en-US" sz="2400" b="1"/>
              <a:t> Accessing the function passing by value</a:t>
            </a:r>
          </a:p>
          <a:p>
            <a:pPr>
              <a:buFont typeface="Wingdings" pitchFamily="2" charset="2"/>
              <a:buChar char="Ø"/>
            </a:pPr>
            <a:r>
              <a:rPr lang="en-US" sz="2400"/>
              <a:t>The function can be used in different way. On the basis of passing value to the function and returning value to the calling module, the different method/categories of </a:t>
            </a:r>
          </a:p>
          <a:p>
            <a:pPr marL="0" indent="0">
              <a:buNone/>
            </a:pPr>
            <a:r>
              <a:rPr lang="en-US" sz="2400"/>
              <a:t>      </a:t>
            </a:r>
            <a:r>
              <a:rPr lang="en-US" sz="2400" b="1"/>
              <a:t>User Defined Function can be defined as follow:</a:t>
            </a:r>
          </a:p>
          <a:p>
            <a:pPr marL="514350" indent="-514350">
              <a:buFont typeface="+mj-lt"/>
              <a:buAutoNum type="alphaLcParenR"/>
            </a:pPr>
            <a:r>
              <a:rPr lang="en-US" sz="2400" b="1"/>
              <a:t>Functions </a:t>
            </a:r>
            <a:r>
              <a:rPr lang="en-US" sz="2400" b="1">
                <a:highlight>
                  <a:srgbClr val="00FFFF"/>
                </a:highlight>
              </a:rPr>
              <a:t>passing arguments </a:t>
            </a:r>
            <a:r>
              <a:rPr lang="en-US" sz="2400" b="1"/>
              <a:t>and </a:t>
            </a:r>
            <a:r>
              <a:rPr lang="en-US" sz="2400" b="1">
                <a:highlight>
                  <a:srgbClr val="FFFF00"/>
                </a:highlight>
              </a:rPr>
              <a:t>returning value </a:t>
            </a:r>
            <a:r>
              <a:rPr lang="en-US" sz="2400" b="1" err="1"/>
              <a:t>eg</a:t>
            </a:r>
            <a:r>
              <a:rPr lang="en-US" sz="2400" b="1"/>
              <a:t>:      </a:t>
            </a:r>
            <a:r>
              <a:rPr lang="en-US" sz="2400" b="1">
                <a:highlight>
                  <a:srgbClr val="FFFF00"/>
                </a:highlight>
              </a:rPr>
              <a:t>int</a:t>
            </a:r>
            <a:r>
              <a:rPr lang="en-US" sz="2400" b="1">
                <a:highlight>
                  <a:srgbClr val="C0C0C0"/>
                </a:highlight>
              </a:rPr>
              <a:t> sum </a:t>
            </a:r>
            <a:r>
              <a:rPr lang="en-US" sz="2400" b="1">
                <a:highlight>
                  <a:srgbClr val="00FFFF"/>
                </a:highlight>
              </a:rPr>
              <a:t>(int, int)</a:t>
            </a:r>
          </a:p>
          <a:p>
            <a:pPr marL="514350" indent="-514350">
              <a:buFont typeface="+mj-lt"/>
              <a:buAutoNum type="alphaLcParenR"/>
            </a:pPr>
            <a:r>
              <a:rPr lang="en-US" sz="2000" b="1"/>
              <a:t>Functions </a:t>
            </a:r>
            <a:r>
              <a:rPr lang="en-US" sz="2000" b="1">
                <a:highlight>
                  <a:srgbClr val="00FFFF"/>
                </a:highlight>
              </a:rPr>
              <a:t>passing arguments </a:t>
            </a:r>
            <a:r>
              <a:rPr lang="en-US" sz="2000" b="1"/>
              <a:t>and </a:t>
            </a:r>
            <a:r>
              <a:rPr lang="en-US" sz="2000" b="1">
                <a:highlight>
                  <a:srgbClr val="FFFF00"/>
                </a:highlight>
              </a:rPr>
              <a:t>not returning value.      </a:t>
            </a:r>
            <a:r>
              <a:rPr lang="en-US" sz="2000" b="1" err="1"/>
              <a:t>eg</a:t>
            </a:r>
            <a:r>
              <a:rPr lang="en-US" sz="2000" b="1"/>
              <a:t>:  </a:t>
            </a:r>
            <a:r>
              <a:rPr lang="en-US" sz="2400" b="1">
                <a:highlight>
                  <a:srgbClr val="FFFF00"/>
                </a:highlight>
              </a:rPr>
              <a:t>void</a:t>
            </a:r>
            <a:r>
              <a:rPr lang="en-US" sz="2400" b="1">
                <a:highlight>
                  <a:srgbClr val="C0C0C0"/>
                </a:highlight>
              </a:rPr>
              <a:t> sum</a:t>
            </a:r>
            <a:r>
              <a:rPr lang="en-US" sz="2400" b="1">
                <a:highlight>
                  <a:srgbClr val="00FFFF"/>
                </a:highlight>
              </a:rPr>
              <a:t>(int, int)</a:t>
            </a:r>
            <a:endParaRPr lang="en-US" sz="2400">
              <a:highlight>
                <a:srgbClr val="00FFFF"/>
              </a:highlight>
            </a:endParaRPr>
          </a:p>
          <a:p>
            <a:pPr marL="514350" indent="-514350">
              <a:buFont typeface="+mj-lt"/>
              <a:buAutoNum type="alphaLcParenR"/>
            </a:pPr>
            <a:r>
              <a:rPr lang="en-US" sz="2400" b="1"/>
              <a:t>Function passing </a:t>
            </a:r>
            <a:r>
              <a:rPr lang="en-US" sz="2400" b="1">
                <a:highlight>
                  <a:srgbClr val="00FFFF"/>
                </a:highlight>
              </a:rPr>
              <a:t>no arguments </a:t>
            </a:r>
            <a:r>
              <a:rPr lang="en-US" sz="2400" b="1"/>
              <a:t>and </a:t>
            </a:r>
            <a:r>
              <a:rPr lang="en-US" sz="2400" b="1">
                <a:highlight>
                  <a:srgbClr val="FFFF00"/>
                </a:highlight>
              </a:rPr>
              <a:t>returning value </a:t>
            </a:r>
            <a:r>
              <a:rPr lang="en-US" sz="2400" b="1" err="1"/>
              <a:t>eg</a:t>
            </a:r>
            <a:r>
              <a:rPr lang="en-US" sz="2400" b="1"/>
              <a:t>:          </a:t>
            </a:r>
            <a:r>
              <a:rPr lang="en-US" sz="2400" b="1">
                <a:highlight>
                  <a:srgbClr val="FFFF00"/>
                </a:highlight>
              </a:rPr>
              <a:t>int</a:t>
            </a:r>
            <a:r>
              <a:rPr lang="en-US" sz="2400" b="1">
                <a:highlight>
                  <a:srgbClr val="C0C0C0"/>
                </a:highlight>
              </a:rPr>
              <a:t> sum </a:t>
            </a:r>
            <a:r>
              <a:rPr lang="en-US" sz="2400" b="1">
                <a:highlight>
                  <a:srgbClr val="00FFFF"/>
                </a:highlight>
              </a:rPr>
              <a:t>( )</a:t>
            </a:r>
            <a:endParaRPr lang="en-US" sz="2400">
              <a:highlight>
                <a:srgbClr val="00FFFF"/>
              </a:highlight>
            </a:endParaRPr>
          </a:p>
          <a:p>
            <a:pPr marL="514350" indent="-514350">
              <a:buFont typeface="+mj-lt"/>
              <a:buAutoNum type="alphaLcParenR"/>
            </a:pPr>
            <a:r>
              <a:rPr lang="en-US" sz="2400" b="1"/>
              <a:t>Function passing </a:t>
            </a:r>
            <a:r>
              <a:rPr lang="en-US" sz="2400" b="1">
                <a:highlight>
                  <a:srgbClr val="00FFFF"/>
                </a:highlight>
              </a:rPr>
              <a:t>no arguments </a:t>
            </a:r>
            <a:r>
              <a:rPr lang="en-US" sz="2400" b="1"/>
              <a:t>and </a:t>
            </a:r>
            <a:r>
              <a:rPr lang="en-US" sz="2400" b="1">
                <a:highlight>
                  <a:srgbClr val="FFFF00"/>
                </a:highlight>
              </a:rPr>
              <a:t>returning no value: </a:t>
            </a:r>
            <a:r>
              <a:rPr lang="en-US" sz="2400" b="1" err="1"/>
              <a:t>eg</a:t>
            </a:r>
            <a:r>
              <a:rPr lang="en-US" sz="2400" b="1"/>
              <a:t> :      </a:t>
            </a:r>
            <a:r>
              <a:rPr lang="en-US" sz="2400" b="1">
                <a:highlight>
                  <a:srgbClr val="FFFF00"/>
                </a:highlight>
              </a:rPr>
              <a:t>void</a:t>
            </a:r>
            <a:r>
              <a:rPr lang="en-US" sz="2400" b="1">
                <a:highlight>
                  <a:srgbClr val="C0C0C0"/>
                </a:highlight>
              </a:rPr>
              <a:t> sum </a:t>
            </a:r>
            <a:r>
              <a:rPr lang="en-US" sz="2400" b="1">
                <a:highlight>
                  <a:srgbClr val="00FFFF"/>
                </a:highlight>
              </a:rPr>
              <a:t>()</a:t>
            </a:r>
            <a:endParaRPr lang="en-US" sz="2400"/>
          </a:p>
          <a:p>
            <a:pPr marL="0" indent="0">
              <a:buNone/>
            </a:pPr>
            <a:endParaRPr lang="en-US" sz="2400" b="1">
              <a:highlight>
                <a:srgbClr val="FFFF00"/>
              </a:highlight>
            </a:endParaRPr>
          </a:p>
        </p:txBody>
      </p:sp>
    </p:spTree>
    <p:extLst>
      <p:ext uri="{BB962C8B-B14F-4D97-AF65-F5344CB8AC3E}">
        <p14:creationId xmlns:p14="http://schemas.microsoft.com/office/powerpoint/2010/main" val="3589317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FEF8D-C8B2-8E5D-D953-49D53C356EA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0080817-E47F-A44A-95D0-E2204CA5BC6D}"/>
              </a:ext>
            </a:extLst>
          </p:cNvPr>
          <p:cNvSpPr>
            <a:spLocks noGrp="1"/>
          </p:cNvSpPr>
          <p:nvPr>
            <p:ph idx="1"/>
          </p:nvPr>
        </p:nvSpPr>
        <p:spPr>
          <a:xfrm>
            <a:off x="499432" y="1"/>
            <a:ext cx="11788048" cy="7122792"/>
          </a:xfrm>
        </p:spPr>
        <p:txBody>
          <a:bodyPr>
            <a:noAutofit/>
          </a:bodyPr>
          <a:lstStyle/>
          <a:p>
            <a:pPr marL="0" indent="0">
              <a:lnSpc>
                <a:spcPct val="100000"/>
              </a:lnSpc>
              <a:buNone/>
            </a:pPr>
            <a:r>
              <a:rPr lang="en-US" sz="1800" b="1" dirty="0"/>
              <a:t>a. Functions passing arguments and returning </a:t>
            </a:r>
            <a:r>
              <a:rPr lang="en-US" sz="1800" b="1" dirty="0" err="1"/>
              <a:t>value:</a:t>
            </a:r>
            <a:r>
              <a:rPr lang="en-US" sz="1800" dirty="0" err="1"/>
              <a:t>In</a:t>
            </a:r>
            <a:r>
              <a:rPr lang="en-US" sz="1800" dirty="0"/>
              <a:t> this method, the values are passed to the function through argument form the calling function. After the manipulation with value, the final value is returned to the calling module using return statement.</a:t>
            </a:r>
          </a:p>
          <a:p>
            <a:pPr marL="457200" lvl="1" indent="0">
              <a:lnSpc>
                <a:spcPct val="100000"/>
              </a:lnSpc>
              <a:buNone/>
            </a:pPr>
            <a:r>
              <a:rPr lang="en-US" sz="1700" b="1" dirty="0"/>
              <a:t> Write a program to input any three numbers and find average</a:t>
            </a:r>
          </a:p>
          <a:p>
            <a:pPr marL="457200" lvl="1" indent="0">
              <a:lnSpc>
                <a:spcPct val="100000"/>
              </a:lnSpc>
              <a:spcBef>
                <a:spcPts val="0"/>
              </a:spcBef>
              <a:buNone/>
            </a:pPr>
            <a:r>
              <a:rPr lang="en-US" sz="1800" b="1" dirty="0"/>
              <a:t># include&lt;stdio.h&gt;</a:t>
            </a:r>
            <a:endParaRPr lang="en-US" sz="1800" b="1" dirty="0">
              <a:highlight>
                <a:srgbClr val="FFFF00"/>
              </a:highlight>
            </a:endParaRPr>
          </a:p>
          <a:p>
            <a:pPr marL="457200" lvl="1" indent="0">
              <a:lnSpc>
                <a:spcPct val="100000"/>
              </a:lnSpc>
              <a:spcBef>
                <a:spcPts val="0"/>
              </a:spcBef>
              <a:buNone/>
            </a:pPr>
            <a:r>
              <a:rPr lang="en-US" sz="1800" b="1" dirty="0">
                <a:highlight>
                  <a:srgbClr val="00FF00"/>
                </a:highlight>
              </a:rPr>
              <a:t>int average (int, int, int); 	  </a:t>
            </a:r>
            <a:r>
              <a:rPr lang="en-US" sz="1800" b="1" dirty="0">
                <a:highlight>
                  <a:srgbClr val="FFFF00"/>
                </a:highlight>
              </a:rPr>
              <a:t>//function prototype </a:t>
            </a:r>
            <a:r>
              <a:rPr lang="en-US" sz="1800" b="1" dirty="0" err="1">
                <a:highlight>
                  <a:srgbClr val="FFFF00"/>
                </a:highlight>
              </a:rPr>
              <a:t>delcaration</a:t>
            </a:r>
            <a:endParaRPr lang="en-US" sz="1800" b="1" dirty="0">
              <a:highlight>
                <a:srgbClr val="FFFF00"/>
              </a:highlight>
            </a:endParaRPr>
          </a:p>
          <a:p>
            <a:pPr marL="457200" lvl="1" indent="0">
              <a:lnSpc>
                <a:spcPct val="100000"/>
              </a:lnSpc>
              <a:spcBef>
                <a:spcPts val="0"/>
              </a:spcBef>
              <a:buNone/>
            </a:pPr>
            <a:r>
              <a:rPr lang="en-US" sz="1800" b="1" dirty="0"/>
              <a:t>int main ( )</a:t>
            </a: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t>int a, b, c, d;</a:t>
            </a:r>
          </a:p>
          <a:p>
            <a:pPr marL="457200" lvl="1" indent="0">
              <a:lnSpc>
                <a:spcPct val="100000"/>
              </a:lnSpc>
              <a:spcBef>
                <a:spcPts val="0"/>
              </a:spcBef>
              <a:buNone/>
            </a:pPr>
            <a:r>
              <a:rPr lang="en-US" sz="1800" b="1" dirty="0"/>
              <a:t>printf ("\n Enter first number");</a:t>
            </a:r>
          </a:p>
          <a:p>
            <a:pPr marL="457200" lvl="1" indent="0">
              <a:lnSpc>
                <a:spcPct val="100000"/>
              </a:lnSpc>
              <a:spcBef>
                <a:spcPts val="0"/>
              </a:spcBef>
              <a:buNone/>
            </a:pPr>
            <a:r>
              <a:rPr lang="en-US" sz="1800" b="1" dirty="0"/>
              <a:t>scanf ("%d", &amp; a);</a:t>
            </a:r>
          </a:p>
          <a:p>
            <a:pPr marL="457200" lvl="1" indent="0">
              <a:lnSpc>
                <a:spcPct val="100000"/>
              </a:lnSpc>
              <a:spcBef>
                <a:spcPts val="0"/>
              </a:spcBef>
              <a:buNone/>
            </a:pPr>
            <a:r>
              <a:rPr lang="en-US" sz="1800" b="1" dirty="0"/>
              <a:t>printf ("\n Enter second number");</a:t>
            </a:r>
          </a:p>
          <a:p>
            <a:pPr marL="457200" lvl="1" indent="0">
              <a:lnSpc>
                <a:spcPct val="100000"/>
              </a:lnSpc>
              <a:spcBef>
                <a:spcPts val="0"/>
              </a:spcBef>
              <a:buNone/>
            </a:pPr>
            <a:r>
              <a:rPr lang="en-US" sz="1800" b="1" dirty="0"/>
              <a:t>scanf ("%d", &amp; b);</a:t>
            </a:r>
          </a:p>
          <a:p>
            <a:pPr marL="457200" lvl="1" indent="0">
              <a:lnSpc>
                <a:spcPct val="100000"/>
              </a:lnSpc>
              <a:spcBef>
                <a:spcPts val="0"/>
              </a:spcBef>
              <a:buNone/>
            </a:pPr>
            <a:r>
              <a:rPr lang="en-US" sz="1800" b="1" dirty="0"/>
              <a:t>printf ("\n Enter third number");</a:t>
            </a:r>
          </a:p>
          <a:p>
            <a:pPr marL="457200" lvl="1" indent="0">
              <a:lnSpc>
                <a:spcPct val="100000"/>
              </a:lnSpc>
              <a:spcBef>
                <a:spcPts val="0"/>
              </a:spcBef>
              <a:buNone/>
            </a:pPr>
            <a:r>
              <a:rPr lang="en-US" sz="1800" b="1" dirty="0"/>
              <a:t>scanf ("%d", &amp; c);</a:t>
            </a:r>
          </a:p>
          <a:p>
            <a:pPr marL="457200" lvl="1" indent="0">
              <a:lnSpc>
                <a:spcPct val="100000"/>
              </a:lnSpc>
              <a:spcBef>
                <a:spcPts val="0"/>
              </a:spcBef>
              <a:buNone/>
            </a:pPr>
            <a:r>
              <a:rPr lang="en-US" sz="1800" b="1" dirty="0">
                <a:highlight>
                  <a:srgbClr val="00FF00"/>
                </a:highlight>
              </a:rPr>
              <a:t>d = average (a, b, c); 	 </a:t>
            </a:r>
            <a:r>
              <a:rPr lang="en-US" sz="1800" b="1" dirty="0">
                <a:highlight>
                  <a:srgbClr val="FFFF00"/>
                </a:highlight>
              </a:rPr>
              <a:t>// function calling</a:t>
            </a:r>
          </a:p>
          <a:p>
            <a:pPr marL="457200" lvl="1" indent="0">
              <a:lnSpc>
                <a:spcPct val="100000"/>
              </a:lnSpc>
              <a:spcBef>
                <a:spcPts val="0"/>
              </a:spcBef>
              <a:buNone/>
            </a:pPr>
            <a:r>
              <a:rPr lang="en-US" sz="1800" b="1" dirty="0"/>
              <a:t>printf ("\n The average is %d", d);</a:t>
            </a:r>
          </a:p>
          <a:p>
            <a:pPr marL="457200" lvl="1" indent="0">
              <a:lnSpc>
                <a:spcPct val="100000"/>
              </a:lnSpc>
              <a:spcBef>
                <a:spcPts val="0"/>
              </a:spcBef>
              <a:buNone/>
            </a:pPr>
            <a:r>
              <a:rPr lang="en-US" sz="1800" b="1" dirty="0"/>
              <a:t>return 0;</a:t>
            </a: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highlight>
                  <a:srgbClr val="00FF00"/>
                </a:highlight>
              </a:rPr>
              <a:t>int average (int a, int b, int c) 	</a:t>
            </a:r>
            <a:r>
              <a:rPr lang="en-US" sz="1800" b="1" dirty="0">
                <a:highlight>
                  <a:srgbClr val="FFFF00"/>
                </a:highlight>
              </a:rPr>
              <a:t>// </a:t>
            </a:r>
            <a:r>
              <a:rPr lang="en-US" sz="1800" b="1" dirty="0" err="1">
                <a:highlight>
                  <a:srgbClr val="FFFF00"/>
                </a:highlight>
              </a:rPr>
              <a:t>defination</a:t>
            </a:r>
            <a:endParaRPr lang="en-US" sz="1800" b="1" dirty="0">
              <a:highlight>
                <a:srgbClr val="FFFF00"/>
              </a:highlight>
            </a:endParaRPr>
          </a:p>
          <a:p>
            <a:pPr marL="457200" lvl="1" indent="0">
              <a:lnSpc>
                <a:spcPct val="100000"/>
              </a:lnSpc>
              <a:spcBef>
                <a:spcPts val="0"/>
              </a:spcBef>
              <a:buNone/>
            </a:pPr>
            <a:r>
              <a:rPr lang="en-US" sz="1800" b="1" dirty="0"/>
              <a:t>{</a:t>
            </a:r>
          </a:p>
          <a:p>
            <a:pPr marL="457200" lvl="1" indent="0">
              <a:lnSpc>
                <a:spcPct val="100000"/>
              </a:lnSpc>
              <a:spcBef>
                <a:spcPts val="0"/>
              </a:spcBef>
              <a:buNone/>
            </a:pPr>
            <a:r>
              <a:rPr lang="en-US" sz="1800" b="1" dirty="0"/>
              <a:t>int av;</a:t>
            </a:r>
          </a:p>
          <a:p>
            <a:pPr marL="457200" lvl="1" indent="0">
              <a:lnSpc>
                <a:spcPct val="100000"/>
              </a:lnSpc>
              <a:spcBef>
                <a:spcPts val="0"/>
              </a:spcBef>
              <a:buNone/>
            </a:pPr>
            <a:r>
              <a:rPr lang="en-US" sz="1800" b="1" dirty="0"/>
              <a:t>av = (a + b + c)/3;</a:t>
            </a:r>
          </a:p>
          <a:p>
            <a:pPr marL="457200" lvl="1" indent="0">
              <a:lnSpc>
                <a:spcPct val="100000"/>
              </a:lnSpc>
              <a:spcBef>
                <a:spcPts val="0"/>
              </a:spcBef>
              <a:buNone/>
            </a:pPr>
            <a:r>
              <a:rPr lang="en-US" sz="1800" b="1" dirty="0">
                <a:highlight>
                  <a:srgbClr val="00FF00"/>
                </a:highlight>
              </a:rPr>
              <a:t>return (av);		</a:t>
            </a:r>
            <a:r>
              <a:rPr lang="en-US" sz="1800" b="1" dirty="0">
                <a:highlight>
                  <a:srgbClr val="FFFF00"/>
                </a:highlight>
              </a:rPr>
              <a:t>//returning value		</a:t>
            </a:r>
          </a:p>
          <a:p>
            <a:pPr marL="457200" lvl="1" indent="0">
              <a:lnSpc>
                <a:spcPct val="100000"/>
              </a:lnSpc>
              <a:spcBef>
                <a:spcPts val="0"/>
              </a:spcBef>
              <a:buNone/>
            </a:pPr>
            <a:r>
              <a:rPr lang="en-US" sz="1800" b="1" dirty="0"/>
              <a:t>}</a:t>
            </a:r>
          </a:p>
          <a:p>
            <a:pPr marL="0" indent="0">
              <a:lnSpc>
                <a:spcPct val="100000"/>
              </a:lnSpc>
              <a:spcBef>
                <a:spcPts val="0"/>
              </a:spcBef>
              <a:buNone/>
            </a:pPr>
            <a:endParaRPr lang="en-US" sz="1750" dirty="0"/>
          </a:p>
          <a:p>
            <a:pPr marL="0" indent="0">
              <a:lnSpc>
                <a:spcPct val="100000"/>
              </a:lnSpc>
              <a:buNone/>
            </a:pPr>
            <a:endParaRPr lang="en-US" sz="1750" dirty="0"/>
          </a:p>
          <a:p>
            <a:pPr marL="0" indent="0">
              <a:lnSpc>
                <a:spcPct val="100000"/>
              </a:lnSpc>
              <a:spcBef>
                <a:spcPts val="0"/>
              </a:spcBef>
              <a:buNone/>
            </a:pPr>
            <a:endParaRPr lang="en-US" sz="1750" dirty="0"/>
          </a:p>
          <a:p>
            <a:pPr marL="0" indent="0">
              <a:lnSpc>
                <a:spcPct val="100000"/>
              </a:lnSpc>
              <a:buNone/>
            </a:pPr>
            <a:endParaRPr lang="en-US" sz="1750" dirty="0"/>
          </a:p>
          <a:p>
            <a:pPr marL="0" indent="0">
              <a:lnSpc>
                <a:spcPct val="100000"/>
              </a:lnSpc>
              <a:buNone/>
            </a:pPr>
            <a:endParaRPr lang="en-US" sz="1800" dirty="0"/>
          </a:p>
          <a:p>
            <a:pPr marL="0" indent="0">
              <a:lnSpc>
                <a:spcPct val="100000"/>
              </a:lnSpc>
              <a:buNone/>
            </a:pPr>
            <a:endParaRPr lang="en-US" sz="1800" b="1" dirty="0"/>
          </a:p>
          <a:p>
            <a:pPr marL="0" indent="0">
              <a:lnSpc>
                <a:spcPct val="100000"/>
              </a:lnSpc>
              <a:buNone/>
            </a:pPr>
            <a:endParaRPr lang="en-US" sz="1800" b="1" dirty="0"/>
          </a:p>
          <a:p>
            <a:pPr marL="0" indent="0">
              <a:lnSpc>
                <a:spcPct val="100000"/>
              </a:lnSpc>
              <a:buNone/>
            </a:pPr>
            <a:endParaRPr lang="en-NP" sz="1800" b="1" dirty="0"/>
          </a:p>
        </p:txBody>
      </p:sp>
      <p:sp>
        <p:nvSpPr>
          <p:cNvPr id="3" name="Arc 2">
            <a:extLst>
              <a:ext uri="{FF2B5EF4-FFF2-40B4-BE49-F238E27FC236}">
                <a16:creationId xmlns:a16="http://schemas.microsoft.com/office/drawing/2014/main" id="{264C5E09-0490-99EB-3F9A-B50736471B8F}"/>
              </a:ext>
            </a:extLst>
          </p:cNvPr>
          <p:cNvSpPr/>
          <p:nvPr/>
        </p:nvSpPr>
        <p:spPr>
          <a:xfrm>
            <a:off x="610467" y="5717754"/>
            <a:ext cx="605927" cy="1087319"/>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4" name="TextBox 3">
            <a:extLst>
              <a:ext uri="{FF2B5EF4-FFF2-40B4-BE49-F238E27FC236}">
                <a16:creationId xmlns:a16="http://schemas.microsoft.com/office/drawing/2014/main" id="{10633BC2-3B43-32CC-8567-00D9ECEE4DAE}"/>
              </a:ext>
            </a:extLst>
          </p:cNvPr>
          <p:cNvSpPr txBox="1"/>
          <p:nvPr/>
        </p:nvSpPr>
        <p:spPr>
          <a:xfrm rot="16200000">
            <a:off x="-457708" y="5898803"/>
            <a:ext cx="1767017"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pic>
        <p:nvPicPr>
          <p:cNvPr id="5" name="Picture 4">
            <a:extLst>
              <a:ext uri="{FF2B5EF4-FFF2-40B4-BE49-F238E27FC236}">
                <a16:creationId xmlns:a16="http://schemas.microsoft.com/office/drawing/2014/main" id="{6CD2D3D2-0575-8384-BB76-312960682198}"/>
              </a:ext>
            </a:extLst>
          </p:cNvPr>
          <p:cNvPicPr>
            <a:picLocks noChangeAspect="1"/>
          </p:cNvPicPr>
          <p:nvPr/>
        </p:nvPicPr>
        <p:blipFill>
          <a:blip r:embed="rId2"/>
          <a:stretch>
            <a:fillRect/>
          </a:stretch>
        </p:blipFill>
        <p:spPr>
          <a:xfrm>
            <a:off x="5444268" y="2131218"/>
            <a:ext cx="2933700" cy="1625600"/>
          </a:xfrm>
          <a:prstGeom prst="rect">
            <a:avLst/>
          </a:prstGeom>
        </p:spPr>
      </p:pic>
      <p:pic>
        <p:nvPicPr>
          <p:cNvPr id="7" name="Picture 6">
            <a:extLst>
              <a:ext uri="{FF2B5EF4-FFF2-40B4-BE49-F238E27FC236}">
                <a16:creationId xmlns:a16="http://schemas.microsoft.com/office/drawing/2014/main" id="{6ACACCDB-9140-546A-498C-3AFAD7896DB1}"/>
              </a:ext>
            </a:extLst>
          </p:cNvPr>
          <p:cNvPicPr>
            <a:picLocks noChangeAspect="1"/>
          </p:cNvPicPr>
          <p:nvPr/>
        </p:nvPicPr>
        <p:blipFill>
          <a:blip r:embed="rId3"/>
          <a:stretch>
            <a:fillRect/>
          </a:stretch>
        </p:blipFill>
        <p:spPr>
          <a:xfrm>
            <a:off x="6323962" y="5055078"/>
            <a:ext cx="5359400" cy="889000"/>
          </a:xfrm>
          <a:prstGeom prst="rect">
            <a:avLst/>
          </a:prstGeom>
        </p:spPr>
      </p:pic>
      <p:sp>
        <p:nvSpPr>
          <p:cNvPr id="11" name="Right Bracket 10">
            <a:extLst>
              <a:ext uri="{FF2B5EF4-FFF2-40B4-BE49-F238E27FC236}">
                <a16:creationId xmlns:a16="http://schemas.microsoft.com/office/drawing/2014/main" id="{C9FE0CAA-A49A-4D4F-18A8-C24662F2A346}"/>
              </a:ext>
            </a:extLst>
          </p:cNvPr>
          <p:cNvSpPr/>
          <p:nvPr/>
        </p:nvSpPr>
        <p:spPr>
          <a:xfrm rot="179332">
            <a:off x="5043915" y="4436451"/>
            <a:ext cx="1225447" cy="2126254"/>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603441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B8F70-25E4-6834-13FE-20FF053393B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FE37951-1D03-3628-4F56-31FFCECA2F7E}"/>
              </a:ext>
            </a:extLst>
          </p:cNvPr>
          <p:cNvSpPr>
            <a:spLocks noGrp="1"/>
          </p:cNvSpPr>
          <p:nvPr>
            <p:ph idx="1"/>
          </p:nvPr>
        </p:nvSpPr>
        <p:spPr>
          <a:xfrm>
            <a:off x="201976" y="280929"/>
            <a:ext cx="11788048" cy="6510969"/>
          </a:xfrm>
        </p:spPr>
        <p:txBody>
          <a:bodyPr>
            <a:noAutofit/>
          </a:bodyPr>
          <a:lstStyle/>
          <a:p>
            <a:pPr marL="0" indent="0">
              <a:spcBef>
                <a:spcPts val="0"/>
              </a:spcBef>
              <a:buNone/>
            </a:pPr>
            <a:r>
              <a:rPr lang="en-US" sz="1800" b="1"/>
              <a:t>b) Functions passing arguments and not returning value:</a:t>
            </a:r>
            <a:endParaRPr lang="en-US" sz="1800"/>
          </a:p>
          <a:p>
            <a:pPr marL="0" indent="0">
              <a:spcBef>
                <a:spcPts val="0"/>
              </a:spcBef>
              <a:buNone/>
            </a:pPr>
            <a:r>
              <a:rPr lang="en-US" sz="1800"/>
              <a:t>In this method, the values are passed to the function through argument form the calling function. After the</a:t>
            </a:r>
          </a:p>
          <a:p>
            <a:pPr marL="0" indent="0">
              <a:spcBef>
                <a:spcPts val="0"/>
              </a:spcBef>
              <a:buNone/>
            </a:pPr>
            <a:r>
              <a:rPr lang="en-US" sz="1800"/>
              <a:t>manipulation with value, the final value is not returned to the calling module.</a:t>
            </a:r>
          </a:p>
          <a:p>
            <a:pPr marL="0" indent="0">
              <a:spcBef>
                <a:spcPts val="0"/>
              </a:spcBef>
              <a:buNone/>
            </a:pPr>
            <a:endParaRPr lang="en-US" sz="1800"/>
          </a:p>
          <a:p>
            <a:pPr marL="914400" lvl="2" indent="0">
              <a:spcBef>
                <a:spcPts val="0"/>
              </a:spcBef>
              <a:buNone/>
            </a:pPr>
            <a:r>
              <a:rPr lang="en-US" sz="1800" b="1"/>
              <a:t>Write a program to input any three numbers and find average of these numbers.</a:t>
            </a:r>
            <a:endParaRPr lang="en-US" sz="1800"/>
          </a:p>
          <a:p>
            <a:pPr marL="914400" lvl="2" indent="0">
              <a:spcBef>
                <a:spcPts val="0"/>
              </a:spcBef>
              <a:buNone/>
            </a:pPr>
            <a:r>
              <a:rPr lang="en-NP" sz="1800" b="1"/>
              <a:t># include&lt;stdio.h&gt;</a:t>
            </a:r>
          </a:p>
          <a:p>
            <a:pPr marL="914400" lvl="2" indent="0">
              <a:spcBef>
                <a:spcPts val="0"/>
              </a:spcBef>
              <a:buNone/>
            </a:pPr>
            <a:r>
              <a:rPr lang="en-NP" sz="1800" b="1">
                <a:highlight>
                  <a:srgbClr val="00FF00"/>
                </a:highlight>
              </a:rPr>
              <a:t>void average (int, int, int); 	</a:t>
            </a:r>
            <a:r>
              <a:rPr lang="en-NP" sz="1800" b="1">
                <a:highlight>
                  <a:srgbClr val="FFFF00"/>
                </a:highlight>
              </a:rPr>
              <a:t>//prototype</a:t>
            </a:r>
          </a:p>
          <a:p>
            <a:pPr marL="914400" lvl="2" indent="0">
              <a:spcBef>
                <a:spcPts val="0"/>
              </a:spcBef>
              <a:buNone/>
            </a:pPr>
            <a:r>
              <a:rPr lang="en-NP" sz="1800" b="1"/>
              <a:t>int main ( )</a:t>
            </a:r>
          </a:p>
          <a:p>
            <a:pPr marL="914400" lvl="2" indent="0">
              <a:spcBef>
                <a:spcPts val="0"/>
              </a:spcBef>
              <a:buNone/>
            </a:pPr>
            <a:r>
              <a:rPr lang="en-NP" sz="1800" b="1"/>
              <a:t>{</a:t>
            </a:r>
          </a:p>
          <a:p>
            <a:pPr marL="914400" lvl="2" indent="0">
              <a:spcBef>
                <a:spcPts val="0"/>
              </a:spcBef>
              <a:buNone/>
            </a:pPr>
            <a:r>
              <a:rPr lang="en-NP" sz="1800" b="1"/>
              <a:t>int a, b, c;</a:t>
            </a:r>
          </a:p>
          <a:p>
            <a:pPr marL="914400" lvl="2" indent="0">
              <a:spcBef>
                <a:spcPts val="0"/>
              </a:spcBef>
              <a:buNone/>
            </a:pPr>
            <a:r>
              <a:rPr lang="en-NP" sz="1800" b="1"/>
              <a:t>printf ("\n Enter first number");</a:t>
            </a:r>
          </a:p>
          <a:p>
            <a:pPr marL="914400" lvl="2" indent="0">
              <a:spcBef>
                <a:spcPts val="0"/>
              </a:spcBef>
              <a:buNone/>
            </a:pPr>
            <a:r>
              <a:rPr lang="en-NP" sz="1800" b="1"/>
              <a:t>scanf ("%d", &amp;a);</a:t>
            </a:r>
          </a:p>
          <a:p>
            <a:pPr marL="914400" lvl="2" indent="0">
              <a:spcBef>
                <a:spcPts val="0"/>
              </a:spcBef>
              <a:buNone/>
            </a:pPr>
            <a:r>
              <a:rPr lang="en-NP" sz="1800" b="1"/>
              <a:t>printf ("\n Enter second number");</a:t>
            </a:r>
          </a:p>
          <a:p>
            <a:pPr marL="914400" lvl="2" indent="0">
              <a:spcBef>
                <a:spcPts val="0"/>
              </a:spcBef>
              <a:buNone/>
            </a:pPr>
            <a:r>
              <a:rPr lang="en-NP" sz="1800" b="1"/>
              <a:t>scanf ("%d", &amp;b);</a:t>
            </a:r>
          </a:p>
          <a:p>
            <a:pPr marL="914400" lvl="2" indent="0">
              <a:spcBef>
                <a:spcPts val="0"/>
              </a:spcBef>
              <a:buNone/>
            </a:pPr>
            <a:r>
              <a:rPr lang="en-NP" sz="1800" b="1"/>
              <a:t>printf ("\n Enter third number");</a:t>
            </a:r>
          </a:p>
          <a:p>
            <a:pPr marL="914400" lvl="2" indent="0">
              <a:spcBef>
                <a:spcPts val="0"/>
              </a:spcBef>
              <a:buNone/>
            </a:pPr>
            <a:r>
              <a:rPr lang="en-NP" sz="1800" b="1"/>
              <a:t>scanf ("%d", &amp;c);</a:t>
            </a:r>
          </a:p>
          <a:p>
            <a:pPr marL="914400" lvl="2" indent="0">
              <a:spcBef>
                <a:spcPts val="0"/>
              </a:spcBef>
              <a:buNone/>
            </a:pPr>
            <a:r>
              <a:rPr lang="en-NP" sz="1800" b="1">
                <a:highlight>
                  <a:srgbClr val="00FF00"/>
                </a:highlight>
              </a:rPr>
              <a:t>average(a, b, c); 	</a:t>
            </a:r>
            <a:r>
              <a:rPr lang="en-NP" sz="1800" b="1">
                <a:highlight>
                  <a:srgbClr val="FFFF00"/>
                </a:highlight>
              </a:rPr>
              <a:t>//function call</a:t>
            </a:r>
          </a:p>
          <a:p>
            <a:pPr marL="914400" lvl="2" indent="0">
              <a:spcBef>
                <a:spcPts val="0"/>
              </a:spcBef>
              <a:buNone/>
            </a:pPr>
            <a:r>
              <a:rPr lang="en-NP" sz="1800" b="1"/>
              <a:t>return 0;</a:t>
            </a:r>
          </a:p>
          <a:p>
            <a:pPr marL="914400" lvl="2" indent="0">
              <a:spcBef>
                <a:spcPts val="0"/>
              </a:spcBef>
              <a:buNone/>
            </a:pPr>
            <a:r>
              <a:rPr lang="en-NP" sz="1800" b="1"/>
              <a:t>}</a:t>
            </a:r>
          </a:p>
          <a:p>
            <a:pPr marL="914400" lvl="2" indent="0">
              <a:spcBef>
                <a:spcPts val="0"/>
              </a:spcBef>
              <a:buNone/>
            </a:pPr>
            <a:r>
              <a:rPr lang="en-NP" sz="1800" b="1">
                <a:highlight>
                  <a:srgbClr val="00FF00"/>
                </a:highlight>
              </a:rPr>
              <a:t>void average (int a, int b, int c)		</a:t>
            </a:r>
            <a:r>
              <a:rPr lang="en-NP" sz="1800" b="1">
                <a:highlight>
                  <a:srgbClr val="FFFF00"/>
                </a:highlight>
              </a:rPr>
              <a:t>//defination</a:t>
            </a:r>
          </a:p>
          <a:p>
            <a:pPr marL="914400" lvl="2" indent="0">
              <a:spcBef>
                <a:spcPts val="0"/>
              </a:spcBef>
              <a:buNone/>
            </a:pPr>
            <a:r>
              <a:rPr lang="en-NP" sz="1800" b="1"/>
              <a:t>{</a:t>
            </a:r>
          </a:p>
          <a:p>
            <a:pPr marL="914400" lvl="2" indent="0">
              <a:spcBef>
                <a:spcPts val="0"/>
              </a:spcBef>
              <a:buNone/>
            </a:pPr>
            <a:r>
              <a:rPr lang="en-NP" sz="1800" b="1"/>
              <a:t>int av;</a:t>
            </a:r>
          </a:p>
          <a:p>
            <a:pPr marL="914400" lvl="2" indent="0">
              <a:spcBef>
                <a:spcPts val="0"/>
              </a:spcBef>
              <a:buNone/>
            </a:pPr>
            <a:r>
              <a:rPr lang="en-NP" sz="1800" b="1"/>
              <a:t>av = (a + b + c)/3;</a:t>
            </a:r>
          </a:p>
          <a:p>
            <a:pPr marL="914400" lvl="2" indent="0">
              <a:spcBef>
                <a:spcPts val="0"/>
              </a:spcBef>
              <a:buNone/>
            </a:pPr>
            <a:r>
              <a:rPr lang="en-NP" sz="1800" b="1"/>
              <a:t>printf ("\n The average is %d", av);</a:t>
            </a:r>
          </a:p>
          <a:p>
            <a:pPr marL="914400" lvl="2" indent="0">
              <a:spcBef>
                <a:spcPts val="0"/>
              </a:spcBef>
              <a:buNone/>
            </a:pPr>
            <a:endParaRPr lang="en-NP" sz="1800" b="1"/>
          </a:p>
          <a:p>
            <a:pPr marL="914400" lvl="2" indent="0">
              <a:spcBef>
                <a:spcPts val="0"/>
              </a:spcBef>
              <a:buNone/>
            </a:pPr>
            <a:r>
              <a:rPr lang="en-NP" sz="1800" b="1"/>
              <a:t>}</a:t>
            </a:r>
          </a:p>
          <a:p>
            <a:pPr marL="0" indent="0">
              <a:spcBef>
                <a:spcPts val="0"/>
              </a:spcBef>
              <a:buNone/>
            </a:pPr>
            <a:endParaRPr lang="en-US" sz="1800"/>
          </a:p>
          <a:p>
            <a:pPr marL="0" indent="0">
              <a:spcBef>
                <a:spcPts val="0"/>
              </a:spcBef>
              <a:buNone/>
            </a:pPr>
            <a:endParaRPr lang="en-US" sz="1800" b="1"/>
          </a:p>
          <a:p>
            <a:pPr marL="0" indent="0">
              <a:spcBef>
                <a:spcPts val="0"/>
              </a:spcBef>
              <a:buNone/>
            </a:pPr>
            <a:endParaRPr lang="en-US" sz="1800" b="1"/>
          </a:p>
          <a:p>
            <a:pPr marL="0" indent="0">
              <a:spcBef>
                <a:spcPts val="0"/>
              </a:spcBef>
              <a:buNone/>
            </a:pPr>
            <a:endParaRPr lang="en-NP" sz="1800" b="1"/>
          </a:p>
        </p:txBody>
      </p:sp>
      <p:sp>
        <p:nvSpPr>
          <p:cNvPr id="5" name="Arc 4">
            <a:extLst>
              <a:ext uri="{FF2B5EF4-FFF2-40B4-BE49-F238E27FC236}">
                <a16:creationId xmlns:a16="http://schemas.microsoft.com/office/drawing/2014/main" id="{2C0A6F29-76AC-D647-6B83-4217D1626D90}"/>
              </a:ext>
            </a:extLst>
          </p:cNvPr>
          <p:cNvSpPr/>
          <p:nvPr/>
        </p:nvSpPr>
        <p:spPr>
          <a:xfrm>
            <a:off x="698601" y="5327847"/>
            <a:ext cx="605927" cy="1348375"/>
          </a:xfrm>
          <a:prstGeom prst="arc">
            <a:avLst>
              <a:gd name="adj1" fmla="val 4680551"/>
              <a:gd name="adj2" fmla="val 17218315"/>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7" name="TextBox 6">
            <a:extLst>
              <a:ext uri="{FF2B5EF4-FFF2-40B4-BE49-F238E27FC236}">
                <a16:creationId xmlns:a16="http://schemas.microsoft.com/office/drawing/2014/main" id="{5B6AD61F-54A4-2C7E-F243-E556C391A1E3}"/>
              </a:ext>
            </a:extLst>
          </p:cNvPr>
          <p:cNvSpPr txBox="1"/>
          <p:nvPr/>
        </p:nvSpPr>
        <p:spPr>
          <a:xfrm rot="16200000">
            <a:off x="-581698" y="5721020"/>
            <a:ext cx="2191265"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pic>
        <p:nvPicPr>
          <p:cNvPr id="8" name="Picture 7">
            <a:extLst>
              <a:ext uri="{FF2B5EF4-FFF2-40B4-BE49-F238E27FC236}">
                <a16:creationId xmlns:a16="http://schemas.microsoft.com/office/drawing/2014/main" id="{8805A79B-176D-E1F7-2663-CEDD65C5EFB8}"/>
              </a:ext>
            </a:extLst>
          </p:cNvPr>
          <p:cNvPicPr>
            <a:picLocks noChangeAspect="1"/>
          </p:cNvPicPr>
          <p:nvPr/>
        </p:nvPicPr>
        <p:blipFill>
          <a:blip r:embed="rId2"/>
          <a:stretch>
            <a:fillRect/>
          </a:stretch>
        </p:blipFill>
        <p:spPr>
          <a:xfrm>
            <a:off x="5290948" y="2616200"/>
            <a:ext cx="2933700" cy="1625600"/>
          </a:xfrm>
          <a:prstGeom prst="rect">
            <a:avLst/>
          </a:prstGeom>
        </p:spPr>
      </p:pic>
      <p:pic>
        <p:nvPicPr>
          <p:cNvPr id="9" name="Picture 8">
            <a:extLst>
              <a:ext uri="{FF2B5EF4-FFF2-40B4-BE49-F238E27FC236}">
                <a16:creationId xmlns:a16="http://schemas.microsoft.com/office/drawing/2014/main" id="{D069849F-6BFE-320F-12CB-712E368C8DDA}"/>
              </a:ext>
            </a:extLst>
          </p:cNvPr>
          <p:cNvPicPr>
            <a:picLocks noChangeAspect="1"/>
          </p:cNvPicPr>
          <p:nvPr/>
        </p:nvPicPr>
        <p:blipFill>
          <a:blip r:embed="rId3"/>
          <a:stretch>
            <a:fillRect/>
          </a:stretch>
        </p:blipFill>
        <p:spPr>
          <a:xfrm>
            <a:off x="4944891" y="5525784"/>
            <a:ext cx="5638800" cy="952500"/>
          </a:xfrm>
          <a:prstGeom prst="rect">
            <a:avLst/>
          </a:prstGeom>
        </p:spPr>
      </p:pic>
    </p:spTree>
    <p:extLst>
      <p:ext uri="{BB962C8B-B14F-4D97-AF65-F5344CB8AC3E}">
        <p14:creationId xmlns:p14="http://schemas.microsoft.com/office/powerpoint/2010/main" val="1667067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0ACFB-554A-98C1-5E78-D4BDF988C99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888769A-C703-9741-BCD0-5EF001E909FD}"/>
              </a:ext>
            </a:extLst>
          </p:cNvPr>
          <p:cNvSpPr>
            <a:spLocks noGrp="1"/>
          </p:cNvSpPr>
          <p:nvPr>
            <p:ph idx="1"/>
          </p:nvPr>
        </p:nvSpPr>
        <p:spPr>
          <a:xfrm>
            <a:off x="201976" y="77119"/>
            <a:ext cx="11788048" cy="6714780"/>
          </a:xfrm>
        </p:spPr>
        <p:txBody>
          <a:bodyPr>
            <a:normAutofit fontScale="25000" lnSpcReduction="20000"/>
          </a:bodyPr>
          <a:lstStyle/>
          <a:p>
            <a:pPr marL="0" indent="0">
              <a:lnSpc>
                <a:spcPct val="120000"/>
              </a:lnSpc>
              <a:spcBef>
                <a:spcPts val="0"/>
              </a:spcBef>
              <a:buNone/>
            </a:pPr>
            <a:r>
              <a:rPr lang="en-US" sz="7200" b="1"/>
              <a:t>c) Function passing no arguments and yes returning value:</a:t>
            </a:r>
            <a:endParaRPr lang="en-US" sz="7200"/>
          </a:p>
          <a:p>
            <a:pPr marL="0" indent="0" algn="just">
              <a:lnSpc>
                <a:spcPct val="120000"/>
              </a:lnSpc>
              <a:spcBef>
                <a:spcPts val="0"/>
              </a:spcBef>
              <a:buNone/>
            </a:pPr>
            <a:r>
              <a:rPr lang="en-US" sz="7200"/>
              <a:t>In this method, the values are not passed to the function through argument form the calling function. The inputs statements are used within the function for the value. The final value is returned to the calling module after the manipulation with that data.</a:t>
            </a:r>
          </a:p>
          <a:p>
            <a:pPr marL="914400" lvl="4" indent="0">
              <a:lnSpc>
                <a:spcPct val="120000"/>
              </a:lnSpc>
              <a:spcBef>
                <a:spcPts val="0"/>
              </a:spcBef>
              <a:buNone/>
            </a:pPr>
            <a:r>
              <a:rPr lang="en-US" sz="6200" b="1"/>
              <a:t>Write a program to input any three numbers and find average of these numbers.</a:t>
            </a:r>
            <a:endParaRPr lang="en-US" sz="6200"/>
          </a:p>
          <a:p>
            <a:pPr marL="914400" lvl="4" indent="0">
              <a:lnSpc>
                <a:spcPct val="120000"/>
              </a:lnSpc>
              <a:spcBef>
                <a:spcPts val="0"/>
              </a:spcBef>
              <a:buNone/>
            </a:pPr>
            <a:r>
              <a:rPr lang="en-NP" sz="6200" b="1"/>
              <a:t>#include&lt;stdio.h&gt;</a:t>
            </a:r>
          </a:p>
          <a:p>
            <a:pPr marL="914400" lvl="4" indent="0">
              <a:lnSpc>
                <a:spcPct val="120000"/>
              </a:lnSpc>
              <a:spcBef>
                <a:spcPts val="0"/>
              </a:spcBef>
              <a:buNone/>
            </a:pPr>
            <a:r>
              <a:rPr lang="en-NP" sz="6200" b="1">
                <a:highlight>
                  <a:srgbClr val="00FF00"/>
                </a:highlight>
              </a:rPr>
              <a:t>int average ( );	</a:t>
            </a:r>
            <a:r>
              <a:rPr lang="en-NP" sz="6200" b="1">
                <a:highlight>
                  <a:srgbClr val="FFFF00"/>
                </a:highlight>
              </a:rPr>
              <a:t>//prototype</a:t>
            </a:r>
          </a:p>
          <a:p>
            <a:pPr marL="914400" lvl="4" indent="0">
              <a:lnSpc>
                <a:spcPct val="120000"/>
              </a:lnSpc>
              <a:spcBef>
                <a:spcPts val="0"/>
              </a:spcBef>
              <a:buNone/>
            </a:pPr>
            <a:r>
              <a:rPr lang="en-NP" sz="6200" b="1"/>
              <a:t>int main ( )</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t>int d;</a:t>
            </a:r>
          </a:p>
          <a:p>
            <a:pPr marL="914400" lvl="4" indent="0">
              <a:lnSpc>
                <a:spcPct val="120000"/>
              </a:lnSpc>
              <a:spcBef>
                <a:spcPts val="0"/>
              </a:spcBef>
              <a:buNone/>
            </a:pPr>
            <a:r>
              <a:rPr lang="en-NP" sz="6200" b="1"/>
              <a:t>d = </a:t>
            </a:r>
            <a:r>
              <a:rPr lang="en-NP" sz="6200" b="1">
                <a:highlight>
                  <a:srgbClr val="00FF00"/>
                </a:highlight>
              </a:rPr>
              <a:t>average ( );	</a:t>
            </a:r>
            <a:r>
              <a:rPr lang="en-NP" sz="6200" b="1">
                <a:highlight>
                  <a:srgbClr val="FFFF00"/>
                </a:highlight>
              </a:rPr>
              <a:t>//calling function</a:t>
            </a:r>
          </a:p>
          <a:p>
            <a:pPr marL="914400" lvl="4" indent="0">
              <a:lnSpc>
                <a:spcPct val="120000"/>
              </a:lnSpc>
              <a:spcBef>
                <a:spcPts val="0"/>
              </a:spcBef>
              <a:buNone/>
            </a:pPr>
            <a:r>
              <a:rPr lang="en-NP" sz="6200" b="1"/>
              <a:t>printf ("\n The average is %d", d);</a:t>
            </a:r>
          </a:p>
          <a:p>
            <a:pPr marL="914400" lvl="4" indent="0">
              <a:lnSpc>
                <a:spcPct val="120000"/>
              </a:lnSpc>
              <a:spcBef>
                <a:spcPts val="0"/>
              </a:spcBef>
              <a:buNone/>
            </a:pPr>
            <a:r>
              <a:rPr lang="en-NP" sz="6200" b="1"/>
              <a:t>return 0;</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highlight>
                  <a:srgbClr val="00FF00"/>
                </a:highlight>
              </a:rPr>
              <a:t>int average ( )	</a:t>
            </a:r>
            <a:r>
              <a:rPr lang="en-NP" sz="6200" b="1">
                <a:highlight>
                  <a:srgbClr val="FFFF00"/>
                </a:highlight>
              </a:rPr>
              <a:t>//defination</a:t>
            </a:r>
          </a:p>
          <a:p>
            <a:pPr marL="914400" lvl="4" indent="0">
              <a:lnSpc>
                <a:spcPct val="120000"/>
              </a:lnSpc>
              <a:spcBef>
                <a:spcPts val="0"/>
              </a:spcBef>
              <a:buNone/>
            </a:pPr>
            <a:r>
              <a:rPr lang="en-NP" sz="6200" b="1"/>
              <a:t>{</a:t>
            </a:r>
          </a:p>
          <a:p>
            <a:pPr marL="914400" lvl="4" indent="0">
              <a:lnSpc>
                <a:spcPct val="120000"/>
              </a:lnSpc>
              <a:spcBef>
                <a:spcPts val="0"/>
              </a:spcBef>
              <a:buNone/>
            </a:pPr>
            <a:r>
              <a:rPr lang="en-NP" sz="6200" b="1"/>
              <a:t>int a, b, c, av;</a:t>
            </a:r>
          </a:p>
          <a:p>
            <a:pPr marL="914400" lvl="4" indent="0">
              <a:lnSpc>
                <a:spcPct val="120000"/>
              </a:lnSpc>
              <a:spcBef>
                <a:spcPts val="0"/>
              </a:spcBef>
              <a:buNone/>
            </a:pPr>
            <a:r>
              <a:rPr lang="en-NP" sz="6200" b="1"/>
              <a:t>printf ("\n Enter first number");</a:t>
            </a:r>
          </a:p>
          <a:p>
            <a:pPr marL="914400" lvl="4" indent="0">
              <a:lnSpc>
                <a:spcPct val="120000"/>
              </a:lnSpc>
              <a:spcBef>
                <a:spcPts val="0"/>
              </a:spcBef>
              <a:buNone/>
            </a:pPr>
            <a:r>
              <a:rPr lang="en-NP" sz="6200" b="1"/>
              <a:t>scanf ("%d", &amp; a);</a:t>
            </a:r>
          </a:p>
          <a:p>
            <a:pPr marL="914400" lvl="4" indent="0">
              <a:lnSpc>
                <a:spcPct val="120000"/>
              </a:lnSpc>
              <a:spcBef>
                <a:spcPts val="0"/>
              </a:spcBef>
              <a:buNone/>
            </a:pPr>
            <a:r>
              <a:rPr lang="en-NP" sz="6200" b="1"/>
              <a:t>printf ("\n Enter second number");</a:t>
            </a:r>
          </a:p>
          <a:p>
            <a:pPr marL="914400" lvl="4" indent="0">
              <a:lnSpc>
                <a:spcPct val="120000"/>
              </a:lnSpc>
              <a:spcBef>
                <a:spcPts val="0"/>
              </a:spcBef>
              <a:buNone/>
            </a:pPr>
            <a:r>
              <a:rPr lang="en-NP" sz="6200" b="1"/>
              <a:t>scanf ("%d", &amp; b);</a:t>
            </a:r>
          </a:p>
          <a:p>
            <a:pPr marL="914400" lvl="4" indent="0">
              <a:lnSpc>
                <a:spcPct val="120000"/>
              </a:lnSpc>
              <a:spcBef>
                <a:spcPts val="0"/>
              </a:spcBef>
              <a:buNone/>
            </a:pPr>
            <a:r>
              <a:rPr lang="en-NP" sz="6200" b="1"/>
              <a:t>printf ("\n Enter third number");</a:t>
            </a:r>
          </a:p>
          <a:p>
            <a:pPr marL="914400" lvl="4" indent="0">
              <a:lnSpc>
                <a:spcPct val="120000"/>
              </a:lnSpc>
              <a:spcBef>
                <a:spcPts val="0"/>
              </a:spcBef>
              <a:buNone/>
            </a:pPr>
            <a:r>
              <a:rPr lang="en-NP" sz="6200" b="1"/>
              <a:t>scanf ("%d", &amp; c);</a:t>
            </a:r>
          </a:p>
          <a:p>
            <a:pPr marL="914400" lvl="4" indent="0">
              <a:lnSpc>
                <a:spcPct val="120000"/>
              </a:lnSpc>
              <a:spcBef>
                <a:spcPts val="0"/>
              </a:spcBef>
              <a:buNone/>
            </a:pPr>
            <a:r>
              <a:rPr lang="en-NP" sz="6200" b="1"/>
              <a:t>av = (a + b + c)/3;</a:t>
            </a:r>
          </a:p>
          <a:p>
            <a:pPr marL="914400" lvl="4" indent="0">
              <a:lnSpc>
                <a:spcPct val="120000"/>
              </a:lnSpc>
              <a:spcBef>
                <a:spcPts val="0"/>
              </a:spcBef>
              <a:buNone/>
            </a:pPr>
            <a:r>
              <a:rPr lang="en-NP" sz="6200" b="1">
                <a:highlight>
                  <a:srgbClr val="00FF00"/>
                </a:highlight>
              </a:rPr>
              <a:t>return (av);</a:t>
            </a:r>
            <a:r>
              <a:rPr lang="en-NP" sz="6200" b="1"/>
              <a:t>	</a:t>
            </a:r>
            <a:r>
              <a:rPr lang="en-NP" sz="6200" b="1">
                <a:highlight>
                  <a:srgbClr val="FFFF00"/>
                </a:highlight>
              </a:rPr>
              <a:t>//return statement</a:t>
            </a:r>
          </a:p>
          <a:p>
            <a:pPr marL="914400" lvl="4" indent="0">
              <a:lnSpc>
                <a:spcPct val="120000"/>
              </a:lnSpc>
              <a:spcBef>
                <a:spcPts val="0"/>
              </a:spcBef>
              <a:buNone/>
            </a:pPr>
            <a:r>
              <a:rPr lang="en-NP" sz="6200" b="1"/>
              <a:t>}</a:t>
            </a:r>
          </a:p>
          <a:p>
            <a:pPr marL="914400" lvl="4" indent="0">
              <a:buNone/>
            </a:pPr>
            <a:endParaRPr lang="en-US"/>
          </a:p>
          <a:p>
            <a:pPr marL="0" indent="0">
              <a:buNone/>
            </a:pPr>
            <a:endParaRPr lang="en-US" sz="2000" b="1"/>
          </a:p>
          <a:p>
            <a:pPr marL="0" indent="0">
              <a:buNone/>
            </a:pPr>
            <a:endParaRPr lang="en-US" sz="2000" b="1"/>
          </a:p>
          <a:p>
            <a:endParaRPr lang="en-NP" sz="2000" b="1"/>
          </a:p>
        </p:txBody>
      </p:sp>
      <p:pic>
        <p:nvPicPr>
          <p:cNvPr id="2" name="Picture 1">
            <a:extLst>
              <a:ext uri="{FF2B5EF4-FFF2-40B4-BE49-F238E27FC236}">
                <a16:creationId xmlns:a16="http://schemas.microsoft.com/office/drawing/2014/main" id="{B288B778-164A-FF0A-DCF9-982481DB737E}"/>
              </a:ext>
            </a:extLst>
          </p:cNvPr>
          <p:cNvPicPr>
            <a:picLocks noChangeAspect="1"/>
          </p:cNvPicPr>
          <p:nvPr/>
        </p:nvPicPr>
        <p:blipFill>
          <a:blip r:embed="rId2"/>
          <a:stretch>
            <a:fillRect/>
          </a:stretch>
        </p:blipFill>
        <p:spPr>
          <a:xfrm>
            <a:off x="5944306" y="4939594"/>
            <a:ext cx="4864100" cy="952500"/>
          </a:xfrm>
          <a:prstGeom prst="rect">
            <a:avLst/>
          </a:prstGeom>
        </p:spPr>
      </p:pic>
      <p:pic>
        <p:nvPicPr>
          <p:cNvPr id="3" name="Picture 2">
            <a:extLst>
              <a:ext uri="{FF2B5EF4-FFF2-40B4-BE49-F238E27FC236}">
                <a16:creationId xmlns:a16="http://schemas.microsoft.com/office/drawing/2014/main" id="{3EEB0381-1063-79D3-EA50-7D894F9F7687}"/>
              </a:ext>
            </a:extLst>
          </p:cNvPr>
          <p:cNvPicPr>
            <a:picLocks noChangeAspect="1"/>
          </p:cNvPicPr>
          <p:nvPr/>
        </p:nvPicPr>
        <p:blipFill>
          <a:blip r:embed="rId3"/>
          <a:stretch>
            <a:fillRect/>
          </a:stretch>
        </p:blipFill>
        <p:spPr>
          <a:xfrm>
            <a:off x="4979408" y="2609850"/>
            <a:ext cx="3124200" cy="1638300"/>
          </a:xfrm>
          <a:prstGeom prst="rect">
            <a:avLst/>
          </a:prstGeom>
        </p:spPr>
      </p:pic>
      <p:sp>
        <p:nvSpPr>
          <p:cNvPr id="4" name="Arc 3">
            <a:extLst>
              <a:ext uri="{FF2B5EF4-FFF2-40B4-BE49-F238E27FC236}">
                <a16:creationId xmlns:a16="http://schemas.microsoft.com/office/drawing/2014/main" id="{4933609B-B6E1-0486-1D3C-0A53B0073AFA}"/>
              </a:ext>
            </a:extLst>
          </p:cNvPr>
          <p:cNvSpPr/>
          <p:nvPr/>
        </p:nvSpPr>
        <p:spPr>
          <a:xfrm>
            <a:off x="613978" y="4004946"/>
            <a:ext cx="854239" cy="2542610"/>
          </a:xfrm>
          <a:prstGeom prst="arc">
            <a:avLst>
              <a:gd name="adj1" fmla="val 5102485"/>
              <a:gd name="adj2" fmla="val 16478258"/>
            </a:avLst>
          </a:prstGeom>
          <a:ln w="41275"/>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5" name="TextBox 4">
            <a:extLst>
              <a:ext uri="{FF2B5EF4-FFF2-40B4-BE49-F238E27FC236}">
                <a16:creationId xmlns:a16="http://schemas.microsoft.com/office/drawing/2014/main" id="{9791BA19-D5A8-329E-7A9E-07C3B848554C}"/>
              </a:ext>
            </a:extLst>
          </p:cNvPr>
          <p:cNvSpPr txBox="1"/>
          <p:nvPr/>
        </p:nvSpPr>
        <p:spPr>
          <a:xfrm rot="16200000">
            <a:off x="-529578" y="5166843"/>
            <a:ext cx="1784797" cy="369332"/>
          </a:xfrm>
          <a:prstGeom prst="rect">
            <a:avLst/>
          </a:prstGeom>
          <a:noFill/>
        </p:spPr>
        <p:txBody>
          <a:bodyPr wrap="square" rtlCol="0">
            <a:spAutoFit/>
          </a:bodyPr>
          <a:lstStyle/>
          <a:p>
            <a:r>
              <a:rPr lang="en-US">
                <a:highlight>
                  <a:srgbClr val="FFFF00"/>
                </a:highlight>
              </a:rPr>
              <a:t>F</a:t>
            </a:r>
            <a:r>
              <a:rPr lang="en-NP">
                <a:highlight>
                  <a:srgbClr val="FFFF00"/>
                </a:highlight>
              </a:rPr>
              <a:t>unction body</a:t>
            </a:r>
          </a:p>
        </p:txBody>
      </p:sp>
    </p:spTree>
    <p:extLst>
      <p:ext uri="{BB962C8B-B14F-4D97-AF65-F5344CB8AC3E}">
        <p14:creationId xmlns:p14="http://schemas.microsoft.com/office/powerpoint/2010/main" val="1694009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51094-BA52-4EEF-F910-9290775A118C}"/>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2CD5CB3-DE81-C1D7-5CBC-37D7AF1D9518}"/>
              </a:ext>
            </a:extLst>
          </p:cNvPr>
          <p:cNvSpPr>
            <a:spLocks noGrp="1"/>
          </p:cNvSpPr>
          <p:nvPr>
            <p:ph idx="1"/>
          </p:nvPr>
        </p:nvSpPr>
        <p:spPr>
          <a:xfrm>
            <a:off x="201976" y="0"/>
            <a:ext cx="11788048" cy="6857999"/>
          </a:xfrm>
        </p:spPr>
        <p:txBody>
          <a:bodyPr>
            <a:normAutofit fontScale="32500" lnSpcReduction="20000"/>
          </a:bodyPr>
          <a:lstStyle/>
          <a:p>
            <a:pPr marL="0" indent="0">
              <a:buNone/>
            </a:pPr>
            <a:r>
              <a:rPr lang="en-US" sz="7200" b="1" dirty="0"/>
              <a:t>d. Function passing no arguments and returning no value:</a:t>
            </a:r>
            <a:endParaRPr lang="en-US" sz="7200" dirty="0"/>
          </a:p>
          <a:p>
            <a:pPr marL="0" indent="0">
              <a:buNone/>
            </a:pPr>
            <a:r>
              <a:rPr lang="en-US" sz="7200" dirty="0"/>
              <a:t>In this method, the values are not passed to the function through argument </a:t>
            </a:r>
            <a:r>
              <a:rPr lang="en-US" sz="7200" dirty="0" err="1"/>
              <a:t>fromm</a:t>
            </a:r>
            <a:r>
              <a:rPr lang="en-US" sz="7200" dirty="0"/>
              <a:t> the calling function. The inputs statements are used within the function for the value. The final value is executed within function after the manipulation with that data.</a:t>
            </a:r>
          </a:p>
          <a:p>
            <a:pPr marL="0" indent="0">
              <a:buNone/>
            </a:pPr>
            <a:r>
              <a:rPr lang="en-US" sz="7200" b="1" dirty="0"/>
              <a:t>Write a program to input any three numbers and find average of these numbers.</a:t>
            </a:r>
          </a:p>
          <a:p>
            <a:pPr marL="457200" lvl="1" indent="0">
              <a:buNone/>
            </a:pPr>
            <a:r>
              <a:rPr lang="en-US" sz="6000" b="1" dirty="0"/>
              <a:t># include&lt;stdio.h&gt;</a:t>
            </a:r>
          </a:p>
          <a:p>
            <a:pPr marL="457200" lvl="1" indent="0">
              <a:buNone/>
            </a:pPr>
            <a:r>
              <a:rPr lang="en-US" sz="6000" b="1" dirty="0">
                <a:highlight>
                  <a:srgbClr val="00FF00"/>
                </a:highlight>
              </a:rPr>
              <a:t>int average ( );   //prototype</a:t>
            </a:r>
          </a:p>
          <a:p>
            <a:pPr marL="457200" lvl="1" indent="0">
              <a:buNone/>
            </a:pPr>
            <a:r>
              <a:rPr lang="en-US" sz="6000" b="1" dirty="0"/>
              <a:t>int main ( )</a:t>
            </a:r>
          </a:p>
          <a:p>
            <a:pPr marL="457200" lvl="1" indent="0">
              <a:buNone/>
            </a:pPr>
            <a:r>
              <a:rPr lang="en-US" sz="6000" b="1" dirty="0"/>
              <a:t>{</a:t>
            </a:r>
          </a:p>
          <a:p>
            <a:pPr marL="457200" lvl="1" indent="0">
              <a:buNone/>
            </a:pPr>
            <a:r>
              <a:rPr lang="en-US" sz="6000" b="1" dirty="0">
                <a:highlight>
                  <a:srgbClr val="00FF00"/>
                </a:highlight>
              </a:rPr>
              <a:t>average ( );</a:t>
            </a:r>
          </a:p>
          <a:p>
            <a:pPr marL="457200" lvl="1" indent="0">
              <a:buNone/>
            </a:pPr>
            <a:r>
              <a:rPr lang="en-US" sz="6000" b="1" dirty="0"/>
              <a:t>return 0;</a:t>
            </a:r>
          </a:p>
          <a:p>
            <a:pPr marL="457200" lvl="1" indent="0">
              <a:buNone/>
            </a:pPr>
            <a:r>
              <a:rPr lang="en-US" sz="6000" b="1" dirty="0"/>
              <a:t>}</a:t>
            </a:r>
          </a:p>
          <a:p>
            <a:pPr marL="457200" lvl="1" indent="0">
              <a:buNone/>
            </a:pPr>
            <a:r>
              <a:rPr lang="en-US" sz="6000" b="1" dirty="0">
                <a:highlight>
                  <a:srgbClr val="00FF00"/>
                </a:highlight>
              </a:rPr>
              <a:t>int average ( )	//</a:t>
            </a:r>
            <a:r>
              <a:rPr lang="en-US" sz="6000" b="1" dirty="0" err="1">
                <a:highlight>
                  <a:srgbClr val="00FF00"/>
                </a:highlight>
              </a:rPr>
              <a:t>defination</a:t>
            </a:r>
            <a:endParaRPr lang="en-US" sz="6000" b="1" dirty="0">
              <a:highlight>
                <a:srgbClr val="00FF00"/>
              </a:highlight>
            </a:endParaRPr>
          </a:p>
          <a:p>
            <a:pPr marL="457200" lvl="1" indent="0">
              <a:buNone/>
            </a:pPr>
            <a:r>
              <a:rPr lang="en-US" sz="6000" b="1" dirty="0"/>
              <a:t>{</a:t>
            </a:r>
          </a:p>
          <a:p>
            <a:pPr marL="457200" lvl="1" indent="0">
              <a:buNone/>
            </a:pPr>
            <a:r>
              <a:rPr lang="en-US" sz="6000" b="1" dirty="0"/>
              <a:t>int a, b, c, av;</a:t>
            </a:r>
          </a:p>
          <a:p>
            <a:pPr marL="457200" lvl="1" indent="0">
              <a:buNone/>
            </a:pPr>
            <a:r>
              <a:rPr lang="en-US" sz="6000" b="1" dirty="0"/>
              <a:t>printf ("\n Enter first number");</a:t>
            </a:r>
          </a:p>
          <a:p>
            <a:pPr marL="457200" lvl="1" indent="0">
              <a:buNone/>
            </a:pPr>
            <a:r>
              <a:rPr lang="en-US" sz="6000" b="1" dirty="0"/>
              <a:t>scanf ("%d", &amp; a);</a:t>
            </a:r>
          </a:p>
          <a:p>
            <a:pPr marL="457200" lvl="1" indent="0">
              <a:buNone/>
            </a:pPr>
            <a:r>
              <a:rPr lang="en-US" sz="6000" b="1" dirty="0"/>
              <a:t>printf ("\n Enter second number");</a:t>
            </a:r>
          </a:p>
          <a:p>
            <a:pPr marL="457200" lvl="1" indent="0">
              <a:buNone/>
            </a:pPr>
            <a:r>
              <a:rPr lang="en-US" sz="6000" b="1" dirty="0"/>
              <a:t>scanf ("%d", &amp; b);</a:t>
            </a:r>
          </a:p>
          <a:p>
            <a:pPr marL="457200" lvl="1" indent="0">
              <a:buNone/>
            </a:pPr>
            <a:r>
              <a:rPr lang="en-US" sz="6000" b="1" dirty="0"/>
              <a:t>printf ("\n Enter third number");</a:t>
            </a:r>
          </a:p>
          <a:p>
            <a:pPr marL="457200" lvl="1" indent="0">
              <a:buNone/>
            </a:pPr>
            <a:r>
              <a:rPr lang="en-US" sz="6000" b="1" dirty="0"/>
              <a:t>scanf ("%d", &amp; c);</a:t>
            </a:r>
          </a:p>
          <a:p>
            <a:pPr marL="457200" lvl="1" indent="0">
              <a:buNone/>
            </a:pPr>
            <a:r>
              <a:rPr lang="en-US" sz="6000" b="1" dirty="0"/>
              <a:t>av = (a + b + c)/3;</a:t>
            </a:r>
          </a:p>
          <a:p>
            <a:pPr marL="457200" lvl="1" indent="0">
              <a:buNone/>
            </a:pPr>
            <a:r>
              <a:rPr lang="en-US" sz="6000" b="1" dirty="0"/>
              <a:t>printf ("\n The average is %d", av);</a:t>
            </a:r>
          </a:p>
          <a:p>
            <a:pPr marL="457200" lvl="1" indent="0">
              <a:buNone/>
            </a:pPr>
            <a:r>
              <a:rPr lang="en-US" sz="6000" b="1" dirty="0"/>
              <a:t>}</a:t>
            </a:r>
          </a:p>
          <a:p>
            <a:pPr marL="0" indent="0">
              <a:buNone/>
            </a:pPr>
            <a:endParaRPr lang="en-US" b="1" dirty="0"/>
          </a:p>
          <a:p>
            <a:pPr marL="0" indent="0">
              <a:buNone/>
            </a:pPr>
            <a:endParaRPr lang="en-US" sz="2000" b="1" dirty="0"/>
          </a:p>
          <a:p>
            <a:pPr marL="0" indent="0">
              <a:buNone/>
            </a:pPr>
            <a:endParaRPr lang="en-US" sz="2000" b="1" dirty="0"/>
          </a:p>
          <a:p>
            <a:pPr marL="0" indent="0">
              <a:buNone/>
            </a:pPr>
            <a:endParaRPr lang="en-NP" sz="2000" b="1" dirty="0"/>
          </a:p>
        </p:txBody>
      </p:sp>
      <p:pic>
        <p:nvPicPr>
          <p:cNvPr id="2" name="Picture 1">
            <a:extLst>
              <a:ext uri="{FF2B5EF4-FFF2-40B4-BE49-F238E27FC236}">
                <a16:creationId xmlns:a16="http://schemas.microsoft.com/office/drawing/2014/main" id="{1DBF883B-270E-9FDC-9C8B-3B7963107D55}"/>
              </a:ext>
            </a:extLst>
          </p:cNvPr>
          <p:cNvPicPr>
            <a:picLocks noChangeAspect="1"/>
          </p:cNvPicPr>
          <p:nvPr/>
        </p:nvPicPr>
        <p:blipFill>
          <a:blip r:embed="rId2"/>
          <a:stretch>
            <a:fillRect/>
          </a:stretch>
        </p:blipFill>
        <p:spPr>
          <a:xfrm>
            <a:off x="4831845" y="2660649"/>
            <a:ext cx="3970631" cy="2098637"/>
          </a:xfrm>
          <a:prstGeom prst="rect">
            <a:avLst/>
          </a:prstGeom>
        </p:spPr>
      </p:pic>
      <p:pic>
        <p:nvPicPr>
          <p:cNvPr id="3" name="Picture 2">
            <a:extLst>
              <a:ext uri="{FF2B5EF4-FFF2-40B4-BE49-F238E27FC236}">
                <a16:creationId xmlns:a16="http://schemas.microsoft.com/office/drawing/2014/main" id="{99A5E6DD-82E5-30EA-0AD7-24B19CD8AE4B}"/>
              </a:ext>
            </a:extLst>
          </p:cNvPr>
          <p:cNvPicPr>
            <a:picLocks noChangeAspect="1"/>
          </p:cNvPicPr>
          <p:nvPr/>
        </p:nvPicPr>
        <p:blipFill>
          <a:blip r:embed="rId3"/>
          <a:stretch>
            <a:fillRect/>
          </a:stretch>
        </p:blipFill>
        <p:spPr>
          <a:xfrm>
            <a:off x="5049398" y="5249842"/>
            <a:ext cx="5029200" cy="1117600"/>
          </a:xfrm>
          <a:prstGeom prst="rect">
            <a:avLst/>
          </a:prstGeom>
        </p:spPr>
      </p:pic>
    </p:spTree>
    <p:extLst>
      <p:ext uri="{BB962C8B-B14F-4D97-AF65-F5344CB8AC3E}">
        <p14:creationId xmlns:p14="http://schemas.microsoft.com/office/powerpoint/2010/main" val="161649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280F5A-C796-2359-6DB7-D8BB3E4886CB}"/>
              </a:ext>
            </a:extLst>
          </p:cNvPr>
          <p:cNvSpPr>
            <a:spLocks noGrp="1"/>
          </p:cNvSpPr>
          <p:nvPr>
            <p:ph idx="1"/>
          </p:nvPr>
        </p:nvSpPr>
        <p:spPr>
          <a:xfrm>
            <a:off x="838200" y="406400"/>
            <a:ext cx="10515600" cy="5770563"/>
          </a:xfrm>
        </p:spPr>
        <p:txBody>
          <a:bodyPr>
            <a:normAutofit/>
          </a:bodyPr>
          <a:lstStyle/>
          <a:p>
            <a:pPr marL="0" indent="0">
              <a:buNone/>
            </a:pPr>
            <a:r>
              <a:rPr lang="en-NP" sz="5400"/>
              <a:t>	</a:t>
            </a:r>
          </a:p>
          <a:p>
            <a:pPr marL="0" indent="0">
              <a:buNone/>
            </a:pPr>
            <a:r>
              <a:rPr lang="en-NP" sz="5400"/>
              <a:t>	</a:t>
            </a:r>
          </a:p>
          <a:p>
            <a:pPr marL="0" indent="0">
              <a:buNone/>
            </a:pPr>
            <a:r>
              <a:rPr lang="en-NP" sz="5400"/>
              <a:t>	</a:t>
            </a:r>
          </a:p>
          <a:p>
            <a:pPr marL="0" indent="0">
              <a:buNone/>
            </a:pPr>
            <a:r>
              <a:rPr lang="en-NP" sz="5400"/>
              <a:t>	</a:t>
            </a:r>
            <a:r>
              <a:rPr lang="en-NP" sz="5400">
                <a:solidFill>
                  <a:srgbClr val="FF0000"/>
                </a:solidFill>
              </a:rPr>
              <a:t>Some Examples of Function</a:t>
            </a:r>
          </a:p>
        </p:txBody>
      </p:sp>
    </p:spTree>
    <p:extLst>
      <p:ext uri="{BB962C8B-B14F-4D97-AF65-F5344CB8AC3E}">
        <p14:creationId xmlns:p14="http://schemas.microsoft.com/office/powerpoint/2010/main" val="1492908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A9B0E-148D-89B2-05CE-D55F67CD70B0}"/>
              </a:ext>
            </a:extLst>
          </p:cNvPr>
          <p:cNvSpPr>
            <a:spLocks noGrp="1"/>
          </p:cNvSpPr>
          <p:nvPr>
            <p:ph idx="1"/>
          </p:nvPr>
        </p:nvSpPr>
        <p:spPr>
          <a:xfrm>
            <a:off x="838200" y="215900"/>
            <a:ext cx="10515600" cy="6515100"/>
          </a:xfrm>
          <a:ln>
            <a:noFill/>
          </a:ln>
        </p:spPr>
        <p:txBody>
          <a:bodyPr>
            <a:normAutofit fontScale="85000" lnSpcReduction="10000"/>
          </a:bodyPr>
          <a:lstStyle/>
          <a:p>
            <a:pPr marL="514350" indent="-514350">
              <a:buFont typeface="+mj-lt"/>
              <a:buAutoNum type="arabicPeriod"/>
            </a:pPr>
            <a:r>
              <a:rPr lang="en-NP" b="1" i="1" dirty="0"/>
              <a:t>Write C program to find area and perimeter of a rectangle. Use function area_perimeter()</a:t>
            </a:r>
          </a:p>
          <a:p>
            <a:pPr marL="514350" indent="-514350">
              <a:buFont typeface="+mj-lt"/>
              <a:buAutoNum type="arabicPeriod"/>
            </a:pPr>
            <a:r>
              <a:rPr lang="en-NP" b="1" i="1" dirty="0"/>
              <a:t>Write C program to know a number is even or odd using function named void even_odd(int )</a:t>
            </a:r>
          </a:p>
          <a:p>
            <a:pPr marL="514350" indent="-514350">
              <a:buFont typeface="+mj-lt"/>
              <a:buAutoNum type="arabicPeriod"/>
            </a:pPr>
            <a:r>
              <a:rPr lang="en-NP" b="1" i="1" dirty="0"/>
              <a:t>Write C program to print multiplication table of a number using function void table( int)</a:t>
            </a:r>
          </a:p>
          <a:p>
            <a:pPr marL="514350" indent="-514350">
              <a:buFont typeface="+mj-lt"/>
              <a:buAutoNum type="arabicPeriod"/>
            </a:pPr>
            <a:r>
              <a:rPr lang="en-NP" b="1" i="1" dirty="0"/>
              <a:t>Write C program to print factorial of  a number using function void fact( int)</a:t>
            </a:r>
          </a:p>
          <a:p>
            <a:pPr marL="514350" indent="-514350">
              <a:buFont typeface="+mj-lt"/>
              <a:buAutoNum type="arabicPeriod"/>
            </a:pPr>
            <a:r>
              <a:rPr lang="en-NP" b="1" i="1" dirty="0"/>
              <a:t>Write C program to print the greatest value among three numbers using a function int  great(int int int). We have to use return statement</a:t>
            </a:r>
          </a:p>
          <a:p>
            <a:pPr marL="514350" indent="-514350">
              <a:buFont typeface="+mj-lt"/>
              <a:buAutoNum type="arabicPeriod"/>
            </a:pPr>
            <a:r>
              <a:rPr lang="en-NP" b="1" dirty="0"/>
              <a:t>Write a C program to display fibonacci series using function as shown   1 1 2 3 5… upto n</a:t>
            </a:r>
            <a:r>
              <a:rPr lang="en-NP" b="1" baseline="30000" dirty="0"/>
              <a:t>th</a:t>
            </a:r>
            <a:r>
              <a:rPr lang="en-NP" b="1" dirty="0"/>
              <a:t> term.</a:t>
            </a:r>
            <a:r>
              <a:rPr lang="en-NP" b="1" baseline="30000" dirty="0"/>
              <a:t> </a:t>
            </a:r>
            <a:endParaRPr lang="en-NP" b="1" i="1" dirty="0"/>
          </a:p>
          <a:p>
            <a:pPr marL="514350" indent="-514350">
              <a:buFont typeface="+mj-lt"/>
              <a:buAutoNum type="arabicPeriod"/>
            </a:pPr>
            <a:r>
              <a:rPr lang="en-NP" b="1" i="1" dirty="0"/>
              <a:t>Write C program to check and display the given number is prime or not.</a:t>
            </a:r>
          </a:p>
          <a:p>
            <a:pPr marL="514350" indent="-514350">
              <a:buFont typeface="+mj-lt"/>
              <a:buAutoNum type="arabicPeriod"/>
            </a:pPr>
            <a:r>
              <a:rPr lang="en-NP" b="1" i="1" dirty="0"/>
              <a:t>Write C program to find sum of series 1, 3, 5,…..200 using function. </a:t>
            </a:r>
          </a:p>
          <a:p>
            <a:pPr marL="514350" indent="-514350">
              <a:buFont typeface="+mj-lt"/>
              <a:buAutoNum type="arabicPeriod"/>
            </a:pPr>
            <a:r>
              <a:rPr lang="en-NP" b="1" i="1" dirty="0"/>
              <a:t>WAP to calculate and display sum of n numbers using array and function.</a:t>
            </a:r>
          </a:p>
          <a:p>
            <a:pPr marL="514350" indent="-514350">
              <a:buFont typeface="+mj-lt"/>
              <a:buAutoNum type="arabicPeriod"/>
            </a:pPr>
            <a:r>
              <a:rPr lang="en-NP" b="1" i="1" dirty="0"/>
              <a:t>WAP to calculate and display t</a:t>
            </a:r>
            <a:r>
              <a:rPr lang="en-NP" b="1" i="1" u="sng" dirty="0"/>
              <a:t>o sum of  two Metrix.</a:t>
            </a:r>
            <a:r>
              <a:rPr lang="en-NP" b="1" i="1" dirty="0"/>
              <a:t> </a:t>
            </a:r>
          </a:p>
          <a:p>
            <a:pPr marL="514350" indent="-514350">
              <a:buFont typeface="+mj-lt"/>
              <a:buAutoNum type="arabicPeriod"/>
            </a:pPr>
            <a:endParaRPr lang="en-NP" dirty="0"/>
          </a:p>
          <a:p>
            <a:pPr marL="514350" indent="-514350">
              <a:buFont typeface="+mj-lt"/>
              <a:buAutoNum type="arabicPeriod"/>
            </a:pPr>
            <a:endParaRPr lang="en-NP" dirty="0"/>
          </a:p>
          <a:p>
            <a:pPr marL="514350" indent="-514350">
              <a:buFont typeface="+mj-lt"/>
              <a:buAutoNum type="arabicPeriod"/>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a:p>
            <a:pPr marL="0" indent="0">
              <a:buNone/>
            </a:pPr>
            <a:endParaRPr lang="en-NP" dirty="0"/>
          </a:p>
        </p:txBody>
      </p:sp>
    </p:spTree>
    <p:extLst>
      <p:ext uri="{BB962C8B-B14F-4D97-AF65-F5344CB8AC3E}">
        <p14:creationId xmlns:p14="http://schemas.microsoft.com/office/powerpoint/2010/main" val="3876732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635582-CE88-6F2A-87B4-261CA3385D84}"/>
              </a:ext>
            </a:extLst>
          </p:cNvPr>
          <p:cNvSpPr>
            <a:spLocks noGrp="1"/>
          </p:cNvSpPr>
          <p:nvPr>
            <p:ph idx="1"/>
          </p:nvPr>
        </p:nvSpPr>
        <p:spPr>
          <a:xfrm>
            <a:off x="469900" y="330200"/>
            <a:ext cx="10883900" cy="6527800"/>
          </a:xfrm>
        </p:spPr>
        <p:txBody>
          <a:bodyPr>
            <a:normAutofit fontScale="70000" lnSpcReduction="20000"/>
          </a:bodyPr>
          <a:lstStyle/>
          <a:p>
            <a:pPr marL="0" indent="0">
              <a:buNone/>
            </a:pPr>
            <a:r>
              <a:rPr lang="en-NP" b="1" i="1" dirty="0">
                <a:solidFill>
                  <a:srgbClr val="FF0000"/>
                </a:solidFill>
              </a:rPr>
              <a:t>1.Write C program to find area and perimeter of a rectangle. Use function area_perimeter()</a:t>
            </a:r>
            <a:endParaRPr lang="en-US" dirty="0">
              <a:solidFill>
                <a:srgbClr val="FF0000"/>
              </a:solidFill>
            </a:endParaRPr>
          </a:p>
          <a:p>
            <a:pPr marL="0" indent="0">
              <a:buNone/>
            </a:pPr>
            <a:r>
              <a:rPr lang="en-US" sz="3100" b="1" dirty="0"/>
              <a:t>#include&lt;stdio.h&gt; </a:t>
            </a:r>
          </a:p>
          <a:p>
            <a:pPr marL="0" indent="0">
              <a:lnSpc>
                <a:spcPct val="110000"/>
              </a:lnSpc>
              <a:spcBef>
                <a:spcPts val="0"/>
              </a:spcBef>
              <a:buNone/>
            </a:pPr>
            <a:r>
              <a:rPr lang="en-US" sz="3100" b="1" dirty="0"/>
              <a:t>void area_perimeter(int , int ); </a:t>
            </a:r>
          </a:p>
          <a:p>
            <a:pPr marL="0" indent="0">
              <a:lnSpc>
                <a:spcPct val="110000"/>
              </a:lnSpc>
              <a:spcBef>
                <a:spcPts val="0"/>
              </a:spcBef>
              <a:buNone/>
            </a:pPr>
            <a:r>
              <a:rPr lang="en-US" sz="3100" b="1" dirty="0"/>
              <a:t>int main()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int l, b; </a:t>
            </a:r>
          </a:p>
          <a:p>
            <a:pPr marL="0" indent="0">
              <a:lnSpc>
                <a:spcPct val="110000"/>
              </a:lnSpc>
              <a:spcBef>
                <a:spcPts val="0"/>
              </a:spcBef>
              <a:buNone/>
            </a:pPr>
            <a:r>
              <a:rPr lang="en-US" sz="3100" b="1" dirty="0"/>
              <a:t>printf("Enter length and breadth :"); </a:t>
            </a:r>
          </a:p>
          <a:p>
            <a:pPr marL="0" indent="0">
              <a:lnSpc>
                <a:spcPct val="110000"/>
              </a:lnSpc>
              <a:spcBef>
                <a:spcPts val="0"/>
              </a:spcBef>
              <a:buNone/>
            </a:pPr>
            <a:r>
              <a:rPr lang="en-US" sz="3100" b="1" dirty="0"/>
              <a:t>scanf("%d%d",&amp;l,&amp;b); </a:t>
            </a:r>
          </a:p>
          <a:p>
            <a:pPr marL="0" indent="0">
              <a:lnSpc>
                <a:spcPct val="110000"/>
              </a:lnSpc>
              <a:spcBef>
                <a:spcPts val="0"/>
              </a:spcBef>
              <a:buNone/>
            </a:pPr>
            <a:r>
              <a:rPr lang="en-US" sz="3100" b="1" dirty="0"/>
              <a:t>area_perimeter(l,b); </a:t>
            </a:r>
          </a:p>
          <a:p>
            <a:pPr marL="0" indent="0">
              <a:lnSpc>
                <a:spcPct val="110000"/>
              </a:lnSpc>
              <a:spcBef>
                <a:spcPts val="0"/>
              </a:spcBef>
              <a:buNone/>
            </a:pPr>
            <a:r>
              <a:rPr lang="en-US" sz="3100" b="1" dirty="0"/>
              <a:t>return 0;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void area_perimeter(int l, int b) </a:t>
            </a:r>
          </a:p>
          <a:p>
            <a:pPr marL="0" indent="0">
              <a:lnSpc>
                <a:spcPct val="110000"/>
              </a:lnSpc>
              <a:spcBef>
                <a:spcPts val="0"/>
              </a:spcBef>
              <a:buNone/>
            </a:pPr>
            <a:r>
              <a:rPr lang="en-US" sz="3100" b="1" dirty="0"/>
              <a:t>{ </a:t>
            </a:r>
          </a:p>
          <a:p>
            <a:pPr marL="0" indent="0">
              <a:lnSpc>
                <a:spcPct val="110000"/>
              </a:lnSpc>
              <a:spcBef>
                <a:spcPts val="0"/>
              </a:spcBef>
              <a:buNone/>
            </a:pPr>
            <a:r>
              <a:rPr lang="en-US" sz="3100" b="1" dirty="0"/>
              <a:t>int area,perimeter; </a:t>
            </a:r>
          </a:p>
          <a:p>
            <a:pPr marL="0" indent="0">
              <a:lnSpc>
                <a:spcPct val="110000"/>
              </a:lnSpc>
              <a:spcBef>
                <a:spcPts val="0"/>
              </a:spcBef>
              <a:buNone/>
            </a:pPr>
            <a:r>
              <a:rPr lang="en-US" sz="3100" b="1" dirty="0"/>
              <a:t>area=l*b; </a:t>
            </a:r>
          </a:p>
          <a:p>
            <a:pPr marL="0" indent="0">
              <a:lnSpc>
                <a:spcPct val="110000"/>
              </a:lnSpc>
              <a:spcBef>
                <a:spcPts val="0"/>
              </a:spcBef>
              <a:buNone/>
            </a:pPr>
            <a:r>
              <a:rPr lang="en-US" sz="3100" b="1" dirty="0"/>
              <a:t>printf("Area of rectangle = %d",area); </a:t>
            </a:r>
          </a:p>
          <a:p>
            <a:pPr marL="0" indent="0">
              <a:lnSpc>
                <a:spcPct val="110000"/>
              </a:lnSpc>
              <a:spcBef>
                <a:spcPts val="0"/>
              </a:spcBef>
              <a:buNone/>
            </a:pPr>
            <a:r>
              <a:rPr lang="en-US" sz="3100" b="1" dirty="0"/>
              <a:t>perimeter=2*(l+b); </a:t>
            </a:r>
          </a:p>
          <a:p>
            <a:pPr marL="0" indent="0">
              <a:lnSpc>
                <a:spcPct val="110000"/>
              </a:lnSpc>
              <a:spcBef>
                <a:spcPts val="0"/>
              </a:spcBef>
              <a:buNone/>
            </a:pPr>
            <a:r>
              <a:rPr lang="en-US" sz="3100" b="1" dirty="0"/>
              <a:t>printf("\n Perimeter of rectangle = %d",perimeter); </a:t>
            </a:r>
          </a:p>
          <a:p>
            <a:pPr marL="0" indent="0">
              <a:lnSpc>
                <a:spcPct val="110000"/>
              </a:lnSpc>
              <a:spcBef>
                <a:spcPts val="0"/>
              </a:spcBef>
              <a:buNone/>
            </a:pPr>
            <a:r>
              <a:rPr lang="en-US" sz="3100" b="1" dirty="0"/>
              <a:t>}</a:t>
            </a:r>
          </a:p>
          <a:p>
            <a:pPr marL="0" indent="0">
              <a:buNone/>
            </a:pPr>
            <a:endParaRPr lang="en-US" dirty="0"/>
          </a:p>
          <a:p>
            <a:pPr marL="0" indent="0">
              <a:buNone/>
            </a:pPr>
            <a:endParaRPr lang="en-NP" dirty="0"/>
          </a:p>
        </p:txBody>
      </p:sp>
      <p:pic>
        <p:nvPicPr>
          <p:cNvPr id="4" name="Picture 3">
            <a:extLst>
              <a:ext uri="{FF2B5EF4-FFF2-40B4-BE49-F238E27FC236}">
                <a16:creationId xmlns:a16="http://schemas.microsoft.com/office/drawing/2014/main" id="{655D7ED3-E8CB-DFD7-1234-64D5623F1854}"/>
              </a:ext>
            </a:extLst>
          </p:cNvPr>
          <p:cNvPicPr>
            <a:picLocks noChangeAspect="1"/>
          </p:cNvPicPr>
          <p:nvPr/>
        </p:nvPicPr>
        <p:blipFill>
          <a:blip r:embed="rId2"/>
          <a:stretch>
            <a:fillRect/>
          </a:stretch>
        </p:blipFill>
        <p:spPr>
          <a:xfrm>
            <a:off x="5084591" y="2844800"/>
            <a:ext cx="4006497" cy="1168400"/>
          </a:xfrm>
          <a:prstGeom prst="rect">
            <a:avLst/>
          </a:prstGeom>
        </p:spPr>
      </p:pic>
      <p:graphicFrame>
        <p:nvGraphicFramePr>
          <p:cNvPr id="2" name="Table 1">
            <a:extLst>
              <a:ext uri="{FF2B5EF4-FFF2-40B4-BE49-F238E27FC236}">
                <a16:creationId xmlns:a16="http://schemas.microsoft.com/office/drawing/2014/main" id="{6FEA8F84-3848-00F2-C369-E701BC32A59E}"/>
              </a:ext>
            </a:extLst>
          </p:cNvPr>
          <p:cNvGraphicFramePr>
            <a:graphicFrameLocks noGrp="1"/>
          </p:cNvGraphicFramePr>
          <p:nvPr>
            <p:extLst>
              <p:ext uri="{D42A27DB-BD31-4B8C-83A1-F6EECF244321}">
                <p14:modId xmlns:p14="http://schemas.microsoft.com/office/powerpoint/2010/main" val="1537125573"/>
              </p:ext>
            </p:extLst>
          </p:nvPr>
        </p:nvGraphicFramePr>
        <p:xfrm>
          <a:off x="4627756" y="741968"/>
          <a:ext cx="6279376" cy="741680"/>
        </p:xfrm>
        <a:graphic>
          <a:graphicData uri="http://schemas.openxmlformats.org/drawingml/2006/table">
            <a:tbl>
              <a:tblPr firstRow="1" bandRow="1">
                <a:tableStyleId>{5940675A-B579-460E-94D1-54222C63F5DA}</a:tableStyleId>
              </a:tblPr>
              <a:tblGrid>
                <a:gridCol w="1569844">
                  <a:extLst>
                    <a:ext uri="{9D8B030D-6E8A-4147-A177-3AD203B41FA5}">
                      <a16:colId xmlns:a16="http://schemas.microsoft.com/office/drawing/2014/main" val="2712712984"/>
                    </a:ext>
                  </a:extLst>
                </a:gridCol>
                <a:gridCol w="1569844">
                  <a:extLst>
                    <a:ext uri="{9D8B030D-6E8A-4147-A177-3AD203B41FA5}">
                      <a16:colId xmlns:a16="http://schemas.microsoft.com/office/drawing/2014/main" val="2107942688"/>
                    </a:ext>
                  </a:extLst>
                </a:gridCol>
                <a:gridCol w="1569844">
                  <a:extLst>
                    <a:ext uri="{9D8B030D-6E8A-4147-A177-3AD203B41FA5}">
                      <a16:colId xmlns:a16="http://schemas.microsoft.com/office/drawing/2014/main" val="2275193498"/>
                    </a:ext>
                  </a:extLst>
                </a:gridCol>
                <a:gridCol w="1569844">
                  <a:extLst>
                    <a:ext uri="{9D8B030D-6E8A-4147-A177-3AD203B41FA5}">
                      <a16:colId xmlns:a16="http://schemas.microsoft.com/office/drawing/2014/main" val="2719551958"/>
                    </a:ext>
                  </a:extLst>
                </a:gridCol>
              </a:tblGrid>
              <a:tr h="370840">
                <a:tc>
                  <a:txBody>
                    <a:bodyPr/>
                    <a:lstStyle/>
                    <a:p>
                      <a:r>
                        <a:rPr lang="en-NP" b="1" dirty="0">
                          <a:highlight>
                            <a:srgbClr val="FFFF00"/>
                          </a:highlight>
                        </a:rPr>
                        <a:t>perimeter</a:t>
                      </a:r>
                    </a:p>
                  </a:txBody>
                  <a:tcPr/>
                </a:tc>
                <a:tc>
                  <a:txBody>
                    <a:bodyPr/>
                    <a:lstStyle/>
                    <a:p>
                      <a:r>
                        <a:rPr lang="en-NP" b="1" dirty="0">
                          <a:highlight>
                            <a:srgbClr val="FFFF00"/>
                          </a:highlight>
                        </a:rPr>
                        <a:t>area</a:t>
                      </a:r>
                    </a:p>
                  </a:txBody>
                  <a:tcPr/>
                </a:tc>
                <a:tc>
                  <a:txBody>
                    <a:bodyPr/>
                    <a:lstStyle/>
                    <a:p>
                      <a:r>
                        <a:rPr lang="en-NP" b="1" dirty="0">
                          <a:highlight>
                            <a:srgbClr val="FFFF00"/>
                          </a:highlight>
                        </a:rPr>
                        <a:t>l</a:t>
                      </a:r>
                    </a:p>
                  </a:txBody>
                  <a:tcPr/>
                </a:tc>
                <a:tc>
                  <a:txBody>
                    <a:bodyPr/>
                    <a:lstStyle/>
                    <a:p>
                      <a:r>
                        <a:rPr lang="en-NP" b="1" dirty="0">
                          <a:highlight>
                            <a:srgbClr val="FFFF00"/>
                          </a:highlight>
                        </a:rPr>
                        <a:t>b</a:t>
                      </a:r>
                    </a:p>
                  </a:txBody>
                  <a:tcPr/>
                </a:tc>
                <a:extLst>
                  <a:ext uri="{0D108BD9-81ED-4DB2-BD59-A6C34878D82A}">
                    <a16:rowId xmlns:a16="http://schemas.microsoft.com/office/drawing/2014/main" val="1990545239"/>
                  </a:ext>
                </a:extLst>
              </a:tr>
              <a:tr h="370840">
                <a:tc>
                  <a:txBody>
                    <a:bodyPr/>
                    <a:lstStyle/>
                    <a:p>
                      <a:r>
                        <a:rPr lang="en-NP" b="1" dirty="0"/>
                        <a:t>22</a:t>
                      </a:r>
                    </a:p>
                  </a:txBody>
                  <a:tcPr/>
                </a:tc>
                <a:tc>
                  <a:txBody>
                    <a:bodyPr/>
                    <a:lstStyle/>
                    <a:p>
                      <a:r>
                        <a:rPr lang="en-NP" b="1" dirty="0"/>
                        <a:t>30</a:t>
                      </a:r>
                    </a:p>
                  </a:txBody>
                  <a:tcPr/>
                </a:tc>
                <a:tc>
                  <a:txBody>
                    <a:bodyPr/>
                    <a:lstStyle/>
                    <a:p>
                      <a:r>
                        <a:rPr lang="en-NP" b="1" dirty="0"/>
                        <a:t>5</a:t>
                      </a:r>
                    </a:p>
                  </a:txBody>
                  <a:tcPr/>
                </a:tc>
                <a:tc>
                  <a:txBody>
                    <a:bodyPr/>
                    <a:lstStyle/>
                    <a:p>
                      <a:r>
                        <a:rPr lang="en-NP" b="1" dirty="0"/>
                        <a:t>6</a:t>
                      </a:r>
                    </a:p>
                  </a:txBody>
                  <a:tcPr/>
                </a:tc>
                <a:extLst>
                  <a:ext uri="{0D108BD9-81ED-4DB2-BD59-A6C34878D82A}">
                    <a16:rowId xmlns:a16="http://schemas.microsoft.com/office/drawing/2014/main" val="366409164"/>
                  </a:ext>
                </a:extLst>
              </a:tr>
            </a:tbl>
          </a:graphicData>
        </a:graphic>
      </p:graphicFrame>
    </p:spTree>
    <p:extLst>
      <p:ext uri="{BB962C8B-B14F-4D97-AF65-F5344CB8AC3E}">
        <p14:creationId xmlns:p14="http://schemas.microsoft.com/office/powerpoint/2010/main" val="3973302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7CA59-B003-E7CA-648E-6EFE4F8061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602ED-5AD3-912B-FD4B-3485894D99B1}"/>
              </a:ext>
            </a:extLst>
          </p:cNvPr>
          <p:cNvSpPr>
            <a:spLocks noGrp="1"/>
          </p:cNvSpPr>
          <p:nvPr>
            <p:ph idx="1"/>
          </p:nvPr>
        </p:nvSpPr>
        <p:spPr>
          <a:xfrm>
            <a:off x="469900" y="330200"/>
            <a:ext cx="10883900" cy="6146800"/>
          </a:xfrm>
        </p:spPr>
        <p:txBody>
          <a:bodyPr>
            <a:normAutofit fontScale="25000" lnSpcReduction="20000"/>
          </a:bodyPr>
          <a:lstStyle/>
          <a:p>
            <a:pPr marL="0" indent="0">
              <a:buNone/>
            </a:pPr>
            <a:r>
              <a:rPr lang="en-NP" sz="8000" b="1" i="1" dirty="0">
                <a:solidFill>
                  <a:srgbClr val="FF0000"/>
                </a:solidFill>
              </a:rPr>
              <a:t>2.Write C program to know a number is even or odd using function named void even_odd(int )</a:t>
            </a:r>
            <a:endParaRPr lang="en-US" sz="8000" b="1" dirty="0">
              <a:solidFill>
                <a:srgbClr val="FF0000"/>
              </a:solidFill>
            </a:endParaRPr>
          </a:p>
          <a:p>
            <a:pPr marL="0" indent="0">
              <a:buNone/>
            </a:pPr>
            <a:r>
              <a:rPr lang="en-US" sz="8000" b="1" dirty="0"/>
              <a:t>#include&lt;stdio.h&gt; </a:t>
            </a:r>
          </a:p>
          <a:p>
            <a:pPr marL="0" indent="0">
              <a:buNone/>
            </a:pPr>
            <a:r>
              <a:rPr lang="en-US" sz="8000" b="1" dirty="0"/>
              <a:t>void even_odd(int n); </a:t>
            </a:r>
          </a:p>
          <a:p>
            <a:pPr marL="0" indent="0">
              <a:buNone/>
            </a:pPr>
            <a:r>
              <a:rPr lang="en-US" sz="8000" b="1" dirty="0"/>
              <a:t>int main() </a:t>
            </a:r>
          </a:p>
          <a:p>
            <a:pPr marL="0" indent="0">
              <a:buNone/>
            </a:pPr>
            <a:r>
              <a:rPr lang="en-US" sz="8000" b="1" dirty="0"/>
              <a:t>{ </a:t>
            </a:r>
          </a:p>
          <a:p>
            <a:pPr marL="0" indent="0">
              <a:buNone/>
            </a:pPr>
            <a:r>
              <a:rPr lang="en-US" sz="8000" b="1" dirty="0"/>
              <a:t>int n; </a:t>
            </a:r>
          </a:p>
          <a:p>
            <a:pPr marL="0" indent="0">
              <a:buNone/>
            </a:pPr>
            <a:r>
              <a:rPr lang="en-US" sz="8000" b="1" dirty="0"/>
              <a:t>printf("Enter a number :"); </a:t>
            </a:r>
          </a:p>
          <a:p>
            <a:pPr marL="0" indent="0">
              <a:buNone/>
            </a:pPr>
            <a:r>
              <a:rPr lang="en-US" sz="8000" b="1" dirty="0"/>
              <a:t>scanf("%d", &amp;n); </a:t>
            </a:r>
          </a:p>
          <a:p>
            <a:pPr marL="0" indent="0">
              <a:buNone/>
            </a:pPr>
            <a:r>
              <a:rPr lang="en-US" sz="8000" b="1" dirty="0"/>
              <a:t>even_odd(n); </a:t>
            </a:r>
          </a:p>
          <a:p>
            <a:pPr marL="0" indent="0">
              <a:buNone/>
            </a:pPr>
            <a:r>
              <a:rPr lang="en-US" sz="8000" b="1" dirty="0"/>
              <a:t>return 0;</a:t>
            </a:r>
          </a:p>
          <a:p>
            <a:pPr marL="0" indent="0">
              <a:buNone/>
            </a:pPr>
            <a:r>
              <a:rPr lang="en-US" sz="8000" b="1" dirty="0"/>
              <a:t>} </a:t>
            </a:r>
          </a:p>
          <a:p>
            <a:pPr marL="0" indent="0">
              <a:buNone/>
            </a:pPr>
            <a:r>
              <a:rPr lang="en-US" sz="8000" b="1" dirty="0"/>
              <a:t>void even_odd(int n) </a:t>
            </a:r>
          </a:p>
          <a:p>
            <a:pPr marL="0" indent="0">
              <a:buNone/>
            </a:pPr>
            <a:r>
              <a:rPr lang="en-US" sz="8000" b="1" dirty="0"/>
              <a:t>{ </a:t>
            </a:r>
          </a:p>
          <a:p>
            <a:pPr marL="0" indent="0">
              <a:buNone/>
            </a:pPr>
            <a:r>
              <a:rPr lang="en-US" sz="8000" b="1" dirty="0"/>
              <a:t>if(n%2==0) </a:t>
            </a:r>
          </a:p>
          <a:p>
            <a:pPr marL="0" indent="0">
              <a:buNone/>
            </a:pPr>
            <a:r>
              <a:rPr lang="en-US" sz="8000" b="1" dirty="0"/>
              <a:t>printf("Even"); </a:t>
            </a:r>
          </a:p>
          <a:p>
            <a:pPr marL="0" indent="0">
              <a:buNone/>
            </a:pPr>
            <a:r>
              <a:rPr lang="en-US" sz="8000" b="1" dirty="0"/>
              <a:t>else </a:t>
            </a:r>
          </a:p>
          <a:p>
            <a:pPr marL="0" indent="0">
              <a:buNone/>
            </a:pPr>
            <a:r>
              <a:rPr lang="en-US" sz="8000" b="1" dirty="0"/>
              <a:t>printf("Odd"); </a:t>
            </a:r>
          </a:p>
          <a:p>
            <a:pPr marL="0" indent="0">
              <a:buNone/>
            </a:pPr>
            <a:r>
              <a:rPr lang="en-US" sz="8000" b="1" dirty="0"/>
              <a:t>}</a:t>
            </a:r>
          </a:p>
          <a:p>
            <a:pPr marL="0" indent="0">
              <a:buNone/>
            </a:pPr>
            <a:br>
              <a:rPr lang="en-US" b="1" dirty="0"/>
            </a:br>
            <a:endParaRPr lang="en-US" b="1" dirty="0"/>
          </a:p>
          <a:p>
            <a:pPr marL="0" indent="0">
              <a:buNone/>
            </a:pPr>
            <a:endParaRPr lang="en-NP" b="1" dirty="0"/>
          </a:p>
        </p:txBody>
      </p:sp>
      <p:pic>
        <p:nvPicPr>
          <p:cNvPr id="2" name="Picture 1">
            <a:extLst>
              <a:ext uri="{FF2B5EF4-FFF2-40B4-BE49-F238E27FC236}">
                <a16:creationId xmlns:a16="http://schemas.microsoft.com/office/drawing/2014/main" id="{B05C39E0-8FEC-E529-FF17-C5C570645AC9}"/>
              </a:ext>
            </a:extLst>
          </p:cNvPr>
          <p:cNvPicPr>
            <a:picLocks noChangeAspect="1"/>
          </p:cNvPicPr>
          <p:nvPr/>
        </p:nvPicPr>
        <p:blipFill>
          <a:blip r:embed="rId2"/>
          <a:stretch>
            <a:fillRect/>
          </a:stretch>
        </p:blipFill>
        <p:spPr>
          <a:xfrm>
            <a:off x="3899616" y="3183262"/>
            <a:ext cx="3594100" cy="774700"/>
          </a:xfrm>
          <a:prstGeom prst="rect">
            <a:avLst/>
          </a:prstGeom>
        </p:spPr>
      </p:pic>
      <p:graphicFrame>
        <p:nvGraphicFramePr>
          <p:cNvPr id="4" name="Table 3">
            <a:extLst>
              <a:ext uri="{FF2B5EF4-FFF2-40B4-BE49-F238E27FC236}">
                <a16:creationId xmlns:a16="http://schemas.microsoft.com/office/drawing/2014/main" id="{0D216D8D-8523-D71A-3224-C5401D3500D3}"/>
              </a:ext>
            </a:extLst>
          </p:cNvPr>
          <p:cNvGraphicFramePr>
            <a:graphicFrameLocks noGrp="1"/>
          </p:cNvGraphicFramePr>
          <p:nvPr>
            <p:extLst>
              <p:ext uri="{D42A27DB-BD31-4B8C-83A1-F6EECF244321}">
                <p14:modId xmlns:p14="http://schemas.microsoft.com/office/powerpoint/2010/main" val="3298690953"/>
              </p:ext>
            </p:extLst>
          </p:nvPr>
        </p:nvGraphicFramePr>
        <p:xfrm>
          <a:off x="7248293" y="1015051"/>
          <a:ext cx="1014761" cy="741680"/>
        </p:xfrm>
        <a:graphic>
          <a:graphicData uri="http://schemas.openxmlformats.org/drawingml/2006/table">
            <a:tbl>
              <a:tblPr firstRow="1" bandRow="1">
                <a:tableStyleId>{5940675A-B579-460E-94D1-54222C63F5DA}</a:tableStyleId>
              </a:tblPr>
              <a:tblGrid>
                <a:gridCol w="1014761">
                  <a:extLst>
                    <a:ext uri="{9D8B030D-6E8A-4147-A177-3AD203B41FA5}">
                      <a16:colId xmlns:a16="http://schemas.microsoft.com/office/drawing/2014/main" val="2261611795"/>
                    </a:ext>
                  </a:extLst>
                </a:gridCol>
              </a:tblGrid>
              <a:tr h="370840">
                <a:tc>
                  <a:txBody>
                    <a:bodyPr/>
                    <a:lstStyle/>
                    <a:p>
                      <a:r>
                        <a:rPr lang="en-NP" b="1" dirty="0">
                          <a:highlight>
                            <a:srgbClr val="FFFF00"/>
                          </a:highlight>
                        </a:rPr>
                        <a:t>n</a:t>
                      </a:r>
                    </a:p>
                  </a:txBody>
                  <a:tcPr/>
                </a:tc>
                <a:extLst>
                  <a:ext uri="{0D108BD9-81ED-4DB2-BD59-A6C34878D82A}">
                    <a16:rowId xmlns:a16="http://schemas.microsoft.com/office/drawing/2014/main" val="3015042732"/>
                  </a:ext>
                </a:extLst>
              </a:tr>
              <a:tr h="370840">
                <a:tc>
                  <a:txBody>
                    <a:bodyPr/>
                    <a:lstStyle/>
                    <a:p>
                      <a:r>
                        <a:rPr lang="en-NP" b="1" dirty="0"/>
                        <a:t>5</a:t>
                      </a:r>
                    </a:p>
                  </a:txBody>
                  <a:tcPr/>
                </a:tc>
                <a:extLst>
                  <a:ext uri="{0D108BD9-81ED-4DB2-BD59-A6C34878D82A}">
                    <a16:rowId xmlns:a16="http://schemas.microsoft.com/office/drawing/2014/main" val="2668315193"/>
                  </a:ext>
                </a:extLst>
              </a:tr>
            </a:tbl>
          </a:graphicData>
        </a:graphic>
      </p:graphicFrame>
    </p:spTree>
    <p:extLst>
      <p:ext uri="{BB962C8B-B14F-4D97-AF65-F5344CB8AC3E}">
        <p14:creationId xmlns:p14="http://schemas.microsoft.com/office/powerpoint/2010/main" val="206678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15F87-27D2-E31F-9704-295E24A6EE40}"/>
              </a:ext>
            </a:extLst>
          </p:cNvPr>
          <p:cNvSpPr>
            <a:spLocks noGrp="1"/>
          </p:cNvSpPr>
          <p:nvPr>
            <p:ph idx="1"/>
          </p:nvPr>
        </p:nvSpPr>
        <p:spPr>
          <a:xfrm>
            <a:off x="838200" y="98322"/>
            <a:ext cx="10515600" cy="6759677"/>
          </a:xfrm>
        </p:spPr>
        <p:txBody>
          <a:bodyPr>
            <a:noAutofit/>
          </a:bodyPr>
          <a:lstStyle/>
          <a:p>
            <a:pPr marL="0" indent="0">
              <a:lnSpc>
                <a:spcPct val="100000"/>
              </a:lnSpc>
              <a:spcBef>
                <a:spcPts val="0"/>
              </a:spcBef>
              <a:buNone/>
            </a:pPr>
            <a:r>
              <a:rPr lang="en-NP" sz="2400" b="1" i="1" dirty="0">
                <a:solidFill>
                  <a:srgbClr val="FF0000"/>
                </a:solidFill>
              </a:rPr>
              <a:t>3.Write C program to print multiplication table of a number using function void table( int)</a:t>
            </a:r>
            <a:endParaRPr lang="en-US" sz="2200" b="1" dirty="0">
              <a:solidFill>
                <a:srgbClr val="FF0000"/>
              </a:solidFill>
            </a:endParaRPr>
          </a:p>
          <a:p>
            <a:pPr marL="0" indent="0">
              <a:lnSpc>
                <a:spcPct val="100000"/>
              </a:lnSpc>
              <a:spcBef>
                <a:spcPts val="0"/>
              </a:spcBef>
              <a:buNone/>
            </a:pPr>
            <a:r>
              <a:rPr lang="en-US" sz="2200" b="1" dirty="0"/>
              <a:t>#include&lt;stdio.h&gt; </a:t>
            </a:r>
          </a:p>
          <a:p>
            <a:pPr marL="0" indent="0">
              <a:lnSpc>
                <a:spcPct val="100000"/>
              </a:lnSpc>
              <a:spcBef>
                <a:spcPts val="0"/>
              </a:spcBef>
              <a:buNone/>
            </a:pPr>
            <a:r>
              <a:rPr lang="en-US" sz="2200" b="1" dirty="0"/>
              <a:t>void table(int n); </a:t>
            </a:r>
          </a:p>
          <a:p>
            <a:pPr marL="0" indent="0">
              <a:lnSpc>
                <a:spcPct val="100000"/>
              </a:lnSpc>
              <a:spcBef>
                <a:spcPts val="0"/>
              </a:spcBef>
              <a:buNone/>
            </a:pPr>
            <a:r>
              <a:rPr lang="en-US" sz="2200" b="1" dirty="0"/>
              <a:t>int main()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int n; </a:t>
            </a:r>
          </a:p>
          <a:p>
            <a:pPr marL="0" indent="0">
              <a:lnSpc>
                <a:spcPct val="100000"/>
              </a:lnSpc>
              <a:spcBef>
                <a:spcPts val="0"/>
              </a:spcBef>
              <a:buNone/>
            </a:pPr>
            <a:r>
              <a:rPr lang="en-US" sz="2200" b="1" dirty="0"/>
              <a:t>printf("Enter a number :"); </a:t>
            </a:r>
          </a:p>
          <a:p>
            <a:pPr marL="0" indent="0">
              <a:lnSpc>
                <a:spcPct val="100000"/>
              </a:lnSpc>
              <a:spcBef>
                <a:spcPts val="0"/>
              </a:spcBef>
              <a:buNone/>
            </a:pPr>
            <a:r>
              <a:rPr lang="en-US" sz="2200" b="1" dirty="0"/>
              <a:t>scanf("%</a:t>
            </a:r>
            <a:r>
              <a:rPr lang="en-US" sz="2200" b="1" dirty="0" err="1"/>
              <a:t>d",&amp;n</a:t>
            </a:r>
            <a:r>
              <a:rPr lang="en-US" sz="2200" b="1" dirty="0"/>
              <a:t>); </a:t>
            </a:r>
          </a:p>
          <a:p>
            <a:pPr marL="0" indent="0">
              <a:lnSpc>
                <a:spcPct val="100000"/>
              </a:lnSpc>
              <a:spcBef>
                <a:spcPts val="0"/>
              </a:spcBef>
              <a:buNone/>
            </a:pPr>
            <a:r>
              <a:rPr lang="en-US" sz="2200" b="1" dirty="0"/>
              <a:t>table(n); </a:t>
            </a:r>
          </a:p>
          <a:p>
            <a:pPr marL="0" indent="0">
              <a:lnSpc>
                <a:spcPct val="100000"/>
              </a:lnSpc>
              <a:spcBef>
                <a:spcPts val="0"/>
              </a:spcBef>
              <a:buNone/>
            </a:pPr>
            <a:r>
              <a:rPr lang="en-US" sz="2200" b="1" dirty="0"/>
              <a:t>return 0;</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void table(int n)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int </a:t>
            </a:r>
            <a:r>
              <a:rPr lang="en-US" sz="2200" b="1" dirty="0" err="1"/>
              <a:t>i,m</a:t>
            </a:r>
            <a:r>
              <a:rPr lang="en-US" sz="2200" b="1" dirty="0"/>
              <a:t>; </a:t>
            </a:r>
          </a:p>
          <a:p>
            <a:pPr marL="0" indent="0">
              <a:lnSpc>
                <a:spcPct val="100000"/>
              </a:lnSpc>
              <a:spcBef>
                <a:spcPts val="0"/>
              </a:spcBef>
              <a:buNone/>
            </a:pPr>
            <a:r>
              <a:rPr lang="en-US" sz="2200" b="1" dirty="0"/>
              <a:t>for(</a:t>
            </a:r>
            <a:r>
              <a:rPr lang="en-US" sz="2200" b="1" dirty="0" err="1"/>
              <a:t>i</a:t>
            </a:r>
            <a:r>
              <a:rPr lang="en-US" sz="2200" b="1" dirty="0"/>
              <a:t>=1;i&lt;=10;i++) </a:t>
            </a:r>
          </a:p>
          <a:p>
            <a:pPr marL="0" indent="0">
              <a:lnSpc>
                <a:spcPct val="100000"/>
              </a:lnSpc>
              <a:spcBef>
                <a:spcPts val="0"/>
              </a:spcBef>
              <a:buNone/>
            </a:pPr>
            <a:r>
              <a:rPr lang="en-US" sz="2200" b="1" dirty="0"/>
              <a:t>{m=n*</a:t>
            </a:r>
            <a:r>
              <a:rPr lang="en-US" sz="2200" b="1" dirty="0" err="1"/>
              <a:t>i</a:t>
            </a:r>
            <a:r>
              <a:rPr lang="en-US" sz="2200" b="1" dirty="0"/>
              <a:t>;</a:t>
            </a:r>
          </a:p>
          <a:p>
            <a:pPr marL="0" indent="0">
              <a:lnSpc>
                <a:spcPct val="100000"/>
              </a:lnSpc>
              <a:spcBef>
                <a:spcPts val="0"/>
              </a:spcBef>
              <a:buNone/>
            </a:pPr>
            <a:r>
              <a:rPr lang="en-US" sz="2200" b="1" dirty="0"/>
              <a:t>printf("%</a:t>
            </a:r>
            <a:r>
              <a:rPr lang="en-US" sz="2200" b="1" dirty="0" err="1"/>
              <a:t>dX%d</a:t>
            </a:r>
            <a:r>
              <a:rPr lang="en-US" sz="2200" b="1" dirty="0"/>
              <a:t>=%d\n", n, </a:t>
            </a:r>
            <a:r>
              <a:rPr lang="en-US" sz="2200" b="1" dirty="0" err="1"/>
              <a:t>i,m</a:t>
            </a:r>
            <a:r>
              <a:rPr lang="en-US" sz="2200" b="1" dirty="0"/>
              <a:t>); </a:t>
            </a:r>
          </a:p>
          <a:p>
            <a:pPr marL="0" indent="0">
              <a:lnSpc>
                <a:spcPct val="100000"/>
              </a:lnSpc>
              <a:spcBef>
                <a:spcPts val="0"/>
              </a:spcBef>
              <a:buNone/>
            </a:pPr>
            <a:r>
              <a:rPr lang="en-US" sz="2200" b="1" dirty="0"/>
              <a:t>} </a:t>
            </a:r>
          </a:p>
          <a:p>
            <a:pPr marL="0" indent="0">
              <a:lnSpc>
                <a:spcPct val="100000"/>
              </a:lnSpc>
              <a:spcBef>
                <a:spcPts val="0"/>
              </a:spcBef>
              <a:buNone/>
            </a:pPr>
            <a:r>
              <a:rPr lang="en-US" sz="2200" b="1" dirty="0"/>
              <a:t>}</a:t>
            </a:r>
          </a:p>
          <a:p>
            <a:pPr marL="0" indent="0">
              <a:lnSpc>
                <a:spcPct val="100000"/>
              </a:lnSpc>
              <a:spcBef>
                <a:spcPts val="0"/>
              </a:spcBef>
              <a:buNone/>
            </a:pPr>
            <a:br>
              <a:rPr lang="en-US" sz="2200" b="1" dirty="0"/>
            </a:br>
            <a:endParaRPr lang="en-US" sz="2200" b="1" dirty="0"/>
          </a:p>
          <a:p>
            <a:pPr marL="0" indent="0">
              <a:lnSpc>
                <a:spcPct val="100000"/>
              </a:lnSpc>
              <a:spcBef>
                <a:spcPts val="0"/>
              </a:spcBef>
              <a:buNone/>
            </a:pPr>
            <a:endParaRPr lang="en-NP" sz="2200" b="1" dirty="0"/>
          </a:p>
        </p:txBody>
      </p:sp>
      <p:pic>
        <p:nvPicPr>
          <p:cNvPr id="4" name="Picture 3">
            <a:extLst>
              <a:ext uri="{FF2B5EF4-FFF2-40B4-BE49-F238E27FC236}">
                <a16:creationId xmlns:a16="http://schemas.microsoft.com/office/drawing/2014/main" id="{DF1E28A7-3BDB-7000-5A9F-A69A1E51B8A8}"/>
              </a:ext>
            </a:extLst>
          </p:cNvPr>
          <p:cNvPicPr>
            <a:picLocks noChangeAspect="1"/>
          </p:cNvPicPr>
          <p:nvPr/>
        </p:nvPicPr>
        <p:blipFill>
          <a:blip r:embed="rId2"/>
          <a:stretch>
            <a:fillRect/>
          </a:stretch>
        </p:blipFill>
        <p:spPr>
          <a:xfrm>
            <a:off x="5140777" y="1519413"/>
            <a:ext cx="2588719" cy="4251008"/>
          </a:xfrm>
          <a:prstGeom prst="rect">
            <a:avLst/>
          </a:prstGeom>
        </p:spPr>
      </p:pic>
      <p:graphicFrame>
        <p:nvGraphicFramePr>
          <p:cNvPr id="2" name="Table 1">
            <a:extLst>
              <a:ext uri="{FF2B5EF4-FFF2-40B4-BE49-F238E27FC236}">
                <a16:creationId xmlns:a16="http://schemas.microsoft.com/office/drawing/2014/main" id="{45A1F2B6-487F-C229-C688-905E657BA5C5}"/>
              </a:ext>
            </a:extLst>
          </p:cNvPr>
          <p:cNvGraphicFramePr>
            <a:graphicFrameLocks noGrp="1"/>
          </p:cNvGraphicFramePr>
          <p:nvPr>
            <p:extLst>
              <p:ext uri="{D42A27DB-BD31-4B8C-83A1-F6EECF244321}">
                <p14:modId xmlns:p14="http://schemas.microsoft.com/office/powerpoint/2010/main" val="209105834"/>
              </p:ext>
            </p:extLst>
          </p:nvPr>
        </p:nvGraphicFramePr>
        <p:xfrm>
          <a:off x="7817006" y="1546380"/>
          <a:ext cx="2588720" cy="4249916"/>
        </p:xfrm>
        <a:graphic>
          <a:graphicData uri="http://schemas.openxmlformats.org/drawingml/2006/table">
            <a:tbl>
              <a:tblPr firstRow="1" bandRow="1">
                <a:tableStyleId>{5940675A-B579-460E-94D1-54222C63F5DA}</a:tableStyleId>
              </a:tblPr>
              <a:tblGrid>
                <a:gridCol w="517744">
                  <a:extLst>
                    <a:ext uri="{9D8B030D-6E8A-4147-A177-3AD203B41FA5}">
                      <a16:colId xmlns:a16="http://schemas.microsoft.com/office/drawing/2014/main" val="326174247"/>
                    </a:ext>
                  </a:extLst>
                </a:gridCol>
                <a:gridCol w="517744">
                  <a:extLst>
                    <a:ext uri="{9D8B030D-6E8A-4147-A177-3AD203B41FA5}">
                      <a16:colId xmlns:a16="http://schemas.microsoft.com/office/drawing/2014/main" val="1050476426"/>
                    </a:ext>
                  </a:extLst>
                </a:gridCol>
                <a:gridCol w="517744">
                  <a:extLst>
                    <a:ext uri="{9D8B030D-6E8A-4147-A177-3AD203B41FA5}">
                      <a16:colId xmlns:a16="http://schemas.microsoft.com/office/drawing/2014/main" val="924766339"/>
                    </a:ext>
                  </a:extLst>
                </a:gridCol>
                <a:gridCol w="517744">
                  <a:extLst>
                    <a:ext uri="{9D8B030D-6E8A-4147-A177-3AD203B41FA5}">
                      <a16:colId xmlns:a16="http://schemas.microsoft.com/office/drawing/2014/main" val="2345781587"/>
                    </a:ext>
                  </a:extLst>
                </a:gridCol>
                <a:gridCol w="517744">
                  <a:extLst>
                    <a:ext uri="{9D8B030D-6E8A-4147-A177-3AD203B41FA5}">
                      <a16:colId xmlns:a16="http://schemas.microsoft.com/office/drawing/2014/main" val="196455262"/>
                    </a:ext>
                  </a:extLst>
                </a:gridCol>
              </a:tblGrid>
              <a:tr h="386356">
                <a:tc>
                  <a:txBody>
                    <a:bodyPr/>
                    <a:lstStyle/>
                    <a:p>
                      <a:r>
                        <a:rPr lang="en-NP" b="1" dirty="0">
                          <a:highlight>
                            <a:srgbClr val="FFFF00"/>
                          </a:highlight>
                        </a:rPr>
                        <a:t>n</a:t>
                      </a:r>
                    </a:p>
                  </a:txBody>
                  <a:tcPr/>
                </a:tc>
                <a:tc>
                  <a:txBody>
                    <a:bodyPr/>
                    <a:lstStyle/>
                    <a:p>
                      <a:r>
                        <a:rPr lang="en-NP" b="1" dirty="0">
                          <a:highlight>
                            <a:srgbClr val="FFFF00"/>
                          </a:highlight>
                        </a:rPr>
                        <a:t>X</a:t>
                      </a:r>
                    </a:p>
                  </a:txBody>
                  <a:tcPr/>
                </a:tc>
                <a:tc>
                  <a:txBody>
                    <a:bodyPr/>
                    <a:lstStyle/>
                    <a:p>
                      <a:r>
                        <a:rPr lang="en-NP" b="1" dirty="0">
                          <a:highlight>
                            <a:srgbClr val="FFFF00"/>
                          </a:highlight>
                        </a:rPr>
                        <a:t>i</a:t>
                      </a:r>
                    </a:p>
                  </a:txBody>
                  <a:tcPr/>
                </a:tc>
                <a:tc>
                  <a:txBody>
                    <a:bodyPr/>
                    <a:lstStyle/>
                    <a:p>
                      <a:r>
                        <a:rPr lang="en-NP" b="1" dirty="0">
                          <a:highlight>
                            <a:srgbClr val="FFFF00"/>
                          </a:highlight>
                        </a:rPr>
                        <a:t>=</a:t>
                      </a:r>
                    </a:p>
                  </a:txBody>
                  <a:tcPr/>
                </a:tc>
                <a:tc>
                  <a:txBody>
                    <a:bodyPr/>
                    <a:lstStyle/>
                    <a:p>
                      <a:r>
                        <a:rPr lang="en-NP" b="1" dirty="0">
                          <a:highlight>
                            <a:srgbClr val="FFFF00"/>
                          </a:highlight>
                        </a:rPr>
                        <a:t>m</a:t>
                      </a:r>
                    </a:p>
                  </a:txBody>
                  <a:tcPr/>
                </a:tc>
                <a:extLst>
                  <a:ext uri="{0D108BD9-81ED-4DB2-BD59-A6C34878D82A}">
                    <a16:rowId xmlns:a16="http://schemas.microsoft.com/office/drawing/2014/main" val="3026714349"/>
                  </a:ext>
                </a:extLst>
              </a:tr>
              <a:tr h="386356">
                <a:tc>
                  <a:txBody>
                    <a:bodyPr/>
                    <a:lstStyle/>
                    <a:p>
                      <a:r>
                        <a:rPr lang="en-NP" b="1" dirty="0"/>
                        <a:t>5</a:t>
                      </a:r>
                    </a:p>
                  </a:txBody>
                  <a:tcPr/>
                </a:tc>
                <a:tc>
                  <a:txBody>
                    <a:bodyPr/>
                    <a:lstStyle/>
                    <a:p>
                      <a:r>
                        <a:rPr lang="en-NP" b="1" dirty="0"/>
                        <a:t>x</a:t>
                      </a:r>
                    </a:p>
                  </a:txBody>
                  <a:tcPr/>
                </a:tc>
                <a:tc>
                  <a:txBody>
                    <a:bodyPr/>
                    <a:lstStyle/>
                    <a:p>
                      <a:r>
                        <a:rPr lang="en-NP" b="1" dirty="0"/>
                        <a:t>1</a:t>
                      </a:r>
                    </a:p>
                  </a:txBody>
                  <a:tcPr/>
                </a:tc>
                <a:tc>
                  <a:txBody>
                    <a:bodyPr/>
                    <a:lstStyle/>
                    <a:p>
                      <a:r>
                        <a:rPr lang="en-NP" b="1" dirty="0"/>
                        <a:t>=</a:t>
                      </a:r>
                    </a:p>
                  </a:txBody>
                  <a:tcPr/>
                </a:tc>
                <a:tc>
                  <a:txBody>
                    <a:bodyPr/>
                    <a:lstStyle/>
                    <a:p>
                      <a:r>
                        <a:rPr lang="en-NP" b="1" dirty="0"/>
                        <a:t>5</a:t>
                      </a:r>
                    </a:p>
                  </a:txBody>
                  <a:tcPr/>
                </a:tc>
                <a:extLst>
                  <a:ext uri="{0D108BD9-81ED-4DB2-BD59-A6C34878D82A}">
                    <a16:rowId xmlns:a16="http://schemas.microsoft.com/office/drawing/2014/main" val="2061304209"/>
                  </a:ext>
                </a:extLst>
              </a:tr>
              <a:tr h="386356">
                <a:tc>
                  <a:txBody>
                    <a:bodyPr/>
                    <a:lstStyle/>
                    <a:p>
                      <a:r>
                        <a:rPr lang="en-NP" b="1" dirty="0"/>
                        <a:t>5</a:t>
                      </a:r>
                    </a:p>
                  </a:txBody>
                  <a:tcPr/>
                </a:tc>
                <a:tc>
                  <a:txBody>
                    <a:bodyPr/>
                    <a:lstStyle/>
                    <a:p>
                      <a:r>
                        <a:rPr lang="en-NP" b="1" dirty="0"/>
                        <a:t>x</a:t>
                      </a:r>
                    </a:p>
                  </a:txBody>
                  <a:tcPr/>
                </a:tc>
                <a:tc>
                  <a:txBody>
                    <a:bodyPr/>
                    <a:lstStyle/>
                    <a:p>
                      <a:r>
                        <a:rPr lang="en-NP" b="1" dirty="0"/>
                        <a:t>2</a:t>
                      </a:r>
                    </a:p>
                  </a:txBody>
                  <a:tcPr/>
                </a:tc>
                <a:tc>
                  <a:txBody>
                    <a:bodyPr/>
                    <a:lstStyle/>
                    <a:p>
                      <a:r>
                        <a:rPr lang="en-NP" b="1" dirty="0"/>
                        <a:t>=</a:t>
                      </a:r>
                    </a:p>
                  </a:txBody>
                  <a:tcPr/>
                </a:tc>
                <a:tc>
                  <a:txBody>
                    <a:bodyPr/>
                    <a:lstStyle/>
                    <a:p>
                      <a:r>
                        <a:rPr lang="en-NP" b="1" dirty="0"/>
                        <a:t>10</a:t>
                      </a:r>
                    </a:p>
                  </a:txBody>
                  <a:tcPr/>
                </a:tc>
                <a:extLst>
                  <a:ext uri="{0D108BD9-81ED-4DB2-BD59-A6C34878D82A}">
                    <a16:rowId xmlns:a16="http://schemas.microsoft.com/office/drawing/2014/main" val="4035647918"/>
                  </a:ext>
                </a:extLst>
              </a:tr>
              <a:tr h="386356">
                <a:tc>
                  <a:txBody>
                    <a:bodyPr/>
                    <a:lstStyle/>
                    <a:p>
                      <a:r>
                        <a:rPr lang="en-NP" b="1" dirty="0"/>
                        <a:t>5</a:t>
                      </a:r>
                    </a:p>
                  </a:txBody>
                  <a:tcPr/>
                </a:tc>
                <a:tc>
                  <a:txBody>
                    <a:bodyPr/>
                    <a:lstStyle/>
                    <a:p>
                      <a:r>
                        <a:rPr lang="en-NP" b="1" dirty="0"/>
                        <a:t>x</a:t>
                      </a:r>
                    </a:p>
                  </a:txBody>
                  <a:tcPr/>
                </a:tc>
                <a:tc>
                  <a:txBody>
                    <a:bodyPr/>
                    <a:lstStyle/>
                    <a:p>
                      <a:r>
                        <a:rPr lang="en-NP" b="1" dirty="0"/>
                        <a:t>3</a:t>
                      </a:r>
                    </a:p>
                  </a:txBody>
                  <a:tcPr/>
                </a:tc>
                <a:tc>
                  <a:txBody>
                    <a:bodyPr/>
                    <a:lstStyle/>
                    <a:p>
                      <a:r>
                        <a:rPr lang="en-NP" b="1" dirty="0"/>
                        <a:t>=</a:t>
                      </a:r>
                    </a:p>
                  </a:txBody>
                  <a:tcPr/>
                </a:tc>
                <a:tc>
                  <a:txBody>
                    <a:bodyPr/>
                    <a:lstStyle/>
                    <a:p>
                      <a:r>
                        <a:rPr lang="en-NP" b="1" dirty="0"/>
                        <a:t>15</a:t>
                      </a:r>
                    </a:p>
                  </a:txBody>
                  <a:tcPr/>
                </a:tc>
                <a:extLst>
                  <a:ext uri="{0D108BD9-81ED-4DB2-BD59-A6C34878D82A}">
                    <a16:rowId xmlns:a16="http://schemas.microsoft.com/office/drawing/2014/main" val="557602925"/>
                  </a:ext>
                </a:extLst>
              </a:tr>
              <a:tr h="386356">
                <a:tc>
                  <a:txBody>
                    <a:bodyPr/>
                    <a:lstStyle/>
                    <a:p>
                      <a:r>
                        <a:rPr lang="en-NP" b="1" dirty="0"/>
                        <a:t>5</a:t>
                      </a:r>
                    </a:p>
                  </a:txBody>
                  <a:tcPr/>
                </a:tc>
                <a:tc>
                  <a:txBody>
                    <a:bodyPr/>
                    <a:lstStyle/>
                    <a:p>
                      <a:r>
                        <a:rPr lang="en-NP" b="1" dirty="0"/>
                        <a:t>x</a:t>
                      </a:r>
                    </a:p>
                  </a:txBody>
                  <a:tcPr/>
                </a:tc>
                <a:tc>
                  <a:txBody>
                    <a:bodyPr/>
                    <a:lstStyle/>
                    <a:p>
                      <a:r>
                        <a:rPr lang="en-NP" b="1" dirty="0"/>
                        <a:t>4</a:t>
                      </a:r>
                    </a:p>
                  </a:txBody>
                  <a:tcPr/>
                </a:tc>
                <a:tc>
                  <a:txBody>
                    <a:bodyPr/>
                    <a:lstStyle/>
                    <a:p>
                      <a:r>
                        <a:rPr lang="en-NP" b="1" dirty="0"/>
                        <a:t>=</a:t>
                      </a:r>
                    </a:p>
                  </a:txBody>
                  <a:tcPr/>
                </a:tc>
                <a:tc>
                  <a:txBody>
                    <a:bodyPr/>
                    <a:lstStyle/>
                    <a:p>
                      <a:r>
                        <a:rPr lang="en-NP" b="1" dirty="0"/>
                        <a:t>20</a:t>
                      </a:r>
                    </a:p>
                  </a:txBody>
                  <a:tcPr/>
                </a:tc>
                <a:extLst>
                  <a:ext uri="{0D108BD9-81ED-4DB2-BD59-A6C34878D82A}">
                    <a16:rowId xmlns:a16="http://schemas.microsoft.com/office/drawing/2014/main" val="1520889339"/>
                  </a:ext>
                </a:extLst>
              </a:tr>
              <a:tr h="386356">
                <a:tc>
                  <a:txBody>
                    <a:bodyPr/>
                    <a:lstStyle/>
                    <a:p>
                      <a:r>
                        <a:rPr lang="en-NP" b="1" dirty="0"/>
                        <a:t>5</a:t>
                      </a:r>
                    </a:p>
                  </a:txBody>
                  <a:tcPr/>
                </a:tc>
                <a:tc>
                  <a:txBody>
                    <a:bodyPr/>
                    <a:lstStyle/>
                    <a:p>
                      <a:r>
                        <a:rPr lang="en-NP" b="1" dirty="0"/>
                        <a:t>x</a:t>
                      </a:r>
                    </a:p>
                  </a:txBody>
                  <a:tcPr/>
                </a:tc>
                <a:tc>
                  <a:txBody>
                    <a:bodyPr/>
                    <a:lstStyle/>
                    <a:p>
                      <a:r>
                        <a:rPr lang="en-NP" b="1" dirty="0"/>
                        <a:t>5</a:t>
                      </a:r>
                    </a:p>
                  </a:txBody>
                  <a:tcPr/>
                </a:tc>
                <a:tc>
                  <a:txBody>
                    <a:bodyPr/>
                    <a:lstStyle/>
                    <a:p>
                      <a:r>
                        <a:rPr lang="en-NP" b="1" dirty="0"/>
                        <a:t>=</a:t>
                      </a:r>
                    </a:p>
                  </a:txBody>
                  <a:tcPr/>
                </a:tc>
                <a:tc>
                  <a:txBody>
                    <a:bodyPr/>
                    <a:lstStyle/>
                    <a:p>
                      <a:r>
                        <a:rPr lang="en-NP" b="1" dirty="0"/>
                        <a:t>25</a:t>
                      </a:r>
                    </a:p>
                  </a:txBody>
                  <a:tcPr/>
                </a:tc>
                <a:extLst>
                  <a:ext uri="{0D108BD9-81ED-4DB2-BD59-A6C34878D82A}">
                    <a16:rowId xmlns:a16="http://schemas.microsoft.com/office/drawing/2014/main" val="1420862956"/>
                  </a:ext>
                </a:extLst>
              </a:tr>
              <a:tr h="386356">
                <a:tc>
                  <a:txBody>
                    <a:bodyPr/>
                    <a:lstStyle/>
                    <a:p>
                      <a:r>
                        <a:rPr lang="en-NP" b="1" dirty="0"/>
                        <a:t>5</a:t>
                      </a:r>
                    </a:p>
                  </a:txBody>
                  <a:tcPr/>
                </a:tc>
                <a:tc>
                  <a:txBody>
                    <a:bodyPr/>
                    <a:lstStyle/>
                    <a:p>
                      <a:r>
                        <a:rPr lang="en-NP" b="1" dirty="0"/>
                        <a:t>x</a:t>
                      </a:r>
                    </a:p>
                  </a:txBody>
                  <a:tcPr/>
                </a:tc>
                <a:tc>
                  <a:txBody>
                    <a:bodyPr/>
                    <a:lstStyle/>
                    <a:p>
                      <a:r>
                        <a:rPr lang="en-NP" b="1" dirty="0"/>
                        <a:t>6</a:t>
                      </a:r>
                    </a:p>
                  </a:txBody>
                  <a:tcPr/>
                </a:tc>
                <a:tc>
                  <a:txBody>
                    <a:bodyPr/>
                    <a:lstStyle/>
                    <a:p>
                      <a:r>
                        <a:rPr lang="en-NP" b="1" dirty="0"/>
                        <a:t>=</a:t>
                      </a:r>
                    </a:p>
                  </a:txBody>
                  <a:tcPr/>
                </a:tc>
                <a:tc>
                  <a:txBody>
                    <a:bodyPr/>
                    <a:lstStyle/>
                    <a:p>
                      <a:r>
                        <a:rPr lang="en-NP" b="1" dirty="0"/>
                        <a:t>30</a:t>
                      </a:r>
                    </a:p>
                  </a:txBody>
                  <a:tcPr/>
                </a:tc>
                <a:extLst>
                  <a:ext uri="{0D108BD9-81ED-4DB2-BD59-A6C34878D82A}">
                    <a16:rowId xmlns:a16="http://schemas.microsoft.com/office/drawing/2014/main" val="2379365354"/>
                  </a:ext>
                </a:extLst>
              </a:tr>
              <a:tr h="386356">
                <a:tc>
                  <a:txBody>
                    <a:bodyPr/>
                    <a:lstStyle/>
                    <a:p>
                      <a:r>
                        <a:rPr lang="en-NP" b="1" dirty="0"/>
                        <a:t>5</a:t>
                      </a:r>
                    </a:p>
                  </a:txBody>
                  <a:tcPr/>
                </a:tc>
                <a:tc>
                  <a:txBody>
                    <a:bodyPr/>
                    <a:lstStyle/>
                    <a:p>
                      <a:r>
                        <a:rPr lang="en-NP" b="1" dirty="0"/>
                        <a:t>x</a:t>
                      </a:r>
                    </a:p>
                  </a:txBody>
                  <a:tcPr/>
                </a:tc>
                <a:tc>
                  <a:txBody>
                    <a:bodyPr/>
                    <a:lstStyle/>
                    <a:p>
                      <a:r>
                        <a:rPr lang="en-NP" b="1" dirty="0"/>
                        <a:t>7</a:t>
                      </a:r>
                    </a:p>
                  </a:txBody>
                  <a:tcPr/>
                </a:tc>
                <a:tc>
                  <a:txBody>
                    <a:bodyPr/>
                    <a:lstStyle/>
                    <a:p>
                      <a:r>
                        <a:rPr lang="en-NP" b="1" dirty="0"/>
                        <a:t>=</a:t>
                      </a:r>
                    </a:p>
                  </a:txBody>
                  <a:tcPr/>
                </a:tc>
                <a:tc>
                  <a:txBody>
                    <a:bodyPr/>
                    <a:lstStyle/>
                    <a:p>
                      <a:r>
                        <a:rPr lang="en-NP" b="1" dirty="0"/>
                        <a:t>35</a:t>
                      </a:r>
                    </a:p>
                  </a:txBody>
                  <a:tcPr/>
                </a:tc>
                <a:extLst>
                  <a:ext uri="{0D108BD9-81ED-4DB2-BD59-A6C34878D82A}">
                    <a16:rowId xmlns:a16="http://schemas.microsoft.com/office/drawing/2014/main" val="2127013819"/>
                  </a:ext>
                </a:extLst>
              </a:tr>
              <a:tr h="386356">
                <a:tc>
                  <a:txBody>
                    <a:bodyPr/>
                    <a:lstStyle/>
                    <a:p>
                      <a:r>
                        <a:rPr lang="en-NP" b="1" dirty="0"/>
                        <a:t>5</a:t>
                      </a:r>
                    </a:p>
                  </a:txBody>
                  <a:tcPr/>
                </a:tc>
                <a:tc>
                  <a:txBody>
                    <a:bodyPr/>
                    <a:lstStyle/>
                    <a:p>
                      <a:r>
                        <a:rPr lang="en-NP" b="1" dirty="0"/>
                        <a:t>x</a:t>
                      </a:r>
                    </a:p>
                  </a:txBody>
                  <a:tcPr/>
                </a:tc>
                <a:tc>
                  <a:txBody>
                    <a:bodyPr/>
                    <a:lstStyle/>
                    <a:p>
                      <a:r>
                        <a:rPr lang="en-NP" b="1" dirty="0"/>
                        <a:t>8</a:t>
                      </a:r>
                    </a:p>
                  </a:txBody>
                  <a:tcPr/>
                </a:tc>
                <a:tc>
                  <a:txBody>
                    <a:bodyPr/>
                    <a:lstStyle/>
                    <a:p>
                      <a:r>
                        <a:rPr lang="en-NP" b="1" dirty="0"/>
                        <a:t>=</a:t>
                      </a:r>
                    </a:p>
                  </a:txBody>
                  <a:tcPr/>
                </a:tc>
                <a:tc>
                  <a:txBody>
                    <a:bodyPr/>
                    <a:lstStyle/>
                    <a:p>
                      <a:r>
                        <a:rPr lang="en-NP" b="1" dirty="0"/>
                        <a:t>40</a:t>
                      </a:r>
                    </a:p>
                  </a:txBody>
                  <a:tcPr/>
                </a:tc>
                <a:extLst>
                  <a:ext uri="{0D108BD9-81ED-4DB2-BD59-A6C34878D82A}">
                    <a16:rowId xmlns:a16="http://schemas.microsoft.com/office/drawing/2014/main" val="1269152772"/>
                  </a:ext>
                </a:extLst>
              </a:tr>
              <a:tr h="386356">
                <a:tc>
                  <a:txBody>
                    <a:bodyPr/>
                    <a:lstStyle/>
                    <a:p>
                      <a:r>
                        <a:rPr lang="en-NP" b="1" dirty="0"/>
                        <a:t>5</a:t>
                      </a:r>
                    </a:p>
                  </a:txBody>
                  <a:tcPr/>
                </a:tc>
                <a:tc>
                  <a:txBody>
                    <a:bodyPr/>
                    <a:lstStyle/>
                    <a:p>
                      <a:r>
                        <a:rPr lang="en-NP" b="1" dirty="0"/>
                        <a:t>x</a:t>
                      </a:r>
                    </a:p>
                  </a:txBody>
                  <a:tcPr/>
                </a:tc>
                <a:tc>
                  <a:txBody>
                    <a:bodyPr/>
                    <a:lstStyle/>
                    <a:p>
                      <a:r>
                        <a:rPr lang="en-NP" b="1" dirty="0"/>
                        <a:t>9</a:t>
                      </a:r>
                    </a:p>
                  </a:txBody>
                  <a:tcPr/>
                </a:tc>
                <a:tc>
                  <a:txBody>
                    <a:bodyPr/>
                    <a:lstStyle/>
                    <a:p>
                      <a:r>
                        <a:rPr lang="en-NP" b="1" dirty="0"/>
                        <a:t>=</a:t>
                      </a:r>
                    </a:p>
                  </a:txBody>
                  <a:tcPr/>
                </a:tc>
                <a:tc>
                  <a:txBody>
                    <a:bodyPr/>
                    <a:lstStyle/>
                    <a:p>
                      <a:r>
                        <a:rPr lang="en-NP" b="1" dirty="0"/>
                        <a:t>45</a:t>
                      </a:r>
                    </a:p>
                  </a:txBody>
                  <a:tcPr/>
                </a:tc>
                <a:extLst>
                  <a:ext uri="{0D108BD9-81ED-4DB2-BD59-A6C34878D82A}">
                    <a16:rowId xmlns:a16="http://schemas.microsoft.com/office/drawing/2014/main" val="2599761895"/>
                  </a:ext>
                </a:extLst>
              </a:tr>
              <a:tr h="386356">
                <a:tc>
                  <a:txBody>
                    <a:bodyPr/>
                    <a:lstStyle/>
                    <a:p>
                      <a:r>
                        <a:rPr lang="en-NP" b="1" dirty="0"/>
                        <a:t>5</a:t>
                      </a:r>
                    </a:p>
                  </a:txBody>
                  <a:tcPr/>
                </a:tc>
                <a:tc>
                  <a:txBody>
                    <a:bodyPr/>
                    <a:lstStyle/>
                    <a:p>
                      <a:r>
                        <a:rPr lang="en-NP" b="1" dirty="0"/>
                        <a:t>x</a:t>
                      </a:r>
                    </a:p>
                  </a:txBody>
                  <a:tcPr/>
                </a:tc>
                <a:tc>
                  <a:txBody>
                    <a:bodyPr/>
                    <a:lstStyle/>
                    <a:p>
                      <a:r>
                        <a:rPr lang="en-NP" b="1" dirty="0"/>
                        <a:t>10</a:t>
                      </a:r>
                    </a:p>
                  </a:txBody>
                  <a:tcPr/>
                </a:tc>
                <a:tc>
                  <a:txBody>
                    <a:bodyPr/>
                    <a:lstStyle/>
                    <a:p>
                      <a:r>
                        <a:rPr lang="en-NP" b="1" dirty="0"/>
                        <a:t>=</a:t>
                      </a:r>
                    </a:p>
                  </a:txBody>
                  <a:tcPr/>
                </a:tc>
                <a:tc>
                  <a:txBody>
                    <a:bodyPr/>
                    <a:lstStyle/>
                    <a:p>
                      <a:r>
                        <a:rPr lang="en-NP" b="1" dirty="0"/>
                        <a:t>50</a:t>
                      </a:r>
                    </a:p>
                  </a:txBody>
                  <a:tcPr/>
                </a:tc>
                <a:extLst>
                  <a:ext uri="{0D108BD9-81ED-4DB2-BD59-A6C34878D82A}">
                    <a16:rowId xmlns:a16="http://schemas.microsoft.com/office/drawing/2014/main" val="279949935"/>
                  </a:ext>
                </a:extLst>
              </a:tr>
            </a:tbl>
          </a:graphicData>
        </a:graphic>
      </p:graphicFrame>
    </p:spTree>
    <p:extLst>
      <p:ext uri="{BB962C8B-B14F-4D97-AF65-F5344CB8AC3E}">
        <p14:creationId xmlns:p14="http://schemas.microsoft.com/office/powerpoint/2010/main" val="1529947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34E2A7-828F-38C6-9E23-F8571CB531B6}"/>
              </a:ext>
            </a:extLst>
          </p:cNvPr>
          <p:cNvSpPr>
            <a:spLocks noGrp="1"/>
          </p:cNvSpPr>
          <p:nvPr>
            <p:ph sz="half" idx="1"/>
          </p:nvPr>
        </p:nvSpPr>
        <p:spPr>
          <a:xfrm>
            <a:off x="815437" y="1070518"/>
            <a:ext cx="5181600" cy="5942787"/>
          </a:xfrm>
        </p:spPr>
        <p:txBody>
          <a:bodyPr>
            <a:normAutofit/>
          </a:bodyPr>
          <a:lstStyle/>
          <a:p>
            <a:pPr marL="0" indent="0">
              <a:buNone/>
            </a:pPr>
            <a:r>
              <a:rPr lang="en-US" b="1" dirty="0"/>
              <a:t>#include&lt;</a:t>
            </a:r>
            <a:r>
              <a:rPr lang="en-US" b="1" dirty="0" err="1"/>
              <a:t>stdio.h</a:t>
            </a:r>
            <a:r>
              <a:rPr lang="en-US" b="1" dirty="0"/>
              <a:t>&gt;</a:t>
            </a:r>
          </a:p>
          <a:p>
            <a:pPr marL="0" indent="0">
              <a:buNone/>
            </a:pPr>
            <a:r>
              <a:rPr lang="en-US" b="1" dirty="0"/>
              <a:t>void fact(int);</a:t>
            </a:r>
          </a:p>
          <a:p>
            <a:pPr marL="0" indent="0">
              <a:buNone/>
            </a:pPr>
            <a:r>
              <a:rPr lang="en-US" b="1" dirty="0"/>
              <a:t>int main()</a:t>
            </a:r>
          </a:p>
          <a:p>
            <a:pPr marL="0" indent="0">
              <a:buNone/>
            </a:pPr>
            <a:r>
              <a:rPr lang="en-US" b="1" dirty="0"/>
              <a:t>{ </a:t>
            </a:r>
          </a:p>
          <a:p>
            <a:pPr marL="0" indent="0">
              <a:buNone/>
            </a:pPr>
            <a:r>
              <a:rPr lang="en-US" b="1" dirty="0"/>
              <a:t>int n;</a:t>
            </a:r>
          </a:p>
          <a:p>
            <a:pPr marL="0" indent="0">
              <a:buNone/>
            </a:pPr>
            <a:r>
              <a:rPr lang="en-US" b="1" dirty="0" err="1"/>
              <a:t>printf</a:t>
            </a:r>
            <a:r>
              <a:rPr lang="en-US" b="1" dirty="0"/>
              <a:t>("enter any no:");</a:t>
            </a:r>
          </a:p>
          <a:p>
            <a:pPr marL="0" indent="0">
              <a:buNone/>
            </a:pPr>
            <a:r>
              <a:rPr lang="en-US" b="1" dirty="0" err="1"/>
              <a:t>scanf</a:t>
            </a:r>
            <a:r>
              <a:rPr lang="en-US" b="1" dirty="0"/>
              <a:t>("%</a:t>
            </a:r>
            <a:r>
              <a:rPr lang="en-US" b="1" dirty="0" err="1"/>
              <a:t>d",&amp;n</a:t>
            </a:r>
            <a:r>
              <a:rPr lang="en-US" b="1" dirty="0"/>
              <a:t>);</a:t>
            </a:r>
          </a:p>
          <a:p>
            <a:pPr marL="0" indent="0">
              <a:buNone/>
            </a:pPr>
            <a:r>
              <a:rPr lang="en-US" b="1" dirty="0"/>
              <a:t>fact(n);</a:t>
            </a:r>
          </a:p>
          <a:p>
            <a:pPr marL="0" indent="0">
              <a:buNone/>
            </a:pPr>
            <a:r>
              <a:rPr lang="en-US" b="1" dirty="0"/>
              <a:t>return 0;</a:t>
            </a:r>
          </a:p>
          <a:p>
            <a:pPr marL="0" indent="0">
              <a:buNone/>
            </a:pPr>
            <a:r>
              <a:rPr lang="en-US" b="1" dirty="0"/>
              <a:t>}</a:t>
            </a:r>
          </a:p>
          <a:p>
            <a:pPr marL="0" indent="0">
              <a:buNone/>
            </a:pPr>
            <a:endParaRPr lang="en-NP" b="1" dirty="0"/>
          </a:p>
        </p:txBody>
      </p:sp>
      <p:sp>
        <p:nvSpPr>
          <p:cNvPr id="5" name="Content Placeholder 4">
            <a:extLst>
              <a:ext uri="{FF2B5EF4-FFF2-40B4-BE49-F238E27FC236}">
                <a16:creationId xmlns:a16="http://schemas.microsoft.com/office/drawing/2014/main" id="{BCF0FA48-6326-56E3-8BE5-9FAE33871F62}"/>
              </a:ext>
            </a:extLst>
          </p:cNvPr>
          <p:cNvSpPr>
            <a:spLocks noGrp="1"/>
          </p:cNvSpPr>
          <p:nvPr>
            <p:ph sz="half" idx="2"/>
          </p:nvPr>
        </p:nvSpPr>
        <p:spPr>
          <a:xfrm>
            <a:off x="4707212" y="1015947"/>
            <a:ext cx="4508810" cy="5786670"/>
          </a:xfrm>
        </p:spPr>
        <p:txBody>
          <a:bodyPr>
            <a:normAutofit/>
          </a:bodyPr>
          <a:lstStyle/>
          <a:p>
            <a:pPr marL="0" indent="0">
              <a:buNone/>
            </a:pPr>
            <a:r>
              <a:rPr lang="en-US" sz="2400" b="1" dirty="0"/>
              <a:t>void fact(int n)</a:t>
            </a:r>
          </a:p>
          <a:p>
            <a:pPr marL="0" indent="0">
              <a:buNone/>
            </a:pPr>
            <a:r>
              <a:rPr lang="en-US" sz="2400" b="1" dirty="0"/>
              <a:t>{ int f=1,i;</a:t>
            </a:r>
          </a:p>
          <a:p>
            <a:pPr marL="0" indent="0">
              <a:buNone/>
            </a:pPr>
            <a:r>
              <a:rPr lang="en-US" sz="2400" b="1" dirty="0"/>
              <a:t>for (</a:t>
            </a:r>
            <a:r>
              <a:rPr lang="en-US" sz="2400" b="1" dirty="0" err="1"/>
              <a:t>i</a:t>
            </a:r>
            <a:r>
              <a:rPr lang="en-US" sz="2400" b="1" dirty="0"/>
              <a:t>=1;i&lt;=</a:t>
            </a:r>
            <a:r>
              <a:rPr lang="en-US" sz="2400" b="1" dirty="0" err="1"/>
              <a:t>n;i</a:t>
            </a:r>
            <a:r>
              <a:rPr lang="en-US" sz="2400" b="1" dirty="0"/>
              <a:t>++)</a:t>
            </a:r>
          </a:p>
          <a:p>
            <a:pPr marL="0" indent="0">
              <a:buNone/>
            </a:pPr>
            <a:r>
              <a:rPr lang="en-US" sz="2400" b="1" dirty="0"/>
              <a:t>{</a:t>
            </a:r>
          </a:p>
          <a:p>
            <a:pPr marL="0" indent="0">
              <a:buNone/>
            </a:pPr>
            <a:r>
              <a:rPr lang="en-US" sz="2400" b="1" dirty="0"/>
              <a:t>      f=f*</a:t>
            </a:r>
            <a:r>
              <a:rPr lang="en-US" sz="2400" b="1" dirty="0" err="1"/>
              <a:t>i</a:t>
            </a:r>
            <a:r>
              <a:rPr lang="en-US" sz="2400" b="1" dirty="0"/>
              <a:t>;</a:t>
            </a:r>
          </a:p>
          <a:p>
            <a:pPr marL="0" indent="0">
              <a:buNone/>
            </a:pPr>
            <a:r>
              <a:rPr lang="en-US" sz="2400" b="1" dirty="0"/>
              <a:t>}</a:t>
            </a:r>
          </a:p>
          <a:p>
            <a:pPr marL="0" indent="0">
              <a:buNone/>
            </a:pPr>
            <a:r>
              <a:rPr lang="en-US" sz="2400" b="1" dirty="0" err="1"/>
              <a:t>printf</a:t>
            </a:r>
            <a:r>
              <a:rPr lang="en-US" sz="2400" b="1" dirty="0"/>
              <a:t>("factorial=%</a:t>
            </a:r>
            <a:r>
              <a:rPr lang="en-US" sz="2400" b="1" dirty="0" err="1"/>
              <a:t>d",f</a:t>
            </a:r>
            <a:r>
              <a:rPr lang="en-US" sz="2400" b="1" dirty="0"/>
              <a:t>);</a:t>
            </a:r>
          </a:p>
          <a:p>
            <a:pPr marL="0" indent="0">
              <a:buNone/>
            </a:pPr>
            <a:r>
              <a:rPr lang="en-US" sz="2400" b="1" dirty="0"/>
              <a:t>}</a:t>
            </a:r>
          </a:p>
          <a:p>
            <a:pPr marL="0" indent="0">
              <a:buNone/>
            </a:pPr>
            <a:br>
              <a:rPr lang="en-US" dirty="0"/>
            </a:br>
            <a:endParaRPr lang="en-US" dirty="0"/>
          </a:p>
          <a:p>
            <a:pPr marL="0" indent="0">
              <a:buNone/>
            </a:pPr>
            <a:endParaRPr lang="en-NP" dirty="0"/>
          </a:p>
        </p:txBody>
      </p:sp>
      <p:pic>
        <p:nvPicPr>
          <p:cNvPr id="6" name="Picture 5">
            <a:extLst>
              <a:ext uri="{FF2B5EF4-FFF2-40B4-BE49-F238E27FC236}">
                <a16:creationId xmlns:a16="http://schemas.microsoft.com/office/drawing/2014/main" id="{FEA41144-8D7E-0277-6566-AEB0D7BCC3BE}"/>
              </a:ext>
            </a:extLst>
          </p:cNvPr>
          <p:cNvPicPr>
            <a:picLocks noChangeAspect="1"/>
          </p:cNvPicPr>
          <p:nvPr/>
        </p:nvPicPr>
        <p:blipFill>
          <a:blip r:embed="rId2"/>
          <a:stretch>
            <a:fillRect/>
          </a:stretch>
        </p:blipFill>
        <p:spPr>
          <a:xfrm>
            <a:off x="8201729" y="4389249"/>
            <a:ext cx="3695700" cy="1333500"/>
          </a:xfrm>
          <a:prstGeom prst="rect">
            <a:avLst/>
          </a:prstGeom>
        </p:spPr>
      </p:pic>
      <p:sp>
        <p:nvSpPr>
          <p:cNvPr id="2" name="TextBox 1">
            <a:extLst>
              <a:ext uri="{FF2B5EF4-FFF2-40B4-BE49-F238E27FC236}">
                <a16:creationId xmlns:a16="http://schemas.microsoft.com/office/drawing/2014/main" id="{A6B67224-D143-3CA1-7A22-00778BAC7C9A}"/>
              </a:ext>
            </a:extLst>
          </p:cNvPr>
          <p:cNvSpPr txBox="1"/>
          <p:nvPr/>
        </p:nvSpPr>
        <p:spPr>
          <a:xfrm>
            <a:off x="434897" y="179232"/>
            <a:ext cx="11296186" cy="646331"/>
          </a:xfrm>
          <a:prstGeom prst="rect">
            <a:avLst/>
          </a:prstGeom>
          <a:noFill/>
        </p:spPr>
        <p:txBody>
          <a:bodyPr wrap="square" rtlCol="0">
            <a:spAutoFit/>
          </a:bodyPr>
          <a:lstStyle/>
          <a:p>
            <a:r>
              <a:rPr lang="en-NP" b="1" i="1" dirty="0">
                <a:solidFill>
                  <a:srgbClr val="FF0000"/>
                </a:solidFill>
              </a:rPr>
              <a:t>4. Write C program to print factorial of  a number using function void fact( int)</a:t>
            </a:r>
          </a:p>
          <a:p>
            <a:endParaRPr lang="en-NP" dirty="0"/>
          </a:p>
        </p:txBody>
      </p:sp>
      <p:graphicFrame>
        <p:nvGraphicFramePr>
          <p:cNvPr id="4" name="Table 3">
            <a:extLst>
              <a:ext uri="{FF2B5EF4-FFF2-40B4-BE49-F238E27FC236}">
                <a16:creationId xmlns:a16="http://schemas.microsoft.com/office/drawing/2014/main" id="{8A0BE66C-AFAE-286B-4836-1112E43AB733}"/>
              </a:ext>
            </a:extLst>
          </p:cNvPr>
          <p:cNvGraphicFramePr>
            <a:graphicFrameLocks noGrp="1"/>
          </p:cNvGraphicFramePr>
          <p:nvPr>
            <p:extLst>
              <p:ext uri="{D42A27DB-BD31-4B8C-83A1-F6EECF244321}">
                <p14:modId xmlns:p14="http://schemas.microsoft.com/office/powerpoint/2010/main" val="777230262"/>
              </p:ext>
            </p:extLst>
          </p:nvPr>
        </p:nvGraphicFramePr>
        <p:xfrm>
          <a:off x="8501876" y="1560393"/>
          <a:ext cx="3587285" cy="2225040"/>
        </p:xfrm>
        <a:graphic>
          <a:graphicData uri="http://schemas.openxmlformats.org/drawingml/2006/table">
            <a:tbl>
              <a:tblPr firstRow="1" bandRow="1">
                <a:tableStyleId>{5940675A-B579-460E-94D1-54222C63F5DA}</a:tableStyleId>
              </a:tblPr>
              <a:tblGrid>
                <a:gridCol w="717457">
                  <a:extLst>
                    <a:ext uri="{9D8B030D-6E8A-4147-A177-3AD203B41FA5}">
                      <a16:colId xmlns:a16="http://schemas.microsoft.com/office/drawing/2014/main" val="731153536"/>
                    </a:ext>
                  </a:extLst>
                </a:gridCol>
                <a:gridCol w="717457">
                  <a:extLst>
                    <a:ext uri="{9D8B030D-6E8A-4147-A177-3AD203B41FA5}">
                      <a16:colId xmlns:a16="http://schemas.microsoft.com/office/drawing/2014/main" val="1674797569"/>
                    </a:ext>
                  </a:extLst>
                </a:gridCol>
                <a:gridCol w="717457">
                  <a:extLst>
                    <a:ext uri="{9D8B030D-6E8A-4147-A177-3AD203B41FA5}">
                      <a16:colId xmlns:a16="http://schemas.microsoft.com/office/drawing/2014/main" val="2377124233"/>
                    </a:ext>
                  </a:extLst>
                </a:gridCol>
                <a:gridCol w="717457">
                  <a:extLst>
                    <a:ext uri="{9D8B030D-6E8A-4147-A177-3AD203B41FA5}">
                      <a16:colId xmlns:a16="http://schemas.microsoft.com/office/drawing/2014/main" val="1281649192"/>
                    </a:ext>
                  </a:extLst>
                </a:gridCol>
                <a:gridCol w="717457">
                  <a:extLst>
                    <a:ext uri="{9D8B030D-6E8A-4147-A177-3AD203B41FA5}">
                      <a16:colId xmlns:a16="http://schemas.microsoft.com/office/drawing/2014/main" val="1521484313"/>
                    </a:ext>
                  </a:extLst>
                </a:gridCol>
              </a:tblGrid>
              <a:tr h="370840">
                <a:tc>
                  <a:txBody>
                    <a:bodyPr/>
                    <a:lstStyle/>
                    <a:p>
                      <a:r>
                        <a:rPr lang="en-NP" b="1" dirty="0">
                          <a:highlight>
                            <a:srgbClr val="FFFF00"/>
                          </a:highlight>
                        </a:rPr>
                        <a:t>f</a:t>
                      </a:r>
                    </a:p>
                  </a:txBody>
                  <a:tcPr/>
                </a:tc>
                <a:tc>
                  <a:txBody>
                    <a:bodyPr/>
                    <a:lstStyle/>
                    <a:p>
                      <a:r>
                        <a:rPr lang="en-NP" b="1" dirty="0">
                          <a:highlight>
                            <a:srgbClr val="FFFF00"/>
                          </a:highlight>
                        </a:rPr>
                        <a:t>x</a:t>
                      </a:r>
                    </a:p>
                  </a:txBody>
                  <a:tcPr/>
                </a:tc>
                <a:tc>
                  <a:txBody>
                    <a:bodyPr/>
                    <a:lstStyle/>
                    <a:p>
                      <a:r>
                        <a:rPr lang="en-NP" b="1" dirty="0">
                          <a:highlight>
                            <a:srgbClr val="FFFF00"/>
                          </a:highlight>
                        </a:rPr>
                        <a:t>i</a:t>
                      </a:r>
                    </a:p>
                  </a:txBody>
                  <a:tcPr/>
                </a:tc>
                <a:tc>
                  <a:txBody>
                    <a:bodyPr/>
                    <a:lstStyle/>
                    <a:p>
                      <a:r>
                        <a:rPr lang="en-NP" b="1" dirty="0">
                          <a:highlight>
                            <a:srgbClr val="FFFF00"/>
                          </a:highlight>
                        </a:rPr>
                        <a:t>=</a:t>
                      </a:r>
                    </a:p>
                  </a:txBody>
                  <a:tcPr/>
                </a:tc>
                <a:tc>
                  <a:txBody>
                    <a:bodyPr/>
                    <a:lstStyle/>
                    <a:p>
                      <a:r>
                        <a:rPr lang="en-NP" b="1" dirty="0">
                          <a:highlight>
                            <a:srgbClr val="FFFF00"/>
                          </a:highlight>
                        </a:rPr>
                        <a:t>f</a:t>
                      </a:r>
                    </a:p>
                  </a:txBody>
                  <a:tcPr/>
                </a:tc>
                <a:extLst>
                  <a:ext uri="{0D108BD9-81ED-4DB2-BD59-A6C34878D82A}">
                    <a16:rowId xmlns:a16="http://schemas.microsoft.com/office/drawing/2014/main" val="992913537"/>
                  </a:ext>
                </a:extLst>
              </a:tr>
              <a:tr h="370840">
                <a:tc>
                  <a:txBody>
                    <a:bodyPr/>
                    <a:lstStyle/>
                    <a:p>
                      <a:r>
                        <a:rPr lang="en-NP" b="1" dirty="0">
                          <a:highlight>
                            <a:srgbClr val="00FF00"/>
                          </a:highlight>
                        </a:rPr>
                        <a:t>1</a:t>
                      </a:r>
                    </a:p>
                  </a:txBody>
                  <a:tcPr/>
                </a:tc>
                <a:tc>
                  <a:txBody>
                    <a:bodyPr/>
                    <a:lstStyle/>
                    <a:p>
                      <a:r>
                        <a:rPr lang="en-NP" b="1" dirty="0">
                          <a:highlight>
                            <a:srgbClr val="00FF00"/>
                          </a:highlight>
                        </a:rPr>
                        <a:t>x</a:t>
                      </a:r>
                    </a:p>
                  </a:txBody>
                  <a:tcPr/>
                </a:tc>
                <a:tc>
                  <a:txBody>
                    <a:bodyPr/>
                    <a:lstStyle/>
                    <a:p>
                      <a:r>
                        <a:rPr lang="en-NP" b="1" dirty="0">
                          <a:highlight>
                            <a:srgbClr val="00FF00"/>
                          </a:highlight>
                        </a:rPr>
                        <a:t>1</a:t>
                      </a:r>
                    </a:p>
                  </a:txBody>
                  <a:tcPr/>
                </a:tc>
                <a:tc>
                  <a:txBody>
                    <a:bodyPr/>
                    <a:lstStyle/>
                    <a:p>
                      <a:r>
                        <a:rPr lang="en-NP" b="1" dirty="0">
                          <a:highlight>
                            <a:srgbClr val="00FF00"/>
                          </a:highlight>
                        </a:rPr>
                        <a:t>=</a:t>
                      </a:r>
                    </a:p>
                  </a:txBody>
                  <a:tcPr/>
                </a:tc>
                <a:tc>
                  <a:txBody>
                    <a:bodyPr/>
                    <a:lstStyle/>
                    <a:p>
                      <a:r>
                        <a:rPr lang="en-NP" b="1" dirty="0">
                          <a:highlight>
                            <a:srgbClr val="00FF00"/>
                          </a:highlight>
                        </a:rPr>
                        <a:t>1</a:t>
                      </a:r>
                    </a:p>
                  </a:txBody>
                  <a:tcPr/>
                </a:tc>
                <a:extLst>
                  <a:ext uri="{0D108BD9-81ED-4DB2-BD59-A6C34878D82A}">
                    <a16:rowId xmlns:a16="http://schemas.microsoft.com/office/drawing/2014/main" val="1138891622"/>
                  </a:ext>
                </a:extLst>
              </a:tr>
              <a:tr h="370840">
                <a:tc>
                  <a:txBody>
                    <a:bodyPr/>
                    <a:lstStyle/>
                    <a:p>
                      <a:r>
                        <a:rPr lang="en-NP" b="1" dirty="0">
                          <a:highlight>
                            <a:srgbClr val="00FFFF"/>
                          </a:highlight>
                        </a:rPr>
                        <a:t>1</a:t>
                      </a:r>
                    </a:p>
                  </a:txBody>
                  <a:tcPr/>
                </a:tc>
                <a:tc>
                  <a:txBody>
                    <a:bodyPr/>
                    <a:lstStyle/>
                    <a:p>
                      <a:r>
                        <a:rPr lang="en-NP" b="1" dirty="0">
                          <a:highlight>
                            <a:srgbClr val="00FFFF"/>
                          </a:highlight>
                        </a:rPr>
                        <a:t>x</a:t>
                      </a:r>
                    </a:p>
                  </a:txBody>
                  <a:tcPr/>
                </a:tc>
                <a:tc>
                  <a:txBody>
                    <a:bodyPr/>
                    <a:lstStyle/>
                    <a:p>
                      <a:r>
                        <a:rPr lang="en-NP" b="1" dirty="0">
                          <a:highlight>
                            <a:srgbClr val="00FFFF"/>
                          </a:highlight>
                        </a:rPr>
                        <a:t>2</a:t>
                      </a:r>
                    </a:p>
                  </a:txBody>
                  <a:tcPr/>
                </a:tc>
                <a:tc>
                  <a:txBody>
                    <a:bodyPr/>
                    <a:lstStyle/>
                    <a:p>
                      <a:r>
                        <a:rPr lang="en-NP" b="1" dirty="0">
                          <a:highlight>
                            <a:srgbClr val="00FFFF"/>
                          </a:highlight>
                        </a:rPr>
                        <a:t>=</a:t>
                      </a:r>
                    </a:p>
                  </a:txBody>
                  <a:tcPr/>
                </a:tc>
                <a:tc>
                  <a:txBody>
                    <a:bodyPr/>
                    <a:lstStyle/>
                    <a:p>
                      <a:r>
                        <a:rPr lang="en-NP" b="1" dirty="0">
                          <a:highlight>
                            <a:srgbClr val="00FFFF"/>
                          </a:highlight>
                        </a:rPr>
                        <a:t>2</a:t>
                      </a:r>
                    </a:p>
                  </a:txBody>
                  <a:tcPr/>
                </a:tc>
                <a:extLst>
                  <a:ext uri="{0D108BD9-81ED-4DB2-BD59-A6C34878D82A}">
                    <a16:rowId xmlns:a16="http://schemas.microsoft.com/office/drawing/2014/main" val="2436262359"/>
                  </a:ext>
                </a:extLst>
              </a:tr>
              <a:tr h="370840">
                <a:tc>
                  <a:txBody>
                    <a:bodyPr/>
                    <a:lstStyle/>
                    <a:p>
                      <a:r>
                        <a:rPr lang="en-NP" b="1" dirty="0">
                          <a:highlight>
                            <a:srgbClr val="FF00FF"/>
                          </a:highlight>
                        </a:rPr>
                        <a:t>2</a:t>
                      </a:r>
                    </a:p>
                  </a:txBody>
                  <a:tcPr/>
                </a:tc>
                <a:tc>
                  <a:txBody>
                    <a:bodyPr/>
                    <a:lstStyle/>
                    <a:p>
                      <a:r>
                        <a:rPr lang="en-NP" b="1" dirty="0">
                          <a:highlight>
                            <a:srgbClr val="FF00FF"/>
                          </a:highlight>
                        </a:rPr>
                        <a:t>x</a:t>
                      </a:r>
                    </a:p>
                  </a:txBody>
                  <a:tcPr/>
                </a:tc>
                <a:tc>
                  <a:txBody>
                    <a:bodyPr/>
                    <a:lstStyle/>
                    <a:p>
                      <a:r>
                        <a:rPr lang="en-NP" b="1" dirty="0">
                          <a:highlight>
                            <a:srgbClr val="FF00FF"/>
                          </a:highlight>
                        </a:rPr>
                        <a:t>3</a:t>
                      </a:r>
                    </a:p>
                  </a:txBody>
                  <a:tcPr/>
                </a:tc>
                <a:tc>
                  <a:txBody>
                    <a:bodyPr/>
                    <a:lstStyle/>
                    <a:p>
                      <a:r>
                        <a:rPr lang="en-NP" b="1" dirty="0">
                          <a:highlight>
                            <a:srgbClr val="FF00FF"/>
                          </a:highlight>
                        </a:rPr>
                        <a:t>=</a:t>
                      </a:r>
                    </a:p>
                  </a:txBody>
                  <a:tcPr/>
                </a:tc>
                <a:tc>
                  <a:txBody>
                    <a:bodyPr/>
                    <a:lstStyle/>
                    <a:p>
                      <a:r>
                        <a:rPr lang="en-NP" b="1" dirty="0">
                          <a:highlight>
                            <a:srgbClr val="FF00FF"/>
                          </a:highlight>
                        </a:rPr>
                        <a:t>6</a:t>
                      </a:r>
                    </a:p>
                  </a:txBody>
                  <a:tcPr/>
                </a:tc>
                <a:extLst>
                  <a:ext uri="{0D108BD9-81ED-4DB2-BD59-A6C34878D82A}">
                    <a16:rowId xmlns:a16="http://schemas.microsoft.com/office/drawing/2014/main" val="2245095074"/>
                  </a:ext>
                </a:extLst>
              </a:tr>
              <a:tr h="370840">
                <a:tc>
                  <a:txBody>
                    <a:bodyPr/>
                    <a:lstStyle/>
                    <a:p>
                      <a:r>
                        <a:rPr lang="en-NP" b="1" dirty="0">
                          <a:solidFill>
                            <a:srgbClr val="FF0000"/>
                          </a:solidFill>
                        </a:rPr>
                        <a:t>6</a:t>
                      </a:r>
                    </a:p>
                  </a:txBody>
                  <a:tcPr/>
                </a:tc>
                <a:tc>
                  <a:txBody>
                    <a:bodyPr/>
                    <a:lstStyle/>
                    <a:p>
                      <a:r>
                        <a:rPr lang="en-NP" b="1" dirty="0">
                          <a:solidFill>
                            <a:srgbClr val="FF0000"/>
                          </a:solidFill>
                        </a:rPr>
                        <a:t>x</a:t>
                      </a:r>
                    </a:p>
                  </a:txBody>
                  <a:tcPr/>
                </a:tc>
                <a:tc>
                  <a:txBody>
                    <a:bodyPr/>
                    <a:lstStyle/>
                    <a:p>
                      <a:r>
                        <a:rPr lang="en-NP" b="1" dirty="0">
                          <a:solidFill>
                            <a:srgbClr val="FF0000"/>
                          </a:solidFill>
                        </a:rPr>
                        <a:t>4</a:t>
                      </a:r>
                    </a:p>
                  </a:txBody>
                  <a:tcPr/>
                </a:tc>
                <a:tc>
                  <a:txBody>
                    <a:bodyPr/>
                    <a:lstStyle/>
                    <a:p>
                      <a:r>
                        <a:rPr lang="en-NP" b="1" dirty="0">
                          <a:solidFill>
                            <a:srgbClr val="FF0000"/>
                          </a:solidFill>
                        </a:rPr>
                        <a:t>=</a:t>
                      </a:r>
                    </a:p>
                  </a:txBody>
                  <a:tcPr/>
                </a:tc>
                <a:tc>
                  <a:txBody>
                    <a:bodyPr/>
                    <a:lstStyle/>
                    <a:p>
                      <a:r>
                        <a:rPr lang="en-NP" b="1" dirty="0">
                          <a:solidFill>
                            <a:srgbClr val="FF0000"/>
                          </a:solidFill>
                        </a:rPr>
                        <a:t>24</a:t>
                      </a:r>
                    </a:p>
                  </a:txBody>
                  <a:tcPr/>
                </a:tc>
                <a:extLst>
                  <a:ext uri="{0D108BD9-81ED-4DB2-BD59-A6C34878D82A}">
                    <a16:rowId xmlns:a16="http://schemas.microsoft.com/office/drawing/2014/main" val="3179116182"/>
                  </a:ext>
                </a:extLst>
              </a:tr>
              <a:tr h="370840">
                <a:tc>
                  <a:txBody>
                    <a:bodyPr/>
                    <a:lstStyle/>
                    <a:p>
                      <a:r>
                        <a:rPr lang="en-NP" b="1" dirty="0"/>
                        <a:t>24</a:t>
                      </a:r>
                    </a:p>
                  </a:txBody>
                  <a:tcPr/>
                </a:tc>
                <a:tc>
                  <a:txBody>
                    <a:bodyPr/>
                    <a:lstStyle/>
                    <a:p>
                      <a:r>
                        <a:rPr lang="en-NP" b="1" dirty="0"/>
                        <a:t>x</a:t>
                      </a:r>
                    </a:p>
                  </a:txBody>
                  <a:tcPr/>
                </a:tc>
                <a:tc>
                  <a:txBody>
                    <a:bodyPr/>
                    <a:lstStyle/>
                    <a:p>
                      <a:r>
                        <a:rPr lang="en-NP" b="1" dirty="0"/>
                        <a:t>5</a:t>
                      </a:r>
                    </a:p>
                  </a:txBody>
                  <a:tcPr/>
                </a:tc>
                <a:tc>
                  <a:txBody>
                    <a:bodyPr/>
                    <a:lstStyle/>
                    <a:p>
                      <a:r>
                        <a:rPr lang="en-NP" b="1" dirty="0"/>
                        <a:t>=</a:t>
                      </a:r>
                    </a:p>
                  </a:txBody>
                  <a:tcPr/>
                </a:tc>
                <a:tc>
                  <a:txBody>
                    <a:bodyPr/>
                    <a:lstStyle/>
                    <a:p>
                      <a:r>
                        <a:rPr lang="en-NP" b="1" dirty="0"/>
                        <a:t>120</a:t>
                      </a:r>
                    </a:p>
                  </a:txBody>
                  <a:tcPr/>
                </a:tc>
                <a:extLst>
                  <a:ext uri="{0D108BD9-81ED-4DB2-BD59-A6C34878D82A}">
                    <a16:rowId xmlns:a16="http://schemas.microsoft.com/office/drawing/2014/main" val="3677962545"/>
                  </a:ext>
                </a:extLst>
              </a:tr>
            </a:tbl>
          </a:graphicData>
        </a:graphic>
      </p:graphicFrame>
      <p:sp>
        <p:nvSpPr>
          <p:cNvPr id="7" name="TextBox 6">
            <a:extLst>
              <a:ext uri="{FF2B5EF4-FFF2-40B4-BE49-F238E27FC236}">
                <a16:creationId xmlns:a16="http://schemas.microsoft.com/office/drawing/2014/main" id="{F132E7FE-38D9-32E1-5BD7-77B032DA271F}"/>
              </a:ext>
            </a:extLst>
          </p:cNvPr>
          <p:cNvSpPr txBox="1"/>
          <p:nvPr/>
        </p:nvSpPr>
        <p:spPr>
          <a:xfrm>
            <a:off x="8574940" y="982866"/>
            <a:ext cx="3587283" cy="400110"/>
          </a:xfrm>
          <a:prstGeom prst="rect">
            <a:avLst/>
          </a:prstGeom>
          <a:noFill/>
        </p:spPr>
        <p:txBody>
          <a:bodyPr wrap="square" rtlCol="0">
            <a:spAutoFit/>
          </a:bodyPr>
          <a:lstStyle/>
          <a:p>
            <a:r>
              <a:rPr lang="en-US" sz="2000" b="1" dirty="0">
                <a:highlight>
                  <a:srgbClr val="FFFF00"/>
                </a:highlight>
              </a:rPr>
              <a:t>n</a:t>
            </a:r>
            <a:r>
              <a:rPr lang="en-NP" sz="2000" b="1" dirty="0">
                <a:highlight>
                  <a:srgbClr val="FFFF00"/>
                </a:highlight>
              </a:rPr>
              <a:t>=5--&gt; </a:t>
            </a:r>
            <a:r>
              <a:rPr lang="en-NP" sz="2000" b="1" dirty="0">
                <a:highlight>
                  <a:srgbClr val="00FF00"/>
                </a:highlight>
              </a:rPr>
              <a:t>1</a:t>
            </a:r>
            <a:r>
              <a:rPr lang="en-NP" sz="2000" b="1" dirty="0"/>
              <a:t>x</a:t>
            </a:r>
            <a:r>
              <a:rPr lang="en-NP" sz="2000" b="1" dirty="0">
                <a:highlight>
                  <a:srgbClr val="00FFFF"/>
                </a:highlight>
              </a:rPr>
              <a:t>2</a:t>
            </a:r>
            <a:r>
              <a:rPr lang="en-NP" sz="2000" b="1" dirty="0"/>
              <a:t>x</a:t>
            </a:r>
            <a:r>
              <a:rPr lang="en-NP" sz="2000" b="1" dirty="0">
                <a:highlight>
                  <a:srgbClr val="FF00FF"/>
                </a:highlight>
              </a:rPr>
              <a:t>3</a:t>
            </a:r>
            <a:r>
              <a:rPr lang="en-NP" sz="2000" b="1" dirty="0"/>
              <a:t>x</a:t>
            </a:r>
            <a:r>
              <a:rPr lang="en-NP" sz="2000" b="1" dirty="0">
                <a:solidFill>
                  <a:srgbClr val="FF0000"/>
                </a:solidFill>
              </a:rPr>
              <a:t>4</a:t>
            </a:r>
            <a:r>
              <a:rPr lang="en-NP" sz="2000" b="1" dirty="0"/>
              <a:t>x5=120</a:t>
            </a:r>
          </a:p>
        </p:txBody>
      </p:sp>
      <p:cxnSp>
        <p:nvCxnSpPr>
          <p:cNvPr id="9" name="Straight Arrow Connector 8">
            <a:extLst>
              <a:ext uri="{FF2B5EF4-FFF2-40B4-BE49-F238E27FC236}">
                <a16:creationId xmlns:a16="http://schemas.microsoft.com/office/drawing/2014/main" id="{72C8E762-4010-9D54-B62D-0C163DA42390}"/>
              </a:ext>
            </a:extLst>
          </p:cNvPr>
          <p:cNvCxnSpPr/>
          <p:nvPr/>
        </p:nvCxnSpPr>
        <p:spPr>
          <a:xfrm flipV="1">
            <a:off x="4583151" y="502397"/>
            <a:ext cx="0" cy="4471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754EE495-B5A1-AEDC-28B6-F5CA52C47AEF}"/>
              </a:ext>
            </a:extLst>
          </p:cNvPr>
          <p:cNvCxnSpPr/>
          <p:nvPr/>
        </p:nvCxnSpPr>
        <p:spPr>
          <a:xfrm flipV="1">
            <a:off x="8069765" y="584952"/>
            <a:ext cx="0" cy="44710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286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1CBB48-2B19-5EA7-AC1B-76655C4562C6}"/>
              </a:ext>
            </a:extLst>
          </p:cNvPr>
          <p:cNvSpPr>
            <a:spLocks noGrp="1"/>
          </p:cNvSpPr>
          <p:nvPr>
            <p:ph idx="1"/>
          </p:nvPr>
        </p:nvSpPr>
        <p:spPr>
          <a:xfrm>
            <a:off x="321972" y="1"/>
            <a:ext cx="11031828" cy="6857999"/>
          </a:xfrm>
        </p:spPr>
        <p:txBody>
          <a:bodyPr>
            <a:noAutofit/>
          </a:bodyPr>
          <a:lstStyle/>
          <a:p>
            <a:pPr marL="0" indent="0">
              <a:spcBef>
                <a:spcPts val="0"/>
              </a:spcBef>
              <a:buNone/>
            </a:pPr>
            <a:r>
              <a:rPr lang="en-NP" sz="2000" b="1" i="1" dirty="0">
                <a:solidFill>
                  <a:srgbClr val="FF0000"/>
                </a:solidFill>
              </a:rPr>
              <a:t>5.Write C program to print the greatest value among three numbers using a function int  great(int int int). We have to use return statement</a:t>
            </a:r>
            <a:endParaRPr lang="en-US" sz="2000" dirty="0">
              <a:solidFill>
                <a:srgbClr val="FF0000"/>
              </a:solidFill>
            </a:endParaRPr>
          </a:p>
          <a:p>
            <a:pPr marL="0" indent="0">
              <a:spcBef>
                <a:spcPts val="0"/>
              </a:spcBef>
              <a:buNone/>
            </a:pPr>
            <a:r>
              <a:rPr lang="en-US" sz="2200" b="1" dirty="0"/>
              <a:t>#include&lt;</a:t>
            </a:r>
            <a:r>
              <a:rPr lang="en-US" sz="2200" b="1" dirty="0" err="1"/>
              <a:t>stdio.h</a:t>
            </a:r>
            <a:r>
              <a:rPr lang="en-US" sz="2200" b="1" dirty="0"/>
              <a:t>&gt;</a:t>
            </a:r>
          </a:p>
          <a:p>
            <a:pPr marL="0" indent="0">
              <a:spcBef>
                <a:spcPts val="0"/>
              </a:spcBef>
              <a:buNone/>
            </a:pPr>
            <a:r>
              <a:rPr lang="en-US" sz="2200" b="1" dirty="0"/>
              <a:t>int great(int a, int, int c);</a:t>
            </a:r>
          </a:p>
          <a:p>
            <a:pPr marL="0" indent="0">
              <a:spcBef>
                <a:spcPts val="0"/>
              </a:spcBef>
              <a:buNone/>
            </a:pPr>
            <a:r>
              <a:rPr lang="en-US" sz="2200" b="1" dirty="0"/>
              <a:t>int main()</a:t>
            </a:r>
          </a:p>
          <a:p>
            <a:pPr marL="0" indent="0">
              <a:spcBef>
                <a:spcPts val="0"/>
              </a:spcBef>
              <a:buNone/>
            </a:pPr>
            <a:r>
              <a:rPr lang="en-US" sz="2200" b="1" dirty="0"/>
              <a:t>{</a:t>
            </a:r>
          </a:p>
          <a:p>
            <a:pPr marL="0" indent="0">
              <a:spcBef>
                <a:spcPts val="0"/>
              </a:spcBef>
              <a:buNone/>
            </a:pPr>
            <a:r>
              <a:rPr lang="en-US" sz="2200" b="1" dirty="0"/>
              <a:t>int a, b, c, d;</a:t>
            </a:r>
          </a:p>
          <a:p>
            <a:pPr marL="0" indent="0">
              <a:spcBef>
                <a:spcPts val="0"/>
              </a:spcBef>
              <a:buNone/>
            </a:pPr>
            <a:r>
              <a:rPr lang="en-US" sz="2200" b="1" dirty="0" err="1"/>
              <a:t>printf</a:t>
            </a:r>
            <a:r>
              <a:rPr lang="en-US" sz="2200" b="1" dirty="0"/>
              <a:t>("Enter three numbers : ");</a:t>
            </a:r>
          </a:p>
          <a:p>
            <a:pPr marL="0" indent="0">
              <a:spcBef>
                <a:spcPts val="0"/>
              </a:spcBef>
              <a:buNone/>
            </a:pPr>
            <a:r>
              <a:rPr lang="en-US" sz="2200" b="1" dirty="0" err="1"/>
              <a:t>scanf</a:t>
            </a:r>
            <a:r>
              <a:rPr lang="en-US" sz="2200" b="1" dirty="0"/>
              <a:t>("%</a:t>
            </a:r>
            <a:r>
              <a:rPr lang="en-US" sz="2200" b="1" dirty="0" err="1"/>
              <a:t>d%d%d</a:t>
            </a:r>
            <a:r>
              <a:rPr lang="en-US" sz="2200" b="1" dirty="0"/>
              <a:t>", &amp;a, &amp;b, &amp;c);</a:t>
            </a:r>
          </a:p>
          <a:p>
            <a:pPr marL="0" indent="0">
              <a:spcBef>
                <a:spcPts val="0"/>
              </a:spcBef>
              <a:buNone/>
            </a:pPr>
            <a:r>
              <a:rPr lang="en-US" sz="2200" b="1" dirty="0"/>
              <a:t>d=great(a, b, c);</a:t>
            </a:r>
          </a:p>
          <a:p>
            <a:pPr marL="0" indent="0">
              <a:spcBef>
                <a:spcPts val="0"/>
              </a:spcBef>
              <a:buNone/>
            </a:pPr>
            <a:r>
              <a:rPr lang="en-US" sz="2200" b="1" dirty="0" err="1"/>
              <a:t>printf</a:t>
            </a:r>
            <a:r>
              <a:rPr lang="en-US" sz="2200" b="1" dirty="0"/>
              <a:t>("greatest number is %d", d);</a:t>
            </a:r>
          </a:p>
          <a:p>
            <a:pPr marL="0" indent="0">
              <a:spcBef>
                <a:spcPts val="0"/>
              </a:spcBef>
              <a:buNone/>
            </a:pPr>
            <a:r>
              <a:rPr lang="en-US" sz="2200" b="1" dirty="0"/>
              <a:t>return 0;</a:t>
            </a:r>
          </a:p>
          <a:p>
            <a:pPr marL="0" indent="0">
              <a:spcBef>
                <a:spcPts val="0"/>
              </a:spcBef>
              <a:buNone/>
            </a:pPr>
            <a:r>
              <a:rPr lang="en-US" sz="2200" b="1" dirty="0"/>
              <a:t>}</a:t>
            </a:r>
          </a:p>
          <a:p>
            <a:pPr marL="0" indent="0">
              <a:spcBef>
                <a:spcPts val="0"/>
              </a:spcBef>
              <a:buNone/>
            </a:pPr>
            <a:r>
              <a:rPr lang="en-US" sz="2200" b="1" dirty="0"/>
              <a:t>int great(int a, int b, int c)</a:t>
            </a:r>
          </a:p>
          <a:p>
            <a:pPr marL="0" indent="0">
              <a:spcBef>
                <a:spcPts val="0"/>
              </a:spcBef>
              <a:buNone/>
            </a:pPr>
            <a:r>
              <a:rPr lang="en-US" sz="2200" b="1" dirty="0"/>
              <a:t>{</a:t>
            </a:r>
          </a:p>
          <a:p>
            <a:pPr marL="0" indent="0">
              <a:spcBef>
                <a:spcPts val="0"/>
              </a:spcBef>
              <a:buNone/>
            </a:pPr>
            <a:r>
              <a:rPr lang="en-US" sz="2200" b="1" dirty="0"/>
              <a:t>if(a&gt;b &amp;&amp; a&gt;c)</a:t>
            </a:r>
          </a:p>
          <a:p>
            <a:pPr marL="0" indent="0">
              <a:spcBef>
                <a:spcPts val="0"/>
              </a:spcBef>
              <a:buNone/>
            </a:pPr>
            <a:r>
              <a:rPr lang="en-US" sz="2200" b="1" dirty="0"/>
              <a:t>	{return a;}</a:t>
            </a:r>
          </a:p>
          <a:p>
            <a:pPr marL="0" indent="0">
              <a:spcBef>
                <a:spcPts val="0"/>
              </a:spcBef>
              <a:buNone/>
            </a:pPr>
            <a:r>
              <a:rPr lang="en-US" sz="2200" b="1" dirty="0"/>
              <a:t>else if (b&gt;c)</a:t>
            </a:r>
          </a:p>
          <a:p>
            <a:pPr marL="0" indent="0">
              <a:spcBef>
                <a:spcPts val="0"/>
              </a:spcBef>
              <a:buNone/>
            </a:pPr>
            <a:r>
              <a:rPr lang="en-US" sz="2200" b="1" dirty="0"/>
              <a:t>	{return b;}</a:t>
            </a:r>
          </a:p>
          <a:p>
            <a:pPr marL="0" indent="0">
              <a:spcBef>
                <a:spcPts val="0"/>
              </a:spcBef>
              <a:buNone/>
            </a:pPr>
            <a:r>
              <a:rPr lang="en-US" sz="2200" b="1" dirty="0"/>
              <a:t>else</a:t>
            </a:r>
          </a:p>
          <a:p>
            <a:pPr marL="0" indent="0">
              <a:spcBef>
                <a:spcPts val="0"/>
              </a:spcBef>
              <a:buNone/>
            </a:pPr>
            <a:r>
              <a:rPr lang="en-US" sz="2200" b="1" dirty="0"/>
              <a:t>	{return c;}</a:t>
            </a:r>
          </a:p>
          <a:p>
            <a:pPr marL="0" indent="0">
              <a:spcBef>
                <a:spcPts val="0"/>
              </a:spcBef>
              <a:buNone/>
            </a:pPr>
            <a:r>
              <a:rPr lang="en-US" sz="2400" b="1" dirty="0"/>
              <a:t>}</a:t>
            </a:r>
          </a:p>
          <a:p>
            <a:pPr marL="0" indent="0">
              <a:spcBef>
                <a:spcPts val="0"/>
              </a:spcBef>
              <a:buNone/>
            </a:pPr>
            <a:endParaRPr lang="en-NP" sz="2400" dirty="0"/>
          </a:p>
        </p:txBody>
      </p:sp>
      <p:pic>
        <p:nvPicPr>
          <p:cNvPr id="4" name="Picture 3">
            <a:extLst>
              <a:ext uri="{FF2B5EF4-FFF2-40B4-BE49-F238E27FC236}">
                <a16:creationId xmlns:a16="http://schemas.microsoft.com/office/drawing/2014/main" id="{A25BE5C4-A768-389D-8190-BCA4FF79278C}"/>
              </a:ext>
            </a:extLst>
          </p:cNvPr>
          <p:cNvPicPr>
            <a:picLocks noChangeAspect="1"/>
          </p:cNvPicPr>
          <p:nvPr/>
        </p:nvPicPr>
        <p:blipFill>
          <a:blip r:embed="rId3"/>
          <a:stretch>
            <a:fillRect/>
          </a:stretch>
        </p:blipFill>
        <p:spPr>
          <a:xfrm>
            <a:off x="6096000" y="3079749"/>
            <a:ext cx="4622800" cy="698500"/>
          </a:xfrm>
          <a:prstGeom prst="rect">
            <a:avLst/>
          </a:prstGeom>
        </p:spPr>
      </p:pic>
    </p:spTree>
    <p:extLst>
      <p:ext uri="{BB962C8B-B14F-4D97-AF65-F5344CB8AC3E}">
        <p14:creationId xmlns:p14="http://schemas.microsoft.com/office/powerpoint/2010/main" val="623140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E83F78B-367A-6D8F-6221-6E38376DA03C}"/>
              </a:ext>
            </a:extLst>
          </p:cNvPr>
          <p:cNvSpPr/>
          <p:nvPr/>
        </p:nvSpPr>
        <p:spPr>
          <a:xfrm>
            <a:off x="8865672" y="273118"/>
            <a:ext cx="1418239" cy="16485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 name="Content Placeholder 2">
            <a:extLst>
              <a:ext uri="{FF2B5EF4-FFF2-40B4-BE49-F238E27FC236}">
                <a16:creationId xmlns:a16="http://schemas.microsoft.com/office/drawing/2014/main" id="{EEBB85D0-F00C-0C9A-5379-36E914CD78DF}"/>
              </a:ext>
            </a:extLst>
          </p:cNvPr>
          <p:cNvSpPr>
            <a:spLocks noGrp="1"/>
          </p:cNvSpPr>
          <p:nvPr>
            <p:ph idx="1"/>
          </p:nvPr>
        </p:nvSpPr>
        <p:spPr>
          <a:xfrm>
            <a:off x="838200" y="0"/>
            <a:ext cx="11353800" cy="6588087"/>
          </a:xfrm>
        </p:spPr>
        <p:txBody>
          <a:bodyPr>
            <a:noAutofit/>
          </a:bodyPr>
          <a:lstStyle/>
          <a:p>
            <a:pPr marL="0" indent="0">
              <a:spcBef>
                <a:spcPts val="0"/>
              </a:spcBef>
              <a:buNone/>
            </a:pPr>
            <a:r>
              <a:rPr lang="en-NP" sz="2000" b="1" dirty="0">
                <a:solidFill>
                  <a:srgbClr val="FF0000"/>
                </a:solidFill>
              </a:rPr>
              <a:t>6.Write a C program to display fibonacci series using function as shown   1 1 2 3 5… upto n</a:t>
            </a:r>
            <a:r>
              <a:rPr lang="en-NP" sz="2000" b="1" baseline="30000" dirty="0">
                <a:solidFill>
                  <a:srgbClr val="FF0000"/>
                </a:solidFill>
              </a:rPr>
              <a:t>th</a:t>
            </a:r>
            <a:r>
              <a:rPr lang="en-NP" sz="2000" b="1" dirty="0">
                <a:solidFill>
                  <a:srgbClr val="FF0000"/>
                </a:solidFill>
              </a:rPr>
              <a:t> term.</a:t>
            </a:r>
            <a:r>
              <a:rPr lang="en-NP" sz="2000" b="1" baseline="30000" dirty="0">
                <a:solidFill>
                  <a:srgbClr val="FF0000"/>
                </a:solidFill>
              </a:rPr>
              <a:t> </a:t>
            </a:r>
            <a:endParaRPr lang="en-US" sz="2000" b="1" dirty="0">
              <a:solidFill>
                <a:srgbClr val="FF0000"/>
              </a:solidFill>
            </a:endParaRPr>
          </a:p>
          <a:p>
            <a:pPr marL="0" indent="0">
              <a:spcBef>
                <a:spcPts val="0"/>
              </a:spcBef>
              <a:buNone/>
            </a:pPr>
            <a:r>
              <a:rPr lang="en-US" sz="2000" b="1" dirty="0"/>
              <a:t>#include &lt;</a:t>
            </a:r>
            <a:r>
              <a:rPr lang="en-US" sz="2000" b="1" dirty="0" err="1"/>
              <a:t>stdio.h</a:t>
            </a:r>
            <a:r>
              <a:rPr lang="en-US" sz="2000" b="1" dirty="0"/>
              <a:t>&gt;</a:t>
            </a:r>
            <a:br>
              <a:rPr lang="en-US" sz="2000" b="1" dirty="0"/>
            </a:br>
            <a:r>
              <a:rPr lang="en-US" sz="2000" b="1" dirty="0"/>
              <a:t>void fib(int n);</a:t>
            </a:r>
            <a:br>
              <a:rPr lang="en-US" sz="2000" b="1" dirty="0"/>
            </a:br>
            <a:r>
              <a:rPr lang="en-US" sz="2000" b="1" dirty="0"/>
              <a:t>int main()</a:t>
            </a:r>
          </a:p>
          <a:p>
            <a:pPr marL="0" indent="0">
              <a:spcBef>
                <a:spcPts val="0"/>
              </a:spcBef>
              <a:buNone/>
            </a:pPr>
            <a:r>
              <a:rPr lang="en-US" sz="2000" b="1" dirty="0"/>
              <a:t>{</a:t>
            </a:r>
          </a:p>
          <a:p>
            <a:pPr marL="0" indent="0">
              <a:spcBef>
                <a:spcPts val="0"/>
              </a:spcBef>
              <a:buNone/>
            </a:pPr>
            <a:r>
              <a:rPr lang="en-US" sz="2000" b="1" dirty="0"/>
              <a:t>    int n;</a:t>
            </a:r>
          </a:p>
          <a:p>
            <a:pPr marL="0" indent="0">
              <a:spcBef>
                <a:spcPts val="0"/>
              </a:spcBef>
              <a:buNone/>
            </a:pPr>
            <a:r>
              <a:rPr lang="en-US" sz="2000" b="1" dirty="0"/>
              <a:t>    </a:t>
            </a:r>
            <a:r>
              <a:rPr lang="en-US" sz="2000" b="1" dirty="0" err="1"/>
              <a:t>printf</a:t>
            </a:r>
            <a:r>
              <a:rPr lang="en-US" sz="2000" b="1" dirty="0"/>
              <a:t>("\</a:t>
            </a:r>
            <a:r>
              <a:rPr lang="en-US" sz="2000" b="1" dirty="0" err="1"/>
              <a:t>nEnter</a:t>
            </a:r>
            <a:r>
              <a:rPr lang="en-US" sz="2000" b="1" dirty="0"/>
              <a:t> the value of n:");</a:t>
            </a:r>
          </a:p>
          <a:p>
            <a:pPr marL="0" indent="0">
              <a:spcBef>
                <a:spcPts val="0"/>
              </a:spcBef>
              <a:buNone/>
            </a:pPr>
            <a:r>
              <a:rPr lang="en-US" sz="2000" b="1" dirty="0"/>
              <a:t>     </a:t>
            </a:r>
            <a:r>
              <a:rPr lang="en-US" sz="2000" b="1" dirty="0" err="1"/>
              <a:t>scanf</a:t>
            </a:r>
            <a:r>
              <a:rPr lang="en-US" sz="2000" b="1" dirty="0"/>
              <a:t>("%d", &amp;n);</a:t>
            </a:r>
          </a:p>
          <a:p>
            <a:pPr marL="0" indent="0">
              <a:spcBef>
                <a:spcPts val="0"/>
              </a:spcBef>
              <a:buNone/>
            </a:pPr>
            <a:r>
              <a:rPr lang="en-US" sz="2000" b="1" dirty="0"/>
              <a:t>     fib(n);</a:t>
            </a:r>
          </a:p>
          <a:p>
            <a:pPr marL="0" indent="0">
              <a:spcBef>
                <a:spcPts val="0"/>
              </a:spcBef>
              <a:buNone/>
            </a:pPr>
            <a:r>
              <a:rPr lang="en-US" sz="2000" b="1" dirty="0"/>
              <a:t>     return 0;</a:t>
            </a:r>
          </a:p>
          <a:p>
            <a:pPr marL="0" indent="0">
              <a:spcBef>
                <a:spcPts val="0"/>
              </a:spcBef>
              <a:buNone/>
            </a:pPr>
            <a:r>
              <a:rPr lang="en-US" sz="2000" b="1" dirty="0"/>
              <a:t>}</a:t>
            </a:r>
            <a:br>
              <a:rPr lang="en-US" sz="2000" b="1" dirty="0"/>
            </a:br>
            <a:r>
              <a:rPr lang="en-US" sz="2000" b="1" dirty="0"/>
              <a:t>void fib(int n)</a:t>
            </a:r>
          </a:p>
          <a:p>
            <a:pPr marL="0" indent="0">
              <a:spcBef>
                <a:spcPts val="0"/>
              </a:spcBef>
              <a:buNone/>
            </a:pPr>
            <a:r>
              <a:rPr lang="en-US" sz="2000" b="1" dirty="0"/>
              <a:t>{</a:t>
            </a:r>
          </a:p>
          <a:p>
            <a:pPr marL="0" indent="0">
              <a:spcBef>
                <a:spcPts val="0"/>
              </a:spcBef>
              <a:buNone/>
            </a:pPr>
            <a:r>
              <a:rPr lang="en-US" sz="2000" b="1" dirty="0"/>
              <a:t>     int </a:t>
            </a:r>
            <a:r>
              <a:rPr lang="en-US" sz="2000" b="1" dirty="0" err="1"/>
              <a:t>i</a:t>
            </a:r>
            <a:r>
              <a:rPr lang="en-US" sz="2000" b="1" dirty="0"/>
              <a:t>, a = 0, b = 1, c = 1;</a:t>
            </a:r>
          </a:p>
          <a:p>
            <a:pPr marL="0" indent="0">
              <a:spcBef>
                <a:spcPts val="0"/>
              </a:spcBef>
              <a:buNone/>
            </a:pPr>
            <a:r>
              <a:rPr lang="en-US" sz="2000" b="1" dirty="0"/>
              <a:t>     </a:t>
            </a:r>
            <a:r>
              <a:rPr lang="en-US" sz="2000" b="1" dirty="0" err="1"/>
              <a:t>printf</a:t>
            </a:r>
            <a:r>
              <a:rPr lang="en-US" sz="2000" b="1" dirty="0"/>
              <a:t>("\</a:t>
            </a:r>
            <a:r>
              <a:rPr lang="en-US" sz="2000" b="1" dirty="0" err="1"/>
              <a:t>nFibonacci</a:t>
            </a:r>
            <a:r>
              <a:rPr lang="en-US" sz="2000" b="1" dirty="0"/>
              <a:t> series : ");</a:t>
            </a:r>
          </a:p>
          <a:p>
            <a:pPr marL="0" indent="0">
              <a:spcBef>
                <a:spcPts val="0"/>
              </a:spcBef>
              <a:buNone/>
            </a:pPr>
            <a:r>
              <a:rPr lang="en-US" sz="2000" b="1" dirty="0"/>
              <a:t>for (</a:t>
            </a:r>
            <a:r>
              <a:rPr lang="en-US" sz="2000" b="1" dirty="0" err="1"/>
              <a:t>i</a:t>
            </a:r>
            <a:r>
              <a:rPr lang="en-US" sz="2000" b="1" dirty="0"/>
              <a:t> = 1; </a:t>
            </a:r>
            <a:r>
              <a:rPr lang="en-US" sz="2000" b="1" dirty="0" err="1"/>
              <a:t>i</a:t>
            </a:r>
            <a:r>
              <a:rPr lang="en-US" sz="2000" b="1" dirty="0"/>
              <a:t> &lt;= n; </a:t>
            </a:r>
            <a:r>
              <a:rPr lang="en-US" sz="2000" b="1" dirty="0" err="1"/>
              <a:t>i</a:t>
            </a:r>
            <a:r>
              <a:rPr lang="en-US" sz="2000" b="1" dirty="0"/>
              <a:t>++)</a:t>
            </a:r>
          </a:p>
          <a:p>
            <a:pPr marL="0" indent="0">
              <a:spcBef>
                <a:spcPts val="0"/>
              </a:spcBef>
              <a:buNone/>
            </a:pPr>
            <a:r>
              <a:rPr lang="en-US" sz="2000" b="1" dirty="0"/>
              <a:t>{</a:t>
            </a:r>
          </a:p>
          <a:p>
            <a:pPr marL="0" indent="0">
              <a:spcBef>
                <a:spcPts val="0"/>
              </a:spcBef>
              <a:buNone/>
            </a:pPr>
            <a:r>
              <a:rPr lang="en-US" sz="2000" b="1" dirty="0"/>
              <a:t>      </a:t>
            </a:r>
            <a:r>
              <a:rPr lang="en-US" sz="2000" b="1" dirty="0" err="1"/>
              <a:t>printf</a:t>
            </a:r>
            <a:r>
              <a:rPr lang="en-US" sz="2000" b="1" dirty="0"/>
              <a:t>("%d\t", c);</a:t>
            </a:r>
          </a:p>
          <a:p>
            <a:pPr marL="0" indent="0">
              <a:spcBef>
                <a:spcPts val="0"/>
              </a:spcBef>
              <a:buNone/>
            </a:pPr>
            <a:r>
              <a:rPr lang="en-US" sz="2000" b="1" dirty="0"/>
              <a:t>      c = a + b;</a:t>
            </a:r>
          </a:p>
          <a:p>
            <a:pPr marL="0" indent="0">
              <a:spcBef>
                <a:spcPts val="0"/>
              </a:spcBef>
              <a:buNone/>
            </a:pPr>
            <a:r>
              <a:rPr lang="en-US" sz="2000" b="1" dirty="0"/>
              <a:t>      a = b;</a:t>
            </a:r>
          </a:p>
          <a:p>
            <a:pPr marL="0" indent="0">
              <a:spcBef>
                <a:spcPts val="0"/>
              </a:spcBef>
              <a:buNone/>
            </a:pPr>
            <a:r>
              <a:rPr lang="en-US" sz="2000" b="1" dirty="0"/>
              <a:t>      b = c;</a:t>
            </a:r>
          </a:p>
          <a:p>
            <a:pPr marL="0" indent="0">
              <a:spcBef>
                <a:spcPts val="0"/>
              </a:spcBef>
              <a:buNone/>
            </a:pPr>
            <a:r>
              <a:rPr lang="en-US" sz="2000" b="1" dirty="0"/>
              <a:t>}</a:t>
            </a:r>
          </a:p>
          <a:p>
            <a:pPr marL="0" indent="0">
              <a:spcBef>
                <a:spcPts val="0"/>
              </a:spcBef>
              <a:buNone/>
            </a:pPr>
            <a:r>
              <a:rPr lang="en-US" sz="2000" b="1" dirty="0"/>
              <a:t>}</a:t>
            </a:r>
          </a:p>
          <a:p>
            <a:pPr marL="0" indent="0">
              <a:spcBef>
                <a:spcPts val="0"/>
              </a:spcBef>
              <a:buNone/>
            </a:pPr>
            <a:endParaRPr lang="en-NP" sz="2000" b="1" dirty="0"/>
          </a:p>
        </p:txBody>
      </p:sp>
      <p:pic>
        <p:nvPicPr>
          <p:cNvPr id="10" name="Picture 9">
            <a:extLst>
              <a:ext uri="{FF2B5EF4-FFF2-40B4-BE49-F238E27FC236}">
                <a16:creationId xmlns:a16="http://schemas.microsoft.com/office/drawing/2014/main" id="{C9894A27-9E46-55D3-6AB0-F9CD61AD7B7B}"/>
              </a:ext>
            </a:extLst>
          </p:cNvPr>
          <p:cNvPicPr>
            <a:picLocks noChangeAspect="1"/>
          </p:cNvPicPr>
          <p:nvPr/>
        </p:nvPicPr>
        <p:blipFill>
          <a:blip r:embed="rId2"/>
          <a:stretch>
            <a:fillRect/>
          </a:stretch>
        </p:blipFill>
        <p:spPr>
          <a:xfrm>
            <a:off x="2334835" y="5528195"/>
            <a:ext cx="3761165" cy="1225144"/>
          </a:xfrm>
          <a:prstGeom prst="rect">
            <a:avLst/>
          </a:prstGeom>
        </p:spPr>
      </p:pic>
      <p:graphicFrame>
        <p:nvGraphicFramePr>
          <p:cNvPr id="2" name="Table 1">
            <a:extLst>
              <a:ext uri="{FF2B5EF4-FFF2-40B4-BE49-F238E27FC236}">
                <a16:creationId xmlns:a16="http://schemas.microsoft.com/office/drawing/2014/main" id="{DE9BFC52-FF56-1DDC-ACE9-A2BC3DDD4403}"/>
              </a:ext>
            </a:extLst>
          </p:cNvPr>
          <p:cNvGraphicFramePr>
            <a:graphicFrameLocks noGrp="1"/>
          </p:cNvGraphicFramePr>
          <p:nvPr>
            <p:extLst>
              <p:ext uri="{D42A27DB-BD31-4B8C-83A1-F6EECF244321}">
                <p14:modId xmlns:p14="http://schemas.microsoft.com/office/powerpoint/2010/main" val="2735278628"/>
              </p:ext>
            </p:extLst>
          </p:nvPr>
        </p:nvGraphicFramePr>
        <p:xfrm>
          <a:off x="4844968" y="325098"/>
          <a:ext cx="3189249" cy="2011680"/>
        </p:xfrm>
        <a:graphic>
          <a:graphicData uri="http://schemas.openxmlformats.org/drawingml/2006/table">
            <a:tbl>
              <a:tblPr firstRow="1" bandRow="1">
                <a:tableStyleId>{5940675A-B579-460E-94D1-54222C63F5DA}</a:tableStyleId>
              </a:tblPr>
              <a:tblGrid>
                <a:gridCol w="455607">
                  <a:extLst>
                    <a:ext uri="{9D8B030D-6E8A-4147-A177-3AD203B41FA5}">
                      <a16:colId xmlns:a16="http://schemas.microsoft.com/office/drawing/2014/main" val="848910861"/>
                    </a:ext>
                  </a:extLst>
                </a:gridCol>
                <a:gridCol w="455607">
                  <a:extLst>
                    <a:ext uri="{9D8B030D-6E8A-4147-A177-3AD203B41FA5}">
                      <a16:colId xmlns:a16="http://schemas.microsoft.com/office/drawing/2014/main" val="481700865"/>
                    </a:ext>
                  </a:extLst>
                </a:gridCol>
                <a:gridCol w="455607">
                  <a:extLst>
                    <a:ext uri="{9D8B030D-6E8A-4147-A177-3AD203B41FA5}">
                      <a16:colId xmlns:a16="http://schemas.microsoft.com/office/drawing/2014/main" val="1763507250"/>
                    </a:ext>
                  </a:extLst>
                </a:gridCol>
                <a:gridCol w="455607">
                  <a:extLst>
                    <a:ext uri="{9D8B030D-6E8A-4147-A177-3AD203B41FA5}">
                      <a16:colId xmlns:a16="http://schemas.microsoft.com/office/drawing/2014/main" val="2307507564"/>
                    </a:ext>
                  </a:extLst>
                </a:gridCol>
                <a:gridCol w="455607">
                  <a:extLst>
                    <a:ext uri="{9D8B030D-6E8A-4147-A177-3AD203B41FA5}">
                      <a16:colId xmlns:a16="http://schemas.microsoft.com/office/drawing/2014/main" val="2199128741"/>
                    </a:ext>
                  </a:extLst>
                </a:gridCol>
                <a:gridCol w="455607">
                  <a:extLst>
                    <a:ext uri="{9D8B030D-6E8A-4147-A177-3AD203B41FA5}">
                      <a16:colId xmlns:a16="http://schemas.microsoft.com/office/drawing/2014/main" val="2451537352"/>
                    </a:ext>
                  </a:extLst>
                </a:gridCol>
                <a:gridCol w="455607">
                  <a:extLst>
                    <a:ext uri="{9D8B030D-6E8A-4147-A177-3AD203B41FA5}">
                      <a16:colId xmlns:a16="http://schemas.microsoft.com/office/drawing/2014/main" val="4239530706"/>
                    </a:ext>
                  </a:extLst>
                </a:gridCol>
              </a:tblGrid>
              <a:tr h="253706">
                <a:tc>
                  <a:txBody>
                    <a:bodyPr/>
                    <a:lstStyle/>
                    <a:p>
                      <a:endParaRPr lang="en-NP" sz="1200" b="1" dirty="0"/>
                    </a:p>
                  </a:txBody>
                  <a:tcPr/>
                </a:tc>
                <a:tc>
                  <a:txBody>
                    <a:bodyPr/>
                    <a:lstStyle/>
                    <a:p>
                      <a:r>
                        <a:rPr lang="en-NP" sz="1200" b="1" dirty="0"/>
                        <a:t>0</a:t>
                      </a:r>
                    </a:p>
                  </a:txBody>
                  <a:tcPr/>
                </a:tc>
                <a:tc>
                  <a:txBody>
                    <a:bodyPr/>
                    <a:lstStyle/>
                    <a:p>
                      <a:r>
                        <a:rPr lang="en-NP" sz="1200" b="1" dirty="0"/>
                        <a:t>1</a:t>
                      </a:r>
                    </a:p>
                  </a:txBody>
                  <a:tcPr/>
                </a:tc>
                <a:tc>
                  <a:txBody>
                    <a:bodyPr/>
                    <a:lstStyle/>
                    <a:p>
                      <a:r>
                        <a:rPr lang="en-NP" sz="1200" b="1" dirty="0"/>
                        <a:t>1</a:t>
                      </a:r>
                    </a:p>
                  </a:txBody>
                  <a:tcPr/>
                </a:tc>
                <a:tc>
                  <a:txBody>
                    <a:bodyPr/>
                    <a:lstStyle/>
                    <a:p>
                      <a:r>
                        <a:rPr lang="en-NP" sz="1200" b="1" dirty="0"/>
                        <a:t>2</a:t>
                      </a:r>
                    </a:p>
                  </a:txBody>
                  <a:tcPr/>
                </a:tc>
                <a:tc>
                  <a:txBody>
                    <a:bodyPr/>
                    <a:lstStyle/>
                    <a:p>
                      <a:r>
                        <a:rPr lang="en-NP" sz="1200" b="1" dirty="0"/>
                        <a:t>3</a:t>
                      </a:r>
                    </a:p>
                  </a:txBody>
                  <a:tcPr/>
                </a:tc>
                <a:tc>
                  <a:txBody>
                    <a:bodyPr/>
                    <a:lstStyle/>
                    <a:p>
                      <a:r>
                        <a:rPr lang="en-NP" sz="1200" b="1" dirty="0"/>
                        <a:t>5</a:t>
                      </a:r>
                    </a:p>
                  </a:txBody>
                  <a:tcPr/>
                </a:tc>
                <a:extLst>
                  <a:ext uri="{0D108BD9-81ED-4DB2-BD59-A6C34878D82A}">
                    <a16:rowId xmlns:a16="http://schemas.microsoft.com/office/drawing/2014/main" val="797870311"/>
                  </a:ext>
                </a:extLst>
              </a:tr>
              <a:tr h="4228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200" b="1" dirty="0"/>
                        <a:t>i=1</a:t>
                      </a:r>
                    </a:p>
                    <a:p>
                      <a:endParaRPr lang="en-NP" sz="1200" b="1" dirty="0"/>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dirty="0"/>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1267278714"/>
                  </a:ext>
                </a:extLst>
              </a:tr>
              <a:tr h="253706">
                <a:tc>
                  <a:txBody>
                    <a:bodyPr/>
                    <a:lstStyle/>
                    <a:p>
                      <a:endParaRPr lang="en-NP" sz="1200" b="1" dirty="0"/>
                    </a:p>
                  </a:txBody>
                  <a:tcPr/>
                </a:tc>
                <a:tc>
                  <a:txBody>
                    <a:bodyPr/>
                    <a:lstStyle/>
                    <a:p>
                      <a:r>
                        <a:rPr lang="en-NP" sz="1200" b="1" dirty="0"/>
                        <a:t>i=2</a:t>
                      </a:r>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3147218389"/>
                  </a:ext>
                </a:extLst>
              </a:tr>
              <a:tr h="253706">
                <a:tc>
                  <a:txBody>
                    <a:bodyPr/>
                    <a:lstStyle/>
                    <a:p>
                      <a:endParaRPr lang="en-NP" sz="1200" b="1" dirty="0"/>
                    </a:p>
                  </a:txBody>
                  <a:tcPr/>
                </a:tc>
                <a:tc>
                  <a:txBody>
                    <a:bodyPr/>
                    <a:lstStyle/>
                    <a:p>
                      <a:endParaRPr lang="en-NP" sz="1200" b="1"/>
                    </a:p>
                  </a:txBody>
                  <a:tcPr/>
                </a:tc>
                <a:tc>
                  <a:txBody>
                    <a:bodyPr/>
                    <a:lstStyle/>
                    <a:p>
                      <a:r>
                        <a:rPr lang="en-NP" sz="1200" b="1" dirty="0"/>
                        <a:t>i=3</a:t>
                      </a:r>
                    </a:p>
                  </a:txBody>
                  <a:tcPr/>
                </a:tc>
                <a:tc>
                  <a:txBody>
                    <a:bodyPr/>
                    <a:lstStyle/>
                    <a:p>
                      <a:r>
                        <a:rPr lang="en-US" sz="1200" b="1" dirty="0"/>
                        <a:t>a</a:t>
                      </a:r>
                      <a:endParaRPr lang="en-NP" sz="1200" b="1" dirty="0"/>
                    </a:p>
                  </a:txBody>
                  <a:tcPr/>
                </a:tc>
                <a:tc>
                  <a:txBody>
                    <a:bodyPr/>
                    <a:lstStyle/>
                    <a:p>
                      <a:r>
                        <a:rPr lang="en-NP" sz="1200" b="1" dirty="0"/>
                        <a:t>+  b</a:t>
                      </a:r>
                    </a:p>
                  </a:txBody>
                  <a:tcPr/>
                </a:tc>
                <a:tc>
                  <a:txBody>
                    <a:bodyPr/>
                    <a:lstStyle/>
                    <a:p>
                      <a:r>
                        <a:rPr lang="en-NP" sz="1200" b="1" dirty="0"/>
                        <a:t>=c</a:t>
                      </a:r>
                    </a:p>
                  </a:txBody>
                  <a:tcPr/>
                </a:tc>
                <a:tc>
                  <a:txBody>
                    <a:bodyPr/>
                    <a:lstStyle/>
                    <a:p>
                      <a:endParaRPr lang="en-NP" sz="1200" b="1"/>
                    </a:p>
                  </a:txBody>
                  <a:tcPr/>
                </a:tc>
                <a:extLst>
                  <a:ext uri="{0D108BD9-81ED-4DB2-BD59-A6C34878D82A}">
                    <a16:rowId xmlns:a16="http://schemas.microsoft.com/office/drawing/2014/main" val="3248372477"/>
                  </a:ext>
                </a:extLst>
              </a:tr>
              <a:tr h="253706">
                <a:tc>
                  <a:txBody>
                    <a:bodyPr/>
                    <a:lstStyle/>
                    <a:p>
                      <a:endParaRPr lang="en-NP" sz="1200" b="1"/>
                    </a:p>
                  </a:txBody>
                  <a:tcPr/>
                </a:tc>
                <a:tc>
                  <a:txBody>
                    <a:bodyPr/>
                    <a:lstStyle/>
                    <a:p>
                      <a:endParaRPr lang="en-NP" sz="1200" b="1"/>
                    </a:p>
                  </a:txBody>
                  <a:tcPr/>
                </a:tc>
                <a:tc>
                  <a:txBody>
                    <a:bodyPr/>
                    <a:lstStyle/>
                    <a:p>
                      <a:endParaRPr lang="en-NP" sz="1200" b="1"/>
                    </a:p>
                  </a:txBody>
                  <a:tcPr/>
                </a:tc>
                <a:tc>
                  <a:txBody>
                    <a:bodyPr/>
                    <a:lstStyle/>
                    <a:p>
                      <a:r>
                        <a:rPr lang="en-NP" sz="1200" b="1" dirty="0"/>
                        <a:t>i=4</a:t>
                      </a:r>
                    </a:p>
                  </a:txBody>
                  <a:tcPr/>
                </a:tc>
                <a:tc>
                  <a:txBody>
                    <a:bodyPr/>
                    <a:lstStyle/>
                    <a:p>
                      <a:r>
                        <a:rPr lang="en-NP" sz="1200" b="1" dirty="0"/>
                        <a:t>a</a:t>
                      </a:r>
                    </a:p>
                  </a:txBody>
                  <a:tcPr/>
                </a:tc>
                <a:tc>
                  <a:txBody>
                    <a:bodyPr/>
                    <a:lstStyle/>
                    <a:p>
                      <a:r>
                        <a:rPr lang="en-NP" sz="1200" b="1" dirty="0"/>
                        <a:t>+   b</a:t>
                      </a:r>
                    </a:p>
                  </a:txBody>
                  <a:tcPr/>
                </a:tc>
                <a:tc>
                  <a:txBody>
                    <a:bodyPr/>
                    <a:lstStyle/>
                    <a:p>
                      <a:r>
                        <a:rPr lang="en-NP" sz="1200" b="1" dirty="0"/>
                        <a:t>=c</a:t>
                      </a:r>
                    </a:p>
                  </a:txBody>
                  <a:tcPr/>
                </a:tc>
                <a:extLst>
                  <a:ext uri="{0D108BD9-81ED-4DB2-BD59-A6C34878D82A}">
                    <a16:rowId xmlns:a16="http://schemas.microsoft.com/office/drawing/2014/main" val="2593527445"/>
                  </a:ext>
                </a:extLst>
              </a:tr>
              <a:tr h="422844">
                <a:tc>
                  <a:txBody>
                    <a:bodyPr/>
                    <a:lstStyle/>
                    <a:p>
                      <a:endParaRPr lang="en-NP" sz="1200" b="1"/>
                    </a:p>
                  </a:txBody>
                  <a:tcPr/>
                </a:tc>
                <a:tc>
                  <a:txBody>
                    <a:bodyPr/>
                    <a:lstStyle/>
                    <a:p>
                      <a:endParaRPr lang="en-NP" sz="1200" b="1"/>
                    </a:p>
                  </a:txBody>
                  <a:tcPr/>
                </a:tc>
                <a:tc>
                  <a:txBody>
                    <a:bodyPr/>
                    <a:lstStyle/>
                    <a:p>
                      <a:endParaRPr lang="en-NP" sz="1200" b="1"/>
                    </a:p>
                  </a:txBody>
                  <a:tcPr/>
                </a:tc>
                <a:tc>
                  <a:txBody>
                    <a:bodyPr/>
                    <a:lstStyle/>
                    <a:p>
                      <a:endParaRPr lang="en-NP" sz="1200" b="1" dirty="0"/>
                    </a:p>
                  </a:txBody>
                  <a:tcPr/>
                </a:tc>
                <a:tc>
                  <a:txBody>
                    <a:bodyPr/>
                    <a:lstStyle/>
                    <a:p>
                      <a:r>
                        <a:rPr lang="en-NP" sz="1200" b="1" dirty="0"/>
                        <a:t>i=5</a:t>
                      </a:r>
                    </a:p>
                    <a:p>
                      <a:endParaRPr lang="en-NP" sz="1200" b="1" dirty="0"/>
                    </a:p>
                  </a:txBody>
                  <a:tcPr/>
                </a:tc>
                <a:tc>
                  <a:txBody>
                    <a:bodyPr/>
                    <a:lstStyle/>
                    <a:p>
                      <a:endParaRPr lang="en-NP" sz="1200" b="1" dirty="0"/>
                    </a:p>
                  </a:txBody>
                  <a:tcPr/>
                </a:tc>
                <a:tc>
                  <a:txBody>
                    <a:bodyPr/>
                    <a:lstStyle/>
                    <a:p>
                      <a:endParaRPr lang="en-NP" sz="1200" b="1" dirty="0"/>
                    </a:p>
                  </a:txBody>
                  <a:tcPr/>
                </a:tc>
                <a:extLst>
                  <a:ext uri="{0D108BD9-81ED-4DB2-BD59-A6C34878D82A}">
                    <a16:rowId xmlns:a16="http://schemas.microsoft.com/office/drawing/2014/main" val="1302527965"/>
                  </a:ext>
                </a:extLst>
              </a:tr>
            </a:tbl>
          </a:graphicData>
        </a:graphic>
      </p:graphicFrame>
      <p:graphicFrame>
        <p:nvGraphicFramePr>
          <p:cNvPr id="8" name="Table 7">
            <a:extLst>
              <a:ext uri="{FF2B5EF4-FFF2-40B4-BE49-F238E27FC236}">
                <a16:creationId xmlns:a16="http://schemas.microsoft.com/office/drawing/2014/main" id="{47E47D7B-E9F0-6AF5-0CC5-CB6392975FC8}"/>
              </a:ext>
            </a:extLst>
          </p:cNvPr>
          <p:cNvGraphicFramePr>
            <a:graphicFrameLocks noGrp="1"/>
          </p:cNvGraphicFramePr>
          <p:nvPr>
            <p:extLst>
              <p:ext uri="{D42A27DB-BD31-4B8C-83A1-F6EECF244321}">
                <p14:modId xmlns:p14="http://schemas.microsoft.com/office/powerpoint/2010/main" val="4142725031"/>
              </p:ext>
            </p:extLst>
          </p:nvPr>
        </p:nvGraphicFramePr>
        <p:xfrm>
          <a:off x="3726182" y="588166"/>
          <a:ext cx="950792" cy="992659"/>
        </p:xfrm>
        <a:graphic>
          <a:graphicData uri="http://schemas.openxmlformats.org/drawingml/2006/table">
            <a:tbl>
              <a:tblPr firstRow="1" bandRow="1">
                <a:tableStyleId>{5940675A-B579-460E-94D1-54222C63F5DA}</a:tableStyleId>
              </a:tblPr>
              <a:tblGrid>
                <a:gridCol w="950792">
                  <a:extLst>
                    <a:ext uri="{9D8B030D-6E8A-4147-A177-3AD203B41FA5}">
                      <a16:colId xmlns:a16="http://schemas.microsoft.com/office/drawing/2014/main" val="1235391687"/>
                    </a:ext>
                  </a:extLst>
                </a:gridCol>
              </a:tblGrid>
              <a:tr h="626899">
                <a:tc>
                  <a:txBody>
                    <a:bodyPr/>
                    <a:lstStyle/>
                    <a:p>
                      <a:r>
                        <a:rPr lang="en-NP" b="1" dirty="0">
                          <a:highlight>
                            <a:srgbClr val="00FF00"/>
                          </a:highlight>
                        </a:rPr>
                        <a:t>n</a:t>
                      </a:r>
                    </a:p>
                  </a:txBody>
                  <a:tcPr/>
                </a:tc>
                <a:extLst>
                  <a:ext uri="{0D108BD9-81ED-4DB2-BD59-A6C34878D82A}">
                    <a16:rowId xmlns:a16="http://schemas.microsoft.com/office/drawing/2014/main" val="3931713913"/>
                  </a:ext>
                </a:extLst>
              </a:tr>
              <a:tr h="353093">
                <a:tc>
                  <a:txBody>
                    <a:bodyPr/>
                    <a:lstStyle/>
                    <a:p>
                      <a:r>
                        <a:rPr lang="en-NP" b="1" dirty="0">
                          <a:highlight>
                            <a:srgbClr val="00FF00"/>
                          </a:highlight>
                        </a:rPr>
                        <a:t>5</a:t>
                      </a:r>
                    </a:p>
                  </a:txBody>
                  <a:tcPr/>
                </a:tc>
                <a:extLst>
                  <a:ext uri="{0D108BD9-81ED-4DB2-BD59-A6C34878D82A}">
                    <a16:rowId xmlns:a16="http://schemas.microsoft.com/office/drawing/2014/main" val="853529200"/>
                  </a:ext>
                </a:extLst>
              </a:tr>
            </a:tbl>
          </a:graphicData>
        </a:graphic>
      </p:graphicFrame>
      <p:graphicFrame>
        <p:nvGraphicFramePr>
          <p:cNvPr id="13" name="Table 12">
            <a:extLst>
              <a:ext uri="{FF2B5EF4-FFF2-40B4-BE49-F238E27FC236}">
                <a16:creationId xmlns:a16="http://schemas.microsoft.com/office/drawing/2014/main" id="{0028B3D0-167F-B797-8782-F8F36432F803}"/>
              </a:ext>
            </a:extLst>
          </p:cNvPr>
          <p:cNvGraphicFramePr>
            <a:graphicFrameLocks noGrp="1"/>
          </p:cNvGraphicFramePr>
          <p:nvPr>
            <p:extLst>
              <p:ext uri="{D42A27DB-BD31-4B8C-83A1-F6EECF244321}">
                <p14:modId xmlns:p14="http://schemas.microsoft.com/office/powerpoint/2010/main" val="3487832646"/>
              </p:ext>
            </p:extLst>
          </p:nvPr>
        </p:nvGraphicFramePr>
        <p:xfrm>
          <a:off x="6207681" y="2367957"/>
          <a:ext cx="5302757" cy="4553639"/>
        </p:xfrm>
        <a:graphic>
          <a:graphicData uri="http://schemas.openxmlformats.org/drawingml/2006/table">
            <a:tbl>
              <a:tblPr firstRow="1" bandRow="1">
                <a:tableStyleId>{5940675A-B579-460E-94D1-54222C63F5DA}</a:tableStyleId>
              </a:tblPr>
              <a:tblGrid>
                <a:gridCol w="585521">
                  <a:extLst>
                    <a:ext uri="{9D8B030D-6E8A-4147-A177-3AD203B41FA5}">
                      <a16:colId xmlns:a16="http://schemas.microsoft.com/office/drawing/2014/main" val="2116038806"/>
                    </a:ext>
                  </a:extLst>
                </a:gridCol>
                <a:gridCol w="1243278">
                  <a:extLst>
                    <a:ext uri="{9D8B030D-6E8A-4147-A177-3AD203B41FA5}">
                      <a16:colId xmlns:a16="http://schemas.microsoft.com/office/drawing/2014/main" val="3455388634"/>
                    </a:ext>
                  </a:extLst>
                </a:gridCol>
                <a:gridCol w="354842">
                  <a:extLst>
                    <a:ext uri="{9D8B030D-6E8A-4147-A177-3AD203B41FA5}">
                      <a16:colId xmlns:a16="http://schemas.microsoft.com/office/drawing/2014/main" val="2658522919"/>
                    </a:ext>
                  </a:extLst>
                </a:gridCol>
                <a:gridCol w="341194">
                  <a:extLst>
                    <a:ext uri="{9D8B030D-6E8A-4147-A177-3AD203B41FA5}">
                      <a16:colId xmlns:a16="http://schemas.microsoft.com/office/drawing/2014/main" val="2459232094"/>
                    </a:ext>
                  </a:extLst>
                </a:gridCol>
                <a:gridCol w="382137">
                  <a:extLst>
                    <a:ext uri="{9D8B030D-6E8A-4147-A177-3AD203B41FA5}">
                      <a16:colId xmlns:a16="http://schemas.microsoft.com/office/drawing/2014/main" val="435808745"/>
                    </a:ext>
                  </a:extLst>
                </a:gridCol>
                <a:gridCol w="300251">
                  <a:extLst>
                    <a:ext uri="{9D8B030D-6E8A-4147-A177-3AD203B41FA5}">
                      <a16:colId xmlns:a16="http://schemas.microsoft.com/office/drawing/2014/main" val="2875297270"/>
                    </a:ext>
                  </a:extLst>
                </a:gridCol>
                <a:gridCol w="395785">
                  <a:extLst>
                    <a:ext uri="{9D8B030D-6E8A-4147-A177-3AD203B41FA5}">
                      <a16:colId xmlns:a16="http://schemas.microsoft.com/office/drawing/2014/main" val="3056258706"/>
                    </a:ext>
                  </a:extLst>
                </a:gridCol>
                <a:gridCol w="395785">
                  <a:extLst>
                    <a:ext uri="{9D8B030D-6E8A-4147-A177-3AD203B41FA5}">
                      <a16:colId xmlns:a16="http://schemas.microsoft.com/office/drawing/2014/main" val="693464959"/>
                    </a:ext>
                  </a:extLst>
                </a:gridCol>
                <a:gridCol w="341194">
                  <a:extLst>
                    <a:ext uri="{9D8B030D-6E8A-4147-A177-3AD203B41FA5}">
                      <a16:colId xmlns:a16="http://schemas.microsoft.com/office/drawing/2014/main" val="2307562322"/>
                    </a:ext>
                  </a:extLst>
                </a:gridCol>
                <a:gridCol w="362268">
                  <a:extLst>
                    <a:ext uri="{9D8B030D-6E8A-4147-A177-3AD203B41FA5}">
                      <a16:colId xmlns:a16="http://schemas.microsoft.com/office/drawing/2014/main" val="1217353721"/>
                    </a:ext>
                  </a:extLst>
                </a:gridCol>
                <a:gridCol w="208280">
                  <a:extLst>
                    <a:ext uri="{9D8B030D-6E8A-4147-A177-3AD203B41FA5}">
                      <a16:colId xmlns:a16="http://schemas.microsoft.com/office/drawing/2014/main" val="479929780"/>
                    </a:ext>
                  </a:extLst>
                </a:gridCol>
                <a:gridCol w="392222">
                  <a:extLst>
                    <a:ext uri="{9D8B030D-6E8A-4147-A177-3AD203B41FA5}">
                      <a16:colId xmlns:a16="http://schemas.microsoft.com/office/drawing/2014/main" val="305464605"/>
                    </a:ext>
                  </a:extLst>
                </a:gridCol>
              </a:tblGrid>
              <a:tr h="354249">
                <a:tc>
                  <a:txBody>
                    <a:bodyPr/>
                    <a:lstStyle/>
                    <a:p>
                      <a:r>
                        <a:rPr lang="en-US" sz="1600" b="1" dirty="0"/>
                        <a:t>a</a:t>
                      </a:r>
                      <a:r>
                        <a:rPr lang="en-NP" sz="1600" b="1" dirty="0"/>
                        <a:t>=0</a:t>
                      </a:r>
                    </a:p>
                  </a:txBody>
                  <a:tcPr/>
                </a:tc>
                <a:tc>
                  <a:txBody>
                    <a:bodyPr/>
                    <a:lstStyle/>
                    <a:p>
                      <a:r>
                        <a:rPr lang="en-US" sz="1600" b="1" dirty="0"/>
                        <a:t>b</a:t>
                      </a:r>
                      <a:r>
                        <a:rPr lang="en-NP" sz="1600" b="1" dirty="0"/>
                        <a:t>=1</a:t>
                      </a:r>
                    </a:p>
                  </a:txBody>
                  <a:tcPr/>
                </a:tc>
                <a:tc gridSpan="10">
                  <a:txBody>
                    <a:bodyPr/>
                    <a:lstStyle/>
                    <a:p>
                      <a:r>
                        <a:rPr lang="en-US" sz="1600" b="1" dirty="0"/>
                        <a:t>                   </a:t>
                      </a:r>
                      <a:r>
                        <a:rPr lang="en-US" sz="1600" b="1" dirty="0">
                          <a:highlight>
                            <a:srgbClr val="00FF00"/>
                          </a:highlight>
                        </a:rPr>
                        <a:t> c</a:t>
                      </a:r>
                      <a:r>
                        <a:rPr lang="en-NP" sz="1600" b="1" dirty="0">
                          <a:highlight>
                            <a:srgbClr val="00FF00"/>
                          </a:highlight>
                        </a:rPr>
                        <a:t>=1</a:t>
                      </a:r>
                    </a:p>
                  </a:txBody>
                  <a:tcPr/>
                </a:tc>
                <a:tc hMerge="1">
                  <a:txBody>
                    <a:bodyPr/>
                    <a:lstStyle/>
                    <a:p>
                      <a:endParaRPr lang="en-NP" dirty="0">
                        <a:highlight>
                          <a:srgbClr val="00FF00"/>
                        </a:highlight>
                      </a:endParaRPr>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3275571529"/>
                  </a:ext>
                </a:extLst>
              </a:tr>
              <a:tr h="343739">
                <a:tc>
                  <a:txBody>
                    <a:bodyPr/>
                    <a:lstStyle/>
                    <a:p>
                      <a:r>
                        <a:rPr lang="en-US" sz="1600" b="1" dirty="0" err="1"/>
                        <a:t>i</a:t>
                      </a:r>
                      <a:r>
                        <a:rPr lang="en-US" sz="1600" b="1" dirty="0"/>
                        <a:t>=1</a:t>
                      </a:r>
                      <a:endParaRPr lang="en-NP" sz="1600" b="1" dirty="0"/>
                    </a:p>
                  </a:txBody>
                  <a:tcPr/>
                </a:tc>
                <a:tc gridSpan="11">
                  <a:txBody>
                    <a:bodyPr/>
                    <a:lstStyle/>
                    <a:p>
                      <a:r>
                        <a:rPr lang="en-US" sz="1600" b="1" dirty="0"/>
                        <a:t>          when </a:t>
                      </a:r>
                      <a:r>
                        <a:rPr lang="en-US" sz="1600" b="1" dirty="0" err="1"/>
                        <a:t>i</a:t>
                      </a:r>
                      <a:r>
                        <a:rPr lang="en-US" sz="1600" b="1" dirty="0"/>
                        <a:t>&lt;=5  it f</a:t>
                      </a:r>
                      <a:r>
                        <a:rPr lang="en-NP" sz="1600" b="1" dirty="0"/>
                        <a:t>irst print </a:t>
                      </a:r>
                      <a:r>
                        <a:rPr lang="en-NP" sz="1600" b="1" dirty="0">
                          <a:highlight>
                            <a:srgbClr val="00FF00"/>
                          </a:highlight>
                        </a:rPr>
                        <a:t>c=1</a:t>
                      </a:r>
                    </a:p>
                  </a:txBody>
                  <a:tcPr/>
                </a:tc>
                <a:tc hMerge="1">
                  <a:txBody>
                    <a:bodyPr/>
                    <a:lstStyle/>
                    <a:p>
                      <a:endParaRPr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tc hMerge="1">
                  <a:txBody>
                    <a:bodyPr/>
                    <a:lstStyle/>
                    <a:p>
                      <a:endParaRPr lang="en-NP" dirty="0">
                        <a:highlight>
                          <a:srgbClr val="00FF00"/>
                        </a:highlight>
                      </a:endParaRPr>
                    </a:p>
                  </a:txBody>
                  <a:tcPr/>
                </a:tc>
                <a:extLst>
                  <a:ext uri="{0D108BD9-81ED-4DB2-BD59-A6C34878D82A}">
                    <a16:rowId xmlns:a16="http://schemas.microsoft.com/office/drawing/2014/main" val="2648520933"/>
                  </a:ext>
                </a:extLst>
              </a:tr>
              <a:tr h="343739">
                <a:tc>
                  <a:txBody>
                    <a:bodyPr/>
                    <a:lstStyle/>
                    <a:p>
                      <a:endParaRPr lang="en-NP" sz="1600" b="1" dirty="0"/>
                    </a:p>
                  </a:txBody>
                  <a:tcPr/>
                </a:tc>
                <a:tc>
                  <a:txBody>
                    <a:bodyPr/>
                    <a:lstStyle/>
                    <a:p>
                      <a:endParaRPr lang="en-NP" sz="1600" b="1"/>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958044643"/>
                  </a:ext>
                </a:extLst>
              </a:tr>
              <a:tr h="343739">
                <a:tc>
                  <a:txBody>
                    <a:bodyPr/>
                    <a:lstStyle/>
                    <a:p>
                      <a:endParaRPr lang="en-NP" sz="1600" b="1"/>
                    </a:p>
                  </a:txBody>
                  <a:tcPr/>
                </a:tc>
                <a:tc>
                  <a:txBody>
                    <a:bodyPr/>
                    <a:lstStyle/>
                    <a:p>
                      <a:endParaRPr lang="en-NP" sz="1600" b="1" dirty="0"/>
                    </a:p>
                  </a:txBody>
                  <a:tcPr/>
                </a:tc>
                <a:tc>
                  <a:txBody>
                    <a:bodyPr/>
                    <a:lstStyle/>
                    <a:p>
                      <a:r>
                        <a:rPr lang="en-NP" sz="1600" b="1" dirty="0">
                          <a:solidFill>
                            <a:srgbClr val="FF0000"/>
                          </a:solidFill>
                        </a:rPr>
                        <a:t>1</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0</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1</a:t>
                      </a:r>
                    </a:p>
                  </a:txBody>
                  <a:tcPr>
                    <a:solidFill>
                      <a:schemeClr val="accent3">
                        <a:lumMod val="40000"/>
                        <a:lumOff val="60000"/>
                      </a:schemeClr>
                    </a:solidFill>
                  </a:tcPr>
                </a:tc>
                <a:extLst>
                  <a:ext uri="{0D108BD9-81ED-4DB2-BD59-A6C34878D82A}">
                    <a16:rowId xmlns:a16="http://schemas.microsoft.com/office/drawing/2014/main" val="1560605023"/>
                  </a:ext>
                </a:extLst>
              </a:tr>
              <a:tr h="343739">
                <a:tc>
                  <a:txBody>
                    <a:bodyPr/>
                    <a:lstStyle/>
                    <a:p>
                      <a:r>
                        <a:rPr lang="en-NP" sz="1600" b="1" dirty="0"/>
                        <a:t>i=2</a:t>
                      </a:r>
                    </a:p>
                  </a:txBody>
                  <a:tcPr/>
                </a:tc>
                <a:tc>
                  <a:txBody>
                    <a:bodyPr/>
                    <a:lstStyle/>
                    <a:p>
                      <a:r>
                        <a:rPr lang="en-US" sz="1600" b="1" dirty="0"/>
                        <a:t>p</a:t>
                      </a:r>
                      <a:r>
                        <a:rPr lang="en-NP" sz="1600" b="1" dirty="0"/>
                        <a:t>rint c=1</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676570458"/>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2</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t>1</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2</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2</a:t>
                      </a:r>
                    </a:p>
                  </a:txBody>
                  <a:tcPr>
                    <a:solidFill>
                      <a:schemeClr val="accent3">
                        <a:lumMod val="40000"/>
                        <a:lumOff val="60000"/>
                      </a:schemeClr>
                    </a:solidFill>
                  </a:tcPr>
                </a:tc>
                <a:extLst>
                  <a:ext uri="{0D108BD9-81ED-4DB2-BD59-A6C34878D82A}">
                    <a16:rowId xmlns:a16="http://schemas.microsoft.com/office/drawing/2014/main" val="1009637925"/>
                  </a:ext>
                </a:extLst>
              </a:tr>
              <a:tr h="343739">
                <a:tc>
                  <a:txBody>
                    <a:bodyPr/>
                    <a:lstStyle/>
                    <a:p>
                      <a:r>
                        <a:rPr lang="en-NP" sz="1600" b="1" dirty="0"/>
                        <a:t>i=3</a:t>
                      </a:r>
                    </a:p>
                  </a:txBody>
                  <a:tcPr/>
                </a:tc>
                <a:tc>
                  <a:txBody>
                    <a:bodyPr/>
                    <a:lstStyle/>
                    <a:p>
                      <a:r>
                        <a:rPr lang="en-US" sz="1600" b="1" dirty="0"/>
                        <a:t>p</a:t>
                      </a:r>
                      <a:r>
                        <a:rPr lang="en-NP" sz="1600" b="1" dirty="0"/>
                        <a:t>rint c=2</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434857786"/>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3</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1</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2</a:t>
                      </a:r>
                    </a:p>
                  </a:txBody>
                  <a:tcPr>
                    <a:solidFill>
                      <a:srgbClr val="FFFF00"/>
                    </a:solidFill>
                  </a:tcPr>
                </a:tc>
                <a:tc>
                  <a:txBody>
                    <a:bodyPr/>
                    <a:lstStyle/>
                    <a:p>
                      <a:r>
                        <a:rPr lang="en-NP" sz="1600" b="1" dirty="0"/>
                        <a:t>2</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3</a:t>
                      </a:r>
                    </a:p>
                  </a:txBody>
                  <a:tcPr>
                    <a:solidFill>
                      <a:schemeClr val="accent3">
                        <a:lumMod val="40000"/>
                        <a:lumOff val="60000"/>
                      </a:schemeClr>
                    </a:solidFill>
                  </a:tcPr>
                </a:tc>
                <a:extLst>
                  <a:ext uri="{0D108BD9-81ED-4DB2-BD59-A6C34878D82A}">
                    <a16:rowId xmlns:a16="http://schemas.microsoft.com/office/drawing/2014/main" val="4049126992"/>
                  </a:ext>
                </a:extLst>
              </a:tr>
              <a:tr h="343739">
                <a:tc>
                  <a:txBody>
                    <a:bodyPr/>
                    <a:lstStyle/>
                    <a:p>
                      <a:r>
                        <a:rPr lang="en-NP" sz="1600" b="1" dirty="0"/>
                        <a:t>i=4</a:t>
                      </a:r>
                    </a:p>
                  </a:txBody>
                  <a:tcPr/>
                </a:tc>
                <a:tc>
                  <a:txBody>
                    <a:bodyPr/>
                    <a:lstStyle/>
                    <a:p>
                      <a:r>
                        <a:rPr lang="en-US" sz="1600" b="1" dirty="0"/>
                        <a:t>p</a:t>
                      </a:r>
                      <a:r>
                        <a:rPr lang="en-NP" sz="1600" b="1" dirty="0"/>
                        <a:t>rint c=3</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1148798633"/>
                  </a:ext>
                </a:extLst>
              </a:tr>
              <a:tr h="343739">
                <a:tc>
                  <a:txBody>
                    <a:bodyPr/>
                    <a:lstStyle/>
                    <a:p>
                      <a:endParaRPr lang="en-NP" sz="1600" b="1" dirty="0"/>
                    </a:p>
                  </a:txBody>
                  <a:tcPr/>
                </a:tc>
                <a:tc>
                  <a:txBody>
                    <a:bodyPr/>
                    <a:lstStyle/>
                    <a:p>
                      <a:endParaRPr lang="en-NP" sz="1600" b="1" dirty="0"/>
                    </a:p>
                  </a:txBody>
                  <a:tcPr/>
                </a:tc>
                <a:tc>
                  <a:txBody>
                    <a:bodyPr/>
                    <a:lstStyle/>
                    <a:p>
                      <a:r>
                        <a:rPr lang="en-NP" sz="1600" b="1" dirty="0">
                          <a:solidFill>
                            <a:srgbClr val="FF0000"/>
                          </a:solidFill>
                        </a:rPr>
                        <a:t>5</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2</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3</a:t>
                      </a:r>
                    </a:p>
                  </a:txBody>
                  <a:tcPr>
                    <a:solidFill>
                      <a:srgbClr val="FFFF00"/>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5</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5</a:t>
                      </a:r>
                    </a:p>
                  </a:txBody>
                  <a:tcPr>
                    <a:solidFill>
                      <a:schemeClr val="accent3">
                        <a:lumMod val="40000"/>
                        <a:lumOff val="60000"/>
                      </a:schemeClr>
                    </a:solidFill>
                  </a:tcPr>
                </a:tc>
                <a:extLst>
                  <a:ext uri="{0D108BD9-81ED-4DB2-BD59-A6C34878D82A}">
                    <a16:rowId xmlns:a16="http://schemas.microsoft.com/office/drawing/2014/main" val="4273904274"/>
                  </a:ext>
                </a:extLst>
              </a:tr>
              <a:tr h="343739">
                <a:tc>
                  <a:txBody>
                    <a:bodyPr/>
                    <a:lstStyle/>
                    <a:p>
                      <a:r>
                        <a:rPr lang="en-NP" sz="1600" b="1" dirty="0"/>
                        <a:t>i=5</a:t>
                      </a:r>
                    </a:p>
                  </a:txBody>
                  <a:tcPr/>
                </a:tc>
                <a:tc>
                  <a:txBody>
                    <a:bodyPr/>
                    <a:lstStyle/>
                    <a:p>
                      <a:r>
                        <a:rPr lang="en-US" sz="1600" b="1" dirty="0"/>
                        <a:t>p</a:t>
                      </a:r>
                      <a:r>
                        <a:rPr lang="en-NP" sz="1600" b="1" dirty="0"/>
                        <a:t>rint c=5</a:t>
                      </a:r>
                    </a:p>
                  </a:txBody>
                  <a:tcPr/>
                </a:tc>
                <a:tc>
                  <a:txBody>
                    <a:bodyPr/>
                    <a:lstStyle/>
                    <a:p>
                      <a:r>
                        <a:rPr lang="en-NP" sz="1600" b="1" dirty="0">
                          <a:solidFill>
                            <a:srgbClr val="FF0000"/>
                          </a:solidFill>
                        </a:rPr>
                        <a:t>c</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a</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solidFill>
                            <a:srgbClr val="FF0000"/>
                          </a:solidFill>
                        </a:rPr>
                        <a:t>b</a:t>
                      </a:r>
                    </a:p>
                  </a:txBody>
                  <a:tcPr>
                    <a:solidFill>
                      <a:srgbClr val="FFFF00"/>
                    </a:solidFill>
                  </a:tcPr>
                </a:tc>
                <a:tc>
                  <a:txBody>
                    <a:bodyPr/>
                    <a:lstStyle/>
                    <a:p>
                      <a:r>
                        <a:rPr lang="en-NP" sz="1600" b="1" dirty="0"/>
                        <a:t>a</a:t>
                      </a:r>
                    </a:p>
                  </a:txBody>
                  <a:tcPr>
                    <a:solidFill>
                      <a:schemeClr val="accent3">
                        <a:lumMod val="40000"/>
                        <a:lumOff val="60000"/>
                      </a:schemeClr>
                    </a:solidFill>
                  </a:tcPr>
                </a:tc>
                <a:tc>
                  <a:txBody>
                    <a:bodyPr/>
                    <a:lstStyle/>
                    <a:p>
                      <a:r>
                        <a:rPr lang="en-NP" sz="1600" b="1" dirty="0"/>
                        <a:t>=</a:t>
                      </a:r>
                    </a:p>
                  </a:txBody>
                  <a:tcPr>
                    <a:solidFill>
                      <a:schemeClr val="accent1">
                        <a:lumMod val="60000"/>
                        <a:lumOff val="40000"/>
                      </a:schemeClr>
                    </a:solidFill>
                  </a:tcPr>
                </a:tc>
                <a:tc>
                  <a:txBody>
                    <a:bodyPr/>
                    <a:lstStyle/>
                    <a:p>
                      <a:r>
                        <a:rPr lang="en-NP" sz="1600" b="1" dirty="0"/>
                        <a:t>b</a:t>
                      </a:r>
                    </a:p>
                  </a:txBody>
                  <a:tcPr>
                    <a:solidFill>
                      <a:schemeClr val="accent3">
                        <a:lumMod val="40000"/>
                        <a:lumOff val="60000"/>
                      </a:schemeClr>
                    </a:solidFill>
                  </a:tcPr>
                </a:tc>
                <a:tc>
                  <a:txBody>
                    <a:bodyPr/>
                    <a:lstStyle/>
                    <a:p>
                      <a:r>
                        <a:rPr lang="en-NP" sz="1600" b="1" dirty="0">
                          <a:solidFill>
                            <a:srgbClr val="FF0000"/>
                          </a:solidFill>
                        </a:rPr>
                        <a:t>=</a:t>
                      </a:r>
                    </a:p>
                  </a:txBody>
                  <a:tcPr>
                    <a:solidFill>
                      <a:schemeClr val="tx2">
                        <a:lumMod val="25000"/>
                        <a:lumOff val="75000"/>
                      </a:schemeClr>
                    </a:solidFill>
                  </a:tcPr>
                </a:tc>
                <a:tc>
                  <a:txBody>
                    <a:bodyPr/>
                    <a:lstStyle/>
                    <a:p>
                      <a:r>
                        <a:rPr lang="en-NP" sz="1600" b="1" dirty="0">
                          <a:solidFill>
                            <a:srgbClr val="FF0000"/>
                          </a:solidFill>
                        </a:rPr>
                        <a:t>c</a:t>
                      </a:r>
                    </a:p>
                  </a:txBody>
                  <a:tcPr>
                    <a:solidFill>
                      <a:schemeClr val="accent3">
                        <a:lumMod val="40000"/>
                        <a:lumOff val="60000"/>
                      </a:schemeClr>
                    </a:solidFill>
                  </a:tcPr>
                </a:tc>
                <a:extLst>
                  <a:ext uri="{0D108BD9-81ED-4DB2-BD59-A6C34878D82A}">
                    <a16:rowId xmlns:a16="http://schemas.microsoft.com/office/drawing/2014/main" val="298862331"/>
                  </a:ext>
                </a:extLst>
              </a:tr>
              <a:tr h="593731">
                <a:tc>
                  <a:txBody>
                    <a:bodyPr/>
                    <a:lstStyle/>
                    <a:p>
                      <a:r>
                        <a:rPr lang="en-NP" sz="1600" b="1" dirty="0"/>
                        <a:t>i=6</a:t>
                      </a:r>
                    </a:p>
                  </a:txBody>
                  <a:tcPr/>
                </a:tc>
                <a:tc>
                  <a:txBody>
                    <a:bodyPr/>
                    <a:lstStyle/>
                    <a:p>
                      <a:r>
                        <a:rPr lang="en-US" sz="1100" b="1" dirty="0">
                          <a:solidFill>
                            <a:srgbClr val="FF0000"/>
                          </a:solidFill>
                        </a:rPr>
                        <a:t>W</a:t>
                      </a:r>
                      <a:r>
                        <a:rPr lang="en-NP" sz="1100" b="1" dirty="0">
                          <a:solidFill>
                            <a:srgbClr val="FF0000"/>
                          </a:solidFill>
                        </a:rPr>
                        <a:t>hen 6&lt;=5 condition false and stop print c=8 </a:t>
                      </a:r>
                    </a:p>
                  </a:txBody>
                  <a:tcPr/>
                </a:tc>
                <a:tc>
                  <a:txBody>
                    <a:bodyPr/>
                    <a:lstStyle/>
                    <a:p>
                      <a:r>
                        <a:rPr lang="en-NP" sz="1600" b="1" dirty="0">
                          <a:solidFill>
                            <a:srgbClr val="FF0000"/>
                          </a:solidFill>
                        </a:rPr>
                        <a:t>8</a:t>
                      </a:r>
                    </a:p>
                  </a:txBody>
                  <a:tcPr>
                    <a:solidFill>
                      <a:schemeClr val="accent3">
                        <a:lumMod val="40000"/>
                        <a:lumOff val="60000"/>
                      </a:schemeClr>
                    </a:solidFill>
                  </a:tcPr>
                </a:tc>
                <a:tc>
                  <a:txBody>
                    <a:bodyPr/>
                    <a:lstStyle/>
                    <a:p>
                      <a:r>
                        <a:rPr lang="en-NP" sz="1600" b="1" dirty="0">
                          <a:solidFill>
                            <a:schemeClr val="tx1"/>
                          </a:solidFill>
                        </a:rPr>
                        <a:t>=</a:t>
                      </a:r>
                    </a:p>
                  </a:txBody>
                  <a:tcPr>
                    <a:solidFill>
                      <a:srgbClr val="FFFF00"/>
                    </a:solidFill>
                  </a:tcPr>
                </a:tc>
                <a:tc>
                  <a:txBody>
                    <a:bodyPr/>
                    <a:lstStyle/>
                    <a:p>
                      <a:r>
                        <a:rPr lang="en-NP" sz="1600" b="1" dirty="0"/>
                        <a:t>3</a:t>
                      </a:r>
                    </a:p>
                  </a:txBody>
                  <a:tcPr>
                    <a:solidFill>
                      <a:srgbClr val="FFFF00"/>
                    </a:solidFill>
                  </a:tcPr>
                </a:tc>
                <a:tc>
                  <a:txBody>
                    <a:bodyPr/>
                    <a:lstStyle/>
                    <a:p>
                      <a:r>
                        <a:rPr lang="en-NP" sz="1600" b="1" dirty="0">
                          <a:solidFill>
                            <a:schemeClr val="tx1"/>
                          </a:solidFill>
                        </a:rPr>
                        <a:t>+</a:t>
                      </a:r>
                    </a:p>
                  </a:txBody>
                  <a:tcPr>
                    <a:solidFill>
                      <a:srgbClr val="FFFF00"/>
                    </a:solidFill>
                  </a:tcPr>
                </a:tc>
                <a:tc>
                  <a:txBody>
                    <a:bodyPr/>
                    <a:lstStyle/>
                    <a:p>
                      <a:r>
                        <a:rPr lang="en-NP" sz="1600" b="1" dirty="0"/>
                        <a:t>5</a:t>
                      </a:r>
                    </a:p>
                  </a:txBody>
                  <a:tcPr>
                    <a:solidFill>
                      <a:srgbClr val="FFFF00"/>
                    </a:solidFill>
                  </a:tcPr>
                </a:tc>
                <a:tc>
                  <a:txBody>
                    <a:bodyPr/>
                    <a:lstStyle/>
                    <a:p>
                      <a:r>
                        <a:rPr lang="en-NP" sz="1600" b="1" dirty="0"/>
                        <a:t>3</a:t>
                      </a:r>
                    </a:p>
                  </a:txBody>
                  <a:tcPr>
                    <a:solidFill>
                      <a:schemeClr val="accent3">
                        <a:lumMod val="40000"/>
                        <a:lumOff val="60000"/>
                      </a:schemeClr>
                    </a:solidFill>
                  </a:tcPr>
                </a:tc>
                <a:tc>
                  <a:txBody>
                    <a:bodyPr/>
                    <a:lstStyle/>
                    <a:p>
                      <a:endParaRPr lang="en-NP" sz="1600" b="1" dirty="0"/>
                    </a:p>
                  </a:txBody>
                  <a:tcPr>
                    <a:solidFill>
                      <a:schemeClr val="accent1">
                        <a:lumMod val="60000"/>
                        <a:lumOff val="40000"/>
                      </a:schemeClr>
                    </a:solidFill>
                  </a:tcPr>
                </a:tc>
                <a:tc>
                  <a:txBody>
                    <a:bodyPr/>
                    <a:lstStyle/>
                    <a:p>
                      <a:r>
                        <a:rPr lang="en-NP" sz="1600" b="1" dirty="0"/>
                        <a:t>8</a:t>
                      </a:r>
                    </a:p>
                  </a:txBody>
                  <a:tcPr>
                    <a:solidFill>
                      <a:schemeClr val="accent3">
                        <a:lumMod val="40000"/>
                        <a:lumOff val="60000"/>
                      </a:schemeClr>
                    </a:solidFill>
                  </a:tcPr>
                </a:tc>
                <a:tc>
                  <a:txBody>
                    <a:bodyPr/>
                    <a:lstStyle/>
                    <a:p>
                      <a:endParaRPr lang="en-NP" sz="1600" b="1" dirty="0"/>
                    </a:p>
                  </a:txBody>
                  <a:tcPr>
                    <a:solidFill>
                      <a:schemeClr val="tx2">
                        <a:lumMod val="25000"/>
                        <a:lumOff val="75000"/>
                      </a:schemeClr>
                    </a:solidFill>
                  </a:tcPr>
                </a:tc>
                <a:tc>
                  <a:txBody>
                    <a:bodyPr/>
                    <a:lstStyle/>
                    <a:p>
                      <a:r>
                        <a:rPr lang="en-NP" sz="1600" b="1" dirty="0">
                          <a:solidFill>
                            <a:srgbClr val="FF0000"/>
                          </a:solidFill>
                        </a:rPr>
                        <a:t>8</a:t>
                      </a:r>
                    </a:p>
                  </a:txBody>
                  <a:tcPr>
                    <a:solidFill>
                      <a:schemeClr val="accent3">
                        <a:lumMod val="40000"/>
                        <a:lumOff val="60000"/>
                      </a:schemeClr>
                    </a:solidFill>
                  </a:tcPr>
                </a:tc>
                <a:extLst>
                  <a:ext uri="{0D108BD9-81ED-4DB2-BD59-A6C34878D82A}">
                    <a16:rowId xmlns:a16="http://schemas.microsoft.com/office/drawing/2014/main" val="1532466112"/>
                  </a:ext>
                </a:extLst>
              </a:tr>
            </a:tbl>
          </a:graphicData>
        </a:graphic>
      </p:graphicFrame>
      <p:sp>
        <p:nvSpPr>
          <p:cNvPr id="14" name="TextBox 13">
            <a:extLst>
              <a:ext uri="{FF2B5EF4-FFF2-40B4-BE49-F238E27FC236}">
                <a16:creationId xmlns:a16="http://schemas.microsoft.com/office/drawing/2014/main" id="{ADDCE449-7237-50D6-33CC-41F2ED6BC60E}"/>
              </a:ext>
            </a:extLst>
          </p:cNvPr>
          <p:cNvSpPr txBox="1"/>
          <p:nvPr/>
        </p:nvSpPr>
        <p:spPr>
          <a:xfrm>
            <a:off x="8893438" y="345831"/>
            <a:ext cx="1228977" cy="1477328"/>
          </a:xfrm>
          <a:prstGeom prst="rect">
            <a:avLst/>
          </a:prstGeom>
          <a:noFill/>
        </p:spPr>
        <p:txBody>
          <a:bodyPr wrap="square" rtlCol="0">
            <a:spAutoFit/>
          </a:bodyPr>
          <a:lstStyle/>
          <a:p>
            <a:r>
              <a:rPr lang="en-US" b="1" dirty="0"/>
              <a:t>I</a:t>
            </a:r>
            <a:r>
              <a:rPr lang="en-NP" b="1" dirty="0"/>
              <a:t>t proves</a:t>
            </a:r>
          </a:p>
          <a:p>
            <a:r>
              <a:rPr lang="en-US" b="1" dirty="0"/>
              <a:t>c</a:t>
            </a:r>
            <a:r>
              <a:rPr lang="en-NP" b="1" dirty="0"/>
              <a:t>=a+b</a:t>
            </a:r>
          </a:p>
          <a:p>
            <a:r>
              <a:rPr lang="en-US" b="1" dirty="0"/>
              <a:t>a</a:t>
            </a:r>
            <a:r>
              <a:rPr lang="en-NP" b="1" dirty="0"/>
              <a:t>=b</a:t>
            </a:r>
          </a:p>
          <a:p>
            <a:r>
              <a:rPr lang="en-US" b="1" dirty="0"/>
              <a:t>b</a:t>
            </a:r>
            <a:r>
              <a:rPr lang="en-NP" b="1" dirty="0"/>
              <a:t>=c</a:t>
            </a:r>
          </a:p>
          <a:p>
            <a:endParaRPr lang="en-NP" dirty="0"/>
          </a:p>
        </p:txBody>
      </p:sp>
      <p:cxnSp>
        <p:nvCxnSpPr>
          <p:cNvPr id="16" name="Straight Arrow Connector 15">
            <a:extLst>
              <a:ext uri="{FF2B5EF4-FFF2-40B4-BE49-F238E27FC236}">
                <a16:creationId xmlns:a16="http://schemas.microsoft.com/office/drawing/2014/main" id="{EF12A26E-51C7-EB8F-E37D-86680DE7A7C8}"/>
              </a:ext>
            </a:extLst>
          </p:cNvPr>
          <p:cNvCxnSpPr>
            <a:cxnSpLocks/>
          </p:cNvCxnSpPr>
          <p:nvPr/>
        </p:nvCxnSpPr>
        <p:spPr>
          <a:xfrm>
            <a:off x="8096492" y="838511"/>
            <a:ext cx="762568" cy="0"/>
          </a:xfrm>
          <a:prstGeom prst="straightConnector1">
            <a:avLst/>
          </a:prstGeom>
          <a:ln w="73025">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0C77610-AA6D-F19D-C20E-9768DE7E8779}"/>
              </a:ext>
            </a:extLst>
          </p:cNvPr>
          <p:cNvCxnSpPr/>
          <p:nvPr/>
        </p:nvCxnSpPr>
        <p:spPr>
          <a:xfrm flipH="1">
            <a:off x="10058523" y="3534937"/>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16B5253E-CA29-8E63-4129-6DC6BFC7C3DB}"/>
              </a:ext>
            </a:extLst>
          </p:cNvPr>
          <p:cNvCxnSpPr>
            <a:cxnSpLocks/>
          </p:cNvCxnSpPr>
          <p:nvPr/>
        </p:nvCxnSpPr>
        <p:spPr>
          <a:xfrm flipH="1">
            <a:off x="10779511" y="3534937"/>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827847F6-DD31-D2BD-D9F6-0A2C74B51D73}"/>
              </a:ext>
            </a:extLst>
          </p:cNvPr>
          <p:cNvCxnSpPr/>
          <p:nvPr/>
        </p:nvCxnSpPr>
        <p:spPr>
          <a:xfrm flipH="1">
            <a:off x="10058523" y="4233747"/>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BDE699B2-2DC1-1127-1EE6-82688200093C}"/>
              </a:ext>
            </a:extLst>
          </p:cNvPr>
          <p:cNvCxnSpPr>
            <a:cxnSpLocks/>
          </p:cNvCxnSpPr>
          <p:nvPr/>
        </p:nvCxnSpPr>
        <p:spPr>
          <a:xfrm flipH="1">
            <a:off x="10779511" y="427091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C5FD2495-DDAA-D3A3-78AB-DC517B29F2EF}"/>
              </a:ext>
            </a:extLst>
          </p:cNvPr>
          <p:cNvCxnSpPr>
            <a:cxnSpLocks/>
          </p:cNvCxnSpPr>
          <p:nvPr/>
        </p:nvCxnSpPr>
        <p:spPr>
          <a:xfrm flipH="1">
            <a:off x="10779511" y="491768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222DBDC7-4016-0955-46A8-ADD5A47B3098}"/>
              </a:ext>
            </a:extLst>
          </p:cNvPr>
          <p:cNvCxnSpPr/>
          <p:nvPr/>
        </p:nvCxnSpPr>
        <p:spPr>
          <a:xfrm flipH="1">
            <a:off x="10058523" y="4917688"/>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65F541F-AD2E-5CAF-F70E-EBE1CDCEABDB}"/>
              </a:ext>
            </a:extLst>
          </p:cNvPr>
          <p:cNvCxnSpPr/>
          <p:nvPr/>
        </p:nvCxnSpPr>
        <p:spPr>
          <a:xfrm flipH="1">
            <a:off x="10122415" y="5683405"/>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A8E591A-D894-D165-A494-503A4EE4FFA3}"/>
              </a:ext>
            </a:extLst>
          </p:cNvPr>
          <p:cNvCxnSpPr/>
          <p:nvPr/>
        </p:nvCxnSpPr>
        <p:spPr>
          <a:xfrm flipH="1">
            <a:off x="10122415" y="6330175"/>
            <a:ext cx="450776"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33D9B9F-C7E9-1629-D80B-504743F9B416}"/>
              </a:ext>
            </a:extLst>
          </p:cNvPr>
          <p:cNvCxnSpPr>
            <a:cxnSpLocks/>
          </p:cNvCxnSpPr>
          <p:nvPr/>
        </p:nvCxnSpPr>
        <p:spPr>
          <a:xfrm flipH="1">
            <a:off x="10779511" y="5679688"/>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ACD008E-833F-5094-DC1A-46CBB3A5201D}"/>
              </a:ext>
            </a:extLst>
          </p:cNvPr>
          <p:cNvCxnSpPr>
            <a:cxnSpLocks/>
          </p:cNvCxnSpPr>
          <p:nvPr/>
        </p:nvCxnSpPr>
        <p:spPr>
          <a:xfrm flipH="1">
            <a:off x="10779511" y="6330175"/>
            <a:ext cx="315952" cy="0"/>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6585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47C03D-79FE-4A92-1847-4836C097620F}"/>
              </a:ext>
            </a:extLst>
          </p:cNvPr>
          <p:cNvSpPr>
            <a:spLocks noGrp="1"/>
          </p:cNvSpPr>
          <p:nvPr>
            <p:ph idx="1"/>
          </p:nvPr>
        </p:nvSpPr>
        <p:spPr>
          <a:xfrm>
            <a:off x="206062" y="145907"/>
            <a:ext cx="11147738" cy="7054927"/>
          </a:xfrm>
        </p:spPr>
        <p:txBody>
          <a:bodyPr>
            <a:noAutofit/>
          </a:bodyPr>
          <a:lstStyle/>
          <a:p>
            <a:pPr marL="0" indent="0">
              <a:spcBef>
                <a:spcPts val="0"/>
              </a:spcBef>
              <a:buNone/>
            </a:pPr>
            <a:r>
              <a:rPr lang="en-NP" sz="1800" b="1" i="1" dirty="0">
                <a:solidFill>
                  <a:srgbClr val="FF0000"/>
                </a:solidFill>
              </a:rPr>
              <a:t>7.Write C program to check and display the given number is prime or not.</a:t>
            </a:r>
            <a:endParaRPr lang="en-US" sz="1800" b="1" dirty="0">
              <a:solidFill>
                <a:srgbClr val="FF0000"/>
              </a:solidFill>
            </a:endParaRPr>
          </a:p>
          <a:p>
            <a:pPr marL="0" indent="0">
              <a:spcBef>
                <a:spcPts val="0"/>
              </a:spcBef>
              <a:buNone/>
            </a:pPr>
            <a:r>
              <a:rPr lang="en-US" sz="1700" b="1" dirty="0"/>
              <a:t>#include &lt;</a:t>
            </a:r>
            <a:r>
              <a:rPr lang="en-US" sz="1700" b="1" dirty="0" err="1"/>
              <a:t>stdio.h</a:t>
            </a:r>
            <a:r>
              <a:rPr lang="en-US" sz="1700" b="1" dirty="0"/>
              <a:t>&gt;</a:t>
            </a:r>
            <a:br>
              <a:rPr lang="en-US" sz="1700" b="1" dirty="0"/>
            </a:br>
            <a:r>
              <a:rPr lang="en-US" sz="1700" b="1" dirty="0"/>
              <a:t>void test(int n);</a:t>
            </a:r>
            <a:br>
              <a:rPr lang="en-US" sz="1700" b="1" dirty="0"/>
            </a:br>
            <a:r>
              <a:rPr lang="en-US" sz="1700" b="1" dirty="0"/>
              <a:t>int main() </a:t>
            </a:r>
          </a:p>
          <a:p>
            <a:pPr marL="0" indent="0">
              <a:spcBef>
                <a:spcPts val="0"/>
              </a:spcBef>
              <a:buNone/>
            </a:pPr>
            <a:r>
              <a:rPr lang="en-US" sz="1700" b="1" dirty="0"/>
              <a:t>{</a:t>
            </a:r>
          </a:p>
          <a:p>
            <a:pPr marL="0" indent="0">
              <a:spcBef>
                <a:spcPts val="0"/>
              </a:spcBef>
              <a:buNone/>
            </a:pPr>
            <a:r>
              <a:rPr lang="en-US" sz="1700" b="1" dirty="0"/>
              <a:t>int n;</a:t>
            </a:r>
          </a:p>
          <a:p>
            <a:pPr marL="0" indent="0">
              <a:spcBef>
                <a:spcPts val="0"/>
              </a:spcBef>
              <a:buNone/>
            </a:pPr>
            <a:r>
              <a:rPr lang="en-US" sz="1700" b="1" dirty="0" err="1"/>
              <a:t>printf</a:t>
            </a:r>
            <a:r>
              <a:rPr lang="en-US" sz="1700" b="1" dirty="0"/>
              <a:t>("Enter a number: ");</a:t>
            </a:r>
          </a:p>
          <a:p>
            <a:pPr marL="0" indent="0">
              <a:spcBef>
                <a:spcPts val="0"/>
              </a:spcBef>
              <a:buNone/>
            </a:pPr>
            <a:r>
              <a:rPr lang="en-US" sz="1700" b="1" dirty="0" err="1"/>
              <a:t>scanf</a:t>
            </a:r>
            <a:r>
              <a:rPr lang="en-US" sz="1700" b="1" dirty="0"/>
              <a:t>("%d", &amp;n);</a:t>
            </a:r>
          </a:p>
          <a:p>
            <a:pPr marL="0" indent="0">
              <a:spcBef>
                <a:spcPts val="0"/>
              </a:spcBef>
              <a:buNone/>
            </a:pPr>
            <a:r>
              <a:rPr lang="en-US" sz="1700" b="1" dirty="0"/>
              <a:t>test(n);</a:t>
            </a:r>
          </a:p>
          <a:p>
            <a:pPr marL="0" indent="0">
              <a:spcBef>
                <a:spcPts val="0"/>
              </a:spcBef>
              <a:buNone/>
            </a:pPr>
            <a:r>
              <a:rPr lang="en-US" sz="1700" b="1" dirty="0"/>
              <a:t>return 0;</a:t>
            </a:r>
          </a:p>
          <a:p>
            <a:pPr marL="0" indent="0">
              <a:spcBef>
                <a:spcPts val="0"/>
              </a:spcBef>
              <a:buNone/>
            </a:pPr>
            <a:r>
              <a:rPr lang="en-US" sz="1700" b="1" dirty="0"/>
              <a:t>}</a:t>
            </a:r>
            <a:br>
              <a:rPr lang="en-US" sz="1700" b="1" dirty="0"/>
            </a:br>
            <a:r>
              <a:rPr lang="en-US" sz="1700" b="1" dirty="0"/>
              <a:t>void test(int n) </a:t>
            </a:r>
          </a:p>
          <a:p>
            <a:pPr marL="0" indent="0">
              <a:spcBef>
                <a:spcPts val="0"/>
              </a:spcBef>
              <a:buNone/>
            </a:pPr>
            <a:r>
              <a:rPr lang="en-US" sz="1700" b="1" dirty="0"/>
              <a:t>{</a:t>
            </a:r>
          </a:p>
          <a:p>
            <a:pPr marL="0" indent="0">
              <a:spcBef>
                <a:spcPts val="0"/>
              </a:spcBef>
              <a:buNone/>
            </a:pPr>
            <a:r>
              <a:rPr lang="en-US" sz="1700" b="1" dirty="0"/>
              <a:t>if(n &lt;= 1) </a:t>
            </a:r>
          </a:p>
          <a:p>
            <a:pPr marL="0" indent="0">
              <a:spcBef>
                <a:spcPts val="0"/>
              </a:spcBef>
              <a:buNone/>
            </a:pPr>
            <a:r>
              <a:rPr lang="en-US" sz="1700" b="1" dirty="0"/>
              <a:t>     {</a:t>
            </a:r>
          </a:p>
          <a:p>
            <a:pPr marL="0" indent="0">
              <a:spcBef>
                <a:spcPts val="0"/>
              </a:spcBef>
              <a:buNone/>
            </a:pPr>
            <a:r>
              <a:rPr lang="en-US" sz="1700" b="1" dirty="0"/>
              <a:t>         </a:t>
            </a:r>
            <a:r>
              <a:rPr lang="en-US" sz="1700" b="1" dirty="0" err="1"/>
              <a:t>printf</a:t>
            </a:r>
            <a:r>
              <a:rPr lang="en-US" sz="1700" b="1" dirty="0"/>
              <a:t>("Neither prime nor composite");</a:t>
            </a:r>
          </a:p>
          <a:p>
            <a:pPr marL="0" indent="0">
              <a:spcBef>
                <a:spcPts val="0"/>
              </a:spcBef>
              <a:buNone/>
            </a:pPr>
            <a:r>
              <a:rPr lang="en-US" sz="1700" b="1" dirty="0"/>
              <a:t>     }</a:t>
            </a:r>
            <a:br>
              <a:rPr lang="en-US" sz="1800" b="1" dirty="0"/>
            </a:br>
            <a:r>
              <a:rPr lang="en-US" sz="1800" b="1" dirty="0"/>
              <a:t>int </a:t>
            </a:r>
            <a:r>
              <a:rPr lang="en-US" sz="1800" b="1" dirty="0" err="1"/>
              <a:t>i</a:t>
            </a:r>
            <a:r>
              <a:rPr lang="en-US" sz="1800" b="1" dirty="0"/>
              <a:t>, f = 0;</a:t>
            </a:r>
          </a:p>
          <a:p>
            <a:pPr marL="0" indent="0">
              <a:spcBef>
                <a:spcPts val="0"/>
              </a:spcBef>
              <a:buNone/>
            </a:pPr>
            <a:r>
              <a:rPr lang="en-US" sz="1800" b="1" dirty="0"/>
              <a:t>for(</a:t>
            </a:r>
            <a:r>
              <a:rPr lang="en-US" sz="1800" b="1" dirty="0" err="1"/>
              <a:t>i</a:t>
            </a:r>
            <a:r>
              <a:rPr lang="en-US" sz="1800" b="1" dirty="0"/>
              <a:t> = 1; </a:t>
            </a:r>
            <a:r>
              <a:rPr lang="en-US" sz="1800" b="1" dirty="0" err="1"/>
              <a:t>i</a:t>
            </a:r>
            <a:r>
              <a:rPr lang="en-US" sz="1800" b="1" dirty="0"/>
              <a:t> &lt;= n; </a:t>
            </a:r>
            <a:r>
              <a:rPr lang="en-US" sz="1800" b="1" dirty="0" err="1"/>
              <a:t>i</a:t>
            </a:r>
            <a:r>
              <a:rPr lang="en-US" sz="1800" b="1" dirty="0"/>
              <a:t>++) </a:t>
            </a:r>
          </a:p>
          <a:p>
            <a:pPr marL="0" indent="0">
              <a:spcBef>
                <a:spcPts val="0"/>
              </a:spcBef>
              <a:buNone/>
            </a:pPr>
            <a:r>
              <a:rPr lang="en-US" sz="1800" b="1" dirty="0"/>
              <a:t>    {</a:t>
            </a:r>
          </a:p>
          <a:p>
            <a:pPr marL="0" indent="0">
              <a:spcBef>
                <a:spcPts val="0"/>
              </a:spcBef>
              <a:buNone/>
            </a:pPr>
            <a:r>
              <a:rPr lang="en-US" sz="1800" b="1" dirty="0"/>
              <a:t>       if(n % </a:t>
            </a:r>
            <a:r>
              <a:rPr lang="en-US" sz="1800" b="1" dirty="0" err="1"/>
              <a:t>i</a:t>
            </a:r>
            <a:r>
              <a:rPr lang="en-US" sz="1800" b="1" dirty="0"/>
              <a:t> == 0)</a:t>
            </a:r>
          </a:p>
          <a:p>
            <a:pPr marL="0" indent="0">
              <a:spcBef>
                <a:spcPts val="0"/>
              </a:spcBef>
              <a:buNone/>
            </a:pPr>
            <a:r>
              <a:rPr lang="en-US" sz="1800" b="1" dirty="0"/>
              <a:t>               { f++;}</a:t>
            </a:r>
          </a:p>
          <a:p>
            <a:pPr marL="0" indent="0">
              <a:spcBef>
                <a:spcPts val="0"/>
              </a:spcBef>
              <a:buNone/>
            </a:pPr>
            <a:r>
              <a:rPr lang="en-US" sz="1800" b="1" dirty="0"/>
              <a:t>     }</a:t>
            </a:r>
            <a:br>
              <a:rPr lang="en-US" sz="1800" b="1" dirty="0"/>
            </a:br>
            <a:r>
              <a:rPr lang="en-US" sz="1800" b="1" dirty="0"/>
              <a:t>if(f == 2)</a:t>
            </a:r>
          </a:p>
          <a:p>
            <a:pPr marL="0" indent="0">
              <a:spcBef>
                <a:spcPts val="0"/>
              </a:spcBef>
              <a:buNone/>
            </a:pPr>
            <a:r>
              <a:rPr lang="en-US" sz="1800" b="1" dirty="0"/>
              <a:t>       { </a:t>
            </a:r>
            <a:r>
              <a:rPr lang="en-US" sz="1800" b="1" dirty="0" err="1"/>
              <a:t>printf</a:t>
            </a:r>
            <a:r>
              <a:rPr lang="en-US" sz="1800" b="1" dirty="0"/>
              <a:t>("Prime"); }</a:t>
            </a:r>
          </a:p>
          <a:p>
            <a:pPr marL="0" indent="0">
              <a:spcBef>
                <a:spcPts val="0"/>
              </a:spcBef>
              <a:buNone/>
            </a:pPr>
            <a:r>
              <a:rPr lang="en-US" sz="1800" b="1" dirty="0"/>
              <a:t>else</a:t>
            </a:r>
          </a:p>
          <a:p>
            <a:pPr marL="0" indent="0">
              <a:spcBef>
                <a:spcPts val="0"/>
              </a:spcBef>
              <a:buNone/>
            </a:pPr>
            <a:r>
              <a:rPr lang="en-US" sz="1800" b="1" dirty="0"/>
              <a:t>      {  </a:t>
            </a:r>
            <a:r>
              <a:rPr lang="en-US" sz="1800" b="1" dirty="0" err="1"/>
              <a:t>printf</a:t>
            </a:r>
            <a:r>
              <a:rPr lang="en-US" sz="1800" b="1" dirty="0"/>
              <a:t>("Composite");  }</a:t>
            </a:r>
          </a:p>
          <a:p>
            <a:pPr marL="0" indent="0">
              <a:spcBef>
                <a:spcPts val="0"/>
              </a:spcBef>
              <a:buNone/>
            </a:pPr>
            <a:r>
              <a:rPr lang="en-US" sz="1800" b="1" dirty="0"/>
              <a:t>}</a:t>
            </a:r>
          </a:p>
          <a:p>
            <a:pPr marL="0" indent="0">
              <a:spcBef>
                <a:spcPts val="0"/>
              </a:spcBef>
              <a:buNone/>
            </a:pPr>
            <a:endParaRPr lang="en-US" sz="1800" b="1" dirty="0"/>
          </a:p>
          <a:p>
            <a:pPr marL="0" indent="0">
              <a:spcBef>
                <a:spcPts val="0"/>
              </a:spcBef>
              <a:buNone/>
            </a:pPr>
            <a:br>
              <a:rPr lang="en-US" sz="1800" b="1" dirty="0"/>
            </a:br>
            <a:endParaRPr lang="en-US" sz="1800" b="1" dirty="0"/>
          </a:p>
          <a:p>
            <a:pPr marL="0" indent="0">
              <a:spcBef>
                <a:spcPts val="0"/>
              </a:spcBef>
              <a:buNone/>
            </a:pPr>
            <a:endParaRPr lang="en-US" sz="1800" b="1" dirty="0"/>
          </a:p>
        </p:txBody>
      </p:sp>
      <p:pic>
        <p:nvPicPr>
          <p:cNvPr id="4" name="Picture 3">
            <a:extLst>
              <a:ext uri="{FF2B5EF4-FFF2-40B4-BE49-F238E27FC236}">
                <a16:creationId xmlns:a16="http://schemas.microsoft.com/office/drawing/2014/main" id="{13BA6933-6A36-23DD-80E1-B5A3C7967A39}"/>
              </a:ext>
            </a:extLst>
          </p:cNvPr>
          <p:cNvPicPr>
            <a:picLocks noChangeAspect="1"/>
          </p:cNvPicPr>
          <p:nvPr/>
        </p:nvPicPr>
        <p:blipFill>
          <a:blip r:embed="rId2"/>
          <a:stretch>
            <a:fillRect/>
          </a:stretch>
        </p:blipFill>
        <p:spPr>
          <a:xfrm>
            <a:off x="4140200" y="5230572"/>
            <a:ext cx="3911600" cy="1168400"/>
          </a:xfrm>
          <a:prstGeom prst="rect">
            <a:avLst/>
          </a:prstGeom>
        </p:spPr>
      </p:pic>
      <p:graphicFrame>
        <p:nvGraphicFramePr>
          <p:cNvPr id="2" name="Table 1">
            <a:extLst>
              <a:ext uri="{FF2B5EF4-FFF2-40B4-BE49-F238E27FC236}">
                <a16:creationId xmlns:a16="http://schemas.microsoft.com/office/drawing/2014/main" id="{6AC925F9-9D64-3115-B5BB-04E3D9F20934}"/>
              </a:ext>
            </a:extLst>
          </p:cNvPr>
          <p:cNvGraphicFramePr>
            <a:graphicFrameLocks noGrp="1"/>
          </p:cNvGraphicFramePr>
          <p:nvPr>
            <p:extLst>
              <p:ext uri="{D42A27DB-BD31-4B8C-83A1-F6EECF244321}">
                <p14:modId xmlns:p14="http://schemas.microsoft.com/office/powerpoint/2010/main" val="2180844797"/>
              </p:ext>
            </p:extLst>
          </p:nvPr>
        </p:nvGraphicFramePr>
        <p:xfrm>
          <a:off x="5408341" y="459028"/>
          <a:ext cx="6389649" cy="4453967"/>
        </p:xfrm>
        <a:graphic>
          <a:graphicData uri="http://schemas.openxmlformats.org/drawingml/2006/table">
            <a:tbl>
              <a:tblPr firstRow="1" bandRow="1">
                <a:tableStyleId>{5940675A-B579-460E-94D1-54222C63F5DA}</a:tableStyleId>
              </a:tblPr>
              <a:tblGrid>
                <a:gridCol w="748685">
                  <a:extLst>
                    <a:ext uri="{9D8B030D-6E8A-4147-A177-3AD203B41FA5}">
                      <a16:colId xmlns:a16="http://schemas.microsoft.com/office/drawing/2014/main" val="2580122697"/>
                    </a:ext>
                  </a:extLst>
                </a:gridCol>
                <a:gridCol w="1864648">
                  <a:extLst>
                    <a:ext uri="{9D8B030D-6E8A-4147-A177-3AD203B41FA5}">
                      <a16:colId xmlns:a16="http://schemas.microsoft.com/office/drawing/2014/main" val="1335256309"/>
                    </a:ext>
                  </a:extLst>
                </a:gridCol>
                <a:gridCol w="296184">
                  <a:extLst>
                    <a:ext uri="{9D8B030D-6E8A-4147-A177-3AD203B41FA5}">
                      <a16:colId xmlns:a16="http://schemas.microsoft.com/office/drawing/2014/main" val="3971531854"/>
                    </a:ext>
                  </a:extLst>
                </a:gridCol>
                <a:gridCol w="409604">
                  <a:extLst>
                    <a:ext uri="{9D8B030D-6E8A-4147-A177-3AD203B41FA5}">
                      <a16:colId xmlns:a16="http://schemas.microsoft.com/office/drawing/2014/main" val="125296966"/>
                    </a:ext>
                  </a:extLst>
                </a:gridCol>
                <a:gridCol w="279781">
                  <a:extLst>
                    <a:ext uri="{9D8B030D-6E8A-4147-A177-3AD203B41FA5}">
                      <a16:colId xmlns:a16="http://schemas.microsoft.com/office/drawing/2014/main" val="1520751536"/>
                    </a:ext>
                  </a:extLst>
                </a:gridCol>
                <a:gridCol w="385905">
                  <a:extLst>
                    <a:ext uri="{9D8B030D-6E8A-4147-A177-3AD203B41FA5}">
                      <a16:colId xmlns:a16="http://schemas.microsoft.com/office/drawing/2014/main" val="2867745234"/>
                    </a:ext>
                  </a:extLst>
                </a:gridCol>
                <a:gridCol w="395478">
                  <a:extLst>
                    <a:ext uri="{9D8B030D-6E8A-4147-A177-3AD203B41FA5}">
                      <a16:colId xmlns:a16="http://schemas.microsoft.com/office/drawing/2014/main" val="1446140634"/>
                    </a:ext>
                  </a:extLst>
                </a:gridCol>
                <a:gridCol w="395478">
                  <a:extLst>
                    <a:ext uri="{9D8B030D-6E8A-4147-A177-3AD203B41FA5}">
                      <a16:colId xmlns:a16="http://schemas.microsoft.com/office/drawing/2014/main" val="3138737885"/>
                    </a:ext>
                  </a:extLst>
                </a:gridCol>
                <a:gridCol w="509916">
                  <a:extLst>
                    <a:ext uri="{9D8B030D-6E8A-4147-A177-3AD203B41FA5}">
                      <a16:colId xmlns:a16="http://schemas.microsoft.com/office/drawing/2014/main" val="2091151828"/>
                    </a:ext>
                  </a:extLst>
                </a:gridCol>
                <a:gridCol w="1103970">
                  <a:extLst>
                    <a:ext uri="{9D8B030D-6E8A-4147-A177-3AD203B41FA5}">
                      <a16:colId xmlns:a16="http://schemas.microsoft.com/office/drawing/2014/main" val="3773789240"/>
                    </a:ext>
                  </a:extLst>
                </a:gridCol>
              </a:tblGrid>
              <a:tr h="1070687">
                <a:tc>
                  <a:txBody>
                    <a:bodyPr/>
                    <a:lstStyle/>
                    <a:p>
                      <a:r>
                        <a:rPr lang="en-NP" sz="1800" b="1" dirty="0"/>
                        <a:t>i++</a:t>
                      </a:r>
                    </a:p>
                    <a:p>
                      <a:r>
                        <a:rPr lang="en-NP" sz="1800" b="1" dirty="0"/>
                        <a:t>i.</a:t>
                      </a:r>
                      <a:r>
                        <a:rPr lang="en-US" sz="1800" b="1" dirty="0"/>
                        <a:t>e</a:t>
                      </a:r>
                    </a:p>
                    <a:p>
                      <a:r>
                        <a:rPr lang="en-US" sz="1800" b="1" dirty="0" err="1"/>
                        <a:t>i</a:t>
                      </a:r>
                      <a:r>
                        <a:rPr lang="en-US" sz="1800" b="1" dirty="0"/>
                        <a:t>=i+1</a:t>
                      </a:r>
                      <a:endParaRPr lang="en-NP" sz="1800" b="1" dirty="0"/>
                    </a:p>
                  </a:txBody>
                  <a:tcPr>
                    <a:noFill/>
                  </a:tcPr>
                </a:tc>
                <a:tc>
                  <a:txBody>
                    <a:bodyPr/>
                    <a:lstStyle/>
                    <a:p>
                      <a:r>
                        <a:rPr lang="en-NP" sz="1800" b="1" dirty="0"/>
                        <a:t>i&lt;=n</a:t>
                      </a:r>
                    </a:p>
                  </a:txBody>
                  <a:tcPr>
                    <a:noFill/>
                  </a:tcPr>
                </a:tc>
                <a:tc>
                  <a:txBody>
                    <a:bodyPr/>
                    <a:lstStyle/>
                    <a:p>
                      <a:r>
                        <a:rPr lang="en-NP" b="1" dirty="0"/>
                        <a:t>n</a:t>
                      </a:r>
                    </a:p>
                  </a:txBody>
                  <a:tcPr>
                    <a:solidFill>
                      <a:srgbClr val="92D050"/>
                    </a:solidFill>
                  </a:tcPr>
                </a:tc>
                <a:tc>
                  <a:txBody>
                    <a:bodyPr/>
                    <a:lstStyle/>
                    <a:p>
                      <a:r>
                        <a:rPr lang="en-NP" b="1" dirty="0"/>
                        <a:t>%</a:t>
                      </a:r>
                    </a:p>
                  </a:txBody>
                  <a:tcPr>
                    <a:solidFill>
                      <a:srgbClr val="92D050"/>
                    </a:solidFill>
                  </a:tcPr>
                </a:tc>
                <a:tc>
                  <a:txBody>
                    <a:bodyPr/>
                    <a:lstStyle/>
                    <a:p>
                      <a:r>
                        <a:rPr lang="en-NP" b="1" dirty="0"/>
                        <a:t>i</a:t>
                      </a:r>
                    </a:p>
                  </a:txBody>
                  <a:tcPr>
                    <a:solidFill>
                      <a:srgbClr val="92D050"/>
                    </a:solidFill>
                  </a:tcPr>
                </a:tc>
                <a:tc>
                  <a:txBody>
                    <a:bodyPr/>
                    <a:lstStyle/>
                    <a:p>
                      <a:r>
                        <a:rPr lang="en-NP" b="1" dirty="0"/>
                        <a:t>=</a:t>
                      </a:r>
                    </a:p>
                  </a:txBody>
                  <a:tcPr>
                    <a:noFill/>
                  </a:tcPr>
                </a:tc>
                <a:tc>
                  <a:txBody>
                    <a:bodyPr/>
                    <a:lstStyle/>
                    <a:p>
                      <a:r>
                        <a:rPr lang="en-NP" b="1" dirty="0"/>
                        <a:t>=</a:t>
                      </a:r>
                    </a:p>
                  </a:txBody>
                  <a:tcPr>
                    <a:noFill/>
                  </a:tcPr>
                </a:tc>
                <a:tc>
                  <a:txBody>
                    <a:bodyPr/>
                    <a:lstStyle/>
                    <a:p>
                      <a:r>
                        <a:rPr lang="en-NP" b="1" dirty="0"/>
                        <a:t>0</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f=0</a:t>
                      </a:r>
                    </a:p>
                    <a:p>
                      <a:r>
                        <a:rPr lang="en-US" b="1" dirty="0"/>
                        <a:t>f++</a:t>
                      </a:r>
                      <a:endParaRPr lang="en-NP" b="1" dirty="0"/>
                    </a:p>
                  </a:txBody>
                  <a:tcPr>
                    <a:noFill/>
                  </a:tcPr>
                </a:tc>
                <a:tc>
                  <a:txBody>
                    <a:bodyPr/>
                    <a:lstStyle/>
                    <a:p>
                      <a:r>
                        <a:rPr lang="en-US" b="1"/>
                        <a:t>f</a:t>
                      </a:r>
                      <a:r>
                        <a:rPr lang="en-NP" b="1"/>
                        <a:t>==2</a:t>
                      </a:r>
                      <a:endParaRPr lang="en-NP" b="1" dirty="0"/>
                    </a:p>
                  </a:txBody>
                  <a:tcPr>
                    <a:noFill/>
                  </a:tcPr>
                </a:tc>
                <a:extLst>
                  <a:ext uri="{0D108BD9-81ED-4DB2-BD59-A6C34878D82A}">
                    <a16:rowId xmlns:a16="http://schemas.microsoft.com/office/drawing/2014/main" val="29344581"/>
                  </a:ext>
                </a:extLst>
              </a:tr>
              <a:tr h="341086">
                <a:tc>
                  <a:txBody>
                    <a:bodyPr/>
                    <a:lstStyle/>
                    <a:p>
                      <a:r>
                        <a:rPr lang="en-NP" b="1" dirty="0"/>
                        <a:t>i=1</a:t>
                      </a:r>
                    </a:p>
                  </a:txBody>
                  <a:tcPr>
                    <a:noFill/>
                  </a:tcPr>
                </a:tc>
                <a:tc>
                  <a:txBody>
                    <a:bodyPr/>
                    <a:lstStyle/>
                    <a:p>
                      <a:r>
                        <a:rPr lang="en-NP" b="1" dirty="0"/>
                        <a:t>1&lt;=3  true</a:t>
                      </a:r>
                    </a:p>
                  </a:txBody>
                  <a:tcPr>
                    <a:noFill/>
                  </a:tcPr>
                </a:tc>
                <a:tc gridSpan="3">
                  <a:txBody>
                    <a:bodyPr/>
                    <a:lstStyle/>
                    <a:p>
                      <a:r>
                        <a:rPr lang="en-NP" b="1" dirty="0"/>
                        <a:t>3  % 1         =0</a:t>
                      </a:r>
                    </a:p>
                  </a:txBody>
                  <a:tcPr>
                    <a:solidFill>
                      <a:srgbClr val="92D050"/>
                    </a:solidFill>
                  </a:tcPr>
                </a:tc>
                <a:tc hMerge="1">
                  <a:txBody>
                    <a:bodyPr/>
                    <a:lstStyle/>
                    <a:p>
                      <a:endParaRPr/>
                    </a:p>
                  </a:txBody>
                  <a:tcPr>
                    <a:noFill/>
                  </a:tcPr>
                </a:tc>
                <a:tc hMerge="1">
                  <a:txBody>
                    <a:bodyPr/>
                    <a:lstStyle/>
                    <a:p>
                      <a:endParaRPr dirty="0"/>
                    </a:p>
                  </a:txBody>
                  <a:tcPr>
                    <a:noFill/>
                  </a:tcPr>
                </a:tc>
                <a:tc>
                  <a:txBody>
                    <a:bodyPr/>
                    <a:lstStyle/>
                    <a:p>
                      <a:endParaRPr lang="en-NP" b="1" dirty="0"/>
                    </a:p>
                    <a:p>
                      <a:r>
                        <a:rPr lang="en-NP" b="1" dirty="0"/>
                        <a:t>=</a:t>
                      </a:r>
                    </a:p>
                  </a:txBody>
                  <a:tcPr>
                    <a:noFill/>
                  </a:tcPr>
                </a:tc>
                <a:tc>
                  <a:txBody>
                    <a:bodyPr/>
                    <a:lstStyle/>
                    <a:p>
                      <a:endParaRPr lang="en-NP" b="1" dirty="0"/>
                    </a:p>
                    <a:p>
                      <a:r>
                        <a:rPr lang="en-NP" b="1" dirty="0"/>
                        <a:t>=</a:t>
                      </a:r>
                    </a:p>
                  </a:txBody>
                  <a:tcPr>
                    <a:noFill/>
                  </a:tcPr>
                </a:tc>
                <a:tc>
                  <a:txBody>
                    <a:bodyPr/>
                    <a:lstStyle/>
                    <a:p>
                      <a:endParaRPr lang="en-NP" b="1" dirty="0"/>
                    </a:p>
                    <a:p>
                      <a:r>
                        <a:rPr lang="en-NP" b="1" dirty="0"/>
                        <a:t>0</a:t>
                      </a:r>
                    </a:p>
                  </a:txBody>
                  <a:tcPr>
                    <a:solidFill>
                      <a:srgbClr val="92D050"/>
                    </a:solidFill>
                  </a:tcPr>
                </a:tc>
                <a:tc>
                  <a:txBody>
                    <a:bodyPr/>
                    <a:lstStyle/>
                    <a:p>
                      <a:r>
                        <a:rPr lang="en-US" b="1" dirty="0"/>
                        <a:t>f</a:t>
                      </a:r>
                      <a:r>
                        <a:rPr lang="en-NP" b="1" dirty="0"/>
                        <a:t>=1</a:t>
                      </a:r>
                    </a:p>
                  </a:txBody>
                  <a:tcPr>
                    <a:noFill/>
                  </a:tcPr>
                </a:tc>
                <a:tc>
                  <a:txBody>
                    <a:bodyPr/>
                    <a:lstStyle/>
                    <a:p>
                      <a:endParaRPr lang="en-NP" b="1" dirty="0"/>
                    </a:p>
                  </a:txBody>
                  <a:tcPr>
                    <a:noFill/>
                  </a:tcPr>
                </a:tc>
                <a:extLst>
                  <a:ext uri="{0D108BD9-81ED-4DB2-BD59-A6C34878D82A}">
                    <a16:rowId xmlns:a16="http://schemas.microsoft.com/office/drawing/2014/main" val="433086394"/>
                  </a:ext>
                </a:extLst>
              </a:tr>
              <a:tr h="391715">
                <a:tc>
                  <a:txBody>
                    <a:bodyPr/>
                    <a:lstStyle/>
                    <a:p>
                      <a:r>
                        <a:rPr lang="en-NP" b="1" dirty="0"/>
                        <a:t>i=2</a:t>
                      </a:r>
                    </a:p>
                  </a:txBody>
                  <a:tcPr>
                    <a:noFill/>
                  </a:tcPr>
                </a:tc>
                <a:tc>
                  <a:txBody>
                    <a:bodyPr/>
                    <a:lstStyle/>
                    <a:p>
                      <a:r>
                        <a:rPr lang="en-NP" b="1" dirty="0"/>
                        <a:t>2&lt;=3 true</a:t>
                      </a:r>
                    </a:p>
                  </a:txBody>
                  <a:tcP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dirty="0"/>
                        <a:t>3  % 2         =1</a:t>
                      </a:r>
                    </a:p>
                  </a:txBody>
                  <a:tcPr>
                    <a:solidFill>
                      <a:srgbClr val="92D050"/>
                    </a:solidFill>
                  </a:tcPr>
                </a:tc>
                <a:tc hMerge="1">
                  <a:txBody>
                    <a:bodyPr/>
                    <a:lstStyle/>
                    <a:p>
                      <a:endParaRPr lang="en-NP" dirty="0"/>
                    </a:p>
                  </a:txBody>
                  <a:tcPr>
                    <a:noFill/>
                  </a:tcPr>
                </a:tc>
                <a:tc hMerge="1">
                  <a:txBody>
                    <a:bodyPr/>
                    <a:lstStyle/>
                    <a:p>
                      <a:endParaRPr lang="en-NP" dirty="0"/>
                    </a:p>
                  </a:txBody>
                  <a:tcPr>
                    <a:noFill/>
                  </a:tcPr>
                </a:tc>
                <a:tc>
                  <a:txBody>
                    <a:bodyPr/>
                    <a:lstStyle/>
                    <a:p>
                      <a:r>
                        <a:rPr lang="en-NP" b="1" dirty="0"/>
                        <a:t>=</a:t>
                      </a:r>
                    </a:p>
                  </a:txBody>
                  <a:tcPr>
                    <a:noFill/>
                  </a:tcPr>
                </a:tc>
                <a:tc>
                  <a:txBody>
                    <a:bodyPr/>
                    <a:lstStyle/>
                    <a:p>
                      <a:r>
                        <a:rPr lang="en-NP" b="1" dirty="0"/>
                        <a:t>=</a:t>
                      </a:r>
                    </a:p>
                  </a:txBody>
                  <a:tcPr>
                    <a:noFill/>
                  </a:tcPr>
                </a:tc>
                <a:tc>
                  <a:txBody>
                    <a:bodyPr/>
                    <a:lstStyle/>
                    <a:p>
                      <a:endParaRPr lang="en-NP" b="1" dirty="0"/>
                    </a:p>
                    <a:p>
                      <a:r>
                        <a:rPr lang="en-NP" b="1" dirty="0"/>
                        <a:t>0</a:t>
                      </a:r>
                    </a:p>
                  </a:txBody>
                  <a:tcPr>
                    <a:solidFill>
                      <a:srgbClr val="92D050"/>
                    </a:solidFill>
                  </a:tcPr>
                </a:tc>
                <a:tc>
                  <a:txBody>
                    <a:bodyPr/>
                    <a:lstStyle/>
                    <a:p>
                      <a:endParaRPr lang="en-NP" b="1" dirty="0"/>
                    </a:p>
                  </a:txBody>
                  <a:tcPr>
                    <a:noFill/>
                  </a:tcPr>
                </a:tc>
                <a:tc>
                  <a:txBody>
                    <a:bodyPr/>
                    <a:lstStyle/>
                    <a:p>
                      <a:endParaRPr lang="en-NP" b="1" dirty="0"/>
                    </a:p>
                  </a:txBody>
                  <a:tcPr>
                    <a:noFill/>
                  </a:tcPr>
                </a:tc>
                <a:extLst>
                  <a:ext uri="{0D108BD9-81ED-4DB2-BD59-A6C34878D82A}">
                    <a16:rowId xmlns:a16="http://schemas.microsoft.com/office/drawing/2014/main" val="3422487782"/>
                  </a:ext>
                </a:extLst>
              </a:tr>
              <a:tr h="391714">
                <a:tc>
                  <a:txBody>
                    <a:bodyPr/>
                    <a:lstStyle/>
                    <a:p>
                      <a:r>
                        <a:rPr lang="en-NP" b="1" dirty="0"/>
                        <a:t>i=3</a:t>
                      </a:r>
                    </a:p>
                  </a:txBody>
                  <a:tcPr>
                    <a:noFill/>
                  </a:tcPr>
                </a:tc>
                <a:tc>
                  <a:txBody>
                    <a:bodyPr/>
                    <a:lstStyle/>
                    <a:p>
                      <a:r>
                        <a:rPr lang="en-NP" b="1" dirty="0"/>
                        <a:t>3&lt;=3 true</a:t>
                      </a:r>
                    </a:p>
                    <a:p>
                      <a:endParaRPr lang="en-NP" b="1" dirty="0"/>
                    </a:p>
                  </a:txBody>
                  <a:tcPr>
                    <a:no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a:t>3  % 3</a:t>
                      </a:r>
                    </a:p>
                    <a:p>
                      <a:pPr marL="0" marR="0" lvl="0" indent="0" algn="l" defTabSz="914400" rtl="0" eaLnBrk="1" fontAlgn="auto" latinLnBrk="0" hangingPunct="1">
                        <a:lnSpc>
                          <a:spcPct val="100000"/>
                        </a:lnSpc>
                        <a:spcBef>
                          <a:spcPts val="0"/>
                        </a:spcBef>
                        <a:spcAft>
                          <a:spcPts val="0"/>
                        </a:spcAft>
                        <a:buClrTx/>
                        <a:buSzTx/>
                        <a:buFontTx/>
                        <a:buNone/>
                        <a:tabLst/>
                        <a:defRPr/>
                      </a:pPr>
                      <a:r>
                        <a:rPr lang="en-NP" b="1"/>
                        <a:t>=0         </a:t>
                      </a:r>
                      <a:endParaRPr lang="en-NP" b="1" dirty="0"/>
                    </a:p>
                  </a:txBody>
                  <a:tcPr>
                    <a:solidFill>
                      <a:srgbClr val="92D050"/>
                    </a:solidFill>
                  </a:tcPr>
                </a:tc>
                <a:tc hMerge="1">
                  <a:txBody>
                    <a:bodyPr/>
                    <a:lstStyle/>
                    <a:p>
                      <a:endParaRPr lang="en-NP" dirty="0"/>
                    </a:p>
                  </a:txBody>
                  <a:tcPr>
                    <a:noFill/>
                  </a:tcPr>
                </a:tc>
                <a:tc hMerge="1">
                  <a:txBody>
                    <a:bodyPr/>
                    <a:lstStyle/>
                    <a:p>
                      <a:endParaRPr lang="en-NP" dirty="0"/>
                    </a:p>
                  </a:txBody>
                  <a:tcPr>
                    <a:noFill/>
                  </a:tcPr>
                </a:tc>
                <a:tc>
                  <a:txBody>
                    <a:bodyPr/>
                    <a:lstStyle/>
                    <a:p>
                      <a:r>
                        <a:rPr lang="en-NP" b="1" dirty="0"/>
                        <a:t>=</a:t>
                      </a:r>
                    </a:p>
                  </a:txBody>
                  <a:tcPr>
                    <a:noFill/>
                  </a:tcPr>
                </a:tc>
                <a:tc>
                  <a:txBody>
                    <a:bodyPr/>
                    <a:lstStyle/>
                    <a:p>
                      <a:r>
                        <a:rPr lang="en-NP" b="1" dirty="0"/>
                        <a:t>=</a:t>
                      </a:r>
                    </a:p>
                  </a:txBody>
                  <a:tcPr>
                    <a:noFill/>
                  </a:tcPr>
                </a:tc>
                <a:tc>
                  <a:txBody>
                    <a:bodyPr/>
                    <a:lstStyle/>
                    <a:p>
                      <a:r>
                        <a:rPr lang="en-NP" b="1" dirty="0"/>
                        <a:t>0</a:t>
                      </a:r>
                    </a:p>
                  </a:txBody>
                  <a:tcPr>
                    <a:solidFill>
                      <a:srgbClr val="92D050"/>
                    </a:solidFill>
                  </a:tcPr>
                </a:tc>
                <a:tc>
                  <a:txBody>
                    <a:bodyPr/>
                    <a:lstStyle/>
                    <a:p>
                      <a:r>
                        <a:rPr lang="en-US" b="1" dirty="0"/>
                        <a:t>f</a:t>
                      </a:r>
                      <a:r>
                        <a:rPr lang="en-NP" b="1" dirty="0"/>
                        <a:t>=2</a:t>
                      </a:r>
                    </a:p>
                  </a:txBody>
                  <a:tcPr>
                    <a:solidFill>
                      <a:srgbClr val="FFFF00"/>
                    </a:solidFill>
                  </a:tcPr>
                </a:tc>
                <a:tc>
                  <a:txBody>
                    <a:bodyPr/>
                    <a:lstStyle/>
                    <a:p>
                      <a:r>
                        <a:rPr lang="en-NP" b="1" dirty="0"/>
                        <a:t>i.e 2==2</a:t>
                      </a:r>
                    </a:p>
                  </a:txBody>
                  <a:tcPr>
                    <a:solidFill>
                      <a:srgbClr val="FFFF00"/>
                    </a:solidFill>
                  </a:tcPr>
                </a:tc>
                <a:extLst>
                  <a:ext uri="{0D108BD9-81ED-4DB2-BD59-A6C34878D82A}">
                    <a16:rowId xmlns:a16="http://schemas.microsoft.com/office/drawing/2014/main" val="2973274359"/>
                  </a:ext>
                </a:extLst>
              </a:tr>
              <a:tr h="274268">
                <a:tc>
                  <a:txBody>
                    <a:bodyPr/>
                    <a:lstStyle/>
                    <a:p>
                      <a:r>
                        <a:rPr lang="en-NP" b="1" dirty="0"/>
                        <a:t>i=4</a:t>
                      </a:r>
                    </a:p>
                  </a:txBody>
                  <a:tcPr>
                    <a:noFill/>
                  </a:tcPr>
                </a:tc>
                <a:tc>
                  <a:txBody>
                    <a:bodyPr/>
                    <a:lstStyle/>
                    <a:p>
                      <a:r>
                        <a:rPr lang="en-NP" b="1" dirty="0"/>
                        <a:t>4&lt;=3 false</a:t>
                      </a:r>
                    </a:p>
                  </a:txBody>
                  <a:tcPr>
                    <a:noFill/>
                  </a:tcPr>
                </a:tc>
                <a:tc rowSpan="2" gridSpan="8">
                  <a:txBody>
                    <a:bodyPr/>
                    <a:lstStyle/>
                    <a:p>
                      <a:r>
                        <a:rPr lang="en-NP" b="1" dirty="0"/>
                        <a:t> </a:t>
                      </a:r>
                      <a:r>
                        <a:rPr lang="en-NP" b="1" dirty="0">
                          <a:solidFill>
                            <a:srgbClr val="FF0000"/>
                          </a:solidFill>
                        </a:rPr>
                        <a:t>exit from loop and compare f==2</a:t>
                      </a:r>
                    </a:p>
                    <a:p>
                      <a:r>
                        <a:rPr lang="en-NP" b="1" dirty="0">
                          <a:solidFill>
                            <a:srgbClr val="FF0000"/>
                          </a:solidFill>
                        </a:rPr>
                        <a:t>                                                     i.e   2==2</a:t>
                      </a:r>
                    </a:p>
                    <a:p>
                      <a:r>
                        <a:rPr lang="en-NP" b="1" dirty="0">
                          <a:solidFill>
                            <a:srgbClr val="FF0000"/>
                          </a:solidFill>
                        </a:rPr>
                        <a:t>                                 which print prime</a:t>
                      </a:r>
                    </a:p>
                    <a:p>
                      <a:r>
                        <a:rPr lang="en-US" b="1" dirty="0">
                          <a:solidFill>
                            <a:srgbClr val="FF0000"/>
                          </a:solidFill>
                        </a:rPr>
                        <a:t>              O</a:t>
                      </a:r>
                      <a:r>
                        <a:rPr lang="en-NP" b="1" dirty="0">
                          <a:solidFill>
                            <a:srgbClr val="FF0000"/>
                          </a:solidFill>
                        </a:rPr>
                        <a:t>ther wise  print composite     </a:t>
                      </a:r>
                    </a:p>
                    <a:p>
                      <a:endParaRPr lang="en-NP" b="1" dirty="0"/>
                    </a:p>
                  </a:txBody>
                  <a:tcPr>
                    <a:noFill/>
                  </a:tcPr>
                </a:tc>
                <a:tc rowSpan="2" hMerge="1">
                  <a:txBody>
                    <a:bodyPr/>
                    <a:lstStyle/>
                    <a:p>
                      <a:endParaRPr lang="en-NP"/>
                    </a:p>
                  </a:txBody>
                  <a:tcPr>
                    <a:noFill/>
                  </a:tcPr>
                </a:tc>
                <a:tc rowSpan="2" hMerge="1">
                  <a:txBody>
                    <a:bodyPr/>
                    <a:lstStyle/>
                    <a:p>
                      <a:endParaRPr lang="en-NP"/>
                    </a:p>
                  </a:txBody>
                  <a:tcPr>
                    <a:noFill/>
                  </a:tcPr>
                </a:tc>
                <a:tc rowSpan="2" hMerge="1">
                  <a:txBody>
                    <a:bodyPr/>
                    <a:lstStyle/>
                    <a:p>
                      <a:endParaRPr lang="en-NP"/>
                    </a:p>
                  </a:txBody>
                  <a:tcPr>
                    <a:noFill/>
                  </a:tcPr>
                </a:tc>
                <a:tc rowSpan="2" hMerge="1">
                  <a:txBody>
                    <a:bodyPr/>
                    <a:lstStyle/>
                    <a:p>
                      <a:endParaRPr/>
                    </a:p>
                  </a:txBody>
                  <a:tcPr>
                    <a:noFill/>
                  </a:tcPr>
                </a:tc>
                <a:tc rowSpan="2" hMerge="1">
                  <a:txBody>
                    <a:bodyPr/>
                    <a:lstStyle/>
                    <a:p>
                      <a:endParaRPr/>
                    </a:p>
                  </a:txBody>
                  <a:tcPr>
                    <a:solidFill>
                      <a:srgbClr val="92D050"/>
                    </a:solidFill>
                  </a:tcPr>
                </a:tc>
                <a:tc rowSpan="2" hMerge="1">
                  <a:txBody>
                    <a:bodyPr/>
                    <a:lstStyle/>
                    <a:p>
                      <a:endParaRPr lang="en-NP" dirty="0"/>
                    </a:p>
                  </a:txBody>
                  <a:tcPr>
                    <a:noFill/>
                  </a:tcPr>
                </a:tc>
                <a:tc rowSpan="2" hMerge="1">
                  <a:txBody>
                    <a:bodyPr/>
                    <a:lstStyle/>
                    <a:p>
                      <a:endParaRPr lang="en-NP"/>
                    </a:p>
                  </a:txBody>
                  <a:tcPr/>
                </a:tc>
                <a:extLst>
                  <a:ext uri="{0D108BD9-81ED-4DB2-BD59-A6C34878D82A}">
                    <a16:rowId xmlns:a16="http://schemas.microsoft.com/office/drawing/2014/main" val="3879785860"/>
                  </a:ext>
                </a:extLst>
              </a:tr>
              <a:tr h="371627">
                <a:tc>
                  <a:txBody>
                    <a:bodyPr/>
                    <a:lstStyle/>
                    <a:p>
                      <a:endParaRPr lang="en-NP" b="1"/>
                    </a:p>
                  </a:txBody>
                  <a:tcPr>
                    <a:noFill/>
                  </a:tcPr>
                </a:tc>
                <a:tc>
                  <a:txBody>
                    <a:bodyPr/>
                    <a:lstStyle/>
                    <a:p>
                      <a:endParaRPr lang="en-NP" b="1" dirty="0"/>
                    </a:p>
                  </a:txBody>
                  <a:tcPr>
                    <a:noFill/>
                  </a:tcPr>
                </a:tc>
                <a:tc gridSpan="8" vMerge="1">
                  <a:txBody>
                    <a:bodyPr/>
                    <a:lstStyle/>
                    <a:p>
                      <a:endParaRPr lang="en-NP" dirty="0"/>
                    </a:p>
                  </a:txBody>
                  <a:tcPr>
                    <a:solidFill>
                      <a:srgbClr val="92D050"/>
                    </a:solidFill>
                  </a:tcPr>
                </a:tc>
                <a:tc hMerge="1" vMerge="1">
                  <a:txBody>
                    <a:bodyPr/>
                    <a:lstStyle/>
                    <a:p>
                      <a:endParaRPr lang="en-NP" dirty="0"/>
                    </a:p>
                  </a:txBody>
                  <a:tcPr>
                    <a:noFill/>
                  </a:tcPr>
                </a:tc>
                <a:tc hMerge="1" vMerge="1">
                  <a:txBody>
                    <a:bodyPr/>
                    <a:lstStyle/>
                    <a:p>
                      <a:endParaRPr lang="en-NP" dirty="0"/>
                    </a:p>
                  </a:txBody>
                  <a:tcPr>
                    <a:noFill/>
                  </a:tcPr>
                </a:tc>
                <a:tc hMerge="1" vMerge="1">
                  <a:txBody>
                    <a:bodyPr/>
                    <a:lstStyle/>
                    <a:p>
                      <a:endParaRPr lang="en-NP" dirty="0"/>
                    </a:p>
                  </a:txBody>
                  <a:tcPr>
                    <a:noFill/>
                  </a:tcPr>
                </a:tc>
                <a:tc hMerge="1" vMerge="1">
                  <a:txBody>
                    <a:bodyPr/>
                    <a:lstStyle/>
                    <a:p>
                      <a:endParaRPr lang="en-NP"/>
                    </a:p>
                  </a:txBody>
                  <a:tcPr>
                    <a:noFill/>
                  </a:tcPr>
                </a:tc>
                <a:tc hMerge="1" vMerge="1">
                  <a:txBody>
                    <a:bodyPr/>
                    <a:lstStyle/>
                    <a:p>
                      <a:endParaRPr lang="en-NP" dirty="0"/>
                    </a:p>
                  </a:txBody>
                  <a:tcPr>
                    <a:solidFill>
                      <a:srgbClr val="92D050"/>
                    </a:solidFill>
                  </a:tcPr>
                </a:tc>
                <a:tc hMerge="1" vMerge="1">
                  <a:txBody>
                    <a:bodyPr/>
                    <a:lstStyle/>
                    <a:p>
                      <a:endParaRPr lang="en-NP"/>
                    </a:p>
                  </a:txBody>
                  <a:tcPr>
                    <a:noFill/>
                  </a:tcPr>
                </a:tc>
                <a:tc hMerge="1" vMerge="1">
                  <a:txBody>
                    <a:bodyPr/>
                    <a:lstStyle/>
                    <a:p>
                      <a:endParaRPr lang="en-NP"/>
                    </a:p>
                  </a:txBody>
                  <a:tcPr/>
                </a:tc>
                <a:extLst>
                  <a:ext uri="{0D108BD9-81ED-4DB2-BD59-A6C34878D82A}">
                    <a16:rowId xmlns:a16="http://schemas.microsoft.com/office/drawing/2014/main" val="3455449375"/>
                  </a:ext>
                </a:extLst>
              </a:tr>
            </a:tbl>
          </a:graphicData>
        </a:graphic>
      </p:graphicFrame>
      <p:cxnSp>
        <p:nvCxnSpPr>
          <p:cNvPr id="11" name="Straight Arrow Connector 10">
            <a:extLst>
              <a:ext uri="{FF2B5EF4-FFF2-40B4-BE49-F238E27FC236}">
                <a16:creationId xmlns:a16="http://schemas.microsoft.com/office/drawing/2014/main" id="{F67B4888-09E3-B5D0-3992-AF238375BD2B}"/>
              </a:ext>
            </a:extLst>
          </p:cNvPr>
          <p:cNvCxnSpPr>
            <a:cxnSpLocks/>
          </p:cNvCxnSpPr>
          <p:nvPr/>
        </p:nvCxnSpPr>
        <p:spPr>
          <a:xfrm>
            <a:off x="7496698" y="1699979"/>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63AE344-CDFB-795C-4360-F6F7FF6B9838}"/>
              </a:ext>
            </a:extLst>
          </p:cNvPr>
          <p:cNvCxnSpPr>
            <a:cxnSpLocks/>
          </p:cNvCxnSpPr>
          <p:nvPr/>
        </p:nvCxnSpPr>
        <p:spPr>
          <a:xfrm>
            <a:off x="7496698" y="2365335"/>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04690C4-A367-CBDB-7AD5-1AF130D1B445}"/>
              </a:ext>
            </a:extLst>
          </p:cNvPr>
          <p:cNvCxnSpPr>
            <a:cxnSpLocks/>
          </p:cNvCxnSpPr>
          <p:nvPr/>
        </p:nvCxnSpPr>
        <p:spPr>
          <a:xfrm>
            <a:off x="7496698" y="3008388"/>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26B92D9-7359-8DB4-FEF7-1459E85E40D0}"/>
              </a:ext>
            </a:extLst>
          </p:cNvPr>
          <p:cNvCxnSpPr>
            <a:cxnSpLocks/>
          </p:cNvCxnSpPr>
          <p:nvPr/>
        </p:nvCxnSpPr>
        <p:spPr>
          <a:xfrm>
            <a:off x="7496698" y="3628765"/>
            <a:ext cx="407602" cy="0"/>
          </a:xfrm>
          <a:prstGeom prst="straightConnector1">
            <a:avLst/>
          </a:prstGeom>
          <a:ln w="508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1787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674A-6D7E-EA80-4454-CCD71C4AD2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3C5D6-D2C0-1CEC-2F10-F9B29CE7BFD4}"/>
              </a:ext>
            </a:extLst>
          </p:cNvPr>
          <p:cNvSpPr>
            <a:spLocks noGrp="1"/>
          </p:cNvSpPr>
          <p:nvPr>
            <p:ph idx="1"/>
          </p:nvPr>
        </p:nvSpPr>
        <p:spPr>
          <a:xfrm>
            <a:off x="206062" y="103031"/>
            <a:ext cx="11745532" cy="6593983"/>
          </a:xfrm>
        </p:spPr>
        <p:txBody>
          <a:bodyPr>
            <a:normAutofit fontScale="32500" lnSpcReduction="20000"/>
          </a:bodyPr>
          <a:lstStyle/>
          <a:p>
            <a:pPr marL="0" indent="0">
              <a:buNone/>
            </a:pPr>
            <a:r>
              <a:rPr lang="en-NP" sz="7400" b="1" i="1" dirty="0">
                <a:solidFill>
                  <a:srgbClr val="FF0000"/>
                </a:solidFill>
              </a:rPr>
              <a:t>8.Write C program to find sum of series 1, 3, 5,…..200 using function. </a:t>
            </a:r>
            <a:endParaRPr lang="en-US" sz="7400" b="1" i="1" dirty="0">
              <a:solidFill>
                <a:srgbClr val="FF0000"/>
              </a:solidFill>
            </a:endParaRPr>
          </a:p>
          <a:p>
            <a:pPr marL="0" indent="0">
              <a:buNone/>
            </a:pPr>
            <a:r>
              <a:rPr lang="en-US" sz="6000" b="1" i="1" dirty="0"/>
              <a:t>#include&lt;</a:t>
            </a:r>
            <a:r>
              <a:rPr lang="en-US" sz="6000" b="1" i="1" dirty="0" err="1"/>
              <a:t>stdio.h</a:t>
            </a:r>
            <a:r>
              <a:rPr lang="en-US" sz="6000" b="1" i="1" dirty="0"/>
              <a:t>&gt; </a:t>
            </a:r>
          </a:p>
          <a:p>
            <a:pPr marL="0" indent="0">
              <a:buNone/>
            </a:pPr>
            <a:r>
              <a:rPr lang="en-US" sz="6000" b="1" i="1" dirty="0"/>
              <a:t>int sum(); </a:t>
            </a:r>
          </a:p>
          <a:p>
            <a:pPr marL="0" indent="0">
              <a:buNone/>
            </a:pPr>
            <a:r>
              <a:rPr lang="en-US" sz="6000" b="1" i="1" dirty="0"/>
              <a:t>int main() </a:t>
            </a:r>
          </a:p>
          <a:p>
            <a:pPr marL="0" indent="0">
              <a:buNone/>
            </a:pPr>
            <a:r>
              <a:rPr lang="en-US" sz="6000" b="1" i="1" dirty="0"/>
              <a:t>{ </a:t>
            </a:r>
          </a:p>
          <a:p>
            <a:pPr marL="0" indent="0">
              <a:buNone/>
            </a:pPr>
            <a:r>
              <a:rPr lang="en-US" sz="6000" b="1" i="1" dirty="0" err="1"/>
              <a:t>printf</a:t>
            </a:r>
            <a:r>
              <a:rPr lang="en-US" sz="6000" b="1" i="1" dirty="0"/>
              <a:t>("the sum is=%d", sum()); </a:t>
            </a:r>
          </a:p>
          <a:p>
            <a:pPr marL="0" indent="0">
              <a:buNone/>
            </a:pPr>
            <a:r>
              <a:rPr lang="en-US" sz="6000" b="1" i="1" dirty="0"/>
              <a:t>return 0;</a:t>
            </a:r>
          </a:p>
          <a:p>
            <a:pPr marL="0" indent="0">
              <a:buNone/>
            </a:pPr>
            <a:r>
              <a:rPr lang="en-US" sz="6000" b="1" i="1" dirty="0"/>
              <a:t>} </a:t>
            </a:r>
          </a:p>
          <a:p>
            <a:pPr marL="0" indent="0">
              <a:buNone/>
            </a:pPr>
            <a:r>
              <a:rPr lang="en-US" sz="6000" b="1" i="1" dirty="0"/>
              <a:t>int sum() </a:t>
            </a:r>
          </a:p>
          <a:p>
            <a:pPr marL="0" indent="0">
              <a:buNone/>
            </a:pPr>
            <a:r>
              <a:rPr lang="en-US" sz="6000" b="1" i="1" dirty="0"/>
              <a:t>{ </a:t>
            </a:r>
          </a:p>
          <a:p>
            <a:pPr marL="0" indent="0">
              <a:buNone/>
            </a:pPr>
            <a:r>
              <a:rPr lang="en-US" sz="6000" b="1" i="1" dirty="0"/>
              <a:t>int s=0, </a:t>
            </a:r>
            <a:r>
              <a:rPr lang="en-US" sz="6000" b="1" i="1" dirty="0" err="1"/>
              <a:t>i</a:t>
            </a:r>
            <a:r>
              <a:rPr lang="en-US" sz="6000" b="1" i="1" dirty="0"/>
              <a:t>; </a:t>
            </a:r>
          </a:p>
          <a:p>
            <a:pPr marL="0" indent="0">
              <a:buNone/>
            </a:pPr>
            <a:r>
              <a:rPr lang="en-US" sz="6000" b="1" i="1" dirty="0"/>
              <a:t>for(</a:t>
            </a:r>
            <a:r>
              <a:rPr lang="en-US" sz="6000" b="1" i="1" dirty="0" err="1"/>
              <a:t>i</a:t>
            </a:r>
            <a:r>
              <a:rPr lang="en-US" sz="6000" b="1" i="1" dirty="0"/>
              <a:t>=1; </a:t>
            </a:r>
            <a:r>
              <a:rPr lang="en-US" sz="6000" b="1" i="1" dirty="0" err="1"/>
              <a:t>i</a:t>
            </a:r>
            <a:r>
              <a:rPr lang="en-US" sz="6000" b="1" i="1" dirty="0"/>
              <a:t>&lt;=200; </a:t>
            </a:r>
            <a:r>
              <a:rPr lang="en-US" sz="6000" b="1" i="1" dirty="0" err="1"/>
              <a:t>i</a:t>
            </a:r>
            <a:r>
              <a:rPr lang="en-US" sz="6000" b="1" i="1" dirty="0"/>
              <a:t>+=2) </a:t>
            </a:r>
          </a:p>
          <a:p>
            <a:pPr marL="0" indent="0">
              <a:buNone/>
            </a:pPr>
            <a:r>
              <a:rPr lang="en-US" sz="6000" b="1" i="1" dirty="0"/>
              <a:t>{ </a:t>
            </a:r>
          </a:p>
          <a:p>
            <a:pPr marL="0" indent="0">
              <a:buNone/>
            </a:pPr>
            <a:r>
              <a:rPr lang="en-US" sz="6000" b="1" i="1" dirty="0"/>
              <a:t>s=</a:t>
            </a:r>
            <a:r>
              <a:rPr lang="en-US" sz="6000" b="1" i="1" dirty="0" err="1"/>
              <a:t>s+i</a:t>
            </a:r>
            <a:r>
              <a:rPr lang="en-US" sz="6000" b="1" i="1" dirty="0"/>
              <a:t>; </a:t>
            </a:r>
          </a:p>
          <a:p>
            <a:pPr marL="0" indent="0">
              <a:buNone/>
            </a:pPr>
            <a:r>
              <a:rPr lang="en-US" sz="6000" b="1" i="1" dirty="0"/>
              <a:t>} </a:t>
            </a:r>
          </a:p>
          <a:p>
            <a:pPr marL="0" indent="0">
              <a:buNone/>
            </a:pPr>
            <a:r>
              <a:rPr lang="en-US" sz="6000" b="1" i="1" dirty="0"/>
              <a:t>return s; </a:t>
            </a:r>
          </a:p>
          <a:p>
            <a:pPr marL="0" indent="0">
              <a:buNone/>
            </a:pPr>
            <a:r>
              <a:rPr lang="en-US" sz="6000" b="1" i="1" dirty="0"/>
              <a:t>}</a:t>
            </a:r>
          </a:p>
          <a:p>
            <a:pPr marL="0" indent="0">
              <a:buNone/>
            </a:pPr>
            <a:br>
              <a:rPr lang="en-US" b="1" i="1" dirty="0"/>
            </a:br>
            <a:endParaRPr lang="en-US" b="1" i="1" dirty="0"/>
          </a:p>
          <a:p>
            <a:pPr marL="0" indent="0">
              <a:buNone/>
            </a:pPr>
            <a:endParaRPr lang="en-NP" b="1" i="1" dirty="0"/>
          </a:p>
        </p:txBody>
      </p:sp>
      <p:pic>
        <p:nvPicPr>
          <p:cNvPr id="2" name="Picture 1">
            <a:extLst>
              <a:ext uri="{FF2B5EF4-FFF2-40B4-BE49-F238E27FC236}">
                <a16:creationId xmlns:a16="http://schemas.microsoft.com/office/drawing/2014/main" id="{F15FE0BF-7139-0AC2-D56D-35750D2BBA2E}"/>
              </a:ext>
            </a:extLst>
          </p:cNvPr>
          <p:cNvPicPr>
            <a:picLocks noChangeAspect="1"/>
          </p:cNvPicPr>
          <p:nvPr/>
        </p:nvPicPr>
        <p:blipFill>
          <a:blip r:embed="rId2"/>
          <a:stretch>
            <a:fillRect/>
          </a:stretch>
        </p:blipFill>
        <p:spPr>
          <a:xfrm>
            <a:off x="1831278" y="5117326"/>
            <a:ext cx="3911600" cy="749300"/>
          </a:xfrm>
          <a:prstGeom prst="rect">
            <a:avLst/>
          </a:prstGeom>
        </p:spPr>
      </p:pic>
      <p:graphicFrame>
        <p:nvGraphicFramePr>
          <p:cNvPr id="4" name="Table 3">
            <a:extLst>
              <a:ext uri="{FF2B5EF4-FFF2-40B4-BE49-F238E27FC236}">
                <a16:creationId xmlns:a16="http://schemas.microsoft.com/office/drawing/2014/main" id="{887D120F-C3A6-B452-94F0-6FE33E734763}"/>
              </a:ext>
            </a:extLst>
          </p:cNvPr>
          <p:cNvGraphicFramePr>
            <a:graphicFrameLocks noGrp="1"/>
          </p:cNvGraphicFramePr>
          <p:nvPr>
            <p:extLst>
              <p:ext uri="{D42A27DB-BD31-4B8C-83A1-F6EECF244321}">
                <p14:modId xmlns:p14="http://schemas.microsoft.com/office/powerpoint/2010/main" val="1487439415"/>
              </p:ext>
            </p:extLst>
          </p:nvPr>
        </p:nvGraphicFramePr>
        <p:xfrm>
          <a:off x="6095999" y="1070517"/>
          <a:ext cx="4112526" cy="5163016"/>
        </p:xfrm>
        <a:graphic>
          <a:graphicData uri="http://schemas.openxmlformats.org/drawingml/2006/table">
            <a:tbl>
              <a:tblPr firstRow="1" bandRow="1">
                <a:tableStyleId>{5940675A-B579-460E-94D1-54222C63F5DA}</a:tableStyleId>
              </a:tblPr>
              <a:tblGrid>
                <a:gridCol w="921729">
                  <a:extLst>
                    <a:ext uri="{9D8B030D-6E8A-4147-A177-3AD203B41FA5}">
                      <a16:colId xmlns:a16="http://schemas.microsoft.com/office/drawing/2014/main" val="1491668107"/>
                    </a:ext>
                  </a:extLst>
                </a:gridCol>
                <a:gridCol w="857030">
                  <a:extLst>
                    <a:ext uri="{9D8B030D-6E8A-4147-A177-3AD203B41FA5}">
                      <a16:colId xmlns:a16="http://schemas.microsoft.com/office/drawing/2014/main" val="3587604083"/>
                    </a:ext>
                  </a:extLst>
                </a:gridCol>
                <a:gridCol w="482163">
                  <a:extLst>
                    <a:ext uri="{9D8B030D-6E8A-4147-A177-3AD203B41FA5}">
                      <a16:colId xmlns:a16="http://schemas.microsoft.com/office/drawing/2014/main" val="4119104904"/>
                    </a:ext>
                  </a:extLst>
                </a:gridCol>
                <a:gridCol w="787079">
                  <a:extLst>
                    <a:ext uri="{9D8B030D-6E8A-4147-A177-3AD203B41FA5}">
                      <a16:colId xmlns:a16="http://schemas.microsoft.com/office/drawing/2014/main" val="2975726339"/>
                    </a:ext>
                  </a:extLst>
                </a:gridCol>
                <a:gridCol w="434210">
                  <a:extLst>
                    <a:ext uri="{9D8B030D-6E8A-4147-A177-3AD203B41FA5}">
                      <a16:colId xmlns:a16="http://schemas.microsoft.com/office/drawing/2014/main" val="143401575"/>
                    </a:ext>
                  </a:extLst>
                </a:gridCol>
                <a:gridCol w="630315">
                  <a:extLst>
                    <a:ext uri="{9D8B030D-6E8A-4147-A177-3AD203B41FA5}">
                      <a16:colId xmlns:a16="http://schemas.microsoft.com/office/drawing/2014/main" val="1840276858"/>
                    </a:ext>
                  </a:extLst>
                </a:gridCol>
              </a:tblGrid>
              <a:tr h="412595">
                <a:tc>
                  <a:txBody>
                    <a:bodyPr/>
                    <a:lstStyle/>
                    <a:p>
                      <a:r>
                        <a:rPr lang="en-NP" b="1" dirty="0">
                          <a:highlight>
                            <a:srgbClr val="FFFF00"/>
                          </a:highlight>
                        </a:rPr>
                        <a:t>i=1</a:t>
                      </a:r>
                    </a:p>
                  </a:txBody>
                  <a:tcPr/>
                </a:tc>
                <a:tc>
                  <a:txBody>
                    <a:bodyPr/>
                    <a:lstStyle/>
                    <a:p>
                      <a:r>
                        <a:rPr lang="en-NP" b="1" dirty="0"/>
                        <a:t>S=0</a:t>
                      </a:r>
                    </a:p>
                  </a:txBody>
                  <a:tcPr/>
                </a:tc>
                <a:tc>
                  <a:txBody>
                    <a:bodyPr/>
                    <a:lstStyle/>
                    <a:p>
                      <a:endParaRPr lang="en-NP" b="1" dirty="0"/>
                    </a:p>
                  </a:txBody>
                  <a:tcPr/>
                </a:tc>
                <a:tc>
                  <a:txBody>
                    <a:bodyPr/>
                    <a:lstStyle/>
                    <a:p>
                      <a:endParaRPr lang="en-NP" b="1" dirty="0"/>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3008579028"/>
                  </a:ext>
                </a:extLst>
              </a:tr>
              <a:tr h="367991">
                <a:tc>
                  <a:txBody>
                    <a:bodyPr/>
                    <a:lstStyle/>
                    <a:p>
                      <a:r>
                        <a:rPr lang="en-NP" b="1" dirty="0">
                          <a:highlight>
                            <a:srgbClr val="FFFF00"/>
                          </a:highlight>
                        </a:rPr>
                        <a:t>i=i+2</a:t>
                      </a:r>
                    </a:p>
                  </a:txBody>
                  <a:tcPr/>
                </a:tc>
                <a:tc>
                  <a:txBody>
                    <a:bodyPr/>
                    <a:lstStyle/>
                    <a:p>
                      <a:r>
                        <a:rPr lang="en-NP" b="1" dirty="0">
                          <a:highlight>
                            <a:srgbClr val="FFFF00"/>
                          </a:highlight>
                        </a:rPr>
                        <a:t>S</a:t>
                      </a:r>
                    </a:p>
                  </a:txBody>
                  <a:tcPr/>
                </a:tc>
                <a:tc>
                  <a:txBody>
                    <a:bodyPr/>
                    <a:lstStyle/>
                    <a:p>
                      <a:r>
                        <a:rPr lang="en-NP" b="1" dirty="0">
                          <a:solidFill>
                            <a:srgbClr val="FF0000"/>
                          </a:solidFill>
                          <a:highlight>
                            <a:srgbClr val="FFFF00"/>
                          </a:highlight>
                        </a:rPr>
                        <a:t>=</a:t>
                      </a:r>
                    </a:p>
                  </a:txBody>
                  <a:tcPr/>
                </a:tc>
                <a:tc>
                  <a:txBody>
                    <a:bodyPr/>
                    <a:lstStyle/>
                    <a:p>
                      <a:r>
                        <a:rPr lang="en-US" b="1" dirty="0">
                          <a:highlight>
                            <a:srgbClr val="FFFF00"/>
                          </a:highlight>
                        </a:rPr>
                        <a:t>S   </a:t>
                      </a:r>
                      <a:endParaRPr lang="en-NP" b="1" dirty="0">
                        <a:highlight>
                          <a:srgbClr val="FFFF00"/>
                        </a:highlight>
                      </a:endParaRPr>
                    </a:p>
                  </a:txBody>
                  <a:tcPr/>
                </a:tc>
                <a:tc>
                  <a:txBody>
                    <a:bodyPr/>
                    <a:lstStyle/>
                    <a:p>
                      <a:r>
                        <a:rPr lang="en-NP" b="1" dirty="0">
                          <a:solidFill>
                            <a:srgbClr val="FF0000"/>
                          </a:solidFill>
                          <a:highlight>
                            <a:srgbClr val="FFFF00"/>
                          </a:highlight>
                        </a:rPr>
                        <a:t>+</a:t>
                      </a:r>
                    </a:p>
                  </a:txBody>
                  <a:tcPr/>
                </a:tc>
                <a:tc>
                  <a:txBody>
                    <a:bodyPr/>
                    <a:lstStyle/>
                    <a:p>
                      <a:r>
                        <a:rPr lang="en-NP" b="1" dirty="0">
                          <a:solidFill>
                            <a:schemeClr val="tx1"/>
                          </a:solidFill>
                          <a:highlight>
                            <a:srgbClr val="FFFF00"/>
                          </a:highlight>
                        </a:rPr>
                        <a:t>i</a:t>
                      </a:r>
                    </a:p>
                  </a:txBody>
                  <a:tcPr/>
                </a:tc>
                <a:extLst>
                  <a:ext uri="{0D108BD9-81ED-4DB2-BD59-A6C34878D82A}">
                    <a16:rowId xmlns:a16="http://schemas.microsoft.com/office/drawing/2014/main" val="34035357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b="1" dirty="0">
                          <a:highlight>
                            <a:srgbClr val="FFFF00"/>
                          </a:highlight>
                        </a:rPr>
                        <a:t>i=1</a:t>
                      </a:r>
                    </a:p>
                    <a:p>
                      <a:endParaRPr lang="en-NP" b="1" dirty="0">
                        <a:highlight>
                          <a:srgbClr val="FFFF00"/>
                        </a:highlight>
                      </a:endParaRPr>
                    </a:p>
                  </a:txBody>
                  <a:tcPr/>
                </a:tc>
                <a:tc>
                  <a:txBody>
                    <a:bodyPr/>
                    <a:lstStyle/>
                    <a:p>
                      <a:r>
                        <a:rPr lang="en-US" b="1" dirty="0">
                          <a:highlight>
                            <a:srgbClr val="00FF00"/>
                          </a:highlight>
                        </a:rPr>
                        <a:t>1</a:t>
                      </a:r>
                      <a:endParaRPr lang="en-NP" b="1" dirty="0">
                        <a:highlight>
                          <a:srgbClr val="00FF00"/>
                        </a:highlight>
                      </a:endParaRPr>
                    </a:p>
                  </a:txBody>
                  <a:tcPr/>
                </a:tc>
                <a:tc>
                  <a:txBody>
                    <a:bodyPr/>
                    <a:lstStyle/>
                    <a:p>
                      <a:r>
                        <a:rPr lang="en-NP" b="1" dirty="0">
                          <a:solidFill>
                            <a:srgbClr val="FF0000"/>
                          </a:solidFill>
                        </a:rPr>
                        <a:t>=</a:t>
                      </a:r>
                    </a:p>
                  </a:txBody>
                  <a:tcPr/>
                </a:tc>
                <a:tc>
                  <a:txBody>
                    <a:bodyPr/>
                    <a:lstStyle/>
                    <a:p>
                      <a:r>
                        <a:rPr lang="en-NP" b="1" dirty="0">
                          <a:highlight>
                            <a:srgbClr val="00FFFF"/>
                          </a:highlight>
                        </a:rPr>
                        <a:t>0</a:t>
                      </a:r>
                    </a:p>
                  </a:txBody>
                  <a:tcPr/>
                </a:tc>
                <a:tc>
                  <a:txBody>
                    <a:bodyPr/>
                    <a:lstStyle/>
                    <a:p>
                      <a:r>
                        <a:rPr lang="en-NP" b="1" dirty="0">
                          <a:solidFill>
                            <a:srgbClr val="FF0000"/>
                          </a:solidFill>
                        </a:rPr>
                        <a:t>+</a:t>
                      </a:r>
                    </a:p>
                  </a:txBody>
                  <a:tcPr/>
                </a:tc>
                <a:tc>
                  <a:txBody>
                    <a:bodyPr/>
                    <a:lstStyle/>
                    <a:p>
                      <a:r>
                        <a:rPr lang="en-NP" b="1" dirty="0">
                          <a:solidFill>
                            <a:schemeClr val="tx1"/>
                          </a:solidFill>
                        </a:rPr>
                        <a:t>1</a:t>
                      </a:r>
                    </a:p>
                  </a:txBody>
                  <a:tcPr/>
                </a:tc>
                <a:extLst>
                  <a:ext uri="{0D108BD9-81ED-4DB2-BD59-A6C34878D82A}">
                    <a16:rowId xmlns:a16="http://schemas.microsoft.com/office/drawing/2014/main" val="1583199769"/>
                  </a:ext>
                </a:extLst>
              </a:tr>
              <a:tr h="396983">
                <a:tc>
                  <a:txBody>
                    <a:bodyPr/>
                    <a:lstStyle/>
                    <a:p>
                      <a:r>
                        <a:rPr lang="en-NP" b="1" dirty="0">
                          <a:highlight>
                            <a:srgbClr val="FFFF00"/>
                          </a:highlight>
                        </a:rPr>
                        <a:t>i=3</a:t>
                      </a:r>
                    </a:p>
                  </a:txBody>
                  <a:tcPr/>
                </a:tc>
                <a:tc>
                  <a:txBody>
                    <a:bodyPr/>
                    <a:lstStyle/>
                    <a:p>
                      <a:r>
                        <a:rPr lang="en-NP" b="1" dirty="0">
                          <a:highlight>
                            <a:srgbClr val="00FF00"/>
                          </a:highlight>
                        </a:rPr>
                        <a:t>4</a:t>
                      </a:r>
                    </a:p>
                  </a:txBody>
                  <a:tcPr/>
                </a:tc>
                <a:tc>
                  <a:txBody>
                    <a:bodyPr/>
                    <a:lstStyle/>
                    <a:p>
                      <a:r>
                        <a:rPr lang="en-NP" b="1" dirty="0">
                          <a:solidFill>
                            <a:srgbClr val="FF0000"/>
                          </a:solidFill>
                        </a:rPr>
                        <a:t>=</a:t>
                      </a:r>
                    </a:p>
                  </a:txBody>
                  <a:tcPr/>
                </a:tc>
                <a:tc>
                  <a:txBody>
                    <a:bodyPr/>
                    <a:lstStyle/>
                    <a:p>
                      <a:r>
                        <a:rPr lang="en-NP" b="1" dirty="0">
                          <a:highlight>
                            <a:srgbClr val="00FFFF"/>
                          </a:highlight>
                        </a:rPr>
                        <a:t>1</a:t>
                      </a:r>
                    </a:p>
                  </a:txBody>
                  <a:tcPr/>
                </a:tc>
                <a:tc>
                  <a:txBody>
                    <a:bodyPr/>
                    <a:lstStyle/>
                    <a:p>
                      <a:r>
                        <a:rPr lang="en-NP" b="1" dirty="0">
                          <a:solidFill>
                            <a:srgbClr val="FF0000"/>
                          </a:solidFill>
                        </a:rPr>
                        <a:t>+</a:t>
                      </a:r>
                    </a:p>
                  </a:txBody>
                  <a:tcPr/>
                </a:tc>
                <a:tc>
                  <a:txBody>
                    <a:bodyPr/>
                    <a:lstStyle/>
                    <a:p>
                      <a:r>
                        <a:rPr lang="en-NP" b="1" dirty="0">
                          <a:solidFill>
                            <a:schemeClr val="tx1"/>
                          </a:solidFill>
                        </a:rPr>
                        <a:t>3</a:t>
                      </a:r>
                    </a:p>
                  </a:txBody>
                  <a:tcPr/>
                </a:tc>
                <a:extLst>
                  <a:ext uri="{0D108BD9-81ED-4DB2-BD59-A6C34878D82A}">
                    <a16:rowId xmlns:a16="http://schemas.microsoft.com/office/drawing/2014/main" val="2505822682"/>
                  </a:ext>
                </a:extLst>
              </a:tr>
              <a:tr h="356839">
                <a:tc>
                  <a:txBody>
                    <a:bodyPr/>
                    <a:lstStyle/>
                    <a:p>
                      <a:r>
                        <a:rPr lang="en-NP" b="1" dirty="0">
                          <a:highlight>
                            <a:srgbClr val="FFFF00"/>
                          </a:highlight>
                        </a:rPr>
                        <a:t>i=5</a:t>
                      </a:r>
                    </a:p>
                  </a:txBody>
                  <a:tcPr/>
                </a:tc>
                <a:tc>
                  <a:txBody>
                    <a:bodyPr/>
                    <a:lstStyle/>
                    <a:p>
                      <a:r>
                        <a:rPr lang="en-NP" b="1" dirty="0">
                          <a:highlight>
                            <a:srgbClr val="00FF00"/>
                          </a:highlight>
                        </a:rPr>
                        <a:t>9</a:t>
                      </a:r>
                    </a:p>
                  </a:txBody>
                  <a:tcPr/>
                </a:tc>
                <a:tc>
                  <a:txBody>
                    <a:bodyPr/>
                    <a:lstStyle/>
                    <a:p>
                      <a:r>
                        <a:rPr lang="en-NP" b="1" dirty="0">
                          <a:solidFill>
                            <a:srgbClr val="FF0000"/>
                          </a:solidFill>
                        </a:rPr>
                        <a:t>=</a:t>
                      </a:r>
                    </a:p>
                  </a:txBody>
                  <a:tcPr/>
                </a:tc>
                <a:tc>
                  <a:txBody>
                    <a:bodyPr/>
                    <a:lstStyle/>
                    <a:p>
                      <a:r>
                        <a:rPr lang="en-NP" b="1" dirty="0">
                          <a:highlight>
                            <a:srgbClr val="00FFFF"/>
                          </a:highlight>
                        </a:rPr>
                        <a:t>4</a:t>
                      </a:r>
                    </a:p>
                  </a:txBody>
                  <a:tcPr/>
                </a:tc>
                <a:tc>
                  <a:txBody>
                    <a:bodyPr/>
                    <a:lstStyle/>
                    <a:p>
                      <a:r>
                        <a:rPr lang="en-NP" b="1" dirty="0">
                          <a:solidFill>
                            <a:srgbClr val="FF0000"/>
                          </a:solidFill>
                        </a:rPr>
                        <a:t>+</a:t>
                      </a:r>
                    </a:p>
                  </a:txBody>
                  <a:tcPr/>
                </a:tc>
                <a:tc>
                  <a:txBody>
                    <a:bodyPr/>
                    <a:lstStyle/>
                    <a:p>
                      <a:r>
                        <a:rPr lang="en-NP" b="1" dirty="0">
                          <a:solidFill>
                            <a:schemeClr val="tx1"/>
                          </a:solidFill>
                        </a:rPr>
                        <a:t>5</a:t>
                      </a:r>
                    </a:p>
                  </a:txBody>
                  <a:tcPr/>
                </a:tc>
                <a:extLst>
                  <a:ext uri="{0D108BD9-81ED-4DB2-BD59-A6C34878D82A}">
                    <a16:rowId xmlns:a16="http://schemas.microsoft.com/office/drawing/2014/main" val="1425726257"/>
                  </a:ext>
                </a:extLst>
              </a:tr>
              <a:tr h="359069">
                <a:tc>
                  <a:txBody>
                    <a:bodyPr/>
                    <a:lstStyle/>
                    <a:p>
                      <a:r>
                        <a:rPr lang="en-NP" b="1" dirty="0">
                          <a:highlight>
                            <a:srgbClr val="FFFF00"/>
                          </a:highlight>
                        </a:rPr>
                        <a:t>i=7</a:t>
                      </a:r>
                    </a:p>
                  </a:txBody>
                  <a:tcPr/>
                </a:tc>
                <a:tc>
                  <a:txBody>
                    <a:bodyPr/>
                    <a:lstStyle/>
                    <a:p>
                      <a:r>
                        <a:rPr lang="en-NP" b="1" dirty="0">
                          <a:highlight>
                            <a:srgbClr val="00FF00"/>
                          </a:highlight>
                        </a:rPr>
                        <a:t>16</a:t>
                      </a:r>
                    </a:p>
                  </a:txBody>
                  <a:tcPr/>
                </a:tc>
                <a:tc>
                  <a:txBody>
                    <a:bodyPr/>
                    <a:lstStyle/>
                    <a:p>
                      <a:r>
                        <a:rPr lang="en-NP" b="1" dirty="0">
                          <a:solidFill>
                            <a:srgbClr val="FF0000"/>
                          </a:solidFill>
                        </a:rPr>
                        <a:t>=</a:t>
                      </a:r>
                    </a:p>
                  </a:txBody>
                  <a:tcPr/>
                </a:tc>
                <a:tc>
                  <a:txBody>
                    <a:bodyPr/>
                    <a:lstStyle/>
                    <a:p>
                      <a:r>
                        <a:rPr lang="en-NP" b="1" dirty="0">
                          <a:highlight>
                            <a:srgbClr val="00FFFF"/>
                          </a:highlight>
                        </a:rPr>
                        <a:t>9</a:t>
                      </a:r>
                    </a:p>
                  </a:txBody>
                  <a:tcPr/>
                </a:tc>
                <a:tc>
                  <a:txBody>
                    <a:bodyPr/>
                    <a:lstStyle/>
                    <a:p>
                      <a:r>
                        <a:rPr lang="en-NP" b="1" dirty="0">
                          <a:solidFill>
                            <a:srgbClr val="FF0000"/>
                          </a:solidFill>
                        </a:rPr>
                        <a:t>+</a:t>
                      </a:r>
                    </a:p>
                  </a:txBody>
                  <a:tcPr/>
                </a:tc>
                <a:tc>
                  <a:txBody>
                    <a:bodyPr/>
                    <a:lstStyle/>
                    <a:p>
                      <a:r>
                        <a:rPr lang="en-NP" b="1" dirty="0">
                          <a:solidFill>
                            <a:schemeClr val="tx1"/>
                          </a:solidFill>
                        </a:rPr>
                        <a:t>7</a:t>
                      </a:r>
                    </a:p>
                  </a:txBody>
                  <a:tcPr/>
                </a:tc>
                <a:extLst>
                  <a:ext uri="{0D108BD9-81ED-4DB2-BD59-A6C34878D82A}">
                    <a16:rowId xmlns:a16="http://schemas.microsoft.com/office/drawing/2014/main" val="2507618460"/>
                  </a:ext>
                </a:extLst>
              </a:tr>
              <a:tr h="383602">
                <a:tc>
                  <a:txBody>
                    <a:bodyPr/>
                    <a:lstStyle/>
                    <a:p>
                      <a:r>
                        <a:rPr lang="en-NP" b="1" dirty="0">
                          <a:highlight>
                            <a:srgbClr val="FFFF00"/>
                          </a:highlight>
                        </a:rPr>
                        <a:t>i=9</a:t>
                      </a:r>
                    </a:p>
                  </a:txBody>
                  <a:tcPr/>
                </a:tc>
                <a:tc>
                  <a:txBody>
                    <a:bodyPr/>
                    <a:lstStyle/>
                    <a:p>
                      <a:r>
                        <a:rPr lang="en-NP" b="1" dirty="0">
                          <a:highlight>
                            <a:srgbClr val="00FF00"/>
                          </a:highlight>
                        </a:rPr>
                        <a:t>25</a:t>
                      </a:r>
                    </a:p>
                  </a:txBody>
                  <a:tcPr/>
                </a:tc>
                <a:tc>
                  <a:txBody>
                    <a:bodyPr/>
                    <a:lstStyle/>
                    <a:p>
                      <a:r>
                        <a:rPr lang="en-NP" b="1" dirty="0">
                          <a:solidFill>
                            <a:srgbClr val="FF0000"/>
                          </a:solidFill>
                        </a:rPr>
                        <a:t>=</a:t>
                      </a:r>
                    </a:p>
                  </a:txBody>
                  <a:tcPr/>
                </a:tc>
                <a:tc>
                  <a:txBody>
                    <a:bodyPr/>
                    <a:lstStyle/>
                    <a:p>
                      <a:r>
                        <a:rPr lang="en-NP" b="1" dirty="0">
                          <a:highlight>
                            <a:srgbClr val="00FFFF"/>
                          </a:highlight>
                        </a:rPr>
                        <a:t>16</a:t>
                      </a:r>
                    </a:p>
                  </a:txBody>
                  <a:tcPr/>
                </a:tc>
                <a:tc>
                  <a:txBody>
                    <a:bodyPr/>
                    <a:lstStyle/>
                    <a:p>
                      <a:r>
                        <a:rPr lang="en-NP" b="1" dirty="0">
                          <a:solidFill>
                            <a:srgbClr val="FF0000"/>
                          </a:solidFill>
                        </a:rPr>
                        <a:t>+</a:t>
                      </a:r>
                    </a:p>
                  </a:txBody>
                  <a:tcPr/>
                </a:tc>
                <a:tc>
                  <a:txBody>
                    <a:bodyPr/>
                    <a:lstStyle/>
                    <a:p>
                      <a:r>
                        <a:rPr lang="en-NP" b="1" dirty="0">
                          <a:solidFill>
                            <a:schemeClr val="tx1"/>
                          </a:solidFill>
                        </a:rPr>
                        <a:t>9</a:t>
                      </a:r>
                    </a:p>
                  </a:txBody>
                  <a:tcPr/>
                </a:tc>
                <a:extLst>
                  <a:ext uri="{0D108BD9-81ED-4DB2-BD59-A6C34878D82A}">
                    <a16:rowId xmlns:a16="http://schemas.microsoft.com/office/drawing/2014/main" val="3877614843"/>
                  </a:ext>
                </a:extLst>
              </a:tr>
              <a:tr h="446049">
                <a:tc>
                  <a:txBody>
                    <a:bodyPr/>
                    <a:lstStyle/>
                    <a:p>
                      <a:r>
                        <a:rPr lang="en-NP" b="1" dirty="0">
                          <a:highlight>
                            <a:srgbClr val="FFFF00"/>
                          </a:highlight>
                        </a:rPr>
                        <a:t>i=11</a:t>
                      </a:r>
                    </a:p>
                  </a:txBody>
                  <a:tcPr/>
                </a:tc>
                <a:tc>
                  <a:txBody>
                    <a:bodyPr/>
                    <a:lstStyle/>
                    <a:p>
                      <a:r>
                        <a:rPr lang="en-NP" b="1" dirty="0">
                          <a:highlight>
                            <a:srgbClr val="00FF00"/>
                          </a:highlight>
                        </a:rPr>
                        <a:t>36</a:t>
                      </a:r>
                    </a:p>
                  </a:txBody>
                  <a:tcPr/>
                </a:tc>
                <a:tc>
                  <a:txBody>
                    <a:bodyPr/>
                    <a:lstStyle/>
                    <a:p>
                      <a:r>
                        <a:rPr lang="en-NP" b="1" dirty="0">
                          <a:solidFill>
                            <a:srgbClr val="FF0000"/>
                          </a:solidFill>
                        </a:rPr>
                        <a:t>=</a:t>
                      </a:r>
                    </a:p>
                  </a:txBody>
                  <a:tcPr/>
                </a:tc>
                <a:tc>
                  <a:txBody>
                    <a:bodyPr/>
                    <a:lstStyle/>
                    <a:p>
                      <a:r>
                        <a:rPr lang="en-NP" b="1" dirty="0">
                          <a:highlight>
                            <a:srgbClr val="00FFFF"/>
                          </a:highlight>
                        </a:rPr>
                        <a:t>25</a:t>
                      </a:r>
                    </a:p>
                  </a:txBody>
                  <a:tcPr/>
                </a:tc>
                <a:tc>
                  <a:txBody>
                    <a:bodyPr/>
                    <a:lstStyle/>
                    <a:p>
                      <a:r>
                        <a:rPr lang="en-NP" b="1" dirty="0">
                          <a:solidFill>
                            <a:srgbClr val="FF0000"/>
                          </a:solidFill>
                        </a:rPr>
                        <a:t>+</a:t>
                      </a:r>
                    </a:p>
                  </a:txBody>
                  <a:tcPr/>
                </a:tc>
                <a:tc>
                  <a:txBody>
                    <a:bodyPr/>
                    <a:lstStyle/>
                    <a:p>
                      <a:r>
                        <a:rPr lang="en-NP" b="1" dirty="0">
                          <a:solidFill>
                            <a:schemeClr val="tx1"/>
                          </a:solidFill>
                        </a:rPr>
                        <a:t>11</a:t>
                      </a:r>
                    </a:p>
                  </a:txBody>
                  <a:tcPr/>
                </a:tc>
                <a:extLst>
                  <a:ext uri="{0D108BD9-81ED-4DB2-BD59-A6C34878D82A}">
                    <a16:rowId xmlns:a16="http://schemas.microsoft.com/office/drawing/2014/main" val="1585446218"/>
                  </a:ext>
                </a:extLst>
              </a:tr>
              <a:tr h="446049">
                <a:tc>
                  <a:txBody>
                    <a:bodyPr/>
                    <a:lstStyle/>
                    <a:p>
                      <a:r>
                        <a:rPr lang="en-NP" b="1" dirty="0">
                          <a:highlight>
                            <a:srgbClr val="FFFF00"/>
                          </a:highlight>
                        </a:rPr>
                        <a:t>i=13</a:t>
                      </a:r>
                    </a:p>
                  </a:txBody>
                  <a:tcPr/>
                </a:tc>
                <a:tc>
                  <a:txBody>
                    <a:bodyPr/>
                    <a:lstStyle/>
                    <a:p>
                      <a:r>
                        <a:rPr lang="en-NP" b="1" dirty="0">
                          <a:highlight>
                            <a:srgbClr val="00FF00"/>
                          </a:highlight>
                        </a:rPr>
                        <a:t>49</a:t>
                      </a:r>
                    </a:p>
                  </a:txBody>
                  <a:tcPr/>
                </a:tc>
                <a:tc>
                  <a:txBody>
                    <a:bodyPr/>
                    <a:lstStyle/>
                    <a:p>
                      <a:r>
                        <a:rPr lang="en-NP" b="1" dirty="0">
                          <a:solidFill>
                            <a:srgbClr val="FF0000"/>
                          </a:solidFill>
                        </a:rPr>
                        <a:t>=</a:t>
                      </a:r>
                    </a:p>
                  </a:txBody>
                  <a:tcPr/>
                </a:tc>
                <a:tc>
                  <a:txBody>
                    <a:bodyPr/>
                    <a:lstStyle/>
                    <a:p>
                      <a:r>
                        <a:rPr lang="en-NP" b="1" dirty="0">
                          <a:highlight>
                            <a:srgbClr val="00FFFF"/>
                          </a:highlight>
                        </a:rPr>
                        <a:t>36</a:t>
                      </a:r>
                    </a:p>
                  </a:txBody>
                  <a:tcPr/>
                </a:tc>
                <a:tc>
                  <a:txBody>
                    <a:bodyPr/>
                    <a:lstStyle/>
                    <a:p>
                      <a:r>
                        <a:rPr lang="en-NP" b="1" dirty="0">
                          <a:solidFill>
                            <a:srgbClr val="FF0000"/>
                          </a:solidFill>
                        </a:rPr>
                        <a:t>+</a:t>
                      </a:r>
                    </a:p>
                  </a:txBody>
                  <a:tcPr/>
                </a:tc>
                <a:tc>
                  <a:txBody>
                    <a:bodyPr/>
                    <a:lstStyle/>
                    <a:p>
                      <a:r>
                        <a:rPr lang="en-NP" b="1" dirty="0">
                          <a:solidFill>
                            <a:schemeClr val="tx1"/>
                          </a:solidFill>
                        </a:rPr>
                        <a:t>13</a:t>
                      </a:r>
                    </a:p>
                  </a:txBody>
                  <a:tcPr/>
                </a:tc>
                <a:extLst>
                  <a:ext uri="{0D108BD9-81ED-4DB2-BD59-A6C34878D82A}">
                    <a16:rowId xmlns:a16="http://schemas.microsoft.com/office/drawing/2014/main" val="2693918799"/>
                  </a:ext>
                </a:extLst>
              </a:tr>
              <a:tr h="446049">
                <a:tc>
                  <a:txBody>
                    <a:bodyPr/>
                    <a:lstStyle/>
                    <a:p>
                      <a:endParaRPr lang="en-NP" b="1" dirty="0">
                        <a:highlight>
                          <a:srgbClr val="FFFF00"/>
                        </a:highlight>
                      </a:endParaRPr>
                    </a:p>
                  </a:txBody>
                  <a:tcPr/>
                </a:tc>
                <a:tc>
                  <a:txBody>
                    <a:bodyPr/>
                    <a:lstStyle/>
                    <a:p>
                      <a:endParaRPr lang="en-NP" b="1" dirty="0">
                        <a:highlight>
                          <a:srgbClr val="00FF00"/>
                        </a:highlight>
                      </a:endParaRPr>
                    </a:p>
                  </a:txBody>
                  <a:tcPr/>
                </a:tc>
                <a:tc>
                  <a:txBody>
                    <a:bodyPr/>
                    <a:lstStyle/>
                    <a:p>
                      <a:endParaRPr lang="en-NP" b="1" dirty="0">
                        <a:solidFill>
                          <a:srgbClr val="FF0000"/>
                        </a:solidFill>
                      </a:endParaRPr>
                    </a:p>
                  </a:txBody>
                  <a:tcPr/>
                </a:tc>
                <a:tc>
                  <a:txBody>
                    <a:bodyPr/>
                    <a:lstStyle/>
                    <a:p>
                      <a:endParaRPr lang="en-NP" b="1" dirty="0">
                        <a:highlight>
                          <a:srgbClr val="00FFFF"/>
                        </a:highlight>
                      </a:endParaRPr>
                    </a:p>
                  </a:txBody>
                  <a:tcPr/>
                </a:tc>
                <a:tc>
                  <a:txBody>
                    <a:bodyPr/>
                    <a:lstStyle/>
                    <a:p>
                      <a:endParaRPr lang="en-NP" b="1" dirty="0">
                        <a:solidFill>
                          <a:srgbClr val="FF0000"/>
                        </a:solidFill>
                      </a:endParaRPr>
                    </a:p>
                  </a:txBody>
                  <a:tcPr/>
                </a:tc>
                <a:tc>
                  <a:txBody>
                    <a:bodyPr/>
                    <a:lstStyle/>
                    <a:p>
                      <a:endParaRPr lang="en-NP" b="1" dirty="0">
                        <a:solidFill>
                          <a:schemeClr val="tx1"/>
                        </a:solidFill>
                      </a:endParaRPr>
                    </a:p>
                  </a:txBody>
                  <a:tcPr/>
                </a:tc>
                <a:extLst>
                  <a:ext uri="{0D108BD9-81ED-4DB2-BD59-A6C34878D82A}">
                    <a16:rowId xmlns:a16="http://schemas.microsoft.com/office/drawing/2014/main" val="4167521780"/>
                  </a:ext>
                </a:extLst>
              </a:tr>
              <a:tr h="446049">
                <a:tc>
                  <a:txBody>
                    <a:bodyPr/>
                    <a:lstStyle/>
                    <a:p>
                      <a:endParaRPr lang="en-NP" b="1" dirty="0">
                        <a:highlight>
                          <a:srgbClr val="FFFF00"/>
                        </a:highlight>
                      </a:endParaRPr>
                    </a:p>
                  </a:txBody>
                  <a:tcPr/>
                </a:tc>
                <a:tc>
                  <a:txBody>
                    <a:bodyPr/>
                    <a:lstStyle/>
                    <a:p>
                      <a:endParaRPr lang="en-NP" b="1" dirty="0">
                        <a:highlight>
                          <a:srgbClr val="00FF00"/>
                        </a:highlight>
                      </a:endParaRPr>
                    </a:p>
                  </a:txBody>
                  <a:tcPr/>
                </a:tc>
                <a:tc>
                  <a:txBody>
                    <a:bodyPr/>
                    <a:lstStyle/>
                    <a:p>
                      <a:endParaRPr lang="en-NP" b="1" dirty="0">
                        <a:solidFill>
                          <a:srgbClr val="FF0000"/>
                        </a:solidFill>
                      </a:endParaRPr>
                    </a:p>
                  </a:txBody>
                  <a:tcPr/>
                </a:tc>
                <a:tc>
                  <a:txBody>
                    <a:bodyPr/>
                    <a:lstStyle/>
                    <a:p>
                      <a:endParaRPr lang="en-NP" b="1" dirty="0">
                        <a:highlight>
                          <a:srgbClr val="00FFFF"/>
                        </a:highlight>
                      </a:endParaRPr>
                    </a:p>
                  </a:txBody>
                  <a:tcPr/>
                </a:tc>
                <a:tc>
                  <a:txBody>
                    <a:bodyPr/>
                    <a:lstStyle/>
                    <a:p>
                      <a:endParaRPr lang="en-NP" b="1" dirty="0">
                        <a:solidFill>
                          <a:srgbClr val="FF0000"/>
                        </a:solidFill>
                      </a:endParaRPr>
                    </a:p>
                  </a:txBody>
                  <a:tcPr/>
                </a:tc>
                <a:tc>
                  <a:txBody>
                    <a:bodyPr/>
                    <a:lstStyle/>
                    <a:p>
                      <a:endParaRPr lang="en-NP" b="1" dirty="0">
                        <a:solidFill>
                          <a:schemeClr val="tx1"/>
                        </a:solidFill>
                      </a:endParaRPr>
                    </a:p>
                  </a:txBody>
                  <a:tcPr/>
                </a:tc>
                <a:extLst>
                  <a:ext uri="{0D108BD9-81ED-4DB2-BD59-A6C34878D82A}">
                    <a16:rowId xmlns:a16="http://schemas.microsoft.com/office/drawing/2014/main" val="2116958043"/>
                  </a:ext>
                </a:extLst>
              </a:tr>
              <a:tr h="446049">
                <a:tc>
                  <a:txBody>
                    <a:bodyPr/>
                    <a:lstStyle/>
                    <a:p>
                      <a:r>
                        <a:rPr lang="en-NP" b="1" dirty="0">
                          <a:highlight>
                            <a:srgbClr val="FFFF00"/>
                          </a:highlight>
                        </a:rPr>
                        <a:t>i=199</a:t>
                      </a:r>
                    </a:p>
                  </a:txBody>
                  <a:tcPr/>
                </a:tc>
                <a:tc>
                  <a:txBody>
                    <a:bodyPr/>
                    <a:lstStyle/>
                    <a:p>
                      <a:r>
                        <a:rPr lang="en-NP" b="1" dirty="0">
                          <a:highlight>
                            <a:srgbClr val="00FF00"/>
                          </a:highlight>
                        </a:rPr>
                        <a:t>10000</a:t>
                      </a:r>
                    </a:p>
                  </a:txBody>
                  <a:tcPr/>
                </a:tc>
                <a:tc>
                  <a:txBody>
                    <a:bodyPr/>
                    <a:lstStyle/>
                    <a:p>
                      <a:r>
                        <a:rPr lang="en-NP" b="1" dirty="0">
                          <a:solidFill>
                            <a:srgbClr val="FF0000"/>
                          </a:solidFill>
                        </a:rPr>
                        <a:t>=</a:t>
                      </a:r>
                    </a:p>
                  </a:txBody>
                  <a:tcPr/>
                </a:tc>
                <a:tc>
                  <a:txBody>
                    <a:bodyPr/>
                    <a:lstStyle/>
                    <a:p>
                      <a:r>
                        <a:rPr lang="en-NP" b="1" dirty="0">
                          <a:highlight>
                            <a:srgbClr val="00FFFF"/>
                          </a:highlight>
                        </a:rPr>
                        <a:t>9801</a:t>
                      </a:r>
                    </a:p>
                  </a:txBody>
                  <a:tcPr/>
                </a:tc>
                <a:tc>
                  <a:txBody>
                    <a:bodyPr/>
                    <a:lstStyle/>
                    <a:p>
                      <a:r>
                        <a:rPr lang="en-NP" b="1" dirty="0">
                          <a:solidFill>
                            <a:srgbClr val="FF0000"/>
                          </a:solidFill>
                        </a:rPr>
                        <a:t>+</a:t>
                      </a:r>
                    </a:p>
                  </a:txBody>
                  <a:tcPr/>
                </a:tc>
                <a:tc>
                  <a:txBody>
                    <a:bodyPr/>
                    <a:lstStyle/>
                    <a:p>
                      <a:r>
                        <a:rPr lang="en-NP" b="1" dirty="0">
                          <a:solidFill>
                            <a:schemeClr val="tx1"/>
                          </a:solidFill>
                        </a:rPr>
                        <a:t>199</a:t>
                      </a:r>
                    </a:p>
                  </a:txBody>
                  <a:tcPr/>
                </a:tc>
                <a:extLst>
                  <a:ext uri="{0D108BD9-81ED-4DB2-BD59-A6C34878D82A}">
                    <a16:rowId xmlns:a16="http://schemas.microsoft.com/office/drawing/2014/main" val="2314840043"/>
                  </a:ext>
                </a:extLst>
              </a:tr>
            </a:tbl>
          </a:graphicData>
        </a:graphic>
      </p:graphicFrame>
      <p:cxnSp>
        <p:nvCxnSpPr>
          <p:cNvPr id="6" name="Straight Arrow Connector 5">
            <a:extLst>
              <a:ext uri="{FF2B5EF4-FFF2-40B4-BE49-F238E27FC236}">
                <a16:creationId xmlns:a16="http://schemas.microsoft.com/office/drawing/2014/main" id="{3629C022-F406-10AD-53DB-7FACB0A90A68}"/>
              </a:ext>
            </a:extLst>
          </p:cNvPr>
          <p:cNvCxnSpPr/>
          <p:nvPr/>
        </p:nvCxnSpPr>
        <p:spPr>
          <a:xfrm>
            <a:off x="6233532"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9F76065-22FF-E4CF-5AD7-96AAF1E38B74}"/>
              </a:ext>
            </a:extLst>
          </p:cNvPr>
          <p:cNvCxnSpPr/>
          <p:nvPr/>
        </p:nvCxnSpPr>
        <p:spPr>
          <a:xfrm>
            <a:off x="6522410"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67FCCF7-251E-C3C6-D68A-409C79E62517}"/>
              </a:ext>
            </a:extLst>
          </p:cNvPr>
          <p:cNvCxnSpPr/>
          <p:nvPr/>
        </p:nvCxnSpPr>
        <p:spPr>
          <a:xfrm>
            <a:off x="7259388"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617F76CF-6660-7B3B-921D-B140C2324E01}"/>
              </a:ext>
            </a:extLst>
          </p:cNvPr>
          <p:cNvCxnSpPr/>
          <p:nvPr/>
        </p:nvCxnSpPr>
        <p:spPr>
          <a:xfrm>
            <a:off x="8064607"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B9FA6DD0-BC52-3E8B-9753-86F60ED36478}"/>
              </a:ext>
            </a:extLst>
          </p:cNvPr>
          <p:cNvCxnSpPr/>
          <p:nvPr/>
        </p:nvCxnSpPr>
        <p:spPr>
          <a:xfrm>
            <a:off x="8637813"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97821EC9-3A1B-A5E7-3C2D-6375521CC2DF}"/>
              </a:ext>
            </a:extLst>
          </p:cNvPr>
          <p:cNvCxnSpPr/>
          <p:nvPr/>
        </p:nvCxnSpPr>
        <p:spPr>
          <a:xfrm>
            <a:off x="9292906"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51CB959-9681-144A-99E3-79EA140C0ADB}"/>
              </a:ext>
            </a:extLst>
          </p:cNvPr>
          <p:cNvCxnSpPr/>
          <p:nvPr/>
        </p:nvCxnSpPr>
        <p:spPr>
          <a:xfrm>
            <a:off x="9797872" y="4861932"/>
            <a:ext cx="0" cy="880946"/>
          </a:xfrm>
          <a:prstGeom prst="straightConnector1">
            <a:avLst/>
          </a:prstGeom>
          <a:ln w="53975">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1797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5D46-5DAF-4884-656F-81B3ACEBD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C0A59-AE39-65FA-1322-AF70750F4D93}"/>
              </a:ext>
            </a:extLst>
          </p:cNvPr>
          <p:cNvSpPr>
            <a:spLocks noGrp="1"/>
          </p:cNvSpPr>
          <p:nvPr>
            <p:ph type="title"/>
          </p:nvPr>
        </p:nvSpPr>
        <p:spPr>
          <a:xfrm>
            <a:off x="738130" y="1"/>
            <a:ext cx="10615670" cy="681036"/>
          </a:xfrm>
        </p:spPr>
        <p:txBody>
          <a:bodyPr>
            <a:normAutofit fontScale="90000"/>
          </a:bodyPr>
          <a:lstStyle/>
          <a:p>
            <a:br>
              <a:rPr lang="en-NP" sz="2200" b="1" i="1" dirty="0"/>
            </a:br>
            <a:br>
              <a:rPr lang="en-NP" sz="2200" b="1" i="1" dirty="0"/>
            </a:br>
            <a:r>
              <a:rPr lang="en-NP" sz="2200" b="1" i="1" dirty="0">
                <a:solidFill>
                  <a:srgbClr val="FF0000"/>
                </a:solidFill>
              </a:rPr>
              <a:t>9.WAP to calculate and display sum of n numbers using array and function.</a:t>
            </a:r>
            <a:br>
              <a:rPr lang="en-NP" b="1" i="1" dirty="0"/>
            </a:br>
            <a:endParaRPr lang="en-NP" dirty="0"/>
          </a:p>
        </p:txBody>
      </p:sp>
      <p:sp>
        <p:nvSpPr>
          <p:cNvPr id="4" name="Content Placeholder 3">
            <a:extLst>
              <a:ext uri="{FF2B5EF4-FFF2-40B4-BE49-F238E27FC236}">
                <a16:creationId xmlns:a16="http://schemas.microsoft.com/office/drawing/2014/main" id="{CF6D6B15-1255-42BB-BEB3-A5C18A29088C}"/>
              </a:ext>
            </a:extLst>
          </p:cNvPr>
          <p:cNvSpPr>
            <a:spLocks noGrp="1"/>
          </p:cNvSpPr>
          <p:nvPr>
            <p:ph sz="half" idx="1"/>
          </p:nvPr>
        </p:nvSpPr>
        <p:spPr>
          <a:xfrm>
            <a:off x="441557" y="681037"/>
            <a:ext cx="5578242" cy="5350698"/>
          </a:xfrm>
        </p:spPr>
        <p:txBody>
          <a:bodyPr>
            <a:normAutofit fontScale="85000" lnSpcReduction="20000"/>
          </a:bodyPr>
          <a:lstStyle/>
          <a:p>
            <a:pPr marL="0" indent="0">
              <a:lnSpc>
                <a:spcPct val="110000"/>
              </a:lnSpc>
              <a:spcBef>
                <a:spcPts val="0"/>
              </a:spcBef>
              <a:buNone/>
            </a:pPr>
            <a:r>
              <a:rPr lang="en-US" b="1" dirty="0"/>
              <a:t>#include&lt;</a:t>
            </a:r>
            <a:r>
              <a:rPr lang="en-US" b="1" dirty="0" err="1"/>
              <a:t>stdio.h</a:t>
            </a:r>
            <a:r>
              <a:rPr lang="en-US" b="1" dirty="0"/>
              <a:t>&gt; </a:t>
            </a:r>
            <a:br>
              <a:rPr lang="en-US" b="1" dirty="0"/>
            </a:br>
            <a:r>
              <a:rPr lang="en-US" b="1" dirty="0"/>
              <a:t>void add(int a[], int n); </a:t>
            </a:r>
          </a:p>
          <a:p>
            <a:pPr marL="0" indent="0">
              <a:lnSpc>
                <a:spcPct val="110000"/>
              </a:lnSpc>
              <a:spcBef>
                <a:spcPts val="0"/>
              </a:spcBef>
              <a:buNone/>
            </a:pPr>
            <a:r>
              <a:rPr lang="en-US" b="1" dirty="0"/>
              <a:t>int main() </a:t>
            </a:r>
          </a:p>
          <a:p>
            <a:pPr marL="0" indent="0">
              <a:lnSpc>
                <a:spcPct val="110000"/>
              </a:lnSpc>
              <a:spcBef>
                <a:spcPts val="0"/>
              </a:spcBef>
              <a:buNone/>
            </a:pPr>
            <a:r>
              <a:rPr lang="en-US" b="1" dirty="0"/>
              <a:t>{ </a:t>
            </a:r>
          </a:p>
          <a:p>
            <a:pPr marL="0" indent="0">
              <a:lnSpc>
                <a:spcPct val="110000"/>
              </a:lnSpc>
              <a:spcBef>
                <a:spcPts val="0"/>
              </a:spcBef>
              <a:buNone/>
            </a:pPr>
            <a:r>
              <a:rPr lang="en-US" b="1" dirty="0"/>
              <a:t>int a[100], </a:t>
            </a:r>
            <a:r>
              <a:rPr lang="en-US" b="1" dirty="0" err="1"/>
              <a:t>i</a:t>
            </a:r>
            <a:r>
              <a:rPr lang="en-US" b="1" dirty="0"/>
              <a:t>, n; </a:t>
            </a:r>
          </a:p>
          <a:p>
            <a:pPr marL="0" indent="0">
              <a:lnSpc>
                <a:spcPct val="110000"/>
              </a:lnSpc>
              <a:spcBef>
                <a:spcPts val="0"/>
              </a:spcBef>
              <a:buNone/>
            </a:pPr>
            <a:r>
              <a:rPr lang="en-US" b="1" dirty="0" err="1"/>
              <a:t>printf</a:t>
            </a:r>
            <a:r>
              <a:rPr lang="en-US" b="1" dirty="0"/>
              <a:t>("\</a:t>
            </a:r>
            <a:r>
              <a:rPr lang="en-US" b="1" dirty="0" err="1"/>
              <a:t>nEnter</a:t>
            </a:r>
            <a:r>
              <a:rPr lang="en-US" b="1" dirty="0"/>
              <a:t> value of n: "); </a:t>
            </a:r>
          </a:p>
          <a:p>
            <a:pPr marL="0" indent="0">
              <a:lnSpc>
                <a:spcPct val="110000"/>
              </a:lnSpc>
              <a:spcBef>
                <a:spcPts val="0"/>
              </a:spcBef>
              <a:buNone/>
            </a:pPr>
            <a:r>
              <a:rPr lang="en-US" b="1" dirty="0" err="1"/>
              <a:t>scanf</a:t>
            </a:r>
            <a:r>
              <a:rPr lang="en-US" b="1" dirty="0"/>
              <a:t>("%d", &amp;n); </a:t>
            </a:r>
          </a:p>
          <a:p>
            <a:pPr marL="0" indent="0">
              <a:lnSpc>
                <a:spcPct val="110000"/>
              </a:lnSpc>
              <a:spcBef>
                <a:spcPts val="0"/>
              </a:spcBef>
              <a:buNone/>
            </a:pPr>
            <a:r>
              <a:rPr lang="en-US" b="1" dirty="0" err="1"/>
              <a:t>printf</a:t>
            </a:r>
            <a:r>
              <a:rPr lang="en-US" b="1" dirty="0"/>
              <a:t>("\</a:t>
            </a:r>
            <a:r>
              <a:rPr lang="en-US" b="1" dirty="0" err="1"/>
              <a:t>nEnter</a:t>
            </a:r>
            <a:r>
              <a:rPr lang="en-US" b="1" dirty="0"/>
              <a:t> %d numbers:\</a:t>
            </a:r>
            <a:r>
              <a:rPr lang="en-US" b="1" dirty="0" err="1"/>
              <a:t>n",n</a:t>
            </a:r>
            <a:r>
              <a:rPr lang="en-US" b="1" dirty="0"/>
              <a:t>); </a:t>
            </a:r>
          </a:p>
          <a:p>
            <a:pPr marL="0" indent="0">
              <a:lnSpc>
                <a:spcPct val="110000"/>
              </a:lnSpc>
              <a:spcBef>
                <a:spcPts val="0"/>
              </a:spcBef>
              <a:buNone/>
            </a:pPr>
            <a:r>
              <a:rPr lang="en-US" b="1" dirty="0"/>
              <a:t>for(</a:t>
            </a:r>
            <a:r>
              <a:rPr lang="en-US" b="1" dirty="0" err="1"/>
              <a:t>i</a:t>
            </a:r>
            <a:r>
              <a:rPr lang="en-US" b="1" dirty="0"/>
              <a:t>=0; </a:t>
            </a:r>
            <a:r>
              <a:rPr lang="en-US" b="1" dirty="0" err="1"/>
              <a:t>i</a:t>
            </a:r>
            <a:r>
              <a:rPr lang="en-US" b="1" dirty="0"/>
              <a:t>&lt;n; </a:t>
            </a:r>
            <a:r>
              <a:rPr lang="en-US" b="1" dirty="0" err="1"/>
              <a:t>i</a:t>
            </a:r>
            <a:r>
              <a:rPr lang="en-US" b="1" dirty="0"/>
              <a:t>++)                          </a:t>
            </a:r>
            <a:endParaRPr lang="en-US" sz="1600" b="1" dirty="0"/>
          </a:p>
          <a:p>
            <a:pPr marL="0" indent="0">
              <a:lnSpc>
                <a:spcPct val="110000"/>
              </a:lnSpc>
              <a:spcBef>
                <a:spcPts val="0"/>
              </a:spcBef>
              <a:buNone/>
            </a:pPr>
            <a:r>
              <a:rPr lang="en-US" b="1" dirty="0"/>
              <a:t>{ 				    </a:t>
            </a:r>
          </a:p>
          <a:p>
            <a:pPr marL="0" indent="0">
              <a:lnSpc>
                <a:spcPct val="110000"/>
              </a:lnSpc>
              <a:spcBef>
                <a:spcPts val="0"/>
              </a:spcBef>
              <a:buNone/>
            </a:pPr>
            <a:r>
              <a:rPr lang="en-US" sz="1600" b="1" dirty="0"/>
              <a:t>                                                 			                </a:t>
            </a:r>
            <a:r>
              <a:rPr lang="en-US" sz="1600" b="1" dirty="0">
                <a:highlight>
                  <a:srgbClr val="FFFF00"/>
                </a:highlight>
              </a:rPr>
              <a:t>a[0]           a[1] </a:t>
            </a:r>
            <a:endParaRPr lang="en-US" sz="1600" b="1" dirty="0"/>
          </a:p>
          <a:p>
            <a:pPr marL="0" indent="0">
              <a:lnSpc>
                <a:spcPct val="110000"/>
              </a:lnSpc>
              <a:spcBef>
                <a:spcPts val="0"/>
              </a:spcBef>
              <a:buNone/>
            </a:pPr>
            <a:r>
              <a:rPr lang="en-US" b="1" dirty="0"/>
              <a:t>      </a:t>
            </a:r>
            <a:r>
              <a:rPr lang="en-US" b="1" dirty="0" err="1"/>
              <a:t>scanf</a:t>
            </a:r>
            <a:r>
              <a:rPr lang="en-US" b="1" dirty="0"/>
              <a:t>("%d", &amp;a[</a:t>
            </a:r>
            <a:r>
              <a:rPr lang="en-US" b="1" dirty="0" err="1"/>
              <a:t>i</a:t>
            </a:r>
            <a:r>
              <a:rPr lang="en-US" b="1" dirty="0"/>
              <a:t>]);</a:t>
            </a:r>
          </a:p>
          <a:p>
            <a:pPr marL="0" indent="0">
              <a:lnSpc>
                <a:spcPct val="110000"/>
              </a:lnSpc>
              <a:spcBef>
                <a:spcPts val="0"/>
              </a:spcBef>
              <a:buNone/>
            </a:pPr>
            <a:r>
              <a:rPr lang="en-US" b="1" dirty="0"/>
              <a:t>} </a:t>
            </a:r>
          </a:p>
          <a:p>
            <a:pPr marL="0" indent="0">
              <a:lnSpc>
                <a:spcPct val="110000"/>
              </a:lnSpc>
              <a:spcBef>
                <a:spcPts val="0"/>
              </a:spcBef>
              <a:buNone/>
            </a:pPr>
            <a:r>
              <a:rPr lang="en-US" b="1" dirty="0"/>
              <a:t>add(a, n); </a:t>
            </a:r>
          </a:p>
          <a:p>
            <a:pPr marL="0" indent="0">
              <a:lnSpc>
                <a:spcPct val="110000"/>
              </a:lnSpc>
              <a:spcBef>
                <a:spcPts val="0"/>
              </a:spcBef>
              <a:buNone/>
            </a:pPr>
            <a:r>
              <a:rPr lang="en-US" b="1" dirty="0"/>
              <a:t>return 0;</a:t>
            </a:r>
          </a:p>
          <a:p>
            <a:pPr marL="0" indent="0">
              <a:lnSpc>
                <a:spcPct val="110000"/>
              </a:lnSpc>
              <a:spcBef>
                <a:spcPts val="0"/>
              </a:spcBef>
              <a:buNone/>
            </a:pPr>
            <a:r>
              <a:rPr lang="en-US" b="1" dirty="0"/>
              <a:t>} </a:t>
            </a:r>
          </a:p>
          <a:p>
            <a:pPr marL="0" indent="0">
              <a:lnSpc>
                <a:spcPct val="110000"/>
              </a:lnSpc>
              <a:spcBef>
                <a:spcPts val="0"/>
              </a:spcBef>
              <a:buNone/>
            </a:pPr>
            <a:endParaRPr lang="en-NP" b="1" dirty="0"/>
          </a:p>
          <a:p>
            <a:pPr marL="0" indent="0">
              <a:buNone/>
            </a:pPr>
            <a:endParaRPr lang="en-NP" dirty="0"/>
          </a:p>
        </p:txBody>
      </p:sp>
      <p:sp>
        <p:nvSpPr>
          <p:cNvPr id="5" name="Content Placeholder 4">
            <a:extLst>
              <a:ext uri="{FF2B5EF4-FFF2-40B4-BE49-F238E27FC236}">
                <a16:creationId xmlns:a16="http://schemas.microsoft.com/office/drawing/2014/main" id="{596C4710-4EB2-965B-C6BD-5396C6E598E5}"/>
              </a:ext>
            </a:extLst>
          </p:cNvPr>
          <p:cNvSpPr>
            <a:spLocks noGrp="1"/>
          </p:cNvSpPr>
          <p:nvPr>
            <p:ph sz="half" idx="2"/>
          </p:nvPr>
        </p:nvSpPr>
        <p:spPr>
          <a:xfrm>
            <a:off x="6019799" y="576639"/>
            <a:ext cx="6087737" cy="6281360"/>
          </a:xfrm>
        </p:spPr>
        <p:txBody>
          <a:bodyPr>
            <a:normAutofit fontScale="85000" lnSpcReduction="20000"/>
          </a:bodyPr>
          <a:lstStyle/>
          <a:p>
            <a:pPr marL="0" indent="0">
              <a:lnSpc>
                <a:spcPct val="110000"/>
              </a:lnSpc>
              <a:spcBef>
                <a:spcPts val="0"/>
              </a:spcBef>
              <a:buNone/>
            </a:pPr>
            <a:r>
              <a:rPr lang="en-US" b="1" dirty="0"/>
              <a:t>void add(int a[], int n) </a:t>
            </a:r>
          </a:p>
          <a:p>
            <a:pPr marL="0" indent="0">
              <a:lnSpc>
                <a:spcPct val="110000"/>
              </a:lnSpc>
              <a:spcBef>
                <a:spcPts val="0"/>
              </a:spcBef>
              <a:buNone/>
            </a:pPr>
            <a:r>
              <a:rPr lang="en-US" b="1" dirty="0"/>
              <a:t>{ </a:t>
            </a:r>
          </a:p>
          <a:p>
            <a:pPr marL="0" indent="0">
              <a:lnSpc>
                <a:spcPct val="110000"/>
              </a:lnSpc>
              <a:spcBef>
                <a:spcPts val="0"/>
              </a:spcBef>
              <a:buNone/>
            </a:pPr>
            <a:r>
              <a:rPr lang="en-US" b="1" dirty="0"/>
              <a:t>int sum=0, </a:t>
            </a:r>
            <a:r>
              <a:rPr lang="en-US" b="1" dirty="0" err="1"/>
              <a:t>i</a:t>
            </a:r>
            <a:r>
              <a:rPr lang="en-US" b="1" dirty="0"/>
              <a:t>; </a:t>
            </a:r>
          </a:p>
          <a:p>
            <a:pPr marL="0" indent="0">
              <a:lnSpc>
                <a:spcPct val="110000"/>
              </a:lnSpc>
              <a:spcBef>
                <a:spcPts val="0"/>
              </a:spcBef>
              <a:buNone/>
            </a:pPr>
            <a:r>
              <a:rPr lang="en-US" b="1" dirty="0"/>
              <a:t>for(</a:t>
            </a:r>
            <a:r>
              <a:rPr lang="en-US" b="1" dirty="0" err="1"/>
              <a:t>i</a:t>
            </a:r>
            <a:r>
              <a:rPr lang="en-US" b="1" dirty="0"/>
              <a:t>=0; </a:t>
            </a:r>
            <a:r>
              <a:rPr lang="en-US" b="1" dirty="0" err="1"/>
              <a:t>i</a:t>
            </a:r>
            <a:r>
              <a:rPr lang="en-US" b="1" dirty="0"/>
              <a:t>&lt;n; </a:t>
            </a:r>
            <a:r>
              <a:rPr lang="en-US" b="1" dirty="0" err="1"/>
              <a:t>i</a:t>
            </a:r>
            <a:r>
              <a:rPr lang="en-US" b="1" dirty="0"/>
              <a:t>++) </a:t>
            </a:r>
          </a:p>
          <a:p>
            <a:pPr marL="0" indent="0">
              <a:lnSpc>
                <a:spcPct val="110000"/>
              </a:lnSpc>
              <a:spcBef>
                <a:spcPts val="0"/>
              </a:spcBef>
              <a:buNone/>
            </a:pPr>
            <a:r>
              <a:rPr lang="en-US" b="1" dirty="0"/>
              <a:t>{ sum=sum+ a[</a:t>
            </a:r>
            <a:r>
              <a:rPr lang="en-US" b="1" dirty="0" err="1"/>
              <a:t>i</a:t>
            </a:r>
            <a:r>
              <a:rPr lang="en-US" b="1" dirty="0"/>
              <a:t>]; </a:t>
            </a:r>
          </a:p>
          <a:p>
            <a:pPr marL="0" indent="0">
              <a:lnSpc>
                <a:spcPct val="110000"/>
              </a:lnSpc>
              <a:spcBef>
                <a:spcPts val="0"/>
              </a:spcBef>
              <a:buNone/>
            </a:pPr>
            <a:r>
              <a:rPr lang="en-US" b="1" dirty="0"/>
              <a:t>} </a:t>
            </a:r>
          </a:p>
          <a:p>
            <a:pPr marL="0" indent="0">
              <a:lnSpc>
                <a:spcPct val="110000"/>
              </a:lnSpc>
              <a:spcBef>
                <a:spcPts val="0"/>
              </a:spcBef>
              <a:buNone/>
            </a:pPr>
            <a:r>
              <a:rPr lang="en-US" b="1" dirty="0" err="1"/>
              <a:t>printf</a:t>
            </a:r>
            <a:r>
              <a:rPr lang="en-US" b="1" dirty="0"/>
              <a:t>(”sum=%d", sum); </a:t>
            </a:r>
          </a:p>
          <a:p>
            <a:pPr marL="0" indent="0">
              <a:lnSpc>
                <a:spcPct val="110000"/>
              </a:lnSpc>
              <a:spcBef>
                <a:spcPts val="0"/>
              </a:spcBef>
              <a:buNone/>
            </a:pPr>
            <a:r>
              <a:rPr lang="en-US" b="1" dirty="0"/>
              <a:t>}</a:t>
            </a:r>
          </a:p>
          <a:p>
            <a:pPr marL="0" indent="0">
              <a:lnSpc>
                <a:spcPct val="110000"/>
              </a:lnSpc>
              <a:spcBef>
                <a:spcPts val="0"/>
              </a:spcBef>
              <a:buNone/>
            </a:pPr>
            <a:endParaRPr lang="en-US" sz="1600" b="1" dirty="0"/>
          </a:p>
          <a:p>
            <a:pPr marL="0" indent="0">
              <a:lnSpc>
                <a:spcPct val="110000"/>
              </a:lnSpc>
              <a:spcBef>
                <a:spcPts val="0"/>
              </a:spcBef>
              <a:buNone/>
            </a:pPr>
            <a:endParaRPr lang="en-US" sz="1600" b="1" dirty="0">
              <a:highlight>
                <a:srgbClr val="FFFF00"/>
              </a:highlight>
            </a:endParaRPr>
          </a:p>
          <a:p>
            <a:pPr marL="0" indent="0">
              <a:lnSpc>
                <a:spcPct val="110000"/>
              </a:lnSpc>
              <a:spcBef>
                <a:spcPts val="0"/>
              </a:spcBef>
              <a:buNone/>
            </a:pPr>
            <a:r>
              <a:rPr lang="en-US" sz="1600" b="1" dirty="0">
                <a:highlight>
                  <a:srgbClr val="FFFF00"/>
                </a:highlight>
              </a:rPr>
              <a:t> </a:t>
            </a:r>
          </a:p>
          <a:p>
            <a:pPr marL="0" indent="0">
              <a:lnSpc>
                <a:spcPct val="110000"/>
              </a:lnSpc>
              <a:spcBef>
                <a:spcPts val="0"/>
              </a:spcBef>
              <a:buNone/>
            </a:pPr>
            <a:endParaRPr lang="en-US" sz="1600" b="1" dirty="0">
              <a:highlight>
                <a:srgbClr val="FFFF00"/>
              </a:highlight>
            </a:endParaRPr>
          </a:p>
          <a:p>
            <a:pPr marL="0" indent="0">
              <a:lnSpc>
                <a:spcPct val="110000"/>
              </a:lnSpc>
              <a:spcBef>
                <a:spcPts val="0"/>
              </a:spcBef>
              <a:buNone/>
            </a:pPr>
            <a:r>
              <a:rPr lang="en-US" sz="1600" b="1" dirty="0">
                <a:highlight>
                  <a:srgbClr val="FFFF00"/>
                </a:highlight>
              </a:rPr>
              <a:t> a[2]               a[3]         a[4]        a[5]          a[6]           a[7]           a[8] ----- a[99] </a:t>
            </a:r>
          </a:p>
          <a:p>
            <a:pPr marL="0" indent="0">
              <a:lnSpc>
                <a:spcPct val="110000"/>
              </a:lnSpc>
              <a:spcBef>
                <a:spcPts val="0"/>
              </a:spcBef>
              <a:buNone/>
            </a:pPr>
            <a:br>
              <a:rPr lang="en-US" b="1" dirty="0"/>
            </a:br>
            <a:r>
              <a:rPr lang="en-US" b="1" dirty="0"/>
              <a:t>             </a:t>
            </a:r>
          </a:p>
          <a:p>
            <a:pPr marL="0" indent="0">
              <a:lnSpc>
                <a:spcPct val="110000"/>
              </a:lnSpc>
              <a:spcBef>
                <a:spcPts val="0"/>
              </a:spcBef>
              <a:buNone/>
            </a:pPr>
            <a:r>
              <a:rPr lang="en-US" b="1" dirty="0"/>
              <a:t>	</a:t>
            </a:r>
          </a:p>
          <a:p>
            <a:pPr marL="0" indent="0">
              <a:lnSpc>
                <a:spcPct val="110000"/>
              </a:lnSpc>
              <a:spcBef>
                <a:spcPts val="0"/>
              </a:spcBef>
              <a:buNone/>
            </a:pPr>
            <a:r>
              <a:rPr lang="en-US" b="1" dirty="0"/>
              <a:t>	</a:t>
            </a:r>
            <a:endParaRPr lang="en-US" dirty="0">
              <a:highlight>
                <a:srgbClr val="FFFF00"/>
              </a:highlight>
            </a:endParaRPr>
          </a:p>
          <a:p>
            <a:pPr marL="0" indent="0">
              <a:buNone/>
            </a:pPr>
            <a:endParaRPr lang="en-NP" dirty="0"/>
          </a:p>
        </p:txBody>
      </p:sp>
      <p:pic>
        <p:nvPicPr>
          <p:cNvPr id="9" name="Picture 8">
            <a:extLst>
              <a:ext uri="{FF2B5EF4-FFF2-40B4-BE49-F238E27FC236}">
                <a16:creationId xmlns:a16="http://schemas.microsoft.com/office/drawing/2014/main" id="{A2E894C8-BF93-5027-B0AC-3086812B3E77}"/>
              </a:ext>
            </a:extLst>
          </p:cNvPr>
          <p:cNvPicPr>
            <a:picLocks noChangeAspect="1"/>
          </p:cNvPicPr>
          <p:nvPr/>
        </p:nvPicPr>
        <p:blipFill>
          <a:blip r:embed="rId2"/>
          <a:stretch>
            <a:fillRect/>
          </a:stretch>
        </p:blipFill>
        <p:spPr>
          <a:xfrm>
            <a:off x="1975279" y="4686832"/>
            <a:ext cx="4130444" cy="2057918"/>
          </a:xfrm>
          <a:prstGeom prst="rect">
            <a:avLst/>
          </a:prstGeom>
        </p:spPr>
      </p:pic>
      <p:sp>
        <p:nvSpPr>
          <p:cNvPr id="3" name="Bent-Up Arrow 2">
            <a:extLst>
              <a:ext uri="{FF2B5EF4-FFF2-40B4-BE49-F238E27FC236}">
                <a16:creationId xmlns:a16="http://schemas.microsoft.com/office/drawing/2014/main" id="{C8683A7F-211A-A3A7-2AC0-D4378192012A}"/>
              </a:ext>
            </a:extLst>
          </p:cNvPr>
          <p:cNvSpPr/>
          <p:nvPr/>
        </p:nvSpPr>
        <p:spPr>
          <a:xfrm>
            <a:off x="5459104" y="491096"/>
            <a:ext cx="478988" cy="3371219"/>
          </a:xfrm>
          <a:prstGeom prst="bentUpArrow">
            <a:avLst>
              <a:gd name="adj1" fmla="val 25000"/>
              <a:gd name="adj2" fmla="val 19649"/>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graphicFrame>
        <p:nvGraphicFramePr>
          <p:cNvPr id="7" name="Table 6">
            <a:extLst>
              <a:ext uri="{FF2B5EF4-FFF2-40B4-BE49-F238E27FC236}">
                <a16:creationId xmlns:a16="http://schemas.microsoft.com/office/drawing/2014/main" id="{A35DE0EC-F4A6-F1C7-2CE2-16AFD8F30CA4}"/>
              </a:ext>
            </a:extLst>
          </p:cNvPr>
          <p:cNvGraphicFramePr>
            <a:graphicFrameLocks noGrp="1"/>
          </p:cNvGraphicFramePr>
          <p:nvPr>
            <p:extLst>
              <p:ext uri="{D42A27DB-BD31-4B8C-83A1-F6EECF244321}">
                <p14:modId xmlns:p14="http://schemas.microsoft.com/office/powerpoint/2010/main" val="3849707212"/>
              </p:ext>
            </p:extLst>
          </p:nvPr>
        </p:nvGraphicFramePr>
        <p:xfrm>
          <a:off x="4671151" y="4234866"/>
          <a:ext cx="6899010" cy="370840"/>
        </p:xfrm>
        <a:graphic>
          <a:graphicData uri="http://schemas.openxmlformats.org/drawingml/2006/table">
            <a:tbl>
              <a:tblPr firstRow="1" bandRow="1">
                <a:tableStyleId>{5940675A-B579-460E-94D1-54222C63F5DA}</a:tableStyleId>
              </a:tblPr>
              <a:tblGrid>
                <a:gridCol w="689901">
                  <a:extLst>
                    <a:ext uri="{9D8B030D-6E8A-4147-A177-3AD203B41FA5}">
                      <a16:colId xmlns:a16="http://schemas.microsoft.com/office/drawing/2014/main" val="1120392517"/>
                    </a:ext>
                  </a:extLst>
                </a:gridCol>
                <a:gridCol w="689901">
                  <a:extLst>
                    <a:ext uri="{9D8B030D-6E8A-4147-A177-3AD203B41FA5}">
                      <a16:colId xmlns:a16="http://schemas.microsoft.com/office/drawing/2014/main" val="491412422"/>
                    </a:ext>
                  </a:extLst>
                </a:gridCol>
                <a:gridCol w="689901">
                  <a:extLst>
                    <a:ext uri="{9D8B030D-6E8A-4147-A177-3AD203B41FA5}">
                      <a16:colId xmlns:a16="http://schemas.microsoft.com/office/drawing/2014/main" val="2650133572"/>
                    </a:ext>
                  </a:extLst>
                </a:gridCol>
                <a:gridCol w="689901">
                  <a:extLst>
                    <a:ext uri="{9D8B030D-6E8A-4147-A177-3AD203B41FA5}">
                      <a16:colId xmlns:a16="http://schemas.microsoft.com/office/drawing/2014/main" val="1609892996"/>
                    </a:ext>
                  </a:extLst>
                </a:gridCol>
                <a:gridCol w="689901">
                  <a:extLst>
                    <a:ext uri="{9D8B030D-6E8A-4147-A177-3AD203B41FA5}">
                      <a16:colId xmlns:a16="http://schemas.microsoft.com/office/drawing/2014/main" val="3068905864"/>
                    </a:ext>
                  </a:extLst>
                </a:gridCol>
                <a:gridCol w="689901">
                  <a:extLst>
                    <a:ext uri="{9D8B030D-6E8A-4147-A177-3AD203B41FA5}">
                      <a16:colId xmlns:a16="http://schemas.microsoft.com/office/drawing/2014/main" val="4265531564"/>
                    </a:ext>
                  </a:extLst>
                </a:gridCol>
                <a:gridCol w="689901">
                  <a:extLst>
                    <a:ext uri="{9D8B030D-6E8A-4147-A177-3AD203B41FA5}">
                      <a16:colId xmlns:a16="http://schemas.microsoft.com/office/drawing/2014/main" val="3799889665"/>
                    </a:ext>
                  </a:extLst>
                </a:gridCol>
                <a:gridCol w="689901">
                  <a:extLst>
                    <a:ext uri="{9D8B030D-6E8A-4147-A177-3AD203B41FA5}">
                      <a16:colId xmlns:a16="http://schemas.microsoft.com/office/drawing/2014/main" val="2152368765"/>
                    </a:ext>
                  </a:extLst>
                </a:gridCol>
                <a:gridCol w="689901">
                  <a:extLst>
                    <a:ext uri="{9D8B030D-6E8A-4147-A177-3AD203B41FA5}">
                      <a16:colId xmlns:a16="http://schemas.microsoft.com/office/drawing/2014/main" val="4155962775"/>
                    </a:ext>
                  </a:extLst>
                </a:gridCol>
                <a:gridCol w="689901">
                  <a:extLst>
                    <a:ext uri="{9D8B030D-6E8A-4147-A177-3AD203B41FA5}">
                      <a16:colId xmlns:a16="http://schemas.microsoft.com/office/drawing/2014/main" val="3316639251"/>
                    </a:ext>
                  </a:extLst>
                </a:gridCol>
              </a:tblGrid>
              <a:tr h="370840">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dirty="0">
                        <a:highlight>
                          <a:srgbClr val="FFFF00"/>
                        </a:highlight>
                      </a:endParaRPr>
                    </a:p>
                  </a:txBody>
                  <a:tcPr/>
                </a:tc>
                <a:tc>
                  <a:txBody>
                    <a:bodyPr/>
                    <a:lstStyle/>
                    <a:p>
                      <a:endParaRPr lang="en-NP">
                        <a:highlight>
                          <a:srgbClr val="FFFF00"/>
                        </a:highlight>
                      </a:endParaRPr>
                    </a:p>
                  </a:txBody>
                  <a:tcPr/>
                </a:tc>
                <a:tc>
                  <a:txBody>
                    <a:bodyPr/>
                    <a:lstStyle/>
                    <a:p>
                      <a:endParaRPr lang="en-NP" dirty="0">
                        <a:highlight>
                          <a:srgbClr val="FFFF00"/>
                        </a:highlight>
                      </a:endParaRPr>
                    </a:p>
                  </a:txBody>
                  <a:tcPr/>
                </a:tc>
                <a:extLst>
                  <a:ext uri="{0D108BD9-81ED-4DB2-BD59-A6C34878D82A}">
                    <a16:rowId xmlns:a16="http://schemas.microsoft.com/office/drawing/2014/main" val="1169587736"/>
                  </a:ext>
                </a:extLst>
              </a:tr>
            </a:tbl>
          </a:graphicData>
        </a:graphic>
      </p:graphicFrame>
      <p:graphicFrame>
        <p:nvGraphicFramePr>
          <p:cNvPr id="8" name="Table 7">
            <a:extLst>
              <a:ext uri="{FF2B5EF4-FFF2-40B4-BE49-F238E27FC236}">
                <a16:creationId xmlns:a16="http://schemas.microsoft.com/office/drawing/2014/main" id="{59CE78E4-349D-BDA6-BB15-B80BDB4DF694}"/>
              </a:ext>
            </a:extLst>
          </p:cNvPr>
          <p:cNvGraphicFramePr>
            <a:graphicFrameLocks noGrp="1"/>
          </p:cNvGraphicFramePr>
          <p:nvPr>
            <p:extLst>
              <p:ext uri="{D42A27DB-BD31-4B8C-83A1-F6EECF244321}">
                <p14:modId xmlns:p14="http://schemas.microsoft.com/office/powerpoint/2010/main" val="1572459445"/>
              </p:ext>
            </p:extLst>
          </p:nvPr>
        </p:nvGraphicFramePr>
        <p:xfrm>
          <a:off x="6349503" y="4700961"/>
          <a:ext cx="5619583" cy="1981200"/>
        </p:xfrm>
        <a:graphic>
          <a:graphicData uri="http://schemas.openxmlformats.org/drawingml/2006/table">
            <a:tbl>
              <a:tblPr firstRow="1" bandRow="1">
                <a:tableStyleId>{5940675A-B579-460E-94D1-54222C63F5DA}</a:tableStyleId>
              </a:tblPr>
              <a:tblGrid>
                <a:gridCol w="993400">
                  <a:extLst>
                    <a:ext uri="{9D8B030D-6E8A-4147-A177-3AD203B41FA5}">
                      <a16:colId xmlns:a16="http://schemas.microsoft.com/office/drawing/2014/main" val="1418876289"/>
                    </a:ext>
                  </a:extLst>
                </a:gridCol>
                <a:gridCol w="441536">
                  <a:extLst>
                    <a:ext uri="{9D8B030D-6E8A-4147-A177-3AD203B41FA5}">
                      <a16:colId xmlns:a16="http://schemas.microsoft.com/office/drawing/2014/main" val="1907568107"/>
                    </a:ext>
                  </a:extLst>
                </a:gridCol>
                <a:gridCol w="817121">
                  <a:extLst>
                    <a:ext uri="{9D8B030D-6E8A-4147-A177-3AD203B41FA5}">
                      <a16:colId xmlns:a16="http://schemas.microsoft.com/office/drawing/2014/main" val="4052704768"/>
                    </a:ext>
                  </a:extLst>
                </a:gridCol>
                <a:gridCol w="390795">
                  <a:extLst>
                    <a:ext uri="{9D8B030D-6E8A-4147-A177-3AD203B41FA5}">
                      <a16:colId xmlns:a16="http://schemas.microsoft.com/office/drawing/2014/main" val="1078184763"/>
                    </a:ext>
                  </a:extLst>
                </a:gridCol>
                <a:gridCol w="817121">
                  <a:extLst>
                    <a:ext uri="{9D8B030D-6E8A-4147-A177-3AD203B41FA5}">
                      <a16:colId xmlns:a16="http://schemas.microsoft.com/office/drawing/2014/main" val="2779207960"/>
                    </a:ext>
                  </a:extLst>
                </a:gridCol>
                <a:gridCol w="799357">
                  <a:extLst>
                    <a:ext uri="{9D8B030D-6E8A-4147-A177-3AD203B41FA5}">
                      <a16:colId xmlns:a16="http://schemas.microsoft.com/office/drawing/2014/main" val="3096701541"/>
                    </a:ext>
                  </a:extLst>
                </a:gridCol>
                <a:gridCol w="1360253">
                  <a:extLst>
                    <a:ext uri="{9D8B030D-6E8A-4147-A177-3AD203B41FA5}">
                      <a16:colId xmlns:a16="http://schemas.microsoft.com/office/drawing/2014/main" val="2103189656"/>
                    </a:ext>
                  </a:extLst>
                </a:gridCol>
              </a:tblGrid>
              <a:tr h="0">
                <a:tc>
                  <a:txBody>
                    <a:bodyPr/>
                    <a:lstStyle/>
                    <a:p>
                      <a:r>
                        <a:rPr lang="en-NP" sz="2000" b="1" dirty="0">
                          <a:highlight>
                            <a:srgbClr val="00FF00"/>
                          </a:highlight>
                        </a:rPr>
                        <a:t>sum</a:t>
                      </a:r>
                    </a:p>
                  </a:txBody>
                  <a:tcPr/>
                </a:tc>
                <a:tc>
                  <a:txBody>
                    <a:bodyPr/>
                    <a:lstStyle/>
                    <a:p>
                      <a:r>
                        <a:rPr lang="en-NP" sz="2000" b="1" dirty="0">
                          <a:highlight>
                            <a:srgbClr val="00FF00"/>
                          </a:highlight>
                        </a:rPr>
                        <a:t>=</a:t>
                      </a:r>
                    </a:p>
                  </a:txBody>
                  <a:tcPr/>
                </a:tc>
                <a:tc>
                  <a:txBody>
                    <a:bodyPr/>
                    <a:lstStyle/>
                    <a:p>
                      <a:r>
                        <a:rPr lang="en-NP" sz="2000" b="1" dirty="0">
                          <a:highlight>
                            <a:srgbClr val="00FF00"/>
                          </a:highlight>
                        </a:rPr>
                        <a:t>sum</a:t>
                      </a:r>
                    </a:p>
                  </a:txBody>
                  <a:tcPr/>
                </a:tc>
                <a:tc>
                  <a:txBody>
                    <a:bodyPr/>
                    <a:lstStyle/>
                    <a:p>
                      <a:r>
                        <a:rPr lang="en-NP" sz="2000" b="1" dirty="0">
                          <a:highlight>
                            <a:srgbClr val="00FF00"/>
                          </a:highlight>
                        </a:rPr>
                        <a:t>+</a:t>
                      </a:r>
                    </a:p>
                  </a:txBody>
                  <a:tcPr/>
                </a:tc>
                <a:tc>
                  <a:txBody>
                    <a:bodyPr/>
                    <a:lstStyle/>
                    <a:p>
                      <a:r>
                        <a:rPr lang="en-US" sz="2000" b="1" dirty="0">
                          <a:highlight>
                            <a:srgbClr val="00FF00"/>
                          </a:highlight>
                        </a:rPr>
                        <a:t>a</a:t>
                      </a:r>
                      <a:r>
                        <a:rPr lang="en-NP" sz="2000" b="1" dirty="0">
                          <a:highlight>
                            <a:srgbClr val="00FF00"/>
                          </a:highlight>
                        </a:rPr>
                        <a:t>[i]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highlight>
                            <a:srgbClr val="00FFFF"/>
                          </a:highlight>
                        </a:rPr>
                        <a:t>a</a:t>
                      </a:r>
                      <a:r>
                        <a:rPr lang="en-NP" sz="2000" b="1" dirty="0">
                          <a:highlight>
                            <a:srgbClr val="00FFFF"/>
                          </a:highlight>
                        </a:rPr>
                        <a:t>[i]</a:t>
                      </a:r>
                    </a:p>
                  </a:txBody>
                  <a:tcPr/>
                </a:tc>
                <a:tc>
                  <a:txBody>
                    <a:bodyPr/>
                    <a:lstStyle/>
                    <a:p>
                      <a:r>
                        <a:rPr lang="en-NP" sz="2000" b="1" dirty="0">
                          <a:highlight>
                            <a:srgbClr val="00FFFF"/>
                          </a:highlight>
                        </a:rPr>
                        <a:t>i</a:t>
                      </a:r>
                    </a:p>
                  </a:txBody>
                  <a:tcPr/>
                </a:tc>
                <a:extLst>
                  <a:ext uri="{0D108BD9-81ED-4DB2-BD59-A6C34878D82A}">
                    <a16:rowId xmlns:a16="http://schemas.microsoft.com/office/drawing/2014/main" val="2327336887"/>
                  </a:ext>
                </a:extLst>
              </a:tr>
              <a:tr h="0">
                <a:tc>
                  <a:txBody>
                    <a:bodyPr/>
                    <a:lstStyle/>
                    <a:p>
                      <a:r>
                        <a:rPr lang="en-NP" sz="2000" b="1" dirty="0">
                          <a:highlight>
                            <a:srgbClr val="FFFF00"/>
                          </a:highlight>
                        </a:rPr>
                        <a:t>3</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0</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3</a:t>
                      </a:r>
                    </a:p>
                  </a:txBody>
                  <a:tcPr/>
                </a:tc>
                <a:tc>
                  <a:txBody>
                    <a:bodyPr/>
                    <a:lstStyle/>
                    <a:p>
                      <a:r>
                        <a:rPr lang="en-US" sz="2000" b="1" dirty="0">
                          <a:highlight>
                            <a:srgbClr val="00FFFF"/>
                          </a:highlight>
                        </a:rPr>
                        <a:t>a</a:t>
                      </a:r>
                      <a:r>
                        <a:rPr lang="en-NP" sz="2000" b="1" dirty="0">
                          <a:highlight>
                            <a:srgbClr val="00FFFF"/>
                          </a:highlight>
                        </a:rPr>
                        <a:t>[0]</a:t>
                      </a:r>
                    </a:p>
                  </a:txBody>
                  <a:tcPr/>
                </a:tc>
                <a:tc>
                  <a:txBody>
                    <a:bodyPr/>
                    <a:lstStyle/>
                    <a:p>
                      <a:r>
                        <a:rPr lang="en-NP" sz="2000" b="1" dirty="0">
                          <a:highlight>
                            <a:srgbClr val="00FFFF"/>
                          </a:highlight>
                        </a:rPr>
                        <a:t>i=0</a:t>
                      </a:r>
                    </a:p>
                  </a:txBody>
                  <a:tcPr/>
                </a:tc>
                <a:extLst>
                  <a:ext uri="{0D108BD9-81ED-4DB2-BD59-A6C34878D82A}">
                    <a16:rowId xmlns:a16="http://schemas.microsoft.com/office/drawing/2014/main" val="1002926049"/>
                  </a:ext>
                </a:extLst>
              </a:tr>
              <a:tr h="0">
                <a:tc>
                  <a:txBody>
                    <a:bodyPr/>
                    <a:lstStyle/>
                    <a:p>
                      <a:r>
                        <a:rPr lang="en-NP" sz="2000" b="1" dirty="0">
                          <a:highlight>
                            <a:srgbClr val="FFFF00"/>
                          </a:highlight>
                        </a:rPr>
                        <a:t>7</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3</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4</a:t>
                      </a:r>
                    </a:p>
                  </a:txBody>
                  <a:tcPr/>
                </a:tc>
                <a:tc>
                  <a:txBody>
                    <a:bodyPr/>
                    <a:lstStyle/>
                    <a:p>
                      <a:r>
                        <a:rPr lang="en-US" sz="2000" b="1" dirty="0">
                          <a:highlight>
                            <a:srgbClr val="00FFFF"/>
                          </a:highlight>
                        </a:rPr>
                        <a:t>a[1]</a:t>
                      </a:r>
                      <a:endParaRPr lang="en-NP" sz="2000" b="1" dirty="0">
                        <a:highlight>
                          <a:srgbClr val="00FFFF"/>
                        </a:highlight>
                      </a:endParaRPr>
                    </a:p>
                  </a:txBody>
                  <a:tcPr/>
                </a:tc>
                <a:tc>
                  <a:txBody>
                    <a:bodyPr/>
                    <a:lstStyle/>
                    <a:p>
                      <a:r>
                        <a:rPr lang="en-NP" sz="2000" b="1" dirty="0">
                          <a:highlight>
                            <a:srgbClr val="00FFFF"/>
                          </a:highlight>
                        </a:rPr>
                        <a:t>i=1</a:t>
                      </a:r>
                    </a:p>
                  </a:txBody>
                  <a:tcPr/>
                </a:tc>
                <a:extLst>
                  <a:ext uri="{0D108BD9-81ED-4DB2-BD59-A6C34878D82A}">
                    <a16:rowId xmlns:a16="http://schemas.microsoft.com/office/drawing/2014/main" val="3253809980"/>
                  </a:ext>
                </a:extLst>
              </a:tr>
              <a:tr h="0">
                <a:tc>
                  <a:txBody>
                    <a:bodyPr/>
                    <a:lstStyle/>
                    <a:p>
                      <a:r>
                        <a:rPr lang="en-NP" sz="2000" b="1" dirty="0">
                          <a:highlight>
                            <a:srgbClr val="FFFF00"/>
                          </a:highlight>
                        </a:rPr>
                        <a:t>12</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7</a:t>
                      </a:r>
                    </a:p>
                  </a:txBody>
                  <a:tcPr/>
                </a:tc>
                <a:tc>
                  <a:txBody>
                    <a:bodyPr/>
                    <a:lstStyle/>
                    <a:p>
                      <a:r>
                        <a:rPr lang="en-NP" sz="2000" b="1" dirty="0">
                          <a:highlight>
                            <a:srgbClr val="FFFF00"/>
                          </a:highlight>
                        </a:rPr>
                        <a:t>+</a:t>
                      </a:r>
                    </a:p>
                  </a:txBody>
                  <a:tcPr/>
                </a:tc>
                <a:tc>
                  <a:txBody>
                    <a:bodyPr/>
                    <a:lstStyle/>
                    <a:p>
                      <a:r>
                        <a:rPr lang="en-NP" sz="2000" b="1" dirty="0">
                          <a:highlight>
                            <a:srgbClr val="FFFF00"/>
                          </a:highlight>
                        </a:rPr>
                        <a:t>5</a:t>
                      </a:r>
                    </a:p>
                  </a:txBody>
                  <a:tcPr/>
                </a:tc>
                <a:tc>
                  <a:txBody>
                    <a:bodyPr/>
                    <a:lstStyle/>
                    <a:p>
                      <a:r>
                        <a:rPr lang="en-US" sz="2000" b="1" dirty="0">
                          <a:highlight>
                            <a:srgbClr val="00FFFF"/>
                          </a:highlight>
                        </a:rPr>
                        <a:t>a[2]</a:t>
                      </a:r>
                      <a:endParaRPr lang="en-NP" sz="2000" b="1" dirty="0">
                        <a:highlight>
                          <a:srgbClr val="00FFFF"/>
                        </a:highlight>
                      </a:endParaRPr>
                    </a:p>
                  </a:txBody>
                  <a:tcPr/>
                </a:tc>
                <a:tc>
                  <a:txBody>
                    <a:bodyPr/>
                    <a:lstStyle/>
                    <a:p>
                      <a:r>
                        <a:rPr lang="en-NP" sz="2000" b="1" dirty="0">
                          <a:highlight>
                            <a:srgbClr val="00FFFF"/>
                          </a:highlight>
                        </a:rPr>
                        <a:t>i=2</a:t>
                      </a:r>
                    </a:p>
                  </a:txBody>
                  <a:tcPr/>
                </a:tc>
                <a:extLst>
                  <a:ext uri="{0D108BD9-81ED-4DB2-BD59-A6C34878D82A}">
                    <a16:rowId xmlns:a16="http://schemas.microsoft.com/office/drawing/2014/main" val="2225429038"/>
                  </a:ext>
                </a:extLst>
              </a:tr>
              <a:tr h="0">
                <a:tc gridSpan="6">
                  <a:txBody>
                    <a:bodyPr/>
                    <a:lstStyle/>
                    <a:p>
                      <a:r>
                        <a:rPr lang="en-US" sz="1600" b="1" dirty="0">
                          <a:highlight>
                            <a:srgbClr val="FFFF00"/>
                          </a:highlight>
                        </a:rPr>
                        <a:t>When </a:t>
                      </a:r>
                      <a:r>
                        <a:rPr lang="en-US" sz="1600" b="1" dirty="0" err="1">
                          <a:highlight>
                            <a:srgbClr val="FFFF00"/>
                          </a:highlight>
                        </a:rPr>
                        <a:t>i</a:t>
                      </a:r>
                      <a:r>
                        <a:rPr lang="en-US" sz="1600" b="1" dirty="0">
                          <a:highlight>
                            <a:srgbClr val="FFFF00"/>
                          </a:highlight>
                        </a:rPr>
                        <a:t>&lt;3  condition false and exit from loop</a:t>
                      </a:r>
                      <a:endParaRPr lang="en-NP" sz="16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FFFF00"/>
                        </a:highlight>
                      </a:endParaRPr>
                    </a:p>
                  </a:txBody>
                  <a:tcPr/>
                </a:tc>
                <a:tc hMerge="1">
                  <a:txBody>
                    <a:bodyPr/>
                    <a:lstStyle/>
                    <a:p>
                      <a:endParaRPr lang="en-NP" sz="2000" b="1" dirty="0">
                        <a:highlight>
                          <a:srgbClr val="00FFFF"/>
                        </a:highlight>
                      </a:endParaRPr>
                    </a:p>
                  </a:txBody>
                  <a:tcPr/>
                </a:tc>
                <a:tc>
                  <a:txBody>
                    <a:bodyPr/>
                    <a:lstStyle/>
                    <a:p>
                      <a:r>
                        <a:rPr lang="en-NP" sz="2000" b="1" dirty="0">
                          <a:highlight>
                            <a:srgbClr val="00FFFF"/>
                          </a:highlight>
                        </a:rPr>
                        <a:t>i&lt;n i.e.i&lt;3</a:t>
                      </a:r>
                    </a:p>
                  </a:txBody>
                  <a:tcPr/>
                </a:tc>
                <a:extLst>
                  <a:ext uri="{0D108BD9-81ED-4DB2-BD59-A6C34878D82A}">
                    <a16:rowId xmlns:a16="http://schemas.microsoft.com/office/drawing/2014/main" val="2250657254"/>
                  </a:ext>
                </a:extLst>
              </a:tr>
            </a:tbl>
          </a:graphicData>
        </a:graphic>
      </p:graphicFrame>
      <p:graphicFrame>
        <p:nvGraphicFramePr>
          <p:cNvPr id="10" name="Table 9">
            <a:extLst>
              <a:ext uri="{FF2B5EF4-FFF2-40B4-BE49-F238E27FC236}">
                <a16:creationId xmlns:a16="http://schemas.microsoft.com/office/drawing/2014/main" id="{BB2EFB6E-E7EA-BA59-5013-1C7D967A21D5}"/>
              </a:ext>
            </a:extLst>
          </p:cNvPr>
          <p:cNvGraphicFramePr>
            <a:graphicFrameLocks noGrp="1"/>
          </p:cNvGraphicFramePr>
          <p:nvPr>
            <p:extLst>
              <p:ext uri="{D42A27DB-BD31-4B8C-83A1-F6EECF244321}">
                <p14:modId xmlns:p14="http://schemas.microsoft.com/office/powerpoint/2010/main" val="3692564031"/>
              </p:ext>
            </p:extLst>
          </p:nvPr>
        </p:nvGraphicFramePr>
        <p:xfrm>
          <a:off x="10244217" y="2577650"/>
          <a:ext cx="738068" cy="1036320"/>
        </p:xfrm>
        <a:graphic>
          <a:graphicData uri="http://schemas.openxmlformats.org/drawingml/2006/table">
            <a:tbl>
              <a:tblPr firstRow="1" bandRow="1">
                <a:tableStyleId>{5940675A-B579-460E-94D1-54222C63F5DA}</a:tableStyleId>
              </a:tblPr>
              <a:tblGrid>
                <a:gridCol w="738068">
                  <a:extLst>
                    <a:ext uri="{9D8B030D-6E8A-4147-A177-3AD203B41FA5}">
                      <a16:colId xmlns:a16="http://schemas.microsoft.com/office/drawing/2014/main" val="1947717719"/>
                    </a:ext>
                  </a:extLst>
                </a:gridCol>
              </a:tblGrid>
              <a:tr h="370840">
                <a:tc>
                  <a:txBody>
                    <a:bodyPr/>
                    <a:lstStyle/>
                    <a:p>
                      <a:r>
                        <a:rPr lang="en-NP" sz="2800" b="1" dirty="0">
                          <a:highlight>
                            <a:srgbClr val="FFFF00"/>
                          </a:highlight>
                        </a:rPr>
                        <a:t>n</a:t>
                      </a:r>
                    </a:p>
                  </a:txBody>
                  <a:tcPr/>
                </a:tc>
                <a:extLst>
                  <a:ext uri="{0D108BD9-81ED-4DB2-BD59-A6C34878D82A}">
                    <a16:rowId xmlns:a16="http://schemas.microsoft.com/office/drawing/2014/main" val="974046404"/>
                  </a:ext>
                </a:extLst>
              </a:tr>
              <a:tr h="370840">
                <a:tc>
                  <a:txBody>
                    <a:bodyPr/>
                    <a:lstStyle/>
                    <a:p>
                      <a:r>
                        <a:rPr lang="en-NP" sz="2800" b="1" dirty="0"/>
                        <a:t>3</a:t>
                      </a:r>
                    </a:p>
                  </a:txBody>
                  <a:tcPr/>
                </a:tc>
                <a:extLst>
                  <a:ext uri="{0D108BD9-81ED-4DB2-BD59-A6C34878D82A}">
                    <a16:rowId xmlns:a16="http://schemas.microsoft.com/office/drawing/2014/main" val="2851167368"/>
                  </a:ext>
                </a:extLst>
              </a:tr>
            </a:tbl>
          </a:graphicData>
        </a:graphic>
      </p:graphicFrame>
      <p:graphicFrame>
        <p:nvGraphicFramePr>
          <p:cNvPr id="11" name="Table 10">
            <a:extLst>
              <a:ext uri="{FF2B5EF4-FFF2-40B4-BE49-F238E27FC236}">
                <a16:creationId xmlns:a16="http://schemas.microsoft.com/office/drawing/2014/main" id="{DE5CB27D-5248-C39F-3BA3-8BAC49E7CA18}"/>
              </a:ext>
            </a:extLst>
          </p:cNvPr>
          <p:cNvGraphicFramePr>
            <a:graphicFrameLocks noGrp="1"/>
          </p:cNvGraphicFramePr>
          <p:nvPr>
            <p:extLst>
              <p:ext uri="{D42A27DB-BD31-4B8C-83A1-F6EECF244321}">
                <p14:modId xmlns:p14="http://schemas.microsoft.com/office/powerpoint/2010/main" val="3881985355"/>
              </p:ext>
            </p:extLst>
          </p:nvPr>
        </p:nvGraphicFramePr>
        <p:xfrm>
          <a:off x="11147300" y="2577650"/>
          <a:ext cx="960236" cy="1036320"/>
        </p:xfrm>
        <a:graphic>
          <a:graphicData uri="http://schemas.openxmlformats.org/drawingml/2006/table">
            <a:tbl>
              <a:tblPr firstRow="1" bandRow="1">
                <a:tableStyleId>{5940675A-B579-460E-94D1-54222C63F5DA}</a:tableStyleId>
              </a:tblPr>
              <a:tblGrid>
                <a:gridCol w="960236">
                  <a:extLst>
                    <a:ext uri="{9D8B030D-6E8A-4147-A177-3AD203B41FA5}">
                      <a16:colId xmlns:a16="http://schemas.microsoft.com/office/drawing/2014/main" val="1947717719"/>
                    </a:ext>
                  </a:extLst>
                </a:gridCol>
              </a:tblGrid>
              <a:tr h="370840">
                <a:tc>
                  <a:txBody>
                    <a:bodyPr/>
                    <a:lstStyle/>
                    <a:p>
                      <a:r>
                        <a:rPr lang="en-NP" sz="2800" b="1" dirty="0">
                          <a:highlight>
                            <a:srgbClr val="FFFF00"/>
                          </a:highlight>
                        </a:rPr>
                        <a:t>sum</a:t>
                      </a:r>
                    </a:p>
                  </a:txBody>
                  <a:tcPr/>
                </a:tc>
                <a:extLst>
                  <a:ext uri="{0D108BD9-81ED-4DB2-BD59-A6C34878D82A}">
                    <a16:rowId xmlns:a16="http://schemas.microsoft.com/office/drawing/2014/main" val="974046404"/>
                  </a:ext>
                </a:extLst>
              </a:tr>
              <a:tr h="370840">
                <a:tc>
                  <a:txBody>
                    <a:bodyPr/>
                    <a:lstStyle/>
                    <a:p>
                      <a:r>
                        <a:rPr lang="en-NP" sz="2800" b="1" dirty="0"/>
                        <a:t>0</a:t>
                      </a:r>
                    </a:p>
                  </a:txBody>
                  <a:tcPr/>
                </a:tc>
                <a:extLst>
                  <a:ext uri="{0D108BD9-81ED-4DB2-BD59-A6C34878D82A}">
                    <a16:rowId xmlns:a16="http://schemas.microsoft.com/office/drawing/2014/main" val="2851167368"/>
                  </a:ext>
                </a:extLst>
              </a:tr>
            </a:tbl>
          </a:graphicData>
        </a:graphic>
      </p:graphicFrame>
    </p:spTree>
    <p:extLst>
      <p:ext uri="{BB962C8B-B14F-4D97-AF65-F5344CB8AC3E}">
        <p14:creationId xmlns:p14="http://schemas.microsoft.com/office/powerpoint/2010/main" val="1111512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43F5-9A51-D8BC-63E1-62771FE71A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AF4B22-24DC-667E-3632-6CCF963B4546}"/>
              </a:ext>
            </a:extLst>
          </p:cNvPr>
          <p:cNvSpPr>
            <a:spLocks noGrp="1"/>
          </p:cNvSpPr>
          <p:nvPr>
            <p:ph type="title"/>
          </p:nvPr>
        </p:nvSpPr>
        <p:spPr>
          <a:xfrm>
            <a:off x="320407" y="93643"/>
            <a:ext cx="10376971" cy="332877"/>
          </a:xfrm>
        </p:spPr>
        <p:txBody>
          <a:bodyPr>
            <a:normAutofit fontScale="90000"/>
          </a:bodyPr>
          <a:lstStyle/>
          <a:p>
            <a:br>
              <a:rPr lang="en-NP" sz="2000" b="1" i="1" dirty="0"/>
            </a:br>
            <a:br>
              <a:rPr lang="en-NP" sz="2000" b="1" i="1" dirty="0"/>
            </a:br>
            <a:r>
              <a:rPr lang="en-NP" sz="2000" b="1" i="1" dirty="0">
                <a:solidFill>
                  <a:srgbClr val="FF0000"/>
                </a:solidFill>
              </a:rPr>
              <a:t>10.WAP to calculate and display t</a:t>
            </a:r>
            <a:r>
              <a:rPr lang="en-NP" sz="2000" b="1" i="1" u="sng" dirty="0">
                <a:solidFill>
                  <a:srgbClr val="FF0000"/>
                </a:solidFill>
              </a:rPr>
              <a:t>o sum of  two Metrix.</a:t>
            </a:r>
            <a:r>
              <a:rPr lang="en-NP" sz="2000" b="1" i="1" dirty="0">
                <a:solidFill>
                  <a:srgbClr val="FF0000"/>
                </a:solidFill>
              </a:rPr>
              <a:t> </a:t>
            </a:r>
            <a:br>
              <a:rPr lang="en-NP" b="1" i="1" dirty="0"/>
            </a:br>
            <a:endParaRPr lang="en-NP" dirty="0"/>
          </a:p>
        </p:txBody>
      </p:sp>
      <p:sp>
        <p:nvSpPr>
          <p:cNvPr id="3" name="Content Placeholder 2">
            <a:extLst>
              <a:ext uri="{FF2B5EF4-FFF2-40B4-BE49-F238E27FC236}">
                <a16:creationId xmlns:a16="http://schemas.microsoft.com/office/drawing/2014/main" id="{57DF3B12-82A1-78FD-ADBE-5CA299B5ED3E}"/>
              </a:ext>
            </a:extLst>
          </p:cNvPr>
          <p:cNvSpPr>
            <a:spLocks noGrp="1"/>
          </p:cNvSpPr>
          <p:nvPr>
            <p:ph sz="half" idx="1"/>
          </p:nvPr>
        </p:nvSpPr>
        <p:spPr>
          <a:xfrm>
            <a:off x="143219" y="448555"/>
            <a:ext cx="5843530" cy="6315802"/>
          </a:xfrm>
        </p:spPr>
        <p:txBody>
          <a:bodyPr>
            <a:normAutofit fontScale="77500" lnSpcReduction="20000"/>
          </a:bodyPr>
          <a:lstStyle/>
          <a:p>
            <a:pPr marL="0" lvl="0" indent="0">
              <a:lnSpc>
                <a:spcPct val="120000"/>
              </a:lnSpc>
              <a:spcBef>
                <a:spcPts val="0"/>
              </a:spcBef>
              <a:buNone/>
              <a:defRPr/>
            </a:pPr>
            <a:r>
              <a:rPr lang="en-US" sz="2100" b="1" dirty="0">
                <a:solidFill>
                  <a:prstClr val="black"/>
                </a:solidFill>
              </a:rPr>
              <a:t>#include&lt;</a:t>
            </a:r>
            <a:r>
              <a:rPr lang="en-US" sz="2100" b="1" dirty="0" err="1">
                <a:solidFill>
                  <a:prstClr val="black"/>
                </a:solidFill>
              </a:rPr>
              <a:t>stdio.h</a:t>
            </a:r>
            <a:r>
              <a:rPr lang="en-US" sz="2100" b="1" dirty="0">
                <a:solidFill>
                  <a:prstClr val="black"/>
                </a:solidFill>
              </a:rPr>
              <a:t>&gt; </a:t>
            </a:r>
          </a:p>
          <a:p>
            <a:pPr marL="0" lvl="0" indent="0">
              <a:lnSpc>
                <a:spcPct val="120000"/>
              </a:lnSpc>
              <a:spcBef>
                <a:spcPts val="0"/>
              </a:spcBef>
              <a:buNone/>
              <a:defRPr/>
            </a:pPr>
            <a:r>
              <a:rPr lang="en-US" sz="2100" b="1" dirty="0">
                <a:solidFill>
                  <a:prstClr val="black"/>
                </a:solidFill>
              </a:rPr>
              <a:t>void </a:t>
            </a:r>
            <a:r>
              <a:rPr lang="en-US" sz="2100" b="1" dirty="0" err="1">
                <a:solidFill>
                  <a:prstClr val="black"/>
                </a:solidFill>
              </a:rPr>
              <a:t>matrix_sum</a:t>
            </a:r>
            <a:r>
              <a:rPr lang="en-US" sz="2100" b="1" dirty="0">
                <a:solidFill>
                  <a:prstClr val="black"/>
                </a:solidFill>
              </a:rPr>
              <a:t>(int m[2][2],int n[2][2]); </a:t>
            </a:r>
          </a:p>
          <a:p>
            <a:pPr marL="0" lvl="0" indent="0">
              <a:lnSpc>
                <a:spcPct val="120000"/>
              </a:lnSpc>
              <a:spcBef>
                <a:spcPts val="0"/>
              </a:spcBef>
              <a:buNone/>
              <a:defRPr/>
            </a:pPr>
            <a:r>
              <a:rPr lang="en-US" sz="2100" b="1" dirty="0">
                <a:solidFill>
                  <a:prstClr val="black"/>
                </a:solidFill>
              </a:rPr>
              <a:t>int main() </a:t>
            </a:r>
          </a:p>
          <a:p>
            <a:pPr marL="0" lvl="0" indent="0">
              <a:lnSpc>
                <a:spcPct val="120000"/>
              </a:lnSpc>
              <a:spcBef>
                <a:spcPts val="0"/>
              </a:spcBef>
              <a:buNone/>
              <a:defRPr/>
            </a:pPr>
            <a:r>
              <a:rPr lang="en-US" sz="2100" b="1" dirty="0">
                <a:solidFill>
                  <a:prstClr val="black"/>
                </a:solidFill>
              </a:rPr>
              <a:t>{</a:t>
            </a:r>
          </a:p>
          <a:p>
            <a:pPr marL="0" lvl="0" indent="0">
              <a:lnSpc>
                <a:spcPct val="120000"/>
              </a:lnSpc>
              <a:spcBef>
                <a:spcPts val="0"/>
              </a:spcBef>
              <a:buNone/>
              <a:defRPr/>
            </a:pPr>
            <a:r>
              <a:rPr lang="en-US" sz="2100" b="1" dirty="0">
                <a:solidFill>
                  <a:prstClr val="black"/>
                </a:solidFill>
              </a:rPr>
              <a:t>int </a:t>
            </a:r>
            <a:r>
              <a:rPr lang="en-US" sz="2100" b="1" dirty="0" err="1">
                <a:solidFill>
                  <a:prstClr val="black"/>
                </a:solidFill>
              </a:rPr>
              <a:t>i</a:t>
            </a:r>
            <a:r>
              <a:rPr lang="en-US" sz="2100" b="1" dirty="0">
                <a:solidFill>
                  <a:prstClr val="black"/>
                </a:solidFill>
              </a:rPr>
              <a:t>, j, m[2][2], n[2][2]; </a:t>
            </a:r>
          </a:p>
          <a:p>
            <a:pPr marL="0" lvl="0" indent="0">
              <a:lnSpc>
                <a:spcPct val="120000"/>
              </a:lnSpc>
              <a:spcBef>
                <a:spcPts val="0"/>
              </a:spcBef>
              <a:buNone/>
              <a:defRPr/>
            </a:pPr>
            <a:r>
              <a:rPr lang="en-US" sz="2100" b="1" dirty="0" err="1">
                <a:solidFill>
                  <a:prstClr val="black"/>
                </a:solidFill>
              </a:rPr>
              <a:t>printf</a:t>
            </a:r>
            <a:r>
              <a:rPr lang="en-US" sz="2100" b="1" dirty="0">
                <a:solidFill>
                  <a:prstClr val="black"/>
                </a:solidFill>
              </a:rPr>
              <a:t>("Enter the elements of first matrix\n"); </a:t>
            </a:r>
          </a:p>
          <a:p>
            <a:pPr marL="0" lvl="0" indent="0">
              <a:lnSpc>
                <a:spcPct val="120000"/>
              </a:lnSpc>
              <a:spcBef>
                <a:spcPts val="0"/>
              </a:spcBef>
              <a:buNone/>
              <a:defRPr/>
            </a:pPr>
            <a:r>
              <a:rPr lang="en-US" sz="2100" b="1" dirty="0">
                <a:solidFill>
                  <a:prstClr val="black"/>
                </a:solidFill>
              </a:rPr>
              <a:t>for(</a:t>
            </a:r>
            <a:r>
              <a:rPr lang="en-US" sz="2100" b="1" dirty="0" err="1">
                <a:solidFill>
                  <a:prstClr val="black"/>
                </a:solidFill>
              </a:rPr>
              <a:t>i</a:t>
            </a:r>
            <a:r>
              <a:rPr lang="en-US" sz="2100" b="1" dirty="0">
                <a:solidFill>
                  <a:prstClr val="black"/>
                </a:solidFill>
              </a:rPr>
              <a:t>=0;i&lt;2;i++) 	          	 </a:t>
            </a:r>
            <a:r>
              <a:rPr lang="en-US" sz="2100" b="1" dirty="0">
                <a:solidFill>
                  <a:prstClr val="black"/>
                </a:solidFill>
                <a:highlight>
                  <a:srgbClr val="FFFF00"/>
                </a:highlight>
              </a:rPr>
              <a:t>m[</a:t>
            </a:r>
            <a:r>
              <a:rPr lang="en-US" sz="2100" b="1" dirty="0" err="1">
                <a:solidFill>
                  <a:prstClr val="black"/>
                </a:solidFill>
                <a:highlight>
                  <a:srgbClr val="FFFF00"/>
                </a:highlight>
              </a:rPr>
              <a:t>i</a:t>
            </a:r>
            <a:r>
              <a:rPr lang="en-US" sz="2100" b="1" dirty="0">
                <a:solidFill>
                  <a:prstClr val="black"/>
                </a:solidFill>
                <a:highlight>
                  <a:srgbClr val="FFFF00"/>
                </a:highlight>
              </a:rPr>
              <a:t>][j] </a:t>
            </a:r>
          </a:p>
          <a:p>
            <a:pPr marL="0" indent="0">
              <a:lnSpc>
                <a:spcPct val="120000"/>
              </a:lnSpc>
              <a:spcBef>
                <a:spcPts val="0"/>
              </a:spcBef>
              <a:buNone/>
              <a:defRPr/>
            </a:pPr>
            <a:r>
              <a:rPr lang="en-US" sz="2100" b="1" dirty="0">
                <a:solidFill>
                  <a:prstClr val="black"/>
                </a:solidFill>
              </a:rPr>
              <a:t>{ 		                     </a:t>
            </a:r>
            <a:r>
              <a:rPr lang="en-US" sz="1400" b="1" dirty="0">
                <a:solidFill>
                  <a:prstClr val="black"/>
                </a:solidFill>
                <a:highlight>
                  <a:srgbClr val="FFFF00"/>
                </a:highlight>
              </a:rPr>
              <a:t>m[0][0]    m[0][1] </a:t>
            </a:r>
          </a:p>
          <a:p>
            <a:pPr marL="0" lvl="0" indent="0">
              <a:lnSpc>
                <a:spcPct val="120000"/>
              </a:lnSpc>
              <a:spcBef>
                <a:spcPts val="0"/>
              </a:spcBef>
              <a:buNone/>
              <a:defRPr/>
            </a:pPr>
            <a:r>
              <a:rPr lang="en-US" sz="2100" b="1" dirty="0">
                <a:solidFill>
                  <a:prstClr val="black"/>
                </a:solidFill>
              </a:rPr>
              <a:t>for(j=0;j&lt;2;j++)</a:t>
            </a: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scanf</a:t>
            </a:r>
            <a:r>
              <a:rPr lang="en-US" sz="2100" b="1" dirty="0">
                <a:solidFill>
                  <a:prstClr val="black"/>
                </a:solidFill>
              </a:rPr>
              <a:t>("%d", &amp;m[</a:t>
            </a:r>
            <a:r>
              <a:rPr lang="en-US" sz="2100" b="1" dirty="0" err="1">
                <a:solidFill>
                  <a:prstClr val="black"/>
                </a:solidFill>
              </a:rPr>
              <a:t>i</a:t>
            </a:r>
            <a:r>
              <a:rPr lang="en-US" sz="2100" b="1" dirty="0">
                <a:solidFill>
                  <a:prstClr val="black"/>
                </a:solidFill>
              </a:rPr>
              <a:t>][j]); </a:t>
            </a:r>
          </a:p>
          <a:p>
            <a:pPr marL="0" lvl="0" indent="0">
              <a:lnSpc>
                <a:spcPct val="120000"/>
              </a:lnSpc>
              <a:spcBef>
                <a:spcPts val="0"/>
              </a:spcBef>
              <a:buNone/>
              <a:defRPr/>
            </a:pPr>
            <a:r>
              <a:rPr lang="en-US" sz="2100" b="1" dirty="0">
                <a:solidFill>
                  <a:prstClr val="black"/>
                </a:solidFill>
              </a:rPr>
              <a:t>} </a:t>
            </a:r>
          </a:p>
          <a:p>
            <a:pPr marL="0" indent="0">
              <a:lnSpc>
                <a:spcPct val="120000"/>
              </a:lnSpc>
              <a:spcBef>
                <a:spcPts val="0"/>
              </a:spcBef>
              <a:buNone/>
              <a:defRPr/>
            </a:pPr>
            <a:r>
              <a:rPr lang="en-US" sz="2100" b="1" dirty="0">
                <a:solidFill>
                  <a:prstClr val="black"/>
                </a:solidFill>
              </a:rPr>
              <a:t>}              	   	</a:t>
            </a:r>
            <a:r>
              <a:rPr lang="en-US" sz="1400" b="1" dirty="0">
                <a:solidFill>
                  <a:prstClr val="black"/>
                </a:solidFill>
              </a:rPr>
              <a:t>          	</a:t>
            </a:r>
            <a:r>
              <a:rPr lang="en-US" sz="1400" b="1" dirty="0">
                <a:solidFill>
                  <a:prstClr val="black"/>
                </a:solidFill>
                <a:highlight>
                  <a:srgbClr val="FFFF00"/>
                </a:highlight>
              </a:rPr>
              <a:t>m[1][0]    m[1][1] </a:t>
            </a:r>
            <a:endParaRPr lang="en-US" sz="2100" b="1" dirty="0">
              <a:solidFill>
                <a:prstClr val="black"/>
              </a:solidFill>
              <a:highlight>
                <a:srgbClr val="FFFF00"/>
              </a:highlight>
            </a:endParaRPr>
          </a:p>
          <a:p>
            <a:pPr marL="0" lvl="0" indent="0">
              <a:lnSpc>
                <a:spcPct val="120000"/>
              </a:lnSpc>
              <a:spcBef>
                <a:spcPts val="0"/>
              </a:spcBef>
              <a:buNone/>
              <a:defRPr/>
            </a:pPr>
            <a:r>
              <a:rPr lang="en-US" sz="2100" b="1" dirty="0" err="1">
                <a:solidFill>
                  <a:prstClr val="black"/>
                </a:solidFill>
              </a:rPr>
              <a:t>printf</a:t>
            </a:r>
            <a:r>
              <a:rPr lang="en-US" sz="2100" b="1" dirty="0">
                <a:solidFill>
                  <a:prstClr val="black"/>
                </a:solidFill>
              </a:rPr>
              <a:t>("Enter the elements of second matrix\n"); </a:t>
            </a:r>
          </a:p>
          <a:p>
            <a:pPr marL="0" lvl="0" indent="0">
              <a:lnSpc>
                <a:spcPct val="120000"/>
              </a:lnSpc>
              <a:spcBef>
                <a:spcPts val="0"/>
              </a:spcBef>
              <a:buNone/>
              <a:defRPr/>
            </a:pPr>
            <a:r>
              <a:rPr lang="en-US" sz="2100" b="1" dirty="0">
                <a:solidFill>
                  <a:prstClr val="black"/>
                </a:solidFill>
              </a:rPr>
              <a:t>for(</a:t>
            </a:r>
            <a:r>
              <a:rPr lang="en-US" sz="2100" b="1" dirty="0" err="1">
                <a:solidFill>
                  <a:prstClr val="black"/>
                </a:solidFill>
              </a:rPr>
              <a:t>i</a:t>
            </a:r>
            <a:r>
              <a:rPr lang="en-US" sz="2100" b="1" dirty="0">
                <a:solidFill>
                  <a:prstClr val="black"/>
                </a:solidFill>
              </a:rPr>
              <a:t>=0;i&lt;2;i++) </a:t>
            </a:r>
          </a:p>
          <a:p>
            <a:pPr marL="0" lvl="0" indent="0">
              <a:lnSpc>
                <a:spcPct val="120000"/>
              </a:lnSpc>
              <a:spcBef>
                <a:spcPts val="0"/>
              </a:spcBef>
              <a:buNone/>
              <a:defRPr/>
            </a:pPr>
            <a:r>
              <a:rPr lang="en-US" sz="2100" b="1" dirty="0">
                <a:solidFill>
                  <a:prstClr val="black"/>
                </a:solidFill>
              </a:rPr>
              <a:t>{ 			  </a:t>
            </a:r>
            <a:r>
              <a:rPr lang="en-US" sz="2100" b="1" dirty="0">
                <a:solidFill>
                  <a:prstClr val="black"/>
                </a:solidFill>
                <a:highlight>
                  <a:srgbClr val="FFFF00"/>
                </a:highlight>
              </a:rPr>
              <a:t>n[</a:t>
            </a:r>
            <a:r>
              <a:rPr lang="en-US" sz="2100" b="1" dirty="0" err="1">
                <a:solidFill>
                  <a:prstClr val="black"/>
                </a:solidFill>
                <a:highlight>
                  <a:srgbClr val="FFFF00"/>
                </a:highlight>
              </a:rPr>
              <a:t>i</a:t>
            </a:r>
            <a:r>
              <a:rPr lang="en-US" sz="2100" b="1" dirty="0">
                <a:solidFill>
                  <a:prstClr val="black"/>
                </a:solidFill>
                <a:highlight>
                  <a:srgbClr val="FFFF00"/>
                </a:highlight>
              </a:rPr>
              <a:t>][j] </a:t>
            </a:r>
          </a:p>
          <a:p>
            <a:pPr marL="0" indent="0">
              <a:lnSpc>
                <a:spcPct val="120000"/>
              </a:lnSpc>
              <a:spcBef>
                <a:spcPts val="0"/>
              </a:spcBef>
              <a:buNone/>
              <a:defRPr/>
            </a:pPr>
            <a:r>
              <a:rPr lang="en-US" sz="2100" b="1" dirty="0">
                <a:solidFill>
                  <a:prstClr val="black"/>
                </a:solidFill>
              </a:rPr>
              <a:t>for(j=0;j&lt;2;j++) 		</a:t>
            </a:r>
            <a:r>
              <a:rPr lang="en-US" sz="1400" b="1" dirty="0">
                <a:solidFill>
                  <a:prstClr val="black"/>
                </a:solidFill>
                <a:highlight>
                  <a:srgbClr val="FFFF00"/>
                </a:highlight>
              </a:rPr>
              <a:t>n[0][0]       n0][1] </a:t>
            </a:r>
            <a:endParaRPr lang="en-US" sz="2100" b="1" dirty="0">
              <a:solidFill>
                <a:prstClr val="black"/>
              </a:solidFill>
              <a:highlight>
                <a:srgbClr val="FFFF00"/>
              </a:highlight>
            </a:endParaRP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scanf</a:t>
            </a:r>
            <a:r>
              <a:rPr lang="en-US" sz="2100" b="1" dirty="0">
                <a:solidFill>
                  <a:prstClr val="black"/>
                </a:solidFill>
              </a:rPr>
              <a:t>("%</a:t>
            </a:r>
            <a:r>
              <a:rPr lang="en-US" sz="2100" b="1" dirty="0" err="1">
                <a:solidFill>
                  <a:prstClr val="black"/>
                </a:solidFill>
              </a:rPr>
              <a:t>d",&amp;n</a:t>
            </a:r>
            <a:r>
              <a:rPr lang="en-US" sz="2100" b="1" dirty="0">
                <a:solidFill>
                  <a:prstClr val="black"/>
                </a:solidFill>
              </a:rPr>
              <a:t>[</a:t>
            </a:r>
            <a:r>
              <a:rPr lang="en-US" sz="2100" b="1" dirty="0" err="1">
                <a:solidFill>
                  <a:prstClr val="black"/>
                </a:solidFill>
              </a:rPr>
              <a:t>i</a:t>
            </a:r>
            <a:r>
              <a:rPr lang="en-US" sz="2100" b="1" dirty="0">
                <a:solidFill>
                  <a:prstClr val="black"/>
                </a:solidFill>
              </a:rPr>
              <a:t>][j</a:t>
            </a:r>
            <a:r>
              <a:rPr lang="en-US" sz="2100" b="1">
                <a:solidFill>
                  <a:prstClr val="black"/>
                </a:solidFill>
              </a:rPr>
              <a:t>]); </a:t>
            </a:r>
          </a:p>
          <a:p>
            <a:pPr marL="0" lvl="0" indent="0">
              <a:lnSpc>
                <a:spcPct val="120000"/>
              </a:lnSpc>
              <a:spcBef>
                <a:spcPts val="0"/>
              </a:spcBef>
              <a:buNone/>
              <a:defRPr/>
            </a:pPr>
            <a:r>
              <a:rPr lang="en-US" sz="2100" b="1">
                <a:solidFill>
                  <a:prstClr val="black"/>
                </a:solidFill>
              </a:rPr>
              <a:t>} </a:t>
            </a:r>
            <a:endParaRPr lang="en-US" sz="2100" b="1" dirty="0">
              <a:solidFill>
                <a:prstClr val="black"/>
              </a:solidFill>
            </a:endParaRPr>
          </a:p>
          <a:p>
            <a:pPr marL="0" lvl="0" indent="0">
              <a:lnSpc>
                <a:spcPct val="120000"/>
              </a:lnSpc>
              <a:spcBef>
                <a:spcPts val="0"/>
              </a:spcBef>
              <a:buNone/>
              <a:defRPr/>
            </a:pPr>
            <a:r>
              <a:rPr lang="en-US" sz="2100" b="1" dirty="0">
                <a:solidFill>
                  <a:prstClr val="black"/>
                </a:solidFill>
              </a:rPr>
              <a:t>} </a:t>
            </a:r>
          </a:p>
          <a:p>
            <a:pPr marL="0" lvl="0" indent="0">
              <a:lnSpc>
                <a:spcPct val="120000"/>
              </a:lnSpc>
              <a:spcBef>
                <a:spcPts val="0"/>
              </a:spcBef>
              <a:buNone/>
              <a:defRPr/>
            </a:pPr>
            <a:r>
              <a:rPr lang="en-US" sz="2100" b="1" dirty="0" err="1">
                <a:solidFill>
                  <a:prstClr val="black"/>
                </a:solidFill>
              </a:rPr>
              <a:t>matrix_sum</a:t>
            </a:r>
            <a:r>
              <a:rPr lang="en-US" sz="2100" b="1" dirty="0">
                <a:solidFill>
                  <a:prstClr val="black"/>
                </a:solidFill>
              </a:rPr>
              <a:t>(</a:t>
            </a:r>
            <a:r>
              <a:rPr lang="en-US" sz="2100" b="1" dirty="0" err="1">
                <a:solidFill>
                  <a:prstClr val="black"/>
                </a:solidFill>
              </a:rPr>
              <a:t>m,n</a:t>
            </a:r>
            <a:r>
              <a:rPr lang="en-US" sz="2100" b="1" dirty="0">
                <a:solidFill>
                  <a:prstClr val="black"/>
                </a:solidFill>
              </a:rPr>
              <a:t>);                           </a:t>
            </a:r>
          </a:p>
          <a:p>
            <a:pPr marL="0" lvl="0" indent="0">
              <a:lnSpc>
                <a:spcPct val="120000"/>
              </a:lnSpc>
              <a:spcBef>
                <a:spcPts val="0"/>
              </a:spcBef>
              <a:buNone/>
              <a:defRPr/>
            </a:pPr>
            <a:r>
              <a:rPr lang="en-US" sz="2100" b="1" dirty="0">
                <a:solidFill>
                  <a:prstClr val="black"/>
                </a:solidFill>
              </a:rPr>
              <a:t>return 0;		                      </a:t>
            </a:r>
            <a:r>
              <a:rPr lang="en-US" sz="1400" b="1" dirty="0">
                <a:solidFill>
                  <a:prstClr val="black"/>
                </a:solidFill>
                <a:highlight>
                  <a:srgbClr val="FFFF00"/>
                </a:highlight>
              </a:rPr>
              <a:t>n[1][0]       n[1][1] </a:t>
            </a:r>
          </a:p>
          <a:p>
            <a:pPr marL="0" lvl="0" indent="0">
              <a:lnSpc>
                <a:spcPct val="120000"/>
              </a:lnSpc>
              <a:spcBef>
                <a:spcPts val="0"/>
              </a:spcBef>
              <a:buNone/>
              <a:defRPr/>
            </a:pPr>
            <a:r>
              <a:rPr lang="en-US" sz="2100" b="1" dirty="0">
                <a:solidFill>
                  <a:prstClr val="black"/>
                </a:solidFill>
              </a:rPr>
              <a:t>}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21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indent="0">
              <a:buNone/>
            </a:pPr>
            <a:endParaRPr lang="en-NP" sz="1800" b="1" i="1" dirty="0"/>
          </a:p>
        </p:txBody>
      </p:sp>
      <p:sp>
        <p:nvSpPr>
          <p:cNvPr id="6" name="Content Placeholder 5">
            <a:extLst>
              <a:ext uri="{FF2B5EF4-FFF2-40B4-BE49-F238E27FC236}">
                <a16:creationId xmlns:a16="http://schemas.microsoft.com/office/drawing/2014/main" id="{201B6FC9-19D6-57FA-9259-57D1A6D875E7}"/>
              </a:ext>
            </a:extLst>
          </p:cNvPr>
          <p:cNvSpPr>
            <a:spLocks noGrp="1"/>
          </p:cNvSpPr>
          <p:nvPr>
            <p:ph sz="half" idx="2"/>
          </p:nvPr>
        </p:nvSpPr>
        <p:spPr>
          <a:xfrm>
            <a:off x="5045725" y="510716"/>
            <a:ext cx="7146275" cy="6253641"/>
          </a:xfrm>
        </p:spPr>
        <p:txBody>
          <a:bodyPr>
            <a:normAutofit fontScale="77500" lnSpcReduction="20000"/>
          </a:bodyPr>
          <a:lstStyle/>
          <a:p>
            <a:pPr marL="0" lvl="0" indent="0">
              <a:lnSpc>
                <a:spcPct val="100000"/>
              </a:lnSpc>
              <a:spcBef>
                <a:spcPts val="0"/>
              </a:spcBef>
              <a:buNone/>
              <a:defRPr/>
            </a:pPr>
            <a:r>
              <a:rPr lang="en-US" sz="2300" b="1" dirty="0">
                <a:solidFill>
                  <a:prstClr val="black"/>
                </a:solidFill>
              </a:rPr>
              <a:t>void </a:t>
            </a:r>
            <a:r>
              <a:rPr lang="en-US" sz="2300" b="1" dirty="0" err="1">
                <a:solidFill>
                  <a:prstClr val="black"/>
                </a:solidFill>
              </a:rPr>
              <a:t>matrix_sum</a:t>
            </a:r>
            <a:r>
              <a:rPr lang="en-US" sz="2300" b="1" dirty="0">
                <a:solidFill>
                  <a:prstClr val="black"/>
                </a:solidFill>
              </a:rPr>
              <a:t>(int m[2][2],int n[2][2]) </a:t>
            </a:r>
          </a:p>
          <a:p>
            <a:pPr marL="0" indent="0">
              <a:lnSpc>
                <a:spcPct val="100000"/>
              </a:lnSpc>
              <a:spcBef>
                <a:spcPts val="0"/>
              </a:spcBef>
              <a:buNone/>
              <a:defRPr/>
            </a:pPr>
            <a:r>
              <a:rPr lang="en-US" sz="2300" b="1" dirty="0">
                <a:solidFill>
                  <a:prstClr val="black"/>
                </a:solidFill>
              </a:rPr>
              <a:t>{ 		                              </a:t>
            </a:r>
          </a:p>
          <a:p>
            <a:pPr marL="0" indent="0">
              <a:lnSpc>
                <a:spcPct val="100000"/>
              </a:lnSpc>
              <a:spcBef>
                <a:spcPts val="0"/>
              </a:spcBef>
              <a:buNone/>
              <a:defRPr/>
            </a:pPr>
            <a:r>
              <a:rPr lang="en-US" sz="2300" b="1" dirty="0">
                <a:solidFill>
                  <a:prstClr val="black"/>
                </a:solidFill>
              </a:rPr>
              <a:t>			        </a:t>
            </a:r>
            <a:r>
              <a:rPr lang="en-US" sz="2100" b="1" dirty="0">
                <a:solidFill>
                  <a:prstClr val="black"/>
                </a:solidFill>
                <a:highlight>
                  <a:srgbClr val="FFFF00"/>
                </a:highlight>
              </a:rPr>
              <a:t>m[</a:t>
            </a:r>
            <a:r>
              <a:rPr lang="en-US" sz="2100" b="1" dirty="0" err="1">
                <a:solidFill>
                  <a:prstClr val="black"/>
                </a:solidFill>
                <a:highlight>
                  <a:srgbClr val="FFFF00"/>
                </a:highlight>
              </a:rPr>
              <a:t>i</a:t>
            </a:r>
            <a:r>
              <a:rPr lang="en-US" sz="2100" b="1" dirty="0">
                <a:solidFill>
                  <a:prstClr val="black"/>
                </a:solidFill>
                <a:highlight>
                  <a:srgbClr val="FFFF00"/>
                </a:highlight>
              </a:rPr>
              <a:t>][j]                     n[</a:t>
            </a:r>
            <a:r>
              <a:rPr lang="en-US" sz="2100" b="1" dirty="0" err="1">
                <a:solidFill>
                  <a:prstClr val="black"/>
                </a:solidFill>
                <a:highlight>
                  <a:srgbClr val="FFFF00"/>
                </a:highlight>
              </a:rPr>
              <a:t>i</a:t>
            </a:r>
            <a:r>
              <a:rPr lang="en-US" sz="2100" b="1" dirty="0">
                <a:solidFill>
                  <a:prstClr val="black"/>
                </a:solidFill>
                <a:highlight>
                  <a:srgbClr val="FFFF00"/>
                </a:highlight>
              </a:rPr>
              <a:t>][j]                      sum[</a:t>
            </a:r>
            <a:r>
              <a:rPr lang="en-US" sz="2100" b="1" dirty="0" err="1">
                <a:solidFill>
                  <a:prstClr val="black"/>
                </a:solidFill>
                <a:highlight>
                  <a:srgbClr val="FFFF00"/>
                </a:highlight>
              </a:rPr>
              <a:t>i</a:t>
            </a:r>
            <a:r>
              <a:rPr lang="en-US" sz="2100" b="1" dirty="0">
                <a:solidFill>
                  <a:prstClr val="black"/>
                </a:solidFill>
                <a:highlight>
                  <a:srgbClr val="FFFF00"/>
                </a:highlight>
              </a:rPr>
              <a:t>][j]</a:t>
            </a:r>
          </a:p>
          <a:p>
            <a:pPr marL="0" indent="0">
              <a:lnSpc>
                <a:spcPct val="100000"/>
              </a:lnSpc>
              <a:spcBef>
                <a:spcPts val="0"/>
              </a:spcBef>
              <a:buNone/>
              <a:defRPr/>
            </a:pPr>
            <a:r>
              <a:rPr lang="en-US" sz="2300" b="1" dirty="0">
                <a:solidFill>
                  <a:prstClr val="black"/>
                </a:solidFill>
              </a:rPr>
              <a:t>int sum[2][2], </a:t>
            </a:r>
            <a:r>
              <a:rPr lang="en-US" sz="2300" b="1" dirty="0" err="1">
                <a:solidFill>
                  <a:prstClr val="black"/>
                </a:solidFill>
              </a:rPr>
              <a:t>i</a:t>
            </a:r>
            <a:r>
              <a:rPr lang="en-US" sz="2300" b="1" dirty="0">
                <a:solidFill>
                  <a:prstClr val="black"/>
                </a:solidFill>
              </a:rPr>
              <a:t>, j; 		</a:t>
            </a:r>
            <a:r>
              <a:rPr lang="en-US" sz="1400" b="1" dirty="0">
                <a:solidFill>
                  <a:prstClr val="black"/>
                </a:solidFill>
                <a:highlight>
                  <a:srgbClr val="FFFF00"/>
                </a:highlight>
              </a:rPr>
              <a:t>        m[0][0]    m[0][1]             n[0][0]      n[0][1]       sum[0][0]   sum[0][1]</a:t>
            </a:r>
          </a:p>
          <a:p>
            <a:pPr marL="0" indent="0">
              <a:lnSpc>
                <a:spcPct val="100000"/>
              </a:lnSpc>
              <a:spcBef>
                <a:spcPts val="0"/>
              </a:spcBef>
              <a:buNone/>
              <a:defRPr/>
            </a:pPr>
            <a:endParaRPr lang="en-US" sz="1400" b="1" dirty="0">
              <a:solidFill>
                <a:prstClr val="black"/>
              </a:solidFill>
            </a:endParaRPr>
          </a:p>
          <a:p>
            <a:pPr marL="0" lvl="0" indent="0">
              <a:lnSpc>
                <a:spcPct val="100000"/>
              </a:lnSpc>
              <a:spcBef>
                <a:spcPts val="0"/>
              </a:spcBef>
              <a:buNone/>
              <a:defRPr/>
            </a:pPr>
            <a:r>
              <a:rPr lang="en-US" sz="2300" b="1" dirty="0">
                <a:solidFill>
                  <a:prstClr val="black"/>
                </a:solidFill>
              </a:rPr>
              <a:t>for(</a:t>
            </a:r>
            <a:r>
              <a:rPr lang="en-US" sz="2300" b="1" dirty="0" err="1">
                <a:solidFill>
                  <a:prstClr val="black"/>
                </a:solidFill>
              </a:rPr>
              <a:t>i</a:t>
            </a:r>
            <a:r>
              <a:rPr lang="en-US" sz="2300" b="1" dirty="0">
                <a:solidFill>
                  <a:prstClr val="black"/>
                </a:solidFill>
              </a:rPr>
              <a:t>=0;i&lt;2;i++) </a:t>
            </a:r>
          </a:p>
          <a:p>
            <a:pPr marL="0" lvl="0" indent="0">
              <a:lnSpc>
                <a:spcPct val="100000"/>
              </a:lnSpc>
              <a:spcBef>
                <a:spcPts val="0"/>
              </a:spcBef>
              <a:buNone/>
              <a:defRPr/>
            </a:pPr>
            <a:r>
              <a:rPr lang="en-US" sz="2300" b="1" dirty="0">
                <a:solidFill>
                  <a:prstClr val="black"/>
                </a:solidFill>
              </a:rPr>
              <a:t>{                                                                                        +                            =</a:t>
            </a:r>
          </a:p>
          <a:p>
            <a:pPr marL="0" lvl="0" indent="0">
              <a:lnSpc>
                <a:spcPct val="100000"/>
              </a:lnSpc>
              <a:spcBef>
                <a:spcPts val="0"/>
              </a:spcBef>
              <a:buNone/>
              <a:defRPr/>
            </a:pPr>
            <a:r>
              <a:rPr lang="en-US" sz="2300" b="1" dirty="0">
                <a:solidFill>
                  <a:prstClr val="black"/>
                </a:solidFill>
              </a:rPr>
              <a:t>for(j=0;j&lt;2;j++)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sum[</a:t>
            </a:r>
            <a:r>
              <a:rPr lang="en-US" sz="2300" b="1" dirty="0" err="1">
                <a:solidFill>
                  <a:prstClr val="black"/>
                </a:solidFill>
              </a:rPr>
              <a:t>i</a:t>
            </a:r>
            <a:r>
              <a:rPr lang="en-US" sz="2300" b="1" dirty="0">
                <a:solidFill>
                  <a:prstClr val="black"/>
                </a:solidFill>
              </a:rPr>
              <a:t>][j]= m[</a:t>
            </a:r>
            <a:r>
              <a:rPr lang="en-US" sz="2300" b="1" dirty="0" err="1">
                <a:solidFill>
                  <a:prstClr val="black"/>
                </a:solidFill>
              </a:rPr>
              <a:t>i</a:t>
            </a:r>
            <a:r>
              <a:rPr lang="en-US" sz="2300" b="1" dirty="0">
                <a:solidFill>
                  <a:prstClr val="black"/>
                </a:solidFill>
              </a:rPr>
              <a:t>][j]+ n[</a:t>
            </a:r>
            <a:r>
              <a:rPr lang="en-US" sz="2300" b="1" dirty="0" err="1">
                <a:solidFill>
                  <a:prstClr val="black"/>
                </a:solidFill>
              </a:rPr>
              <a:t>i</a:t>
            </a:r>
            <a:r>
              <a:rPr lang="en-US" sz="2300" b="1" dirty="0">
                <a:solidFill>
                  <a:prstClr val="black"/>
                </a:solidFill>
              </a:rPr>
              <a:t>][j];         </a:t>
            </a:r>
            <a:r>
              <a:rPr lang="en-US" sz="2300" b="1" dirty="0">
                <a:solidFill>
                  <a:prstClr val="black"/>
                </a:solidFill>
                <a:highlight>
                  <a:srgbClr val="FFFF00"/>
                </a:highlight>
              </a:rPr>
              <a:t> </a:t>
            </a:r>
            <a:r>
              <a:rPr lang="en-US" sz="1400" b="1" dirty="0">
                <a:solidFill>
                  <a:prstClr val="black"/>
                </a:solidFill>
                <a:highlight>
                  <a:srgbClr val="FFFF00"/>
                </a:highlight>
              </a:rPr>
              <a:t>m[1][0]    m[1][1]              n[1][0]    n[1][1]       sum[1][0]  sum[1][1]</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highlight>
                  <a:srgbClr val="FFFF00"/>
                </a:highlight>
              </a:rPr>
              <a:t>}</a:t>
            </a:r>
            <a:r>
              <a:rPr lang="en-US" sz="2300" b="1" dirty="0">
                <a:solidFill>
                  <a:prstClr val="black"/>
                </a:solidFill>
              </a:rPr>
              <a:t>				</a:t>
            </a:r>
            <a:r>
              <a:rPr lang="en-US" sz="1400" b="1" dirty="0">
                <a:solidFill>
                  <a:prstClr val="black"/>
                </a:solidFill>
              </a:rPr>
              <a:t> </a:t>
            </a: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("Sum of entered matrices:-\n"); </a:t>
            </a:r>
          </a:p>
          <a:p>
            <a:pPr marL="0" lvl="0" indent="0">
              <a:lnSpc>
                <a:spcPct val="100000"/>
              </a:lnSpc>
              <a:spcBef>
                <a:spcPts val="0"/>
              </a:spcBef>
              <a:buNone/>
              <a:defRPr/>
            </a:pPr>
            <a:r>
              <a:rPr lang="en-US" sz="2300" b="1" dirty="0">
                <a:solidFill>
                  <a:prstClr val="black"/>
                </a:solidFill>
              </a:rPr>
              <a:t>for(</a:t>
            </a:r>
            <a:r>
              <a:rPr lang="en-US" sz="2300" b="1" dirty="0" err="1">
                <a:solidFill>
                  <a:prstClr val="black"/>
                </a:solidFill>
              </a:rPr>
              <a:t>i</a:t>
            </a:r>
            <a:r>
              <a:rPr lang="en-US" sz="2300" b="1" dirty="0">
                <a:solidFill>
                  <a:prstClr val="black"/>
                </a:solidFill>
              </a:rPr>
              <a:t>=0;i&lt;2;i++)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for(j=0;j&lt;2;j++)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("%d\t", sum[</a:t>
            </a:r>
            <a:r>
              <a:rPr lang="en-US" sz="2300" b="1" dirty="0" err="1">
                <a:solidFill>
                  <a:prstClr val="black"/>
                </a:solidFill>
              </a:rPr>
              <a:t>i</a:t>
            </a:r>
            <a:r>
              <a:rPr lang="en-US" sz="2300" b="1" dirty="0">
                <a:solidFill>
                  <a:prstClr val="black"/>
                </a:solidFill>
              </a:rPr>
              <a:t>][j]);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err="1">
                <a:solidFill>
                  <a:prstClr val="black"/>
                </a:solidFill>
              </a:rPr>
              <a:t>printf</a:t>
            </a:r>
            <a:r>
              <a:rPr lang="en-US" sz="2300" b="1" dirty="0">
                <a:solidFill>
                  <a:prstClr val="black"/>
                </a:solidFill>
              </a:rPr>
              <a:t>("\n\n"); </a:t>
            </a:r>
          </a:p>
          <a:p>
            <a:pPr marL="0" lvl="0" indent="0">
              <a:lnSpc>
                <a:spcPct val="100000"/>
              </a:lnSpc>
              <a:spcBef>
                <a:spcPts val="0"/>
              </a:spcBef>
              <a:buNone/>
              <a:defRPr/>
            </a:pPr>
            <a:r>
              <a:rPr lang="en-US" sz="2300" b="1" dirty="0">
                <a:solidFill>
                  <a:prstClr val="black"/>
                </a:solidFill>
              </a:rPr>
              <a:t>} </a:t>
            </a:r>
          </a:p>
          <a:p>
            <a:pPr marL="0" lvl="0" indent="0">
              <a:lnSpc>
                <a:spcPct val="100000"/>
              </a:lnSpc>
              <a:spcBef>
                <a:spcPts val="0"/>
              </a:spcBef>
              <a:buNone/>
              <a:defRPr/>
            </a:pPr>
            <a:r>
              <a:rPr lang="en-US" sz="2300" b="1" dirty="0">
                <a:solidFill>
                  <a:prstClr val="black"/>
                </a:solidFill>
              </a:rPr>
              <a:t>}</a:t>
            </a:r>
          </a:p>
          <a:p>
            <a:pPr marL="0" indent="0">
              <a:buNone/>
            </a:pPr>
            <a:endParaRPr lang="en-NP" b="1" dirty="0"/>
          </a:p>
        </p:txBody>
      </p:sp>
      <p:sp>
        <p:nvSpPr>
          <p:cNvPr id="9" name="Bent-Up Arrow 8">
            <a:extLst>
              <a:ext uri="{FF2B5EF4-FFF2-40B4-BE49-F238E27FC236}">
                <a16:creationId xmlns:a16="http://schemas.microsoft.com/office/drawing/2014/main" id="{57E658C3-6BAC-0950-8FC1-58DC9DA0D6E2}"/>
              </a:ext>
            </a:extLst>
          </p:cNvPr>
          <p:cNvSpPr/>
          <p:nvPr/>
        </p:nvSpPr>
        <p:spPr>
          <a:xfrm>
            <a:off x="4597095" y="405254"/>
            <a:ext cx="253387" cy="6004191"/>
          </a:xfrm>
          <a:prstGeom prst="bentUpArrow">
            <a:avLst>
              <a:gd name="adj1" fmla="val 25000"/>
              <a:gd name="adj2" fmla="val 30271"/>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graphicFrame>
        <p:nvGraphicFramePr>
          <p:cNvPr id="11" name="Table 10">
            <a:extLst>
              <a:ext uri="{FF2B5EF4-FFF2-40B4-BE49-F238E27FC236}">
                <a16:creationId xmlns:a16="http://schemas.microsoft.com/office/drawing/2014/main" id="{E7164D0A-FB4C-EF5A-888B-92197FFFA2AA}"/>
              </a:ext>
            </a:extLst>
          </p:cNvPr>
          <p:cNvGraphicFramePr>
            <a:graphicFrameLocks noGrp="1"/>
          </p:cNvGraphicFramePr>
          <p:nvPr>
            <p:extLst>
              <p:ext uri="{D42A27DB-BD31-4B8C-83A1-F6EECF244321}">
                <p14:modId xmlns:p14="http://schemas.microsoft.com/office/powerpoint/2010/main" val="2835860783"/>
              </p:ext>
            </p:extLst>
          </p:nvPr>
        </p:nvGraphicFramePr>
        <p:xfrm>
          <a:off x="8026093" y="1424745"/>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1</a:t>
                      </a:r>
                    </a:p>
                  </a:txBody>
                  <a:tcPr/>
                </a:tc>
                <a:tc>
                  <a:txBody>
                    <a:bodyPr/>
                    <a:lstStyle/>
                    <a:p>
                      <a:r>
                        <a:rPr lang="en-NP" dirty="0">
                          <a:highlight>
                            <a:srgbClr val="FFFF00"/>
                          </a:highlight>
                        </a:rPr>
                        <a:t>2</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3</a:t>
                      </a:r>
                    </a:p>
                  </a:txBody>
                  <a:tcPr/>
                </a:tc>
                <a:tc>
                  <a:txBody>
                    <a:bodyPr/>
                    <a:lstStyle/>
                    <a:p>
                      <a:r>
                        <a:rPr lang="en-NP" dirty="0">
                          <a:highlight>
                            <a:srgbClr val="FFFF00"/>
                          </a:highlight>
                        </a:rPr>
                        <a:t>   4                    </a:t>
                      </a:r>
                    </a:p>
                  </a:txBody>
                  <a:tcPr/>
                </a:tc>
                <a:extLst>
                  <a:ext uri="{0D108BD9-81ED-4DB2-BD59-A6C34878D82A}">
                    <a16:rowId xmlns:a16="http://schemas.microsoft.com/office/drawing/2014/main" val="1361508949"/>
                  </a:ext>
                </a:extLst>
              </a:tr>
            </a:tbl>
          </a:graphicData>
        </a:graphic>
      </p:graphicFrame>
      <p:graphicFrame>
        <p:nvGraphicFramePr>
          <p:cNvPr id="12" name="Table 11">
            <a:extLst>
              <a:ext uri="{FF2B5EF4-FFF2-40B4-BE49-F238E27FC236}">
                <a16:creationId xmlns:a16="http://schemas.microsoft.com/office/drawing/2014/main" id="{CECD02E0-027D-DCDA-0FFF-81834E7D6EC3}"/>
              </a:ext>
            </a:extLst>
          </p:cNvPr>
          <p:cNvGraphicFramePr>
            <a:graphicFrameLocks noGrp="1"/>
          </p:cNvGraphicFramePr>
          <p:nvPr>
            <p:extLst>
              <p:ext uri="{D42A27DB-BD31-4B8C-83A1-F6EECF244321}">
                <p14:modId xmlns:p14="http://schemas.microsoft.com/office/powerpoint/2010/main" val="2688421898"/>
              </p:ext>
            </p:extLst>
          </p:nvPr>
        </p:nvGraphicFramePr>
        <p:xfrm>
          <a:off x="9438165" y="1438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5</a:t>
                      </a:r>
                    </a:p>
                  </a:txBody>
                  <a:tcPr/>
                </a:tc>
                <a:tc>
                  <a:txBody>
                    <a:bodyPr/>
                    <a:lstStyle/>
                    <a:p>
                      <a:r>
                        <a:rPr lang="en-NP" dirty="0">
                          <a:highlight>
                            <a:srgbClr val="FFFF00"/>
                          </a:highlight>
                        </a:rPr>
                        <a:t>6</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7</a:t>
                      </a:r>
                    </a:p>
                  </a:txBody>
                  <a:tcPr/>
                </a:tc>
                <a:tc>
                  <a:txBody>
                    <a:bodyPr/>
                    <a:lstStyle/>
                    <a:p>
                      <a:r>
                        <a:rPr lang="en-NP" dirty="0">
                          <a:highlight>
                            <a:srgbClr val="FFFF00"/>
                          </a:highlight>
                        </a:rPr>
                        <a:t>8</a:t>
                      </a:r>
                    </a:p>
                  </a:txBody>
                  <a:tcPr/>
                </a:tc>
                <a:extLst>
                  <a:ext uri="{0D108BD9-81ED-4DB2-BD59-A6C34878D82A}">
                    <a16:rowId xmlns:a16="http://schemas.microsoft.com/office/drawing/2014/main" val="1361508949"/>
                  </a:ext>
                </a:extLst>
              </a:tr>
            </a:tbl>
          </a:graphicData>
        </a:graphic>
      </p:graphicFrame>
      <p:graphicFrame>
        <p:nvGraphicFramePr>
          <p:cNvPr id="13" name="Table 12">
            <a:extLst>
              <a:ext uri="{FF2B5EF4-FFF2-40B4-BE49-F238E27FC236}">
                <a16:creationId xmlns:a16="http://schemas.microsoft.com/office/drawing/2014/main" id="{6A087A28-185D-C71A-E471-B5C6DE6AA400}"/>
              </a:ext>
            </a:extLst>
          </p:cNvPr>
          <p:cNvGraphicFramePr>
            <a:graphicFrameLocks noGrp="1"/>
          </p:cNvGraphicFramePr>
          <p:nvPr>
            <p:extLst>
              <p:ext uri="{D42A27DB-BD31-4B8C-83A1-F6EECF244321}">
                <p14:modId xmlns:p14="http://schemas.microsoft.com/office/powerpoint/2010/main" val="2503889102"/>
              </p:ext>
            </p:extLst>
          </p:nvPr>
        </p:nvGraphicFramePr>
        <p:xfrm>
          <a:off x="10815082" y="1438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6</a:t>
                      </a:r>
                    </a:p>
                  </a:txBody>
                  <a:tcPr/>
                </a:tc>
                <a:tc>
                  <a:txBody>
                    <a:bodyPr/>
                    <a:lstStyle/>
                    <a:p>
                      <a:r>
                        <a:rPr lang="en-NP" dirty="0">
                          <a:highlight>
                            <a:srgbClr val="FFFF00"/>
                          </a:highlight>
                        </a:rPr>
                        <a:t>8</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10</a:t>
                      </a:r>
                    </a:p>
                  </a:txBody>
                  <a:tcPr/>
                </a:tc>
                <a:tc>
                  <a:txBody>
                    <a:bodyPr/>
                    <a:lstStyle/>
                    <a:p>
                      <a:r>
                        <a:rPr lang="en-NP" dirty="0">
                          <a:highlight>
                            <a:srgbClr val="FFFF00"/>
                          </a:highlight>
                        </a:rPr>
                        <a:t>12</a:t>
                      </a:r>
                    </a:p>
                  </a:txBody>
                  <a:tcPr/>
                </a:tc>
                <a:extLst>
                  <a:ext uri="{0D108BD9-81ED-4DB2-BD59-A6C34878D82A}">
                    <a16:rowId xmlns:a16="http://schemas.microsoft.com/office/drawing/2014/main" val="1361508949"/>
                  </a:ext>
                </a:extLst>
              </a:tr>
            </a:tbl>
          </a:graphicData>
        </a:graphic>
      </p:graphicFrame>
      <p:graphicFrame>
        <p:nvGraphicFramePr>
          <p:cNvPr id="14" name="Table 13">
            <a:extLst>
              <a:ext uri="{FF2B5EF4-FFF2-40B4-BE49-F238E27FC236}">
                <a16:creationId xmlns:a16="http://schemas.microsoft.com/office/drawing/2014/main" id="{CC703526-D561-9A63-E958-0880BC17E374}"/>
              </a:ext>
            </a:extLst>
          </p:cNvPr>
          <p:cNvGraphicFramePr>
            <a:graphicFrameLocks noGrp="1"/>
          </p:cNvGraphicFramePr>
          <p:nvPr>
            <p:extLst>
              <p:ext uri="{D42A27DB-BD31-4B8C-83A1-F6EECF244321}">
                <p14:modId xmlns:p14="http://schemas.microsoft.com/office/powerpoint/2010/main" val="2573978160"/>
              </p:ext>
            </p:extLst>
          </p:nvPr>
        </p:nvGraphicFramePr>
        <p:xfrm>
          <a:off x="2868059" y="2459348"/>
          <a:ext cx="1185538" cy="1021000"/>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510500">
                <a:tc>
                  <a:txBody>
                    <a:bodyPr/>
                    <a:lstStyle/>
                    <a:p>
                      <a:r>
                        <a:rPr lang="en-NP" dirty="0">
                          <a:highlight>
                            <a:srgbClr val="FFFF00"/>
                          </a:highlight>
                        </a:rPr>
                        <a:t>1</a:t>
                      </a:r>
                    </a:p>
                  </a:txBody>
                  <a:tcPr/>
                </a:tc>
                <a:tc>
                  <a:txBody>
                    <a:bodyPr/>
                    <a:lstStyle/>
                    <a:p>
                      <a:r>
                        <a:rPr lang="en-NP" dirty="0">
                          <a:highlight>
                            <a:srgbClr val="FFFF00"/>
                          </a:highlight>
                        </a:rPr>
                        <a:t>2</a:t>
                      </a:r>
                    </a:p>
                  </a:txBody>
                  <a:tcPr/>
                </a:tc>
                <a:extLst>
                  <a:ext uri="{0D108BD9-81ED-4DB2-BD59-A6C34878D82A}">
                    <a16:rowId xmlns:a16="http://schemas.microsoft.com/office/drawing/2014/main" val="3429651301"/>
                  </a:ext>
                </a:extLst>
              </a:tr>
              <a:tr h="510500">
                <a:tc>
                  <a:txBody>
                    <a:bodyPr/>
                    <a:lstStyle/>
                    <a:p>
                      <a:r>
                        <a:rPr lang="en-NP" dirty="0">
                          <a:highlight>
                            <a:srgbClr val="FFFF00"/>
                          </a:highlight>
                        </a:rPr>
                        <a:t>3</a:t>
                      </a:r>
                    </a:p>
                  </a:txBody>
                  <a:tcPr/>
                </a:tc>
                <a:tc>
                  <a:txBody>
                    <a:bodyPr/>
                    <a:lstStyle/>
                    <a:p>
                      <a:r>
                        <a:rPr lang="en-NP" dirty="0">
                          <a:highlight>
                            <a:srgbClr val="FFFF00"/>
                          </a:highlight>
                        </a:rPr>
                        <a:t>    4                   </a:t>
                      </a:r>
                    </a:p>
                  </a:txBody>
                  <a:tcPr/>
                </a:tc>
                <a:extLst>
                  <a:ext uri="{0D108BD9-81ED-4DB2-BD59-A6C34878D82A}">
                    <a16:rowId xmlns:a16="http://schemas.microsoft.com/office/drawing/2014/main" val="1361508949"/>
                  </a:ext>
                </a:extLst>
              </a:tr>
            </a:tbl>
          </a:graphicData>
        </a:graphic>
      </p:graphicFrame>
      <p:graphicFrame>
        <p:nvGraphicFramePr>
          <p:cNvPr id="15" name="Table 14">
            <a:extLst>
              <a:ext uri="{FF2B5EF4-FFF2-40B4-BE49-F238E27FC236}">
                <a16:creationId xmlns:a16="http://schemas.microsoft.com/office/drawing/2014/main" id="{1AA3681E-893C-0E68-0A8A-5333A2B3D69D}"/>
              </a:ext>
            </a:extLst>
          </p:cNvPr>
          <p:cNvGraphicFramePr>
            <a:graphicFrameLocks noGrp="1"/>
          </p:cNvGraphicFramePr>
          <p:nvPr>
            <p:extLst>
              <p:ext uri="{D42A27DB-BD31-4B8C-83A1-F6EECF244321}">
                <p14:modId xmlns:p14="http://schemas.microsoft.com/office/powerpoint/2010/main" val="1129382893"/>
              </p:ext>
            </p:extLst>
          </p:nvPr>
        </p:nvGraphicFramePr>
        <p:xfrm>
          <a:off x="2903329" y="4682919"/>
          <a:ext cx="1185538" cy="924668"/>
        </p:xfrm>
        <a:graphic>
          <a:graphicData uri="http://schemas.openxmlformats.org/drawingml/2006/table">
            <a:tbl>
              <a:tblPr firstRow="1" bandRow="1">
                <a:tableStyleId>{5940675A-B579-460E-94D1-54222C63F5DA}</a:tableStyleId>
              </a:tblPr>
              <a:tblGrid>
                <a:gridCol w="592769">
                  <a:extLst>
                    <a:ext uri="{9D8B030D-6E8A-4147-A177-3AD203B41FA5}">
                      <a16:colId xmlns:a16="http://schemas.microsoft.com/office/drawing/2014/main" val="3235496753"/>
                    </a:ext>
                  </a:extLst>
                </a:gridCol>
                <a:gridCol w="592769">
                  <a:extLst>
                    <a:ext uri="{9D8B030D-6E8A-4147-A177-3AD203B41FA5}">
                      <a16:colId xmlns:a16="http://schemas.microsoft.com/office/drawing/2014/main" val="1215273402"/>
                    </a:ext>
                  </a:extLst>
                </a:gridCol>
              </a:tblGrid>
              <a:tr h="462334">
                <a:tc>
                  <a:txBody>
                    <a:bodyPr/>
                    <a:lstStyle/>
                    <a:p>
                      <a:r>
                        <a:rPr lang="en-NP" dirty="0">
                          <a:highlight>
                            <a:srgbClr val="FFFF00"/>
                          </a:highlight>
                        </a:rPr>
                        <a:t>5</a:t>
                      </a:r>
                    </a:p>
                  </a:txBody>
                  <a:tcPr/>
                </a:tc>
                <a:tc>
                  <a:txBody>
                    <a:bodyPr/>
                    <a:lstStyle/>
                    <a:p>
                      <a:r>
                        <a:rPr lang="en-NP" dirty="0">
                          <a:highlight>
                            <a:srgbClr val="FFFF00"/>
                          </a:highlight>
                        </a:rPr>
                        <a:t>6</a:t>
                      </a:r>
                    </a:p>
                  </a:txBody>
                  <a:tcPr/>
                </a:tc>
                <a:extLst>
                  <a:ext uri="{0D108BD9-81ED-4DB2-BD59-A6C34878D82A}">
                    <a16:rowId xmlns:a16="http://schemas.microsoft.com/office/drawing/2014/main" val="3429651301"/>
                  </a:ext>
                </a:extLst>
              </a:tr>
              <a:tr h="462334">
                <a:tc>
                  <a:txBody>
                    <a:bodyPr/>
                    <a:lstStyle/>
                    <a:p>
                      <a:r>
                        <a:rPr lang="en-NP" dirty="0">
                          <a:highlight>
                            <a:srgbClr val="FFFF00"/>
                          </a:highlight>
                        </a:rPr>
                        <a:t>7</a:t>
                      </a:r>
                    </a:p>
                  </a:txBody>
                  <a:tcPr/>
                </a:tc>
                <a:tc>
                  <a:txBody>
                    <a:bodyPr/>
                    <a:lstStyle/>
                    <a:p>
                      <a:r>
                        <a:rPr lang="en-NP" dirty="0">
                          <a:highlight>
                            <a:srgbClr val="FFFF00"/>
                          </a:highlight>
                        </a:rPr>
                        <a:t>      8                 </a:t>
                      </a:r>
                    </a:p>
                  </a:txBody>
                  <a:tcPr/>
                </a:tc>
                <a:extLst>
                  <a:ext uri="{0D108BD9-81ED-4DB2-BD59-A6C34878D82A}">
                    <a16:rowId xmlns:a16="http://schemas.microsoft.com/office/drawing/2014/main" val="1361508949"/>
                  </a:ext>
                </a:extLst>
              </a:tr>
            </a:tbl>
          </a:graphicData>
        </a:graphic>
      </p:graphicFrame>
      <p:pic>
        <p:nvPicPr>
          <p:cNvPr id="16" name="Picture 15">
            <a:extLst>
              <a:ext uri="{FF2B5EF4-FFF2-40B4-BE49-F238E27FC236}">
                <a16:creationId xmlns:a16="http://schemas.microsoft.com/office/drawing/2014/main" id="{7852976A-5836-6913-092F-C544F4D7B1AB}"/>
              </a:ext>
            </a:extLst>
          </p:cNvPr>
          <p:cNvPicPr>
            <a:picLocks noChangeAspect="1"/>
          </p:cNvPicPr>
          <p:nvPr/>
        </p:nvPicPr>
        <p:blipFill>
          <a:blip r:embed="rId2"/>
          <a:stretch>
            <a:fillRect/>
          </a:stretch>
        </p:blipFill>
        <p:spPr>
          <a:xfrm>
            <a:off x="6788300" y="4753126"/>
            <a:ext cx="4504369" cy="1708921"/>
          </a:xfrm>
          <a:prstGeom prst="rect">
            <a:avLst/>
          </a:prstGeom>
        </p:spPr>
      </p:pic>
    </p:spTree>
    <p:extLst>
      <p:ext uri="{BB962C8B-B14F-4D97-AF65-F5344CB8AC3E}">
        <p14:creationId xmlns:p14="http://schemas.microsoft.com/office/powerpoint/2010/main" val="25582334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9EA75B-86A5-0B06-8A7E-BB790D756F74}"/>
              </a:ext>
            </a:extLst>
          </p:cNvPr>
          <p:cNvSpPr>
            <a:spLocks noGrp="1"/>
          </p:cNvSpPr>
          <p:nvPr>
            <p:ph type="title"/>
          </p:nvPr>
        </p:nvSpPr>
        <p:spPr>
          <a:xfrm>
            <a:off x="838200" y="365125"/>
            <a:ext cx="10515600" cy="703821"/>
          </a:xfrm>
        </p:spPr>
        <p:txBody>
          <a:bodyPr>
            <a:normAutofit fontScale="90000"/>
          </a:bodyPr>
          <a:lstStyle/>
          <a:p>
            <a:br>
              <a:rPr lang="en-NP" u="sng" dirty="0"/>
            </a:br>
            <a:r>
              <a:rPr lang="en-NP" u="sng" dirty="0"/>
              <a:t>Recursive function</a:t>
            </a:r>
            <a:r>
              <a:rPr lang="en-NP" dirty="0"/>
              <a:t> </a:t>
            </a:r>
            <a:br>
              <a:rPr lang="en-NP" dirty="0"/>
            </a:br>
            <a:endParaRPr lang="en-NP" dirty="0"/>
          </a:p>
        </p:txBody>
      </p:sp>
      <p:sp>
        <p:nvSpPr>
          <p:cNvPr id="6" name="Content Placeholder 5">
            <a:extLst>
              <a:ext uri="{FF2B5EF4-FFF2-40B4-BE49-F238E27FC236}">
                <a16:creationId xmlns:a16="http://schemas.microsoft.com/office/drawing/2014/main" id="{97C979F4-14BB-AC65-17E3-398DD1DA2E5D}"/>
              </a:ext>
            </a:extLst>
          </p:cNvPr>
          <p:cNvSpPr>
            <a:spLocks noGrp="1"/>
          </p:cNvSpPr>
          <p:nvPr>
            <p:ph idx="1"/>
          </p:nvPr>
        </p:nvSpPr>
        <p:spPr>
          <a:xfrm>
            <a:off x="838200" y="1068946"/>
            <a:ext cx="10515600" cy="5108017"/>
          </a:xfrm>
        </p:spPr>
        <p:txBody>
          <a:bodyPr/>
          <a:lstStyle/>
          <a:p>
            <a:pPr>
              <a:buFont typeface="Wingdings" pitchFamily="2" charset="2"/>
              <a:buChar char="Ø"/>
            </a:pPr>
            <a:r>
              <a:rPr lang="en-NP" dirty="0"/>
              <a:t>It is process by which function call itself repeatedly, until some condition has been  satisfied. For the problem to solve recursively two conditions must be satisfied:  The function should call itself. </a:t>
            </a:r>
          </a:p>
          <a:p>
            <a:pPr marL="0" indent="0">
              <a:buNone/>
            </a:pPr>
            <a:r>
              <a:rPr lang="en-NP" dirty="0"/>
              <a:t>   The problem statement must include a stopping condition. </a:t>
            </a:r>
          </a:p>
          <a:p>
            <a:pPr marL="0" indent="0">
              <a:buNone/>
            </a:pPr>
            <a:endParaRPr lang="en-NP" dirty="0"/>
          </a:p>
          <a:p>
            <a:pPr marL="0" indent="0">
              <a:buNone/>
            </a:pPr>
            <a:endParaRPr lang="en-NP" dirty="0"/>
          </a:p>
        </p:txBody>
      </p:sp>
    </p:spTree>
    <p:extLst>
      <p:ext uri="{BB962C8B-B14F-4D97-AF65-F5344CB8AC3E}">
        <p14:creationId xmlns:p14="http://schemas.microsoft.com/office/powerpoint/2010/main" val="2469158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5531-A921-824A-FF4B-D55C18F384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70BAB9-5C33-DB06-4D3A-B9830DB5E4CE}"/>
              </a:ext>
            </a:extLst>
          </p:cNvPr>
          <p:cNvSpPr>
            <a:spLocks noGrp="1"/>
          </p:cNvSpPr>
          <p:nvPr>
            <p:ph idx="1"/>
          </p:nvPr>
        </p:nvSpPr>
        <p:spPr>
          <a:xfrm>
            <a:off x="206062" y="103031"/>
            <a:ext cx="11745532" cy="6593983"/>
          </a:xfrm>
        </p:spPr>
        <p:txBody>
          <a:bodyPr>
            <a:normAutofit/>
          </a:bodyPr>
          <a:lstStyle/>
          <a:p>
            <a:pPr marL="0" indent="0">
              <a:buNone/>
            </a:pPr>
            <a:endParaRPr lang="en-NP" sz="1800" b="1" i="1" dirty="0">
              <a:solidFill>
                <a:srgbClr val="FF0000"/>
              </a:solidFill>
            </a:endParaRPr>
          </a:p>
          <a:p>
            <a:pPr marL="0" indent="0">
              <a:buNone/>
            </a:pPr>
            <a:r>
              <a:rPr lang="en-NP" sz="2400" b="1" i="1" dirty="0">
                <a:solidFill>
                  <a:srgbClr val="FF0000"/>
                </a:solidFill>
              </a:rPr>
              <a:t>Recursive Function LAB WORK</a:t>
            </a:r>
          </a:p>
          <a:p>
            <a:pPr marL="0" indent="0">
              <a:buNone/>
            </a:pPr>
            <a:r>
              <a:rPr lang="en-NP" sz="2400" b="1" i="1" dirty="0">
                <a:solidFill>
                  <a:srgbClr val="FF0000"/>
                </a:solidFill>
              </a:rPr>
              <a:t>1.W rite C program to print factorial of  a number using recursive function.</a:t>
            </a:r>
          </a:p>
          <a:p>
            <a:pPr marL="0" indent="0">
              <a:buNone/>
            </a:pPr>
            <a:r>
              <a:rPr lang="en-NP" sz="2400" b="1" i="1" dirty="0">
                <a:solidFill>
                  <a:srgbClr val="FF0000"/>
                </a:solidFill>
              </a:rPr>
              <a:t>2.Write C program to print fibonacci series upto nth term of  a number using 	recursive function.</a:t>
            </a:r>
          </a:p>
          <a:p>
            <a:pPr marL="0" indent="0">
              <a:buNone/>
            </a:pPr>
            <a:r>
              <a:rPr lang="en-NP" sz="2400" b="1" i="1" dirty="0">
                <a:solidFill>
                  <a:srgbClr val="FF0000"/>
                </a:solidFill>
              </a:rPr>
              <a:t>3.</a:t>
            </a:r>
            <a:r>
              <a:rPr lang="en-NP" sz="2400" b="1" i="1" dirty="0"/>
              <a:t> </a:t>
            </a:r>
            <a:r>
              <a:rPr lang="en-NP" sz="2400" b="1" i="1" dirty="0">
                <a:solidFill>
                  <a:srgbClr val="FF0000"/>
                </a:solidFill>
              </a:rPr>
              <a:t>Write C program to print Sum of ‘n’ numbers using recursive function.</a:t>
            </a:r>
          </a:p>
          <a:p>
            <a:pPr marL="0" indent="0">
              <a:buNone/>
            </a:pPr>
            <a:endParaRPr lang="en-US" sz="1600" b="1" i="1" dirty="0">
              <a:solidFill>
                <a:srgbClr val="FF0000"/>
              </a:solidFill>
            </a:endParaRPr>
          </a:p>
          <a:p>
            <a:pPr marL="0" indent="0">
              <a:buNone/>
            </a:pPr>
            <a:endParaRPr lang="en-US" sz="1600" b="1" i="1" dirty="0">
              <a:solidFill>
                <a:srgbClr val="FF0000"/>
              </a:solidFill>
            </a:endParaRPr>
          </a:p>
          <a:p>
            <a:pPr marL="0" indent="0">
              <a:buNone/>
            </a:pPr>
            <a:endParaRPr lang="en-NP" b="1" i="1" dirty="0"/>
          </a:p>
        </p:txBody>
      </p:sp>
    </p:spTree>
    <p:extLst>
      <p:ext uri="{BB962C8B-B14F-4D97-AF65-F5344CB8AC3E}">
        <p14:creationId xmlns:p14="http://schemas.microsoft.com/office/powerpoint/2010/main" val="1648095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68D8E-47D6-6DE1-5B09-03C579CF57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98EB4A-6871-F7B6-B2BE-BB1DC35CCE0D}"/>
              </a:ext>
            </a:extLst>
          </p:cNvPr>
          <p:cNvSpPr>
            <a:spLocks noGrp="1"/>
          </p:cNvSpPr>
          <p:nvPr>
            <p:ph sz="half" idx="1"/>
          </p:nvPr>
        </p:nvSpPr>
        <p:spPr>
          <a:xfrm>
            <a:off x="401124" y="257577"/>
            <a:ext cx="5181600" cy="6600423"/>
          </a:xfrm>
        </p:spPr>
        <p:txBody>
          <a:bodyPr>
            <a:normAutofit fontScale="25000" lnSpcReduction="20000"/>
          </a:bodyPr>
          <a:lstStyle/>
          <a:p>
            <a:pPr marL="0" indent="0">
              <a:buNone/>
            </a:pPr>
            <a:r>
              <a:rPr lang="en-NP" sz="8000" b="1" i="1" dirty="0">
                <a:solidFill>
                  <a:srgbClr val="FF0000"/>
                </a:solidFill>
              </a:rPr>
              <a:t>Write C program to print factorial of  a number using recursive function.</a:t>
            </a:r>
            <a:endParaRPr lang="en-US" sz="7400" b="1" i="1" dirty="0">
              <a:solidFill>
                <a:srgbClr val="FF0000"/>
              </a:solidFill>
            </a:endParaRPr>
          </a:p>
          <a:p>
            <a:pPr marL="0" indent="0">
              <a:lnSpc>
                <a:spcPct val="110000"/>
              </a:lnSpc>
              <a:spcBef>
                <a:spcPts val="0"/>
              </a:spcBef>
              <a:buNone/>
            </a:pPr>
            <a:r>
              <a:rPr lang="en-US" sz="9600" b="1" dirty="0"/>
              <a:t>#include&lt;</a:t>
            </a:r>
            <a:r>
              <a:rPr lang="en-US" sz="9600" b="1" dirty="0" err="1"/>
              <a:t>stdio.h</a:t>
            </a:r>
            <a:r>
              <a:rPr lang="en-US" sz="9600" b="1" dirty="0"/>
              <a:t>&gt; </a:t>
            </a:r>
          </a:p>
          <a:p>
            <a:pPr marL="0" indent="0">
              <a:lnSpc>
                <a:spcPct val="110000"/>
              </a:lnSpc>
              <a:spcBef>
                <a:spcPts val="0"/>
              </a:spcBef>
              <a:buNone/>
            </a:pPr>
            <a:r>
              <a:rPr lang="en-US" sz="9600" b="1" dirty="0"/>
              <a:t>int factorial(int n); </a:t>
            </a:r>
          </a:p>
          <a:p>
            <a:pPr marL="0" indent="0">
              <a:lnSpc>
                <a:spcPct val="110000"/>
              </a:lnSpc>
              <a:spcBef>
                <a:spcPts val="0"/>
              </a:spcBef>
              <a:buNone/>
            </a:pPr>
            <a:r>
              <a:rPr lang="en-US" sz="9600" b="1" dirty="0"/>
              <a:t>int main() </a:t>
            </a:r>
          </a:p>
          <a:p>
            <a:pPr marL="0" indent="0">
              <a:lnSpc>
                <a:spcPct val="110000"/>
              </a:lnSpc>
              <a:spcBef>
                <a:spcPts val="0"/>
              </a:spcBef>
              <a:buNone/>
            </a:pPr>
            <a:r>
              <a:rPr lang="en-US" sz="9600" b="1" dirty="0"/>
              <a:t>{ </a:t>
            </a:r>
          </a:p>
          <a:p>
            <a:pPr marL="0" indent="0">
              <a:lnSpc>
                <a:spcPct val="110000"/>
              </a:lnSpc>
              <a:spcBef>
                <a:spcPts val="0"/>
              </a:spcBef>
              <a:buNone/>
            </a:pPr>
            <a:r>
              <a:rPr lang="en-US" sz="9600" b="1" dirty="0"/>
              <a:t>int </a:t>
            </a:r>
            <a:r>
              <a:rPr lang="en-US" sz="9600" b="1" dirty="0" err="1"/>
              <a:t>n,f</a:t>
            </a:r>
            <a:r>
              <a:rPr lang="en-US" sz="9600" b="1" dirty="0"/>
              <a:t>; </a:t>
            </a:r>
          </a:p>
          <a:p>
            <a:pPr marL="0" indent="0">
              <a:lnSpc>
                <a:spcPct val="110000"/>
              </a:lnSpc>
              <a:spcBef>
                <a:spcPts val="0"/>
              </a:spcBef>
              <a:buNone/>
            </a:pPr>
            <a:r>
              <a:rPr lang="en-US" sz="9600" b="1" dirty="0" err="1"/>
              <a:t>printf</a:t>
            </a:r>
            <a:r>
              <a:rPr lang="en-US" sz="9600" b="1" dirty="0"/>
              <a:t>("Enter the number:\n\n"); </a:t>
            </a:r>
          </a:p>
          <a:p>
            <a:pPr marL="0" indent="0">
              <a:lnSpc>
                <a:spcPct val="110000"/>
              </a:lnSpc>
              <a:spcBef>
                <a:spcPts val="0"/>
              </a:spcBef>
              <a:buNone/>
            </a:pPr>
            <a:r>
              <a:rPr lang="en-US" sz="9600" b="1" dirty="0" err="1"/>
              <a:t>scanf</a:t>
            </a:r>
            <a:r>
              <a:rPr lang="en-US" sz="9600" b="1" dirty="0"/>
              <a:t>("%</a:t>
            </a:r>
            <a:r>
              <a:rPr lang="en-US" sz="9600" b="1" dirty="0" err="1"/>
              <a:t>d",&amp;n</a:t>
            </a:r>
            <a:r>
              <a:rPr lang="en-US" sz="9600" b="1" dirty="0"/>
              <a:t>); </a:t>
            </a:r>
          </a:p>
          <a:p>
            <a:pPr marL="0" indent="0">
              <a:lnSpc>
                <a:spcPct val="110000"/>
              </a:lnSpc>
              <a:spcBef>
                <a:spcPts val="0"/>
              </a:spcBef>
              <a:buNone/>
            </a:pPr>
            <a:r>
              <a:rPr lang="en-US" sz="9600" b="1" dirty="0"/>
              <a:t>f=factorial(n);</a:t>
            </a:r>
          </a:p>
          <a:p>
            <a:pPr marL="0" indent="0">
              <a:lnSpc>
                <a:spcPct val="110000"/>
              </a:lnSpc>
              <a:spcBef>
                <a:spcPts val="0"/>
              </a:spcBef>
              <a:buNone/>
            </a:pPr>
            <a:r>
              <a:rPr lang="en-US" sz="9600" b="1" dirty="0"/>
              <a:t>if (f&lt;0)</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err="1"/>
              <a:t>printf</a:t>
            </a:r>
            <a:r>
              <a:rPr lang="en-US" sz="9600" b="1" dirty="0"/>
              <a:t>("no factorial for negation");</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a:t>else</a:t>
            </a:r>
          </a:p>
          <a:p>
            <a:pPr marL="0" indent="0">
              <a:lnSpc>
                <a:spcPct val="110000"/>
              </a:lnSpc>
              <a:spcBef>
                <a:spcPts val="0"/>
              </a:spcBef>
              <a:buNone/>
            </a:pPr>
            <a:r>
              <a:rPr lang="en-US" sz="9600" b="1" dirty="0"/>
              <a:t>{ </a:t>
            </a:r>
          </a:p>
          <a:p>
            <a:pPr marL="0" indent="0">
              <a:lnSpc>
                <a:spcPct val="110000"/>
              </a:lnSpc>
              <a:spcBef>
                <a:spcPts val="0"/>
              </a:spcBef>
              <a:buNone/>
            </a:pPr>
            <a:r>
              <a:rPr lang="en-US" sz="9600" b="1" dirty="0" err="1"/>
              <a:t>printf</a:t>
            </a:r>
            <a:r>
              <a:rPr lang="en-US" sz="9600" b="1" dirty="0"/>
              <a:t>("Factorial of %d is %d",</a:t>
            </a:r>
            <a:r>
              <a:rPr lang="en-US" sz="9600" b="1" dirty="0" err="1"/>
              <a:t>n,f</a:t>
            </a:r>
            <a:r>
              <a:rPr lang="en-US" sz="9600" b="1" dirty="0"/>
              <a:t>);</a:t>
            </a:r>
          </a:p>
          <a:p>
            <a:pPr marL="0" indent="0">
              <a:lnSpc>
                <a:spcPct val="110000"/>
              </a:lnSpc>
              <a:spcBef>
                <a:spcPts val="0"/>
              </a:spcBef>
              <a:buNone/>
            </a:pPr>
            <a:r>
              <a:rPr lang="en-US" sz="9600" b="1" dirty="0"/>
              <a:t>}</a:t>
            </a:r>
          </a:p>
          <a:p>
            <a:pPr marL="0" indent="0">
              <a:lnSpc>
                <a:spcPct val="110000"/>
              </a:lnSpc>
              <a:spcBef>
                <a:spcPts val="0"/>
              </a:spcBef>
              <a:buNone/>
            </a:pPr>
            <a:r>
              <a:rPr lang="en-US" sz="9600" b="1" dirty="0"/>
              <a:t>return 0; </a:t>
            </a:r>
          </a:p>
          <a:p>
            <a:pPr marL="0" indent="0">
              <a:lnSpc>
                <a:spcPct val="110000"/>
              </a:lnSpc>
              <a:spcBef>
                <a:spcPts val="0"/>
              </a:spcBef>
              <a:buNone/>
            </a:pPr>
            <a:r>
              <a:rPr lang="en-US" sz="9600" b="1" dirty="0"/>
              <a:t>} </a:t>
            </a:r>
          </a:p>
          <a:p>
            <a:pPr marL="0" indent="0">
              <a:buNone/>
            </a:pPr>
            <a:endParaRPr lang="en-NP" b="1" i="1" dirty="0"/>
          </a:p>
        </p:txBody>
      </p:sp>
      <p:pic>
        <p:nvPicPr>
          <p:cNvPr id="4" name="Picture 3">
            <a:extLst>
              <a:ext uri="{FF2B5EF4-FFF2-40B4-BE49-F238E27FC236}">
                <a16:creationId xmlns:a16="http://schemas.microsoft.com/office/drawing/2014/main" id="{7B944EC7-90CB-FD33-5793-570BA3F67DDA}"/>
              </a:ext>
            </a:extLst>
          </p:cNvPr>
          <p:cNvPicPr>
            <a:picLocks noChangeAspect="1"/>
          </p:cNvPicPr>
          <p:nvPr/>
        </p:nvPicPr>
        <p:blipFill>
          <a:blip r:embed="rId2"/>
          <a:stretch>
            <a:fillRect/>
          </a:stretch>
        </p:blipFill>
        <p:spPr>
          <a:xfrm>
            <a:off x="5582724" y="4972456"/>
            <a:ext cx="4348370" cy="1218031"/>
          </a:xfrm>
          <a:prstGeom prst="rect">
            <a:avLst/>
          </a:prstGeom>
        </p:spPr>
      </p:pic>
      <p:cxnSp>
        <p:nvCxnSpPr>
          <p:cNvPr id="5" name="Straight Arrow Connector 4">
            <a:extLst>
              <a:ext uri="{FF2B5EF4-FFF2-40B4-BE49-F238E27FC236}">
                <a16:creationId xmlns:a16="http://schemas.microsoft.com/office/drawing/2014/main" id="{19E95BED-08D4-B150-3FEB-62FB140A37F1}"/>
              </a:ext>
            </a:extLst>
          </p:cNvPr>
          <p:cNvCxnSpPr>
            <a:cxnSpLocks/>
          </p:cNvCxnSpPr>
          <p:nvPr/>
        </p:nvCxnSpPr>
        <p:spPr>
          <a:xfrm flipV="1">
            <a:off x="5177928" y="367567"/>
            <a:ext cx="0" cy="52069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7">
            <a:extLst>
              <a:ext uri="{FF2B5EF4-FFF2-40B4-BE49-F238E27FC236}">
                <a16:creationId xmlns:a16="http://schemas.microsoft.com/office/drawing/2014/main" id="{BAB436DC-2162-2F72-09E2-616CB9479D5E}"/>
              </a:ext>
            </a:extLst>
          </p:cNvPr>
          <p:cNvSpPr txBox="1">
            <a:spLocks/>
          </p:cNvSpPr>
          <p:nvPr/>
        </p:nvSpPr>
        <p:spPr>
          <a:xfrm>
            <a:off x="9170931" y="121186"/>
            <a:ext cx="2765000" cy="6736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endParaRPr lang="en-NP" dirty="0"/>
          </a:p>
        </p:txBody>
      </p:sp>
      <p:sp>
        <p:nvSpPr>
          <p:cNvPr id="11" name="Content Placeholder 7">
            <a:extLst>
              <a:ext uri="{FF2B5EF4-FFF2-40B4-BE49-F238E27FC236}">
                <a16:creationId xmlns:a16="http://schemas.microsoft.com/office/drawing/2014/main" id="{4982DD6B-DE9F-141E-E8FE-B80123976331}"/>
              </a:ext>
            </a:extLst>
          </p:cNvPr>
          <p:cNvSpPr txBox="1">
            <a:spLocks/>
          </p:cNvSpPr>
          <p:nvPr/>
        </p:nvSpPr>
        <p:spPr>
          <a:xfrm>
            <a:off x="8792876" y="3409720"/>
            <a:ext cx="3449121" cy="28381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endParaRPr lang="en-NP" dirty="0"/>
          </a:p>
        </p:txBody>
      </p:sp>
      <p:sp>
        <p:nvSpPr>
          <p:cNvPr id="14" name="Content Placeholder 7">
            <a:extLst>
              <a:ext uri="{FF2B5EF4-FFF2-40B4-BE49-F238E27FC236}">
                <a16:creationId xmlns:a16="http://schemas.microsoft.com/office/drawing/2014/main" id="{269E2ABC-4D07-5E9D-24FE-AF4E10E42E95}"/>
              </a:ext>
            </a:extLst>
          </p:cNvPr>
          <p:cNvSpPr txBox="1">
            <a:spLocks/>
          </p:cNvSpPr>
          <p:nvPr/>
        </p:nvSpPr>
        <p:spPr>
          <a:xfrm>
            <a:off x="5208534" y="360608"/>
            <a:ext cx="3962397" cy="6600422"/>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Font typeface="Arial" panose="020B0604020202020204" pitchFamily="34" charset="0"/>
              <a:buNone/>
            </a:pPr>
            <a:r>
              <a:rPr lang="en-US" sz="9600" b="1" dirty="0"/>
              <a:t>int factorial(int n)</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if(n==0|| n==1) </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 1;   </a:t>
            </a:r>
            <a:r>
              <a:rPr lang="en-US" sz="9600" b="1" dirty="0">
                <a:highlight>
                  <a:srgbClr val="FFFF00"/>
                </a:highlight>
              </a:rPr>
              <a:t>//factorial(n)=1</a:t>
            </a:r>
          </a:p>
          <a:p>
            <a:pPr marL="0" indent="0">
              <a:lnSpc>
                <a:spcPct val="110000"/>
              </a:lnSpc>
              <a:spcBef>
                <a:spcPts val="0"/>
              </a:spcBef>
              <a:buFont typeface="Arial" panose="020B0604020202020204" pitchFamily="34" charset="0"/>
              <a:buNone/>
            </a:pPr>
            <a:r>
              <a:rPr lang="en-US" sz="9600" b="1" dirty="0"/>
              <a:t>}</a:t>
            </a:r>
          </a:p>
          <a:p>
            <a:pPr marL="0" indent="0">
              <a:lnSpc>
                <a:spcPct val="110000"/>
              </a:lnSpc>
              <a:spcBef>
                <a:spcPts val="0"/>
              </a:spcBef>
              <a:buFont typeface="Arial" panose="020B0604020202020204" pitchFamily="34" charset="0"/>
              <a:buNone/>
            </a:pPr>
            <a:r>
              <a:rPr lang="en-US" sz="9600" b="1" dirty="0"/>
              <a:t>else if (n&lt;0)</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 n;     </a:t>
            </a:r>
            <a:r>
              <a:rPr lang="en-US" sz="9600" b="1" dirty="0">
                <a:highlight>
                  <a:srgbClr val="FFFF00"/>
                </a:highlight>
              </a:rPr>
              <a:t>// factorial(n)=n</a:t>
            </a:r>
          </a:p>
          <a:p>
            <a:pPr marL="0" indent="0">
              <a:lnSpc>
                <a:spcPct val="110000"/>
              </a:lnSpc>
              <a:spcBef>
                <a:spcPts val="0"/>
              </a:spcBef>
              <a:buFont typeface="Arial" panose="020B0604020202020204" pitchFamily="34" charset="0"/>
              <a:buNone/>
            </a:pPr>
            <a:r>
              <a:rPr lang="en-US" sz="9600" b="1" dirty="0"/>
              <a:t>}</a:t>
            </a:r>
          </a:p>
          <a:p>
            <a:pPr marL="0" indent="0">
              <a:lnSpc>
                <a:spcPct val="110000"/>
              </a:lnSpc>
              <a:spcBef>
                <a:spcPts val="0"/>
              </a:spcBef>
              <a:buFont typeface="Arial" panose="020B0604020202020204" pitchFamily="34" charset="0"/>
              <a:buNone/>
            </a:pPr>
            <a:r>
              <a:rPr lang="en-US" sz="9600" b="1" dirty="0"/>
              <a:t>else</a:t>
            </a:r>
          </a:p>
          <a:p>
            <a:pPr marL="0" indent="0">
              <a:lnSpc>
                <a:spcPct val="110000"/>
              </a:lnSpc>
              <a:spcBef>
                <a:spcPts val="0"/>
              </a:spcBef>
              <a:buFont typeface="Arial" panose="020B0604020202020204" pitchFamily="34" charset="0"/>
              <a:buNone/>
            </a:pPr>
            <a:r>
              <a:rPr lang="en-US" sz="9600" b="1" dirty="0"/>
              <a:t>{ </a:t>
            </a:r>
          </a:p>
          <a:p>
            <a:pPr marL="0" indent="0">
              <a:lnSpc>
                <a:spcPct val="110000"/>
              </a:lnSpc>
              <a:spcBef>
                <a:spcPts val="0"/>
              </a:spcBef>
              <a:buFont typeface="Arial" panose="020B0604020202020204" pitchFamily="34" charset="0"/>
              <a:buNone/>
            </a:pPr>
            <a:r>
              <a:rPr lang="en-US" sz="9600" b="1" dirty="0"/>
              <a:t>return(n*factorial(n-1));</a:t>
            </a:r>
            <a:r>
              <a:rPr lang="en-US" sz="11200" b="1" dirty="0"/>
              <a:t>} </a:t>
            </a:r>
          </a:p>
          <a:p>
            <a:pPr marL="0" indent="0">
              <a:lnSpc>
                <a:spcPct val="110000"/>
              </a:lnSpc>
              <a:spcBef>
                <a:spcPts val="0"/>
              </a:spcBef>
              <a:buFont typeface="Arial" panose="020B0604020202020204" pitchFamily="34" charset="0"/>
              <a:buNone/>
            </a:pPr>
            <a:r>
              <a:rPr lang="en-US" sz="11200" b="1" dirty="0"/>
              <a:t>}</a:t>
            </a:r>
          </a:p>
          <a:p>
            <a:pPr marL="0" indent="0">
              <a:buFont typeface="Arial" panose="020B0604020202020204" pitchFamily="34" charset="0"/>
              <a:buNone/>
            </a:pPr>
            <a:br>
              <a:rPr lang="en-US" b="1" i="1" dirty="0">
                <a:solidFill>
                  <a:srgbClr val="FF0000"/>
                </a:solidFill>
              </a:rPr>
            </a:br>
            <a:endParaRPr lang="en-US" b="1" i="1" dirty="0">
              <a:solidFill>
                <a:srgbClr val="FF0000"/>
              </a:solidFill>
            </a:endParaRPr>
          </a:p>
          <a:p>
            <a:pPr marL="0" indent="0">
              <a:buFont typeface="Arial" panose="020B0604020202020204" pitchFamily="34" charset="0"/>
              <a:buNone/>
            </a:pPr>
            <a:br>
              <a:rPr lang="en-US" b="1" i="1" dirty="0"/>
            </a:br>
            <a:endParaRPr lang="en-US" b="1" i="1" dirty="0"/>
          </a:p>
          <a:p>
            <a:pPr marL="0" indent="0">
              <a:buFont typeface="Arial" panose="020B0604020202020204" pitchFamily="34" charset="0"/>
              <a:buNone/>
            </a:pPr>
            <a:r>
              <a:rPr lang="en-NP" dirty="0"/>
              <a:t>v</a:t>
            </a:r>
          </a:p>
        </p:txBody>
      </p:sp>
      <p:sp>
        <p:nvSpPr>
          <p:cNvPr id="16" name="Content Placeholder 15">
            <a:extLst>
              <a:ext uri="{FF2B5EF4-FFF2-40B4-BE49-F238E27FC236}">
                <a16:creationId xmlns:a16="http://schemas.microsoft.com/office/drawing/2014/main" id="{5AC582A5-7E0A-0BEB-97A3-855AC66339FB}"/>
              </a:ext>
            </a:extLst>
          </p:cNvPr>
          <p:cNvSpPr>
            <a:spLocks noGrp="1"/>
          </p:cNvSpPr>
          <p:nvPr>
            <p:ph sz="half" idx="2"/>
          </p:nvPr>
        </p:nvSpPr>
        <p:spPr>
          <a:xfrm>
            <a:off x="9118368" y="136392"/>
            <a:ext cx="3508871" cy="6479237"/>
          </a:xfrm>
        </p:spPr>
        <p:txBody>
          <a:bodyPr/>
          <a:lstStyle/>
          <a:p>
            <a:pPr marL="0" indent="0">
              <a:buNone/>
            </a:pPr>
            <a:r>
              <a:rPr lang="en-NP" b="1" dirty="0">
                <a:highlight>
                  <a:srgbClr val="FFFF00"/>
                </a:highlight>
              </a:rPr>
              <a:t>Rough only</a:t>
            </a:r>
          </a:p>
          <a:p>
            <a:pPr marL="0" indent="0">
              <a:buNone/>
            </a:pPr>
            <a:r>
              <a:rPr lang="en-US" sz="1600" b="1" dirty="0">
                <a:highlight>
                  <a:srgbClr val="FFFF00"/>
                </a:highlight>
              </a:rPr>
              <a:t>f</a:t>
            </a:r>
            <a:r>
              <a:rPr lang="en-NP" sz="1600" b="1" dirty="0">
                <a:highlight>
                  <a:srgbClr val="FFFF00"/>
                </a:highlight>
              </a:rPr>
              <a:t>actorial(n)=n*factorial(n-1)</a:t>
            </a:r>
          </a:p>
          <a:p>
            <a:pPr marL="0" indent="0">
              <a:buNone/>
            </a:pPr>
            <a:r>
              <a:rPr lang="en-US" sz="1600" b="1" dirty="0">
                <a:solidFill>
                  <a:srgbClr val="FF0000"/>
                </a:solidFill>
                <a:highlight>
                  <a:srgbClr val="FFFF00"/>
                </a:highlight>
              </a:rPr>
              <a:t>f</a:t>
            </a:r>
            <a:r>
              <a:rPr lang="en-NP" sz="1600" b="1" dirty="0">
                <a:solidFill>
                  <a:srgbClr val="FF0000"/>
                </a:solidFill>
                <a:highlight>
                  <a:srgbClr val="FFFF00"/>
                </a:highlight>
              </a:rPr>
              <a:t>actorial(5)=5*factorial(4)---eqn 1</a:t>
            </a:r>
          </a:p>
          <a:p>
            <a:pPr marL="0" indent="0">
              <a:buNone/>
            </a:pPr>
            <a:r>
              <a:rPr lang="en-US" sz="1600" b="1" dirty="0">
                <a:highlight>
                  <a:srgbClr val="FFFF00"/>
                </a:highlight>
              </a:rPr>
              <a:t>f</a:t>
            </a:r>
            <a:r>
              <a:rPr lang="en-NP" sz="1600" b="1" dirty="0">
                <a:highlight>
                  <a:srgbClr val="FFFF00"/>
                </a:highlight>
              </a:rPr>
              <a:t>actorial(4)=4*factorial(3)</a:t>
            </a:r>
          </a:p>
          <a:p>
            <a:pPr marL="0" indent="0">
              <a:buNone/>
            </a:pPr>
            <a:r>
              <a:rPr lang="en-US" sz="1600" b="1" dirty="0">
                <a:highlight>
                  <a:srgbClr val="FFFF00"/>
                </a:highlight>
              </a:rPr>
              <a:t>f</a:t>
            </a:r>
            <a:r>
              <a:rPr lang="en-NP" sz="1600" b="1" dirty="0">
                <a:highlight>
                  <a:srgbClr val="FFFF00"/>
                </a:highlight>
              </a:rPr>
              <a:t>actorial(3)=3*factorial(2)</a:t>
            </a:r>
          </a:p>
          <a:p>
            <a:pPr marL="0" indent="0">
              <a:buNone/>
            </a:pPr>
            <a:r>
              <a:rPr lang="en-US" sz="1600" b="1" dirty="0">
                <a:highlight>
                  <a:srgbClr val="FFFF00"/>
                </a:highlight>
              </a:rPr>
              <a:t>f</a:t>
            </a:r>
            <a:r>
              <a:rPr lang="en-NP" sz="1600" b="1" dirty="0">
                <a:highlight>
                  <a:srgbClr val="FFFF00"/>
                </a:highlight>
              </a:rPr>
              <a:t>actorial(2)=2*factorial(1)</a:t>
            </a:r>
          </a:p>
          <a:p>
            <a:pPr marL="0" indent="0">
              <a:buNone/>
            </a:pPr>
            <a:r>
              <a:rPr lang="en-US" sz="1600" b="1" dirty="0">
                <a:highlight>
                  <a:srgbClr val="FFFF00"/>
                </a:highlight>
              </a:rPr>
              <a:t>f</a:t>
            </a:r>
            <a:r>
              <a:rPr lang="en-NP" sz="1600" b="1" dirty="0">
                <a:highlight>
                  <a:srgbClr val="FFFF00"/>
                </a:highlight>
              </a:rPr>
              <a:t>actorial(1)=1</a:t>
            </a:r>
          </a:p>
          <a:p>
            <a:pPr marL="0" indent="0">
              <a:buNone/>
            </a:pPr>
            <a:r>
              <a:rPr lang="en-NP" sz="1600" b="1" dirty="0">
                <a:highlight>
                  <a:srgbClr val="FFFF00"/>
                </a:highlight>
              </a:rPr>
              <a:t>Now put value of factorial (1)=1</a:t>
            </a:r>
          </a:p>
          <a:p>
            <a:pPr marL="0" indent="0">
              <a:buNone/>
            </a:pPr>
            <a:r>
              <a:rPr lang="en-US" sz="1600" b="1" dirty="0">
                <a:highlight>
                  <a:srgbClr val="FFFF00"/>
                </a:highlight>
              </a:rPr>
              <a:t>I</a:t>
            </a:r>
            <a:r>
              <a:rPr lang="en-NP" sz="1600" b="1" dirty="0">
                <a:highlight>
                  <a:srgbClr val="FFFF00"/>
                </a:highlight>
              </a:rPr>
              <a:t>n above </a:t>
            </a:r>
          </a:p>
          <a:p>
            <a:pPr marL="0" indent="0">
              <a:buNone/>
            </a:pPr>
            <a:r>
              <a:rPr lang="en-US" sz="1600" b="1" dirty="0">
                <a:solidFill>
                  <a:srgbClr val="FF0000"/>
                </a:solidFill>
                <a:highlight>
                  <a:srgbClr val="FFFF00"/>
                </a:highlight>
              </a:rPr>
              <a:t>From </a:t>
            </a:r>
            <a:r>
              <a:rPr lang="en-US" sz="1600" b="1" dirty="0" err="1">
                <a:solidFill>
                  <a:srgbClr val="FF0000"/>
                </a:solidFill>
                <a:highlight>
                  <a:srgbClr val="FFFF00"/>
                </a:highlight>
              </a:rPr>
              <a:t>eqn</a:t>
            </a:r>
            <a:r>
              <a:rPr lang="en-US" sz="1600" b="1" dirty="0">
                <a:solidFill>
                  <a:srgbClr val="FF0000"/>
                </a:solidFill>
                <a:highlight>
                  <a:srgbClr val="FFFF00"/>
                </a:highlight>
              </a:rPr>
              <a:t>( 1)</a:t>
            </a:r>
          </a:p>
          <a:p>
            <a:pPr marL="0" indent="0">
              <a:buNone/>
            </a:pPr>
            <a:r>
              <a:rPr lang="en-US" sz="1600" b="1" dirty="0">
                <a:solidFill>
                  <a:srgbClr val="FF0000"/>
                </a:solidFill>
                <a:highlight>
                  <a:srgbClr val="FFFF00"/>
                </a:highlight>
              </a:rPr>
              <a:t>W</a:t>
            </a:r>
            <a:r>
              <a:rPr lang="en-NP" sz="1600" b="1" dirty="0">
                <a:solidFill>
                  <a:srgbClr val="FF0000"/>
                </a:solidFill>
                <a:highlight>
                  <a:srgbClr val="FFFF00"/>
                </a:highlight>
              </a:rPr>
              <a:t>e get,</a:t>
            </a:r>
          </a:p>
          <a:p>
            <a:pPr marL="0" indent="0">
              <a:buNone/>
            </a:pPr>
            <a:r>
              <a:rPr lang="en-US" sz="1600" b="1" dirty="0">
                <a:solidFill>
                  <a:srgbClr val="FF0000"/>
                </a:solidFill>
                <a:highlight>
                  <a:srgbClr val="FFFF00"/>
                </a:highlight>
              </a:rPr>
              <a:t>f</a:t>
            </a:r>
            <a:r>
              <a:rPr lang="en-NP" sz="1600" b="1" dirty="0">
                <a:solidFill>
                  <a:srgbClr val="FF0000"/>
                </a:solidFill>
                <a:highlight>
                  <a:srgbClr val="FFFF00"/>
                </a:highlight>
              </a:rPr>
              <a:t>actorial(5)=120</a:t>
            </a:r>
            <a:endParaRPr lang="en-NP" sz="1600" dirty="0">
              <a:highlight>
                <a:srgbClr val="FFFF00"/>
              </a:highlight>
            </a:endParaRPr>
          </a:p>
          <a:p>
            <a:pPr marL="0" indent="0">
              <a:buNone/>
            </a:pPr>
            <a:endParaRPr lang="en-NP" sz="1600" dirty="0">
              <a:highlight>
                <a:srgbClr val="FFFF00"/>
              </a:highlight>
            </a:endParaRPr>
          </a:p>
          <a:p>
            <a:pPr marL="0" indent="0">
              <a:buNone/>
            </a:pPr>
            <a:endParaRPr lang="en-NP" sz="1600" dirty="0">
              <a:highlight>
                <a:srgbClr val="FFFF00"/>
              </a:highlight>
            </a:endParaRPr>
          </a:p>
          <a:p>
            <a:pPr marL="0" indent="0">
              <a:buNone/>
            </a:pPr>
            <a:endParaRPr lang="en-NP" sz="1600" dirty="0">
              <a:highlight>
                <a:srgbClr val="FFFF00"/>
              </a:highlight>
            </a:endParaRPr>
          </a:p>
        </p:txBody>
      </p:sp>
    </p:spTree>
    <p:extLst>
      <p:ext uri="{BB962C8B-B14F-4D97-AF65-F5344CB8AC3E}">
        <p14:creationId xmlns:p14="http://schemas.microsoft.com/office/powerpoint/2010/main" val="3643776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9BF96-8844-BBD2-D278-D78F313C0E67}"/>
              </a:ext>
            </a:extLst>
          </p:cNvPr>
          <p:cNvSpPr>
            <a:spLocks noGrp="1"/>
          </p:cNvSpPr>
          <p:nvPr>
            <p:ph type="title"/>
          </p:nvPr>
        </p:nvSpPr>
        <p:spPr>
          <a:xfrm>
            <a:off x="838200" y="169101"/>
            <a:ext cx="10515600" cy="620039"/>
          </a:xfrm>
        </p:spPr>
        <p:txBody>
          <a:bodyPr>
            <a:normAutofit fontScale="90000"/>
          </a:bodyPr>
          <a:lstStyle/>
          <a:p>
            <a:br>
              <a:rPr lang="en-US" sz="2000" dirty="0"/>
            </a:br>
            <a:br>
              <a:rPr lang="en-US" sz="2000" dirty="0"/>
            </a:br>
            <a:r>
              <a:rPr lang="en-US" sz="2000" dirty="0">
                <a:solidFill>
                  <a:srgbClr val="FF0000"/>
                </a:solidFill>
              </a:rPr>
              <a:t>2.Write C program to print </a:t>
            </a:r>
            <a:r>
              <a:rPr lang="en-US" sz="2000" dirty="0" err="1">
                <a:solidFill>
                  <a:srgbClr val="FF0000"/>
                </a:solidFill>
              </a:rPr>
              <a:t>fibonacci</a:t>
            </a:r>
            <a:r>
              <a:rPr lang="en-US" sz="2000" dirty="0">
                <a:solidFill>
                  <a:srgbClr val="FF0000"/>
                </a:solidFill>
              </a:rPr>
              <a:t> series </a:t>
            </a:r>
            <a:r>
              <a:rPr lang="en-US" sz="2000" dirty="0" err="1">
                <a:solidFill>
                  <a:srgbClr val="FF0000"/>
                </a:solidFill>
              </a:rPr>
              <a:t>upto</a:t>
            </a:r>
            <a:r>
              <a:rPr lang="en-US" sz="2000" dirty="0">
                <a:solidFill>
                  <a:srgbClr val="FF0000"/>
                </a:solidFill>
              </a:rPr>
              <a:t> nth term of  a number using recursive function.</a:t>
            </a:r>
            <a:br>
              <a:rPr lang="en-US" dirty="0"/>
            </a:br>
            <a:endParaRPr lang="en-NP" dirty="0"/>
          </a:p>
        </p:txBody>
      </p:sp>
      <p:sp>
        <p:nvSpPr>
          <p:cNvPr id="3" name="Content Placeholder 2">
            <a:extLst>
              <a:ext uri="{FF2B5EF4-FFF2-40B4-BE49-F238E27FC236}">
                <a16:creationId xmlns:a16="http://schemas.microsoft.com/office/drawing/2014/main" id="{15D06EAC-A34A-C152-C1EE-40655F2FF2FD}"/>
              </a:ext>
            </a:extLst>
          </p:cNvPr>
          <p:cNvSpPr>
            <a:spLocks noGrp="1"/>
          </p:cNvSpPr>
          <p:nvPr>
            <p:ph sz="half" idx="1"/>
          </p:nvPr>
        </p:nvSpPr>
        <p:spPr>
          <a:xfrm>
            <a:off x="718930" y="541750"/>
            <a:ext cx="5181600" cy="5774499"/>
          </a:xfrm>
        </p:spPr>
        <p:txBody>
          <a:bodyPr>
            <a:normAutofit/>
          </a:bodyPr>
          <a:lstStyle/>
          <a:p>
            <a:pPr marL="0" indent="0">
              <a:lnSpc>
                <a:spcPct val="110000"/>
              </a:lnSpc>
              <a:spcBef>
                <a:spcPts val="0"/>
              </a:spcBef>
              <a:buNone/>
            </a:pPr>
            <a:r>
              <a:rPr lang="en-US" sz="2000" b="1" dirty="0"/>
              <a:t>#include&lt;</a:t>
            </a:r>
            <a:r>
              <a:rPr lang="en-US" sz="2000" b="1" dirty="0" err="1"/>
              <a:t>stdio.h</a:t>
            </a:r>
            <a:r>
              <a:rPr lang="en-US" sz="2000" b="1" dirty="0"/>
              <a:t>&gt; </a:t>
            </a:r>
          </a:p>
          <a:p>
            <a:pPr marL="0" indent="0">
              <a:lnSpc>
                <a:spcPct val="110000"/>
              </a:lnSpc>
              <a:spcBef>
                <a:spcPts val="0"/>
              </a:spcBef>
              <a:buNone/>
            </a:pPr>
            <a:r>
              <a:rPr lang="en-US" sz="2000" b="1" dirty="0"/>
              <a:t>int fab(int n); </a:t>
            </a:r>
          </a:p>
          <a:p>
            <a:pPr marL="0" indent="0">
              <a:lnSpc>
                <a:spcPct val="110000"/>
              </a:lnSpc>
              <a:spcBef>
                <a:spcPts val="0"/>
              </a:spcBef>
              <a:buNone/>
            </a:pPr>
            <a:r>
              <a:rPr lang="en-US" sz="2000" b="1" dirty="0"/>
              <a:t>int main()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a:t>int </a:t>
            </a:r>
            <a:r>
              <a:rPr lang="en-US" sz="2000" b="1" dirty="0" err="1"/>
              <a:t>i</a:t>
            </a:r>
            <a:r>
              <a:rPr lang="en-US" sz="2000" b="1" dirty="0"/>
              <a:t>, n; </a:t>
            </a:r>
          </a:p>
          <a:p>
            <a:pPr marL="0" indent="0">
              <a:lnSpc>
                <a:spcPct val="110000"/>
              </a:lnSpc>
              <a:spcBef>
                <a:spcPts val="0"/>
              </a:spcBef>
              <a:buNone/>
            </a:pPr>
            <a:r>
              <a:rPr lang="en-US" sz="2000" b="1" dirty="0" err="1"/>
              <a:t>printf</a:t>
            </a:r>
            <a:r>
              <a:rPr lang="en-US" sz="2000" b="1" dirty="0"/>
              <a:t>("Enter the number:\n\n"); </a:t>
            </a:r>
          </a:p>
          <a:p>
            <a:pPr marL="0" indent="0">
              <a:lnSpc>
                <a:spcPct val="110000"/>
              </a:lnSpc>
              <a:spcBef>
                <a:spcPts val="0"/>
              </a:spcBef>
              <a:buNone/>
            </a:pPr>
            <a:r>
              <a:rPr lang="en-US" sz="2000" b="1" dirty="0" err="1"/>
              <a:t>scanf</a:t>
            </a:r>
            <a:r>
              <a:rPr lang="en-US" sz="2000" b="1" dirty="0"/>
              <a:t>("%</a:t>
            </a:r>
            <a:r>
              <a:rPr lang="en-US" sz="2000" b="1" dirty="0" err="1"/>
              <a:t>d",&amp;n</a:t>
            </a:r>
            <a:r>
              <a:rPr lang="en-US" sz="2000" b="1" dirty="0"/>
              <a:t>); </a:t>
            </a:r>
          </a:p>
          <a:p>
            <a:pPr marL="0" indent="0">
              <a:lnSpc>
                <a:spcPct val="110000"/>
              </a:lnSpc>
              <a:spcBef>
                <a:spcPts val="0"/>
              </a:spcBef>
              <a:buNone/>
            </a:pPr>
            <a:r>
              <a:rPr lang="en-US" sz="2000" b="1" dirty="0" err="1"/>
              <a:t>printf</a:t>
            </a:r>
            <a:r>
              <a:rPr lang="en-US" sz="2000" b="1" dirty="0"/>
              <a:t>("Fibonacci series:\n"); </a:t>
            </a:r>
          </a:p>
          <a:p>
            <a:pPr marL="0" indent="0">
              <a:lnSpc>
                <a:spcPct val="11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err="1"/>
              <a:t>printf</a:t>
            </a:r>
            <a:r>
              <a:rPr lang="en-US" sz="2000" b="1" dirty="0"/>
              <a:t>("%d\t", fab(</a:t>
            </a:r>
            <a:r>
              <a:rPr lang="en-US" sz="2000" b="1" dirty="0" err="1"/>
              <a:t>i</a:t>
            </a:r>
            <a:r>
              <a:rPr lang="en-US" sz="2000" b="1" dirty="0"/>
              <a:t>)); </a:t>
            </a:r>
          </a:p>
          <a:p>
            <a:pPr marL="0" indent="0">
              <a:lnSpc>
                <a:spcPct val="110000"/>
              </a:lnSpc>
              <a:spcBef>
                <a:spcPts val="0"/>
              </a:spcBef>
              <a:buNone/>
            </a:pPr>
            <a:r>
              <a:rPr lang="en-US" sz="2000" b="1" dirty="0"/>
              <a:t>} </a:t>
            </a:r>
          </a:p>
          <a:p>
            <a:pPr marL="0" indent="0">
              <a:lnSpc>
                <a:spcPct val="110000"/>
              </a:lnSpc>
              <a:spcBef>
                <a:spcPts val="0"/>
              </a:spcBef>
              <a:buNone/>
            </a:pPr>
            <a:r>
              <a:rPr lang="en-US" sz="2000" b="1" dirty="0"/>
              <a:t>return 0;</a:t>
            </a:r>
          </a:p>
          <a:p>
            <a:pPr marL="0" indent="0">
              <a:lnSpc>
                <a:spcPct val="110000"/>
              </a:lnSpc>
              <a:spcBef>
                <a:spcPts val="0"/>
              </a:spcBef>
              <a:buNone/>
            </a:pPr>
            <a:r>
              <a:rPr lang="en-US" sz="2000" b="1" dirty="0"/>
              <a:t>} </a:t>
            </a:r>
          </a:p>
          <a:p>
            <a:endParaRPr lang="en-NP" dirty="0"/>
          </a:p>
        </p:txBody>
      </p:sp>
      <p:sp>
        <p:nvSpPr>
          <p:cNvPr id="4" name="Content Placeholder 3">
            <a:extLst>
              <a:ext uri="{FF2B5EF4-FFF2-40B4-BE49-F238E27FC236}">
                <a16:creationId xmlns:a16="http://schemas.microsoft.com/office/drawing/2014/main" id="{77278532-645C-4AD0-9AAB-7FB51686E8DC}"/>
              </a:ext>
            </a:extLst>
          </p:cNvPr>
          <p:cNvSpPr>
            <a:spLocks noGrp="1"/>
          </p:cNvSpPr>
          <p:nvPr>
            <p:ph sz="half" idx="2"/>
          </p:nvPr>
        </p:nvSpPr>
        <p:spPr>
          <a:xfrm>
            <a:off x="4746356" y="657986"/>
            <a:ext cx="5181600" cy="5262563"/>
          </a:xfrm>
        </p:spPr>
        <p:txBody>
          <a:bodyPr>
            <a:normAutofit/>
          </a:bodyPr>
          <a:lstStyle/>
          <a:p>
            <a:pPr marL="0" indent="0">
              <a:lnSpc>
                <a:spcPct val="100000"/>
              </a:lnSpc>
              <a:spcBef>
                <a:spcPts val="0"/>
              </a:spcBef>
              <a:buNone/>
            </a:pPr>
            <a:r>
              <a:rPr lang="en-US" sz="2000" b="1" dirty="0"/>
              <a:t>int fab(int 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if(n==0|| n==1)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return(n); </a:t>
            </a:r>
          </a:p>
          <a:p>
            <a:pPr marL="0" indent="0">
              <a:lnSpc>
                <a:spcPct val="100000"/>
              </a:lnSpc>
              <a:spcBef>
                <a:spcPts val="0"/>
              </a:spcBef>
              <a:buNone/>
            </a:pPr>
            <a:r>
              <a:rPr lang="en-US" sz="2000" b="1" dirty="0"/>
              <a:t>}</a:t>
            </a:r>
          </a:p>
          <a:p>
            <a:pPr marL="0" indent="0">
              <a:lnSpc>
                <a:spcPct val="100000"/>
              </a:lnSpc>
              <a:spcBef>
                <a:spcPts val="0"/>
              </a:spcBef>
              <a:buNone/>
            </a:pPr>
            <a:r>
              <a:rPr lang="en-US" sz="2000" b="1" dirty="0"/>
              <a:t>else</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return(fab(n-1)+fab(n-2)); </a:t>
            </a:r>
          </a:p>
          <a:p>
            <a:pPr marL="0" indent="0">
              <a:lnSpc>
                <a:spcPct val="100000"/>
              </a:lnSpc>
              <a:spcBef>
                <a:spcPts val="0"/>
              </a:spcBef>
              <a:buNone/>
            </a:pPr>
            <a:r>
              <a:rPr lang="en-US" sz="2000" b="1" dirty="0"/>
              <a:t>}</a:t>
            </a:r>
          </a:p>
          <a:p>
            <a:pPr marL="0" indent="0">
              <a:buNone/>
            </a:pPr>
            <a:r>
              <a:rPr lang="en-US" dirty="0"/>
              <a:t>}</a:t>
            </a:r>
          </a:p>
          <a:p>
            <a:pPr marL="0" indent="0">
              <a:buNone/>
            </a:pPr>
            <a:endParaRPr lang="en-NP" dirty="0"/>
          </a:p>
        </p:txBody>
      </p:sp>
      <p:pic>
        <p:nvPicPr>
          <p:cNvPr id="5" name="Picture 4">
            <a:extLst>
              <a:ext uri="{FF2B5EF4-FFF2-40B4-BE49-F238E27FC236}">
                <a16:creationId xmlns:a16="http://schemas.microsoft.com/office/drawing/2014/main" id="{DABFCB3C-5D80-141E-8A9F-D33A9265925E}"/>
              </a:ext>
            </a:extLst>
          </p:cNvPr>
          <p:cNvPicPr>
            <a:picLocks noChangeAspect="1"/>
          </p:cNvPicPr>
          <p:nvPr/>
        </p:nvPicPr>
        <p:blipFill>
          <a:blip r:embed="rId3"/>
          <a:stretch>
            <a:fillRect/>
          </a:stretch>
        </p:blipFill>
        <p:spPr>
          <a:xfrm>
            <a:off x="1153109" y="5152198"/>
            <a:ext cx="5930900" cy="1536700"/>
          </a:xfrm>
          <a:prstGeom prst="rect">
            <a:avLst/>
          </a:prstGeom>
        </p:spPr>
      </p:pic>
      <p:cxnSp>
        <p:nvCxnSpPr>
          <p:cNvPr id="6" name="Straight Arrow Connector 5">
            <a:extLst>
              <a:ext uri="{FF2B5EF4-FFF2-40B4-BE49-F238E27FC236}">
                <a16:creationId xmlns:a16="http://schemas.microsoft.com/office/drawing/2014/main" id="{11E1042A-1F3E-D4D6-9010-D5B148D8E5E8}"/>
              </a:ext>
            </a:extLst>
          </p:cNvPr>
          <p:cNvCxnSpPr>
            <a:cxnSpLocks/>
          </p:cNvCxnSpPr>
          <p:nvPr/>
        </p:nvCxnSpPr>
        <p:spPr>
          <a:xfrm flipV="1">
            <a:off x="4627085" y="789140"/>
            <a:ext cx="0" cy="4266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Content Placeholder 15">
            <a:extLst>
              <a:ext uri="{FF2B5EF4-FFF2-40B4-BE49-F238E27FC236}">
                <a16:creationId xmlns:a16="http://schemas.microsoft.com/office/drawing/2014/main" id="{50DD6268-2F20-ECB4-200D-E4891C60EE18}"/>
              </a:ext>
            </a:extLst>
          </p:cNvPr>
          <p:cNvSpPr txBox="1">
            <a:spLocks/>
          </p:cNvSpPr>
          <p:nvPr/>
        </p:nvSpPr>
        <p:spPr>
          <a:xfrm>
            <a:off x="8054249" y="664929"/>
            <a:ext cx="4223244" cy="53718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P" b="1" dirty="0">
                <a:highlight>
                  <a:srgbClr val="FF00FF"/>
                </a:highlight>
              </a:rPr>
              <a:t>Rough only</a:t>
            </a:r>
          </a:p>
          <a:p>
            <a:pPr marL="0" indent="0">
              <a:buFont typeface="Arial" panose="020B0604020202020204" pitchFamily="34" charset="0"/>
              <a:buNone/>
            </a:pPr>
            <a:r>
              <a:rPr lang="en-US" sz="1600" b="1" dirty="0">
                <a:highlight>
                  <a:srgbClr val="00FF00"/>
                </a:highlight>
              </a:rPr>
              <a:t>I</a:t>
            </a:r>
            <a:r>
              <a:rPr lang="en-NP" sz="1600" b="1" dirty="0">
                <a:highlight>
                  <a:srgbClr val="00FF00"/>
                </a:highlight>
              </a:rPr>
              <a:t>f (n==0||n==1)</a:t>
            </a:r>
          </a:p>
          <a:p>
            <a:pPr marL="0" indent="0">
              <a:buFont typeface="Arial" panose="020B0604020202020204" pitchFamily="34" charset="0"/>
              <a:buNone/>
            </a:pPr>
            <a:r>
              <a:rPr lang="en-NP" sz="1600" b="1" dirty="0">
                <a:highlight>
                  <a:srgbClr val="00FF00"/>
                </a:highlight>
              </a:rPr>
              <a:t> return	fab(0)=0---------eqn 1</a:t>
            </a:r>
          </a:p>
          <a:p>
            <a:pPr marL="0" indent="0">
              <a:buNone/>
            </a:pPr>
            <a:r>
              <a:rPr lang="en-US" sz="1600" b="1" dirty="0">
                <a:highlight>
                  <a:srgbClr val="00FF00"/>
                </a:highlight>
              </a:rPr>
              <a:t>	fab(1)=1</a:t>
            </a:r>
            <a:r>
              <a:rPr lang="en-NP" sz="1600" b="1" dirty="0">
                <a:highlight>
                  <a:srgbClr val="00FF00"/>
                </a:highlight>
              </a:rPr>
              <a:t>--------eqn 2</a:t>
            </a:r>
          </a:p>
          <a:p>
            <a:pPr marL="0" indent="0">
              <a:buNone/>
            </a:pPr>
            <a:r>
              <a:rPr lang="en-US" sz="1600" b="1" dirty="0">
                <a:highlight>
                  <a:srgbClr val="FFFF00"/>
                </a:highlight>
              </a:rPr>
              <a:t>else return</a:t>
            </a:r>
          </a:p>
          <a:p>
            <a:pPr marL="0" indent="0">
              <a:buNone/>
            </a:pPr>
            <a:r>
              <a:rPr lang="en-US" sz="1600" b="1" dirty="0">
                <a:highlight>
                  <a:srgbClr val="FFFF00"/>
                </a:highlight>
              </a:rPr>
              <a:t>fab(n)= (fab(n-1)+fab(n-2))------</a:t>
            </a:r>
            <a:r>
              <a:rPr lang="en-US" sz="1600" b="1" dirty="0" err="1">
                <a:highlight>
                  <a:srgbClr val="FFFF00"/>
                </a:highlight>
              </a:rPr>
              <a:t>eqn</a:t>
            </a:r>
            <a:r>
              <a:rPr lang="en-US" sz="1600" b="1" dirty="0">
                <a:highlight>
                  <a:srgbClr val="FFFF00"/>
                </a:highlight>
              </a:rPr>
              <a:t> n</a:t>
            </a:r>
          </a:p>
          <a:p>
            <a:pPr marL="0" indent="0">
              <a:buNone/>
            </a:pPr>
            <a:r>
              <a:rPr lang="en-US" sz="1600" b="1" dirty="0">
                <a:highlight>
                  <a:srgbClr val="FFFF00"/>
                </a:highlight>
              </a:rPr>
              <a:t>           fab(2)= (fab(1)+fab(0)) </a:t>
            </a:r>
          </a:p>
          <a:p>
            <a:pPr marL="0" indent="0">
              <a:buNone/>
            </a:pPr>
            <a:r>
              <a:rPr lang="en-US" sz="1600" b="1" dirty="0">
                <a:highlight>
                  <a:srgbClr val="FFFF00"/>
                </a:highlight>
              </a:rPr>
              <a:t>           fab(2) = 1+0=1</a:t>
            </a:r>
            <a:r>
              <a:rPr lang="en-NP" sz="1600" b="1" dirty="0">
                <a:highlight>
                  <a:srgbClr val="FFFF00"/>
                </a:highlight>
              </a:rPr>
              <a:t>--------eqn 3</a:t>
            </a:r>
            <a:endParaRPr lang="en-US" sz="1600" b="1" dirty="0">
              <a:highlight>
                <a:srgbClr val="FFFF00"/>
              </a:highlight>
            </a:endParaRPr>
          </a:p>
          <a:p>
            <a:pPr marL="0" indent="0">
              <a:buNone/>
            </a:pPr>
            <a:r>
              <a:rPr lang="en-US" sz="1600" b="1" dirty="0">
                <a:highlight>
                  <a:srgbClr val="FFFF00"/>
                </a:highlight>
              </a:rPr>
              <a:t>            fab(3)= (fab(2)+fab(1)) </a:t>
            </a:r>
          </a:p>
          <a:p>
            <a:pPr marL="0" indent="0">
              <a:buNone/>
            </a:pPr>
            <a:r>
              <a:rPr lang="en-US" sz="1600" b="1" dirty="0">
                <a:highlight>
                  <a:srgbClr val="FFFF00"/>
                </a:highlight>
              </a:rPr>
              <a:t>            fab(3)= 1+1=2</a:t>
            </a:r>
            <a:r>
              <a:rPr lang="en-NP" sz="1600" b="1" dirty="0">
                <a:highlight>
                  <a:srgbClr val="FFFF00"/>
                </a:highlight>
              </a:rPr>
              <a:t>--------eqn 4</a:t>
            </a:r>
          </a:p>
          <a:p>
            <a:pPr marL="0" indent="0">
              <a:buNone/>
            </a:pPr>
            <a:r>
              <a:rPr lang="en-US" sz="1600" b="1" dirty="0">
                <a:highlight>
                  <a:srgbClr val="FFFF00"/>
                </a:highlight>
              </a:rPr>
              <a:t>            fab(4)= (fab(3)+fab(2)) </a:t>
            </a:r>
          </a:p>
          <a:p>
            <a:pPr marL="0" indent="0">
              <a:buNone/>
            </a:pPr>
            <a:r>
              <a:rPr lang="en-US" sz="1600" b="1" dirty="0">
                <a:highlight>
                  <a:srgbClr val="FFFF00"/>
                </a:highlight>
              </a:rPr>
              <a:t>            fab(4)=2+1=3 </a:t>
            </a:r>
            <a:r>
              <a:rPr lang="en-NP" sz="1600" b="1" dirty="0">
                <a:highlight>
                  <a:srgbClr val="FFFF00"/>
                </a:highlight>
              </a:rPr>
              <a:t>--------eqn 5</a:t>
            </a: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None/>
            </a:pPr>
            <a:endParaRPr lang="en-NP"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p:txBody>
      </p:sp>
      <p:cxnSp>
        <p:nvCxnSpPr>
          <p:cNvPr id="9" name="Straight Arrow Connector 8">
            <a:extLst>
              <a:ext uri="{FF2B5EF4-FFF2-40B4-BE49-F238E27FC236}">
                <a16:creationId xmlns:a16="http://schemas.microsoft.com/office/drawing/2014/main" id="{E01297FE-5481-28EF-645D-0C9E17E8E6C9}"/>
              </a:ext>
            </a:extLst>
          </p:cNvPr>
          <p:cNvCxnSpPr>
            <a:cxnSpLocks/>
          </p:cNvCxnSpPr>
          <p:nvPr/>
        </p:nvCxnSpPr>
        <p:spPr>
          <a:xfrm flipV="1">
            <a:off x="7855194" y="657986"/>
            <a:ext cx="0" cy="44942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401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A97CB-E5F6-A39A-2D04-0A05B71E7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C9418-9D7E-F12C-0256-9658763B71C7}"/>
              </a:ext>
            </a:extLst>
          </p:cNvPr>
          <p:cNvSpPr>
            <a:spLocks noGrp="1"/>
          </p:cNvSpPr>
          <p:nvPr>
            <p:ph type="title"/>
          </p:nvPr>
        </p:nvSpPr>
        <p:spPr>
          <a:xfrm>
            <a:off x="838200" y="169101"/>
            <a:ext cx="10515600" cy="620039"/>
          </a:xfrm>
        </p:spPr>
        <p:txBody>
          <a:bodyPr>
            <a:normAutofit fontScale="90000"/>
          </a:bodyPr>
          <a:lstStyle/>
          <a:p>
            <a:br>
              <a:rPr lang="en-US" sz="2000" dirty="0"/>
            </a:br>
            <a:br>
              <a:rPr lang="en-US" sz="2000" dirty="0"/>
            </a:br>
            <a:br>
              <a:rPr lang="en-US" sz="2000" dirty="0"/>
            </a:br>
            <a:br>
              <a:rPr lang="en-US" sz="2000" dirty="0"/>
            </a:br>
            <a:r>
              <a:rPr lang="en-US" sz="2000" dirty="0"/>
              <a:t>3.</a:t>
            </a:r>
            <a:r>
              <a:rPr lang="en-NP" sz="2000" b="1" i="1" dirty="0">
                <a:solidFill>
                  <a:srgbClr val="FF0000"/>
                </a:solidFill>
              </a:rPr>
              <a:t>Write C program to print Sum of ‘n’ numbers using recursive function.</a:t>
            </a:r>
            <a:br>
              <a:rPr lang="en-NP" sz="2000" b="1" i="1" dirty="0">
                <a:solidFill>
                  <a:srgbClr val="FF0000"/>
                </a:solidFill>
              </a:rPr>
            </a:br>
            <a:br>
              <a:rPr lang="en-US" dirty="0"/>
            </a:br>
            <a:endParaRPr lang="en-NP" dirty="0"/>
          </a:p>
        </p:txBody>
      </p:sp>
      <p:sp>
        <p:nvSpPr>
          <p:cNvPr id="3" name="Content Placeholder 2">
            <a:extLst>
              <a:ext uri="{FF2B5EF4-FFF2-40B4-BE49-F238E27FC236}">
                <a16:creationId xmlns:a16="http://schemas.microsoft.com/office/drawing/2014/main" id="{46EECAEA-FF2C-9313-B9B5-A5B2AE9BE5AB}"/>
              </a:ext>
            </a:extLst>
          </p:cNvPr>
          <p:cNvSpPr>
            <a:spLocks noGrp="1"/>
          </p:cNvSpPr>
          <p:nvPr>
            <p:ph sz="half" idx="1"/>
          </p:nvPr>
        </p:nvSpPr>
        <p:spPr>
          <a:xfrm>
            <a:off x="718930" y="541750"/>
            <a:ext cx="6596270" cy="6316250"/>
          </a:xfrm>
        </p:spPr>
        <p:txBody>
          <a:bodyPr>
            <a:normAutofit/>
          </a:bodyPr>
          <a:lstStyle/>
          <a:p>
            <a:pPr marL="0" indent="0">
              <a:lnSpc>
                <a:spcPct val="100000"/>
              </a:lnSpc>
              <a:spcBef>
                <a:spcPts val="0"/>
              </a:spcBef>
              <a:buNone/>
            </a:pPr>
            <a:r>
              <a:rPr lang="en-US" sz="2400" b="1" dirty="0"/>
              <a:t>#include&lt;</a:t>
            </a:r>
            <a:r>
              <a:rPr lang="en-US" sz="2400" b="1" dirty="0" err="1"/>
              <a:t>stdio.h</a:t>
            </a:r>
            <a:r>
              <a:rPr lang="en-US" sz="2400" b="1" dirty="0"/>
              <a:t>&gt; </a:t>
            </a:r>
          </a:p>
          <a:p>
            <a:pPr marL="0" indent="0">
              <a:lnSpc>
                <a:spcPct val="100000"/>
              </a:lnSpc>
              <a:spcBef>
                <a:spcPts val="0"/>
              </a:spcBef>
              <a:buNone/>
            </a:pPr>
            <a:r>
              <a:rPr lang="en-US" sz="2400" b="1" dirty="0"/>
              <a:t>int sum(int n); </a:t>
            </a:r>
          </a:p>
          <a:p>
            <a:pPr marL="0" indent="0">
              <a:lnSpc>
                <a:spcPct val="100000"/>
              </a:lnSpc>
              <a:spcBef>
                <a:spcPts val="0"/>
              </a:spcBef>
              <a:buNone/>
            </a:pPr>
            <a:r>
              <a:rPr lang="en-US" sz="2400" b="1" dirty="0"/>
              <a:t>int main()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int n; </a:t>
            </a:r>
          </a:p>
          <a:p>
            <a:pPr marL="0" indent="0">
              <a:lnSpc>
                <a:spcPct val="100000"/>
              </a:lnSpc>
              <a:spcBef>
                <a:spcPts val="0"/>
              </a:spcBef>
              <a:buNone/>
            </a:pPr>
            <a:r>
              <a:rPr lang="en-US" sz="2400" b="1" dirty="0" err="1"/>
              <a:t>printf</a:t>
            </a:r>
            <a:r>
              <a:rPr lang="en-US" sz="2400" b="1" dirty="0"/>
              <a:t>("Enter the number:\n\n"); </a:t>
            </a:r>
          </a:p>
          <a:p>
            <a:pPr marL="0" indent="0">
              <a:lnSpc>
                <a:spcPct val="100000"/>
              </a:lnSpc>
              <a:spcBef>
                <a:spcPts val="0"/>
              </a:spcBef>
              <a:buNone/>
            </a:pPr>
            <a:r>
              <a:rPr lang="en-US" sz="2400" b="1" dirty="0" err="1"/>
              <a:t>scanf</a:t>
            </a:r>
            <a:r>
              <a:rPr lang="en-US" sz="2400" b="1" dirty="0"/>
              <a:t>("%</a:t>
            </a:r>
            <a:r>
              <a:rPr lang="en-US" sz="2400" b="1" dirty="0" err="1"/>
              <a:t>d",&amp;n</a:t>
            </a:r>
            <a:r>
              <a:rPr lang="en-US" sz="2400" b="1" dirty="0"/>
              <a:t>); </a:t>
            </a:r>
          </a:p>
          <a:p>
            <a:pPr marL="0" indent="0">
              <a:lnSpc>
                <a:spcPct val="100000"/>
              </a:lnSpc>
              <a:spcBef>
                <a:spcPts val="0"/>
              </a:spcBef>
              <a:buNone/>
            </a:pPr>
            <a:r>
              <a:rPr lang="en-US" sz="2400" b="1" dirty="0" err="1"/>
              <a:t>printf</a:t>
            </a:r>
            <a:r>
              <a:rPr lang="en-US" sz="2400" b="1" dirty="0"/>
              <a:t>("Sum of %d is %d",</a:t>
            </a:r>
            <a:r>
              <a:rPr lang="en-US" sz="2400" b="1" dirty="0" err="1"/>
              <a:t>n,sum</a:t>
            </a:r>
            <a:r>
              <a:rPr lang="en-US" sz="2400" b="1" dirty="0"/>
              <a:t>(n)); </a:t>
            </a:r>
          </a:p>
          <a:p>
            <a:pPr marL="0" indent="0">
              <a:lnSpc>
                <a:spcPct val="100000"/>
              </a:lnSpc>
              <a:spcBef>
                <a:spcPts val="0"/>
              </a:spcBef>
              <a:buNone/>
            </a:pPr>
            <a:r>
              <a:rPr lang="en-US" sz="2400" b="1" dirty="0"/>
              <a:t>return 0;</a:t>
            </a:r>
          </a:p>
          <a:p>
            <a:pPr marL="0" indent="0">
              <a:lnSpc>
                <a:spcPct val="100000"/>
              </a:lnSpc>
              <a:spcBef>
                <a:spcPts val="0"/>
              </a:spcBef>
              <a:buNone/>
            </a:pPr>
            <a:r>
              <a:rPr lang="en-US" sz="2400" b="1" dirty="0"/>
              <a:t>} </a:t>
            </a:r>
          </a:p>
          <a:p>
            <a:endParaRPr lang="en-NP" dirty="0"/>
          </a:p>
        </p:txBody>
      </p:sp>
      <p:sp>
        <p:nvSpPr>
          <p:cNvPr id="4" name="Content Placeholder 3">
            <a:extLst>
              <a:ext uri="{FF2B5EF4-FFF2-40B4-BE49-F238E27FC236}">
                <a16:creationId xmlns:a16="http://schemas.microsoft.com/office/drawing/2014/main" id="{7947F771-2912-34B2-19C5-D3331160F5DE}"/>
              </a:ext>
            </a:extLst>
          </p:cNvPr>
          <p:cNvSpPr>
            <a:spLocks noGrp="1"/>
          </p:cNvSpPr>
          <p:nvPr>
            <p:ph sz="half" idx="2"/>
          </p:nvPr>
        </p:nvSpPr>
        <p:spPr>
          <a:xfrm>
            <a:off x="6036365" y="541750"/>
            <a:ext cx="2405108" cy="6208644"/>
          </a:xfrm>
        </p:spPr>
        <p:txBody>
          <a:bodyPr>
            <a:normAutofit/>
          </a:bodyPr>
          <a:lstStyle/>
          <a:p>
            <a:pPr marL="0" indent="0">
              <a:lnSpc>
                <a:spcPct val="100000"/>
              </a:lnSpc>
              <a:spcBef>
                <a:spcPts val="0"/>
              </a:spcBef>
              <a:buNone/>
            </a:pPr>
            <a:r>
              <a:rPr lang="en-US" sz="2400" b="1" dirty="0"/>
              <a:t>int sum(int 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if(n==0|| n==1)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return(n); </a:t>
            </a:r>
          </a:p>
          <a:p>
            <a:pPr marL="0" indent="0">
              <a:lnSpc>
                <a:spcPct val="100000"/>
              </a:lnSpc>
              <a:spcBef>
                <a:spcPts val="0"/>
              </a:spcBef>
              <a:buNone/>
            </a:pPr>
            <a:r>
              <a:rPr lang="en-US" sz="2400" b="1" dirty="0"/>
              <a:t>}</a:t>
            </a:r>
          </a:p>
          <a:p>
            <a:pPr marL="0" indent="0">
              <a:lnSpc>
                <a:spcPct val="100000"/>
              </a:lnSpc>
              <a:spcBef>
                <a:spcPts val="0"/>
              </a:spcBef>
              <a:buNone/>
            </a:pPr>
            <a:r>
              <a:rPr lang="en-US" sz="2400" b="1" dirty="0"/>
              <a:t>else</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n=</a:t>
            </a:r>
            <a:r>
              <a:rPr lang="en-US" sz="2400" b="1" dirty="0" err="1"/>
              <a:t>n+sum</a:t>
            </a:r>
            <a:r>
              <a:rPr lang="en-US" sz="2400" b="1" dirty="0"/>
              <a:t>(n-1); </a:t>
            </a:r>
          </a:p>
          <a:p>
            <a:pPr marL="0" indent="0">
              <a:lnSpc>
                <a:spcPct val="100000"/>
              </a:lnSpc>
              <a:spcBef>
                <a:spcPts val="0"/>
              </a:spcBef>
              <a:buNone/>
            </a:pPr>
            <a:r>
              <a:rPr lang="en-US" sz="2400" b="1" dirty="0"/>
              <a:t>return(n);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a:t>
            </a:r>
          </a:p>
          <a:p>
            <a:pPr marL="0" indent="0">
              <a:buNone/>
            </a:pPr>
            <a:br>
              <a:rPr lang="en-US" dirty="0"/>
            </a:br>
            <a:endParaRPr lang="en-US" dirty="0"/>
          </a:p>
          <a:p>
            <a:endParaRPr lang="en-NP" dirty="0"/>
          </a:p>
        </p:txBody>
      </p:sp>
      <p:pic>
        <p:nvPicPr>
          <p:cNvPr id="6" name="Picture 5">
            <a:extLst>
              <a:ext uri="{FF2B5EF4-FFF2-40B4-BE49-F238E27FC236}">
                <a16:creationId xmlns:a16="http://schemas.microsoft.com/office/drawing/2014/main" id="{8A156C66-A169-95AF-FFD0-64593ECB6157}"/>
              </a:ext>
            </a:extLst>
          </p:cNvPr>
          <p:cNvPicPr>
            <a:picLocks noChangeAspect="1"/>
          </p:cNvPicPr>
          <p:nvPr/>
        </p:nvPicPr>
        <p:blipFill>
          <a:blip r:embed="rId3"/>
          <a:stretch>
            <a:fillRect/>
          </a:stretch>
        </p:blipFill>
        <p:spPr>
          <a:xfrm>
            <a:off x="838200" y="4506538"/>
            <a:ext cx="3695700" cy="1333500"/>
          </a:xfrm>
          <a:prstGeom prst="rect">
            <a:avLst/>
          </a:prstGeom>
        </p:spPr>
      </p:pic>
      <p:cxnSp>
        <p:nvCxnSpPr>
          <p:cNvPr id="5" name="Straight Arrow Connector 4">
            <a:extLst>
              <a:ext uri="{FF2B5EF4-FFF2-40B4-BE49-F238E27FC236}">
                <a16:creationId xmlns:a16="http://schemas.microsoft.com/office/drawing/2014/main" id="{85E953E4-F06E-40BE-85F3-C3A6AE36138B}"/>
              </a:ext>
            </a:extLst>
          </p:cNvPr>
          <p:cNvCxnSpPr>
            <a:cxnSpLocks/>
          </p:cNvCxnSpPr>
          <p:nvPr/>
        </p:nvCxnSpPr>
        <p:spPr>
          <a:xfrm flipV="1">
            <a:off x="5819862" y="541750"/>
            <a:ext cx="0" cy="6208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CC599D3-0753-7DC8-EC2F-23F492C750D2}"/>
              </a:ext>
            </a:extLst>
          </p:cNvPr>
          <p:cNvCxnSpPr>
            <a:cxnSpLocks/>
          </p:cNvCxnSpPr>
          <p:nvPr/>
        </p:nvCxnSpPr>
        <p:spPr>
          <a:xfrm flipV="1">
            <a:off x="8223093" y="541750"/>
            <a:ext cx="0" cy="62086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Content Placeholder 15">
            <a:extLst>
              <a:ext uri="{FF2B5EF4-FFF2-40B4-BE49-F238E27FC236}">
                <a16:creationId xmlns:a16="http://schemas.microsoft.com/office/drawing/2014/main" id="{D10E2E52-CF4B-FB72-4B8B-126F121E02FD}"/>
              </a:ext>
            </a:extLst>
          </p:cNvPr>
          <p:cNvSpPr txBox="1">
            <a:spLocks/>
          </p:cNvSpPr>
          <p:nvPr/>
        </p:nvSpPr>
        <p:spPr>
          <a:xfrm>
            <a:off x="8416518" y="541749"/>
            <a:ext cx="3637946" cy="58702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NP" b="1" dirty="0">
                <a:highlight>
                  <a:srgbClr val="FF00FF"/>
                </a:highlight>
              </a:rPr>
              <a:t>Rough only</a:t>
            </a:r>
          </a:p>
          <a:p>
            <a:pPr marL="0" indent="0">
              <a:buNone/>
            </a:pPr>
            <a:r>
              <a:rPr lang="en-US" sz="2400" b="1" dirty="0" err="1">
                <a:highlight>
                  <a:srgbClr val="FFFF00"/>
                </a:highlight>
              </a:rPr>
              <a:t>neturn</a:t>
            </a:r>
            <a:r>
              <a:rPr lang="en-US" sz="2400" b="1" dirty="0">
                <a:highlight>
                  <a:srgbClr val="FFFF00"/>
                </a:highlight>
              </a:rPr>
              <a:t> </a:t>
            </a:r>
          </a:p>
          <a:p>
            <a:pPr marL="0" indent="0">
              <a:buNone/>
            </a:pPr>
            <a:r>
              <a:rPr lang="en-US" sz="2400" b="1" dirty="0" err="1">
                <a:highlight>
                  <a:srgbClr val="FFFF00"/>
                </a:highlight>
              </a:rPr>
              <a:t>n+sum</a:t>
            </a:r>
            <a:r>
              <a:rPr lang="en-US" sz="2400" b="1" dirty="0">
                <a:highlight>
                  <a:srgbClr val="FFFF00"/>
                </a:highlight>
              </a:rPr>
              <a:t>(n-1)</a:t>
            </a:r>
          </a:p>
          <a:p>
            <a:pPr marL="0" indent="0">
              <a:buNone/>
            </a:pPr>
            <a:r>
              <a:rPr lang="en-US" sz="2400" b="1" dirty="0">
                <a:highlight>
                  <a:srgbClr val="FFFF00"/>
                </a:highlight>
              </a:rPr>
              <a:t>sum(5)=5+sum(4)</a:t>
            </a:r>
            <a:r>
              <a:rPr lang="en-US" sz="2400" b="1" dirty="0">
                <a:highlight>
                  <a:srgbClr val="FFFF00"/>
                </a:highlight>
                <a:sym typeface="Wingdings" pitchFamily="2" charset="2"/>
              </a:rPr>
              <a:t></a:t>
            </a:r>
            <a:r>
              <a:rPr lang="en-US" sz="2400" b="1" dirty="0" err="1">
                <a:highlight>
                  <a:srgbClr val="FFFF00"/>
                </a:highlight>
              </a:rPr>
              <a:t>eqn</a:t>
            </a:r>
            <a:r>
              <a:rPr lang="en-US" sz="2400" b="1" dirty="0">
                <a:highlight>
                  <a:srgbClr val="FFFF00"/>
                </a:highlight>
              </a:rPr>
              <a:t> 1</a:t>
            </a:r>
          </a:p>
          <a:p>
            <a:pPr marL="0" indent="0">
              <a:buNone/>
            </a:pPr>
            <a:r>
              <a:rPr lang="en-US" sz="2400" b="1" dirty="0">
                <a:highlight>
                  <a:srgbClr val="FFFF00"/>
                </a:highlight>
              </a:rPr>
              <a:t>sum(4)=4+sum(3)</a:t>
            </a:r>
          </a:p>
          <a:p>
            <a:pPr marL="0" indent="0">
              <a:buNone/>
            </a:pPr>
            <a:r>
              <a:rPr lang="en-US" sz="2400" b="1" dirty="0">
                <a:highlight>
                  <a:srgbClr val="FFFF00"/>
                </a:highlight>
              </a:rPr>
              <a:t>sum(3)=3+sum(2)</a:t>
            </a:r>
          </a:p>
          <a:p>
            <a:pPr marL="0" indent="0">
              <a:buNone/>
            </a:pPr>
            <a:r>
              <a:rPr lang="en-US" sz="2400" b="1" dirty="0">
                <a:highlight>
                  <a:srgbClr val="FFFF00"/>
                </a:highlight>
              </a:rPr>
              <a:t>sum(2)=2+sum(1)</a:t>
            </a:r>
          </a:p>
          <a:p>
            <a:pPr marL="0" indent="0">
              <a:buNone/>
            </a:pPr>
            <a:r>
              <a:rPr lang="en-US" sz="2400" b="1" dirty="0">
                <a:highlight>
                  <a:srgbClr val="FFFF00"/>
                </a:highlight>
              </a:rPr>
              <a:t>sum(1)=1</a:t>
            </a: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None/>
            </a:pPr>
            <a:endParaRPr lang="en-NP"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US" sz="1600" b="1" dirty="0">
              <a:highlight>
                <a:srgbClr val="FFFF00"/>
              </a:highlight>
            </a:endParaRPr>
          </a:p>
          <a:p>
            <a:pPr marL="0" indent="0">
              <a:buNone/>
            </a:pPr>
            <a:endParaRPr lang="en-NP" sz="1600" b="1"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a:p>
            <a:pPr marL="0" indent="0">
              <a:buFont typeface="Arial" panose="020B0604020202020204" pitchFamily="34" charset="0"/>
              <a:buNone/>
            </a:pPr>
            <a:endParaRPr lang="en-NP" sz="1600" dirty="0">
              <a:highlight>
                <a:srgbClr val="FFFF00"/>
              </a:highlight>
            </a:endParaRPr>
          </a:p>
        </p:txBody>
      </p:sp>
    </p:spTree>
    <p:extLst>
      <p:ext uri="{BB962C8B-B14F-4D97-AF65-F5344CB8AC3E}">
        <p14:creationId xmlns:p14="http://schemas.microsoft.com/office/powerpoint/2010/main" val="2117402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F71A59-E732-82B0-9B00-3FCEB35046B7}"/>
              </a:ext>
            </a:extLst>
          </p:cNvPr>
          <p:cNvSpPr>
            <a:spLocks noGrp="1"/>
          </p:cNvSpPr>
          <p:nvPr>
            <p:ph sz="half" idx="1"/>
          </p:nvPr>
        </p:nvSpPr>
        <p:spPr>
          <a:xfrm>
            <a:off x="335666" y="277792"/>
            <a:ext cx="11620982" cy="6250330"/>
          </a:xfrm>
        </p:spPr>
        <p:txBody>
          <a:bodyPr>
            <a:normAutofit lnSpcReduction="10000"/>
          </a:bodyPr>
          <a:lstStyle/>
          <a:p>
            <a:pPr marL="0" indent="0" algn="just">
              <a:buNone/>
            </a:pPr>
            <a:r>
              <a:rPr lang="en-NP" b="1" i="1" dirty="0"/>
              <a:t>					Structure</a:t>
            </a:r>
          </a:p>
          <a:p>
            <a:pPr marL="0" indent="0" algn="just">
              <a:buNone/>
            </a:pPr>
            <a:r>
              <a:rPr lang="en-NP" b="1" i="1" dirty="0"/>
              <a:t>Structure is defined as the collection of dissimilar data items treated as single unit. </a:t>
            </a:r>
            <a:r>
              <a:rPr lang="en-NP" dirty="0"/>
              <a:t>Each  data item is called member of structure. The keyword struct is used to declare structure  variable and type of structure variable is defined by tag_name of the structure. It is  collection of heterogeneous data items treated as a single unit. Each data item is called  member of structure.  </a:t>
            </a:r>
          </a:p>
          <a:p>
            <a:pPr marL="0" indent="0" algn="just">
              <a:buNone/>
            </a:pPr>
            <a:r>
              <a:rPr lang="en-NP" dirty="0">
                <a:highlight>
                  <a:srgbClr val="FFFF00"/>
                </a:highlight>
              </a:rPr>
              <a:t>Some major features of structure: </a:t>
            </a:r>
          </a:p>
          <a:p>
            <a:pPr marL="0" indent="0" algn="just">
              <a:buNone/>
            </a:pPr>
            <a:r>
              <a:rPr lang="en-NP" b="1" dirty="0"/>
              <a:t>a. </a:t>
            </a:r>
            <a:r>
              <a:rPr lang="en-NP" dirty="0"/>
              <a:t>It can be treated as record that is collection of interrelated data fields having  different data types. </a:t>
            </a:r>
          </a:p>
          <a:p>
            <a:pPr marL="0" indent="0" algn="just">
              <a:buNone/>
            </a:pPr>
            <a:r>
              <a:rPr lang="en-NP" b="1" dirty="0"/>
              <a:t>b. </a:t>
            </a:r>
            <a:r>
              <a:rPr lang="en-NP" dirty="0"/>
              <a:t>It is possible to copy one structure variable to another by simply assignment  operator (=). </a:t>
            </a:r>
          </a:p>
          <a:p>
            <a:pPr marL="0" indent="0" algn="just">
              <a:buNone/>
            </a:pPr>
            <a:r>
              <a:rPr lang="en-NP" b="1" dirty="0"/>
              <a:t>c. </a:t>
            </a:r>
            <a:r>
              <a:rPr lang="en-NP" dirty="0"/>
              <a:t>It allows nested structure that is one structure inside another structure. </a:t>
            </a:r>
            <a:r>
              <a:rPr lang="en-NP" b="1" dirty="0"/>
              <a:t>d. </a:t>
            </a:r>
            <a:r>
              <a:rPr lang="en-NP" dirty="0"/>
              <a:t>It is possible to pass structure variable as parameter to any function. e. It is possible to define structure pointer also known as link list. </a:t>
            </a:r>
          </a:p>
          <a:p>
            <a:pPr marL="0" indent="0" algn="just">
              <a:buNone/>
            </a:pPr>
            <a:endParaRPr lang="en-NP" dirty="0"/>
          </a:p>
        </p:txBody>
      </p:sp>
    </p:spTree>
    <p:extLst>
      <p:ext uri="{BB962C8B-B14F-4D97-AF65-F5344CB8AC3E}">
        <p14:creationId xmlns:p14="http://schemas.microsoft.com/office/powerpoint/2010/main" val="981357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3C36F-3C7A-ADD4-DAFC-2B79B659D8B3}"/>
              </a:ext>
            </a:extLst>
          </p:cNvPr>
          <p:cNvSpPr>
            <a:spLocks noGrp="1"/>
          </p:cNvSpPr>
          <p:nvPr>
            <p:ph sz="half" idx="1"/>
          </p:nvPr>
        </p:nvSpPr>
        <p:spPr>
          <a:xfrm>
            <a:off x="838200" y="428263"/>
            <a:ext cx="5181600" cy="5748700"/>
          </a:xfrm>
        </p:spPr>
        <p:txBody>
          <a:bodyPr>
            <a:normAutofit fontScale="70000" lnSpcReduction="20000"/>
          </a:bodyPr>
          <a:lstStyle/>
          <a:p>
            <a:pPr marL="0" indent="0">
              <a:buNone/>
            </a:pPr>
            <a:r>
              <a:rPr lang="en-US" b="1" i="1" dirty="0"/>
              <a:t>Syntax for structure declaration: </a:t>
            </a:r>
          </a:p>
          <a:p>
            <a:pPr marL="0" indent="0">
              <a:buNone/>
            </a:pPr>
            <a:r>
              <a:rPr lang="en-US" dirty="0"/>
              <a:t>struct </a:t>
            </a:r>
            <a:r>
              <a:rPr lang="en-US" dirty="0" err="1"/>
              <a:t>tag_name</a:t>
            </a:r>
            <a:r>
              <a:rPr lang="en-US" dirty="0"/>
              <a:t> </a:t>
            </a:r>
          </a:p>
          <a:p>
            <a:pPr marL="0" indent="0">
              <a:buNone/>
            </a:pPr>
            <a:r>
              <a:rPr lang="en-US" dirty="0"/>
              <a:t>{ </a:t>
            </a:r>
          </a:p>
          <a:p>
            <a:pPr marL="0" indent="0">
              <a:buNone/>
            </a:pPr>
            <a:r>
              <a:rPr lang="en-US" dirty="0"/>
              <a:t>datatype member1; datatype member2; -------------------- </a:t>
            </a:r>
          </a:p>
          <a:p>
            <a:pPr marL="0" indent="0">
              <a:buNone/>
            </a:pPr>
            <a:r>
              <a:rPr lang="en-US" dirty="0"/>
              <a:t>datatype </a:t>
            </a:r>
            <a:r>
              <a:rPr lang="en-US" dirty="0" err="1"/>
              <a:t>memberN</a:t>
            </a:r>
            <a:r>
              <a:rPr lang="en-US" dirty="0"/>
              <a:t>; }; </a:t>
            </a:r>
          </a:p>
          <a:p>
            <a:pPr marL="0" indent="0">
              <a:buNone/>
            </a:pPr>
            <a:r>
              <a:rPr lang="en-US" dirty="0"/>
              <a:t>struct </a:t>
            </a:r>
            <a:r>
              <a:rPr lang="en-US" dirty="0" err="1"/>
              <a:t>tag_name</a:t>
            </a:r>
            <a:r>
              <a:rPr lang="en-US" dirty="0"/>
              <a:t> var1,  var2,……,</a:t>
            </a:r>
            <a:r>
              <a:rPr lang="en-US" dirty="0" err="1"/>
              <a:t>varN</a:t>
            </a:r>
            <a:r>
              <a:rPr lang="en-US" dirty="0"/>
              <a:t>; </a:t>
            </a:r>
          </a:p>
          <a:p>
            <a:pPr marL="0" indent="0">
              <a:buNone/>
            </a:pPr>
            <a:endParaRPr lang="en-US" dirty="0"/>
          </a:p>
          <a:p>
            <a:pPr marL="0" indent="0">
              <a:buNone/>
            </a:pPr>
            <a:r>
              <a:rPr lang="en-US" dirty="0">
                <a:highlight>
                  <a:srgbClr val="FFFF00"/>
                </a:highlight>
              </a:rPr>
              <a:t>Example for structure variable: </a:t>
            </a:r>
            <a:br>
              <a:rPr lang="en-US" dirty="0"/>
            </a:br>
            <a:r>
              <a:rPr lang="en-US" b="1" i="1" dirty="0"/>
              <a:t>struct student </a:t>
            </a:r>
          </a:p>
          <a:p>
            <a:pPr marL="0" indent="0">
              <a:buNone/>
            </a:pPr>
            <a:r>
              <a:rPr lang="en-US" b="1" i="1" dirty="0"/>
              <a:t>{ </a:t>
            </a:r>
          </a:p>
          <a:p>
            <a:pPr marL="0" indent="0">
              <a:buNone/>
            </a:pPr>
            <a:r>
              <a:rPr lang="en-US" b="1" i="1" dirty="0"/>
              <a:t>int </a:t>
            </a:r>
            <a:r>
              <a:rPr lang="en-US" b="1" i="1" dirty="0" err="1"/>
              <a:t>rollNo</a:t>
            </a:r>
            <a:r>
              <a:rPr lang="en-US" b="1" i="1" dirty="0"/>
              <a:t>; </a:t>
            </a:r>
          </a:p>
          <a:p>
            <a:pPr marL="0" indent="0">
              <a:buNone/>
            </a:pPr>
            <a:r>
              <a:rPr lang="en-US" b="1" i="1" dirty="0"/>
              <a:t>char </a:t>
            </a:r>
            <a:r>
              <a:rPr lang="en-US" b="1" i="1" dirty="0" err="1"/>
              <a:t>fName</a:t>
            </a:r>
            <a:r>
              <a:rPr lang="en-US" b="1" i="1" dirty="0"/>
              <a:t>[20]; </a:t>
            </a:r>
          </a:p>
          <a:p>
            <a:pPr marL="0" indent="0">
              <a:buNone/>
            </a:pPr>
            <a:r>
              <a:rPr lang="en-US" b="1" i="1" dirty="0"/>
              <a:t>char </a:t>
            </a:r>
            <a:r>
              <a:rPr lang="en-US" b="1" i="1" dirty="0" err="1"/>
              <a:t>lName</a:t>
            </a:r>
            <a:r>
              <a:rPr lang="en-US" b="1" i="1" dirty="0"/>
              <a:t>[20]; </a:t>
            </a:r>
          </a:p>
          <a:p>
            <a:pPr marL="0" indent="0">
              <a:buNone/>
            </a:pPr>
            <a:r>
              <a:rPr lang="en-US" b="1" i="1" dirty="0"/>
              <a:t>}; </a:t>
            </a:r>
          </a:p>
          <a:p>
            <a:pPr marL="0" indent="0">
              <a:buNone/>
            </a:pPr>
            <a:r>
              <a:rPr lang="en-US" b="1" i="1" dirty="0"/>
              <a:t>struct student s1, s2, s3; </a:t>
            </a:r>
          </a:p>
          <a:p>
            <a:pPr marL="0" indent="0">
              <a:buNone/>
            </a:pPr>
            <a:endParaRPr lang="en-US" dirty="0"/>
          </a:p>
        </p:txBody>
      </p:sp>
      <p:sp>
        <p:nvSpPr>
          <p:cNvPr id="4" name="Content Placeholder 3">
            <a:extLst>
              <a:ext uri="{FF2B5EF4-FFF2-40B4-BE49-F238E27FC236}">
                <a16:creationId xmlns:a16="http://schemas.microsoft.com/office/drawing/2014/main" id="{03330678-C854-1ACA-7067-3A6D7805CCF7}"/>
              </a:ext>
            </a:extLst>
          </p:cNvPr>
          <p:cNvSpPr>
            <a:spLocks noGrp="1"/>
          </p:cNvSpPr>
          <p:nvPr>
            <p:ph sz="half" idx="2"/>
          </p:nvPr>
        </p:nvSpPr>
        <p:spPr>
          <a:xfrm>
            <a:off x="6172200" y="428263"/>
            <a:ext cx="5181600" cy="5748700"/>
          </a:xfrm>
        </p:spPr>
        <p:txBody>
          <a:bodyPr>
            <a:normAutofit fontScale="70000" lnSpcReduction="20000"/>
          </a:bodyPr>
          <a:lstStyle/>
          <a:p>
            <a:pPr marL="0" indent="0">
              <a:buNone/>
            </a:pPr>
            <a:r>
              <a:rPr lang="en-US" b="1" i="1" dirty="0"/>
              <a:t>Syntax for structure declaration: </a:t>
            </a:r>
          </a:p>
          <a:p>
            <a:pPr marL="0" indent="0">
              <a:buNone/>
            </a:pPr>
            <a:r>
              <a:rPr lang="en-US" dirty="0"/>
              <a:t>struct </a:t>
            </a:r>
            <a:r>
              <a:rPr lang="en-US" dirty="0" err="1"/>
              <a:t>tag_name</a:t>
            </a:r>
            <a:r>
              <a:rPr lang="en-US" dirty="0"/>
              <a:t> </a:t>
            </a:r>
          </a:p>
          <a:p>
            <a:pPr marL="0" indent="0">
              <a:buNone/>
            </a:pPr>
            <a:r>
              <a:rPr lang="en-US" dirty="0"/>
              <a:t>{ </a:t>
            </a:r>
          </a:p>
          <a:p>
            <a:pPr marL="0" indent="0">
              <a:buNone/>
            </a:pPr>
            <a:r>
              <a:rPr lang="en-US" dirty="0"/>
              <a:t>datatype member1; datatype member2; -------------------- </a:t>
            </a:r>
          </a:p>
          <a:p>
            <a:pPr marL="0" indent="0">
              <a:buNone/>
            </a:pPr>
            <a:r>
              <a:rPr lang="en-US" dirty="0"/>
              <a:t>datatype </a:t>
            </a:r>
            <a:r>
              <a:rPr lang="en-US" dirty="0" err="1"/>
              <a:t>memberN</a:t>
            </a:r>
            <a:r>
              <a:rPr lang="en-US" dirty="0"/>
              <a:t>; }var1, var2,……,</a:t>
            </a:r>
            <a:r>
              <a:rPr lang="en-US" dirty="0" err="1"/>
              <a:t>varN</a:t>
            </a:r>
            <a:r>
              <a:rPr lang="en-US" dirty="0"/>
              <a:t>; </a:t>
            </a:r>
            <a:endParaRPr lang="en-NP" dirty="0"/>
          </a:p>
          <a:p>
            <a:pPr marL="0" indent="0">
              <a:buNone/>
            </a:pPr>
            <a:endParaRPr lang="en-NP" dirty="0"/>
          </a:p>
          <a:p>
            <a:pPr marL="0" indent="0">
              <a:buNone/>
            </a:pPr>
            <a:endParaRPr lang="en-US" dirty="0">
              <a:highlight>
                <a:srgbClr val="FFFF00"/>
              </a:highlight>
            </a:endParaRPr>
          </a:p>
          <a:p>
            <a:pPr marL="0" indent="0">
              <a:buNone/>
            </a:pPr>
            <a:r>
              <a:rPr lang="en-US" dirty="0">
                <a:highlight>
                  <a:srgbClr val="FFFF00"/>
                </a:highlight>
              </a:rPr>
              <a:t>Example for structure variable: </a:t>
            </a:r>
            <a:endParaRPr lang="en-US" b="1" i="1" dirty="0"/>
          </a:p>
          <a:p>
            <a:pPr marL="0" indent="0">
              <a:buNone/>
            </a:pPr>
            <a:r>
              <a:rPr lang="en-NP" b="1" i="1" dirty="0"/>
              <a:t>struct student </a:t>
            </a:r>
          </a:p>
          <a:p>
            <a:pPr marL="0" indent="0">
              <a:buNone/>
            </a:pPr>
            <a:r>
              <a:rPr lang="en-NP" b="1" i="1" dirty="0"/>
              <a:t>{ </a:t>
            </a:r>
          </a:p>
          <a:p>
            <a:pPr marL="0" indent="0">
              <a:buNone/>
            </a:pPr>
            <a:r>
              <a:rPr lang="en-NP" b="1" i="1" dirty="0"/>
              <a:t>int rollNo; </a:t>
            </a:r>
          </a:p>
          <a:p>
            <a:pPr marL="0" indent="0">
              <a:buNone/>
            </a:pPr>
            <a:r>
              <a:rPr lang="en-NP" b="1" i="1" dirty="0"/>
              <a:t>char fName[20]; </a:t>
            </a:r>
          </a:p>
          <a:p>
            <a:pPr marL="0" indent="0">
              <a:buNone/>
            </a:pPr>
            <a:r>
              <a:rPr lang="en-NP" b="1" i="1" dirty="0"/>
              <a:t>char lName[20]; </a:t>
            </a:r>
          </a:p>
          <a:p>
            <a:pPr marL="0" indent="0">
              <a:buNone/>
            </a:pPr>
            <a:r>
              <a:rPr lang="en-NP" b="1" i="1" dirty="0"/>
              <a:t>} s1, s2, s3; </a:t>
            </a:r>
          </a:p>
          <a:p>
            <a:pPr marL="0" indent="0">
              <a:buNone/>
            </a:pPr>
            <a:br>
              <a:rPr lang="en-NP" dirty="0"/>
            </a:br>
            <a:endParaRPr lang="en-NP" dirty="0"/>
          </a:p>
        </p:txBody>
      </p:sp>
    </p:spTree>
    <p:extLst>
      <p:ext uri="{BB962C8B-B14F-4D97-AF65-F5344CB8AC3E}">
        <p14:creationId xmlns:p14="http://schemas.microsoft.com/office/powerpoint/2010/main" val="2384741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D1725C5-31A0-535B-FDBF-CA9C7AE87B55}"/>
              </a:ext>
            </a:extLst>
          </p:cNvPr>
          <p:cNvSpPr>
            <a:spLocks noGrp="1"/>
          </p:cNvSpPr>
          <p:nvPr>
            <p:ph idx="1"/>
          </p:nvPr>
        </p:nvSpPr>
        <p:spPr>
          <a:xfrm>
            <a:off x="405114" y="243068"/>
            <a:ext cx="11262167" cy="6400800"/>
          </a:xfrm>
        </p:spPr>
        <p:txBody>
          <a:bodyPr>
            <a:normAutofit fontScale="85000" lnSpcReduction="20000"/>
          </a:bodyPr>
          <a:lstStyle/>
          <a:p>
            <a:pPr marL="0" indent="0" algn="just">
              <a:buNone/>
            </a:pPr>
            <a:r>
              <a:rPr lang="en-NP" b="1" i="1" dirty="0">
                <a:highlight>
                  <a:srgbClr val="FFFF00"/>
                </a:highlight>
              </a:rPr>
              <a:t>Structure LAB Work</a:t>
            </a:r>
          </a:p>
          <a:p>
            <a:pPr marL="514350" indent="-514350" algn="just">
              <a:buFont typeface="+mj-lt"/>
              <a:buAutoNum type="arabicPeriod"/>
            </a:pPr>
            <a:r>
              <a:rPr lang="en-NP" b="1" i="1" dirty="0"/>
              <a:t>Write a C Program  to store a student records like rollNo, name and address using structure variable.</a:t>
            </a:r>
          </a:p>
          <a:p>
            <a:pPr marL="514350" indent="-514350" algn="just">
              <a:buFont typeface="+mj-lt"/>
              <a:buAutoNum type="arabicPeriod"/>
            </a:pPr>
            <a:r>
              <a:rPr lang="en-NP" b="1" i="1" dirty="0"/>
              <a:t>Write a C Program using structure variable to store n students records like rollNo, name and address using array  and loop.</a:t>
            </a:r>
          </a:p>
          <a:p>
            <a:pPr marL="514350" indent="-514350" algn="just">
              <a:buFont typeface="+mj-lt"/>
              <a:buAutoNum type="arabicPeriod"/>
            </a:pPr>
            <a:r>
              <a:rPr lang="en-NP" b="1" i="1" dirty="0"/>
              <a:t>Program to store n students records like name and address using array and loop.  Print</a:t>
            </a:r>
            <a:r>
              <a:rPr lang="en-NP" b="1" i="1" u="sng" dirty="0"/>
              <a:t> the sorted record on the basis of </a:t>
            </a:r>
            <a:r>
              <a:rPr lang="en-NP" b="1" i="1" u="sng" dirty="0">
                <a:highlight>
                  <a:srgbClr val="FFFF00"/>
                </a:highlight>
              </a:rPr>
              <a:t>name.</a:t>
            </a:r>
            <a:r>
              <a:rPr lang="en-NP" b="1" i="1" dirty="0">
                <a:highlight>
                  <a:srgbClr val="FFFF00"/>
                </a:highlight>
              </a:rPr>
              <a:t> </a:t>
            </a:r>
          </a:p>
          <a:p>
            <a:pPr marL="514350" indent="-514350" algn="just">
              <a:buFont typeface="+mj-lt"/>
              <a:buAutoNum type="arabicPeriod"/>
            </a:pPr>
            <a:r>
              <a:rPr lang="en-NP" b="1" i="1" dirty="0"/>
              <a:t>Program to store n students records like name and address using array and loop.  Print</a:t>
            </a:r>
            <a:r>
              <a:rPr lang="en-NP" b="1" i="1" u="sng" dirty="0"/>
              <a:t> the sorted record in ascending order on the basis of </a:t>
            </a:r>
            <a:r>
              <a:rPr lang="en-NP" b="1" i="1" u="sng" dirty="0">
                <a:highlight>
                  <a:srgbClr val="FFFF00"/>
                </a:highlight>
              </a:rPr>
              <a:t>rollno.</a:t>
            </a:r>
            <a:endParaRPr lang="en-NP" b="1" i="1" dirty="0">
              <a:highlight>
                <a:srgbClr val="FFFF00"/>
              </a:highlight>
            </a:endParaRPr>
          </a:p>
          <a:p>
            <a:pPr marL="514350" indent="-514350" algn="just">
              <a:buFont typeface="+mj-lt"/>
              <a:buAutoNum type="arabicPeriod"/>
            </a:pPr>
            <a:r>
              <a:rPr lang="en-NP" b="1" i="1" dirty="0"/>
              <a:t>Program to store n students records like name, address and age using array and  loop. Print the record on the basis of age between 20 and 30.</a:t>
            </a:r>
          </a:p>
          <a:p>
            <a:pPr marL="514350" indent="-514350" algn="just">
              <a:buFont typeface="+mj-lt"/>
              <a:buAutoNum type="arabicPeriod"/>
            </a:pPr>
            <a:r>
              <a:rPr lang="en-US" b="1" i="1" dirty="0"/>
              <a:t>Write a program to calculate sum of two distances and distance is measured in terms of feet and inch using structure.</a:t>
            </a:r>
          </a:p>
          <a:p>
            <a:pPr marL="514350" indent="-514350" algn="just">
              <a:buFont typeface="+mj-lt"/>
              <a:buAutoNum type="arabicPeriod"/>
            </a:pPr>
            <a:r>
              <a:rPr lang="en-NP" b="1" i="1" dirty="0"/>
              <a:t>Write a program that takes roll_no,fname,lname and date of birth and output the information on screen using </a:t>
            </a:r>
            <a:r>
              <a:rPr lang="en-NP" b="1" i="1" dirty="0">
                <a:highlight>
                  <a:srgbClr val="FFFF00"/>
                </a:highlight>
              </a:rPr>
              <a:t>nested structure</a:t>
            </a:r>
          </a:p>
          <a:p>
            <a:pPr marL="514350" indent="-514350">
              <a:buFont typeface="+mj-lt"/>
              <a:buAutoNum type="arabicPeriod"/>
            </a:pPr>
            <a:r>
              <a:rPr lang="en-NP" b="1" i="1" dirty="0"/>
              <a:t>WAP to input n students id, name, address and age. Then search record on the basis of id.</a:t>
            </a:r>
          </a:p>
          <a:p>
            <a:pPr marL="514350" indent="-514350">
              <a:buFont typeface="+mj-lt"/>
              <a:buAutoNum type="arabicPeriod"/>
            </a:pPr>
            <a:r>
              <a:rPr lang="en-NP" b="1" i="1" dirty="0"/>
              <a:t>WAP to input n students id, name, address and age. Then search record on the basis of name.</a:t>
            </a:r>
            <a:br>
              <a:rPr lang="en-NP" b="1" dirty="0">
                <a:solidFill>
                  <a:srgbClr val="FF0000"/>
                </a:solidFill>
              </a:rPr>
            </a:br>
            <a:endParaRPr lang="en-US" b="1" i="1" dirty="0">
              <a:highlight>
                <a:srgbClr val="FFFF00"/>
              </a:highlight>
            </a:endParaRPr>
          </a:p>
          <a:p>
            <a:pPr marL="514350" indent="-514350" algn="just">
              <a:buFont typeface="+mj-lt"/>
              <a:buAutoNum type="arabicPeriod"/>
            </a:pPr>
            <a:endParaRPr lang="en-NP" i="1" dirty="0"/>
          </a:p>
          <a:p>
            <a:pPr marL="514350" indent="-514350" algn="just">
              <a:buFont typeface="+mj-lt"/>
              <a:buAutoNum type="arabicPeriod"/>
            </a:pPr>
            <a:endParaRPr lang="en-NP" i="1" dirty="0"/>
          </a:p>
          <a:p>
            <a:pPr marL="514350" indent="-514350">
              <a:buFont typeface="+mj-lt"/>
              <a:buAutoNum type="arabicPeriod"/>
            </a:pPr>
            <a:endParaRPr lang="en-NP" b="1" i="1" dirty="0"/>
          </a:p>
          <a:p>
            <a:pPr marL="0" indent="0">
              <a:buNone/>
            </a:pPr>
            <a:endParaRPr lang="en-NP" i="1" dirty="0"/>
          </a:p>
          <a:p>
            <a:pPr marL="514350" indent="-514350">
              <a:buFont typeface="+mj-lt"/>
              <a:buAutoNum type="arabicPeriod"/>
            </a:pPr>
            <a:endParaRPr lang="en-NP" i="1" dirty="0"/>
          </a:p>
          <a:p>
            <a:pPr marL="0" indent="0">
              <a:buNone/>
            </a:pPr>
            <a:endParaRPr lang="en-NP" dirty="0"/>
          </a:p>
        </p:txBody>
      </p:sp>
    </p:spTree>
    <p:extLst>
      <p:ext uri="{BB962C8B-B14F-4D97-AF65-F5344CB8AC3E}">
        <p14:creationId xmlns:p14="http://schemas.microsoft.com/office/powerpoint/2010/main" val="1131850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AAE1-76E7-E771-3450-3D88D28C2AE6}"/>
              </a:ext>
            </a:extLst>
          </p:cNvPr>
          <p:cNvSpPr>
            <a:spLocks noGrp="1"/>
          </p:cNvSpPr>
          <p:nvPr>
            <p:ph type="title"/>
          </p:nvPr>
        </p:nvSpPr>
        <p:spPr>
          <a:xfrm>
            <a:off x="-534506" y="-73038"/>
            <a:ext cx="12726506" cy="485633"/>
          </a:xfrm>
        </p:spPr>
        <p:txBody>
          <a:bodyPr>
            <a:normAutofit fontScale="90000"/>
          </a:bodyPr>
          <a:lstStyle/>
          <a:p>
            <a:pPr marL="514350" marR="0" lvl="0" indent="-514350" defTabSz="914400" rtl="0" eaLnBrk="1" fontAlgn="auto" latinLnBrk="0" hangingPunct="1">
              <a:lnSpc>
                <a:spcPct val="90000"/>
              </a:lnSpc>
              <a:spcBef>
                <a:spcPts val="1000"/>
              </a:spcBef>
              <a:spcAft>
                <a:spcPts val="0"/>
              </a:spcAft>
              <a:tabLst/>
              <a:defRPr/>
            </a:pPr>
            <a:br>
              <a:rPr kumimoji="0" lang="en-NP" sz="2200" b="1" i="1" u="none" strike="noStrike" kern="1200" cap="none" spc="0" normalizeH="0" baseline="0" noProof="0" dirty="0">
                <a:ln>
                  <a:noFill/>
                </a:ln>
                <a:solidFill>
                  <a:prstClr val="black"/>
                </a:solidFill>
                <a:effectLst/>
                <a:uLnTx/>
                <a:uFillTx/>
                <a:latin typeface="Aptos" panose="02110004020202020204"/>
                <a:ea typeface="+mn-ea"/>
                <a:cs typeface="+mn-cs"/>
              </a:rPr>
            </a:br>
            <a:br>
              <a:rPr kumimoji="0" lang="en-NP" sz="2200" b="1" i="1"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NP" sz="2200" b="1" i="1" u="none" strike="noStrike" kern="1200" cap="none" spc="0" normalizeH="0" baseline="0" noProof="0" dirty="0">
                <a:ln>
                  <a:noFill/>
                </a:ln>
                <a:solidFill>
                  <a:srgbClr val="FF0000"/>
                </a:solidFill>
                <a:effectLst/>
                <a:uLnTx/>
                <a:uFillTx/>
                <a:latin typeface="Aptos" panose="02110004020202020204"/>
                <a:ea typeface="+mn-ea"/>
                <a:cs typeface="+mn-cs"/>
              </a:rPr>
              <a:t>1. Write a C Program  to store a student records like rollNo, name and address using structure variable.</a:t>
            </a:r>
            <a:br>
              <a:rPr kumimoji="0" lang="en-NP" sz="2800" b="1" i="1" u="none" strike="noStrike" kern="1200" cap="none" spc="0" normalizeH="0" baseline="0" noProof="0" dirty="0">
                <a:ln>
                  <a:noFill/>
                </a:ln>
                <a:solidFill>
                  <a:prstClr val="black"/>
                </a:solidFill>
                <a:effectLst/>
                <a:uLnTx/>
                <a:uFillTx/>
                <a:latin typeface="Aptos" panose="02110004020202020204"/>
                <a:ea typeface="+mn-ea"/>
                <a:cs typeface="+mn-cs"/>
              </a:rPr>
            </a:br>
            <a:endParaRPr lang="en-NP" b="1" dirty="0"/>
          </a:p>
        </p:txBody>
      </p:sp>
      <p:sp>
        <p:nvSpPr>
          <p:cNvPr id="3" name="Content Placeholder 2">
            <a:extLst>
              <a:ext uri="{FF2B5EF4-FFF2-40B4-BE49-F238E27FC236}">
                <a16:creationId xmlns:a16="http://schemas.microsoft.com/office/drawing/2014/main" id="{9A2E7CBA-11E1-44B8-8EDA-E1DAEDB080F6}"/>
              </a:ext>
            </a:extLst>
          </p:cNvPr>
          <p:cNvSpPr>
            <a:spLocks noGrp="1"/>
          </p:cNvSpPr>
          <p:nvPr>
            <p:ph sz="half" idx="1"/>
          </p:nvPr>
        </p:nvSpPr>
        <p:spPr>
          <a:xfrm>
            <a:off x="838200" y="681038"/>
            <a:ext cx="5359758" cy="6084364"/>
          </a:xfrm>
        </p:spPr>
        <p:txBody>
          <a:bodyPr>
            <a:normAutofit fontScale="70000" lnSpcReduction="20000"/>
          </a:bodyPr>
          <a:lstStyle/>
          <a:p>
            <a:pPr marL="0" indent="0">
              <a:buNone/>
            </a:pPr>
            <a:r>
              <a:rPr lang="en-US" b="1" dirty="0"/>
              <a:t>#include&lt;</a:t>
            </a:r>
            <a:r>
              <a:rPr lang="en-US" b="1" dirty="0" err="1"/>
              <a:t>stdio.h</a:t>
            </a:r>
            <a:r>
              <a:rPr lang="en-US" b="1" dirty="0"/>
              <a:t>&gt; </a:t>
            </a:r>
          </a:p>
          <a:p>
            <a:pPr marL="0" indent="0">
              <a:buNone/>
            </a:pPr>
            <a:r>
              <a:rPr lang="en-US" b="1" dirty="0"/>
              <a:t>struct student </a:t>
            </a:r>
          </a:p>
          <a:p>
            <a:pPr marL="0" indent="0">
              <a:buNone/>
            </a:pPr>
            <a:r>
              <a:rPr lang="en-US" b="1" dirty="0"/>
              <a:t>{ </a:t>
            </a:r>
          </a:p>
          <a:p>
            <a:pPr marL="0" indent="0">
              <a:buNone/>
            </a:pPr>
            <a:r>
              <a:rPr lang="en-US" b="1" dirty="0"/>
              <a:t>int </a:t>
            </a:r>
            <a:r>
              <a:rPr lang="en-US" b="1" dirty="0" err="1"/>
              <a:t>rollNo</a:t>
            </a:r>
            <a:r>
              <a:rPr lang="en-US" b="1" dirty="0"/>
              <a:t>; </a:t>
            </a:r>
          </a:p>
          <a:p>
            <a:pPr marL="0" indent="0">
              <a:buNone/>
            </a:pPr>
            <a:r>
              <a:rPr lang="en-US" b="1" dirty="0"/>
              <a:t>char name[50]; </a:t>
            </a:r>
          </a:p>
          <a:p>
            <a:pPr marL="0" indent="0">
              <a:buNone/>
            </a:pPr>
            <a:r>
              <a:rPr lang="en-US" b="1" dirty="0"/>
              <a:t>char </a:t>
            </a:r>
            <a:r>
              <a:rPr lang="en-US" b="1" dirty="0" err="1"/>
              <a:t>adr</a:t>
            </a:r>
            <a:r>
              <a:rPr lang="en-US" b="1" dirty="0"/>
              <a:t>[60]; </a:t>
            </a:r>
          </a:p>
          <a:p>
            <a:pPr marL="0" indent="0">
              <a:buNone/>
            </a:pPr>
            <a:r>
              <a:rPr lang="en-US" b="1" dirty="0"/>
              <a:t>}; </a:t>
            </a:r>
          </a:p>
          <a:p>
            <a:pPr marL="0" indent="0">
              <a:buNone/>
            </a:pPr>
            <a:r>
              <a:rPr lang="en-US" b="1" dirty="0"/>
              <a:t>struct student </a:t>
            </a:r>
            <a:r>
              <a:rPr lang="en-US" b="1" dirty="0" err="1"/>
              <a:t>st</a:t>
            </a:r>
            <a:r>
              <a:rPr lang="en-US" b="1" dirty="0"/>
              <a:t>; </a:t>
            </a:r>
          </a:p>
          <a:p>
            <a:pPr marL="0" indent="0">
              <a:buNone/>
            </a:pPr>
            <a:r>
              <a:rPr lang="en-US" b="1" dirty="0"/>
              <a:t>int main() </a:t>
            </a:r>
          </a:p>
          <a:p>
            <a:pPr marL="0" indent="0">
              <a:buNone/>
            </a:pPr>
            <a:r>
              <a:rPr lang="en-US" b="1" dirty="0"/>
              <a:t>{                               </a:t>
            </a:r>
            <a:r>
              <a:rPr lang="en-US" b="1" dirty="0">
                <a:highlight>
                  <a:srgbClr val="FFFF00"/>
                </a:highlight>
              </a:rPr>
              <a:t>//code to input to structure </a:t>
            </a:r>
          </a:p>
          <a:p>
            <a:pPr marL="0" indent="0">
              <a:buNone/>
            </a:pPr>
            <a:r>
              <a:rPr lang="en-US" b="1" dirty="0" err="1"/>
              <a:t>printf</a:t>
            </a:r>
            <a:r>
              <a:rPr lang="en-US" b="1" dirty="0"/>
              <a:t>("\</a:t>
            </a:r>
            <a:r>
              <a:rPr lang="en-US" b="1" dirty="0" err="1"/>
              <a:t>nEnter</a:t>
            </a:r>
            <a:r>
              <a:rPr lang="en-US" b="1" dirty="0"/>
              <a:t> the roll no of the student: "); </a:t>
            </a:r>
          </a:p>
          <a:p>
            <a:pPr marL="0" indent="0">
              <a:buNone/>
            </a:pPr>
            <a:r>
              <a:rPr lang="en-US" b="1" dirty="0" err="1"/>
              <a:t>scanf</a:t>
            </a:r>
            <a:r>
              <a:rPr lang="en-US" b="1" dirty="0"/>
              <a:t>("%d", &amp;</a:t>
            </a:r>
            <a:r>
              <a:rPr lang="en-US" b="1" dirty="0" err="1"/>
              <a:t>st.rollNo</a:t>
            </a:r>
            <a:r>
              <a:rPr lang="en-US" b="1" dirty="0"/>
              <a:t>); </a:t>
            </a:r>
          </a:p>
          <a:p>
            <a:pPr marL="0" indent="0">
              <a:buNone/>
            </a:pPr>
            <a:r>
              <a:rPr lang="en-US" b="1" dirty="0" err="1"/>
              <a:t>printf</a:t>
            </a:r>
            <a:r>
              <a:rPr lang="en-US" b="1" dirty="0"/>
              <a:t>("\</a:t>
            </a:r>
            <a:r>
              <a:rPr lang="en-US" b="1" dirty="0" err="1"/>
              <a:t>nEnter</a:t>
            </a:r>
            <a:r>
              <a:rPr lang="en-US" b="1" dirty="0"/>
              <a:t> the name of the student: "); </a:t>
            </a:r>
          </a:p>
          <a:p>
            <a:pPr marL="0" indent="0">
              <a:buNone/>
            </a:pPr>
            <a:r>
              <a:rPr lang="en-US" b="1" dirty="0" err="1"/>
              <a:t>scanf</a:t>
            </a:r>
            <a:r>
              <a:rPr lang="en-US" b="1" dirty="0"/>
              <a:t>("%s", </a:t>
            </a:r>
            <a:r>
              <a:rPr lang="en-US" b="1" dirty="0" err="1"/>
              <a:t>st.name</a:t>
            </a:r>
            <a:r>
              <a:rPr lang="en-US" b="1" dirty="0"/>
              <a:t>); </a:t>
            </a:r>
          </a:p>
          <a:p>
            <a:pPr marL="0" indent="0">
              <a:buNone/>
            </a:pPr>
            <a:r>
              <a:rPr lang="en-US" b="1" dirty="0" err="1"/>
              <a:t>printf</a:t>
            </a:r>
            <a:r>
              <a:rPr lang="en-US" b="1" dirty="0"/>
              <a:t>("\</a:t>
            </a:r>
            <a:r>
              <a:rPr lang="en-US" b="1" dirty="0" err="1"/>
              <a:t>nEnter</a:t>
            </a:r>
            <a:r>
              <a:rPr lang="en-US" b="1" dirty="0"/>
              <a:t> the address of the student: "); </a:t>
            </a:r>
          </a:p>
          <a:p>
            <a:pPr marL="0" indent="0">
              <a:buNone/>
            </a:pPr>
            <a:r>
              <a:rPr lang="en-US" b="1" dirty="0" err="1"/>
              <a:t>scanf</a:t>
            </a:r>
            <a:r>
              <a:rPr lang="en-US" b="1" dirty="0"/>
              <a:t>("%s", </a:t>
            </a:r>
            <a:r>
              <a:rPr lang="en-US" b="1" dirty="0" err="1"/>
              <a:t>st.adr</a:t>
            </a:r>
            <a:r>
              <a:rPr lang="en-US" b="1" dirty="0"/>
              <a:t>); </a:t>
            </a:r>
          </a:p>
          <a:p>
            <a:pPr marL="0" indent="0">
              <a:buNone/>
            </a:pPr>
            <a:endParaRPr lang="en-NP" b="1" dirty="0"/>
          </a:p>
        </p:txBody>
      </p:sp>
      <p:sp>
        <p:nvSpPr>
          <p:cNvPr id="8" name="Content Placeholder 7">
            <a:extLst>
              <a:ext uri="{FF2B5EF4-FFF2-40B4-BE49-F238E27FC236}">
                <a16:creationId xmlns:a16="http://schemas.microsoft.com/office/drawing/2014/main" id="{A79FE98D-3755-DE2E-AEC0-090884284841}"/>
              </a:ext>
            </a:extLst>
          </p:cNvPr>
          <p:cNvSpPr>
            <a:spLocks noGrp="1"/>
          </p:cNvSpPr>
          <p:nvPr>
            <p:ph sz="half" idx="2"/>
          </p:nvPr>
        </p:nvSpPr>
        <p:spPr>
          <a:xfrm>
            <a:off x="5199017" y="386818"/>
            <a:ext cx="6992983" cy="6084364"/>
          </a:xfrm>
        </p:spPr>
        <p:txBody>
          <a:bodyPr>
            <a:normAutofit fontScale="70000" lnSpcReduction="20000"/>
          </a:bodyPr>
          <a:lstStyle/>
          <a:p>
            <a:pPr marL="0" indent="0">
              <a:lnSpc>
                <a:spcPct val="120000"/>
              </a:lnSpc>
              <a:spcBef>
                <a:spcPts val="0"/>
              </a:spcBef>
              <a:buNone/>
            </a:pPr>
            <a:r>
              <a:rPr lang="en-US" b="1" dirty="0">
                <a:highlight>
                  <a:srgbClr val="FFFF00"/>
                </a:highlight>
              </a:rPr>
              <a:t>//code to display after sorting </a:t>
            </a:r>
          </a:p>
          <a:p>
            <a:pPr marL="0" indent="0">
              <a:lnSpc>
                <a:spcPct val="120000"/>
              </a:lnSpc>
              <a:spcBef>
                <a:spcPts val="0"/>
              </a:spcBef>
              <a:buNone/>
            </a:pPr>
            <a:r>
              <a:rPr lang="en-US" b="1" dirty="0" err="1"/>
              <a:t>printf</a:t>
            </a:r>
            <a:r>
              <a:rPr lang="en-US" b="1" dirty="0"/>
              <a:t>("\n\</a:t>
            </a:r>
            <a:r>
              <a:rPr lang="en-US" b="1" dirty="0" err="1"/>
              <a:t>nThe</a:t>
            </a:r>
            <a:r>
              <a:rPr lang="en-US" b="1" dirty="0"/>
              <a:t> record of the </a:t>
            </a:r>
            <a:r>
              <a:rPr lang="en-US" b="1" dirty="0" err="1"/>
              <a:t>sutdent</a:t>
            </a:r>
            <a:r>
              <a:rPr lang="en-US" b="1" dirty="0"/>
              <a:t>: "); </a:t>
            </a:r>
          </a:p>
          <a:p>
            <a:pPr marL="0" indent="0">
              <a:lnSpc>
                <a:spcPct val="120000"/>
              </a:lnSpc>
              <a:spcBef>
                <a:spcPts val="0"/>
              </a:spcBef>
              <a:buNone/>
            </a:pPr>
            <a:r>
              <a:rPr lang="en-US" b="1" dirty="0" err="1"/>
              <a:t>printf</a:t>
            </a:r>
            <a:r>
              <a:rPr lang="en-US" b="1" dirty="0"/>
              <a:t>("\</a:t>
            </a:r>
            <a:r>
              <a:rPr lang="en-US" b="1" dirty="0" err="1"/>
              <a:t>nRoll</a:t>
            </a:r>
            <a:r>
              <a:rPr lang="en-US" b="1" dirty="0"/>
              <a:t> No\t\</a:t>
            </a:r>
            <a:r>
              <a:rPr lang="en-US" b="1" dirty="0" err="1"/>
              <a:t>tName</a:t>
            </a:r>
            <a:r>
              <a:rPr lang="en-US" b="1" dirty="0"/>
              <a:t> of Student\t\</a:t>
            </a:r>
            <a:r>
              <a:rPr lang="en-US" b="1" dirty="0" err="1"/>
              <a:t>tAddress</a:t>
            </a:r>
            <a:r>
              <a:rPr lang="en-US" b="1" dirty="0"/>
              <a:t>"); </a:t>
            </a:r>
          </a:p>
          <a:p>
            <a:pPr marL="0" indent="0">
              <a:lnSpc>
                <a:spcPct val="120000"/>
              </a:lnSpc>
              <a:spcBef>
                <a:spcPts val="0"/>
              </a:spcBef>
              <a:buNone/>
            </a:pPr>
            <a:r>
              <a:rPr lang="en-US" b="1" dirty="0" err="1"/>
              <a:t>printf</a:t>
            </a:r>
            <a:r>
              <a:rPr lang="en-US" b="1" dirty="0"/>
              <a:t>("\n\</a:t>
            </a:r>
            <a:r>
              <a:rPr lang="en-US" b="1" dirty="0" err="1"/>
              <a:t>n%d</a:t>
            </a:r>
            <a:r>
              <a:rPr lang="en-US" b="1" dirty="0"/>
              <a:t> \t\t\</a:t>
            </a:r>
            <a:r>
              <a:rPr lang="en-US" b="1" dirty="0" err="1"/>
              <a:t>t%s</a:t>
            </a:r>
            <a:r>
              <a:rPr lang="en-US" b="1" dirty="0"/>
              <a:t>\t\t\</a:t>
            </a:r>
            <a:r>
              <a:rPr lang="en-US" b="1" dirty="0" err="1"/>
              <a:t>t%s</a:t>
            </a:r>
            <a:r>
              <a:rPr lang="en-US" b="1" dirty="0"/>
              <a:t>",</a:t>
            </a:r>
            <a:r>
              <a:rPr lang="en-US" b="1" dirty="0" err="1"/>
              <a:t>st.rollNo</a:t>
            </a:r>
            <a:r>
              <a:rPr lang="en-US" b="1" dirty="0"/>
              <a:t>, </a:t>
            </a:r>
            <a:r>
              <a:rPr lang="en-US" b="1" dirty="0" err="1"/>
              <a:t>st.name</a:t>
            </a:r>
            <a:r>
              <a:rPr lang="en-US" b="1" dirty="0"/>
              <a:t>, </a:t>
            </a:r>
            <a:r>
              <a:rPr lang="en-US" b="1" dirty="0" err="1"/>
              <a:t>st.adr</a:t>
            </a:r>
            <a:r>
              <a:rPr lang="en-US" b="1" dirty="0"/>
              <a:t>); </a:t>
            </a:r>
          </a:p>
          <a:p>
            <a:pPr marL="0" indent="0">
              <a:lnSpc>
                <a:spcPct val="120000"/>
              </a:lnSpc>
              <a:spcBef>
                <a:spcPts val="0"/>
              </a:spcBef>
              <a:buNone/>
            </a:pPr>
            <a:r>
              <a:rPr lang="en-US" b="1" dirty="0"/>
              <a:t>return 0; </a:t>
            </a:r>
          </a:p>
          <a:p>
            <a:pPr marL="0" indent="0">
              <a:lnSpc>
                <a:spcPct val="120000"/>
              </a:lnSpc>
              <a:spcBef>
                <a:spcPts val="0"/>
              </a:spcBef>
              <a:buNone/>
            </a:pPr>
            <a:r>
              <a:rPr lang="en-US" b="1" dirty="0"/>
              <a:t>} </a:t>
            </a:r>
          </a:p>
          <a:p>
            <a:pPr marL="0" indent="0">
              <a:lnSpc>
                <a:spcPct val="120000"/>
              </a:lnSpc>
              <a:spcBef>
                <a:spcPts val="0"/>
              </a:spcBef>
              <a:buNone/>
            </a:pPr>
            <a:r>
              <a:rPr lang="en-NP" b="1" dirty="0"/>
              <a:t>			</a:t>
            </a:r>
            <a:r>
              <a:rPr lang="en-US" b="1" dirty="0">
                <a:highlight>
                  <a:srgbClr val="FFFF00"/>
                </a:highlight>
              </a:rPr>
              <a:t>student</a:t>
            </a:r>
          </a:p>
          <a:p>
            <a:pPr marL="0" indent="0">
              <a:lnSpc>
                <a:spcPct val="120000"/>
              </a:lnSpc>
              <a:spcBef>
                <a:spcPts val="0"/>
              </a:spcBef>
              <a:buNone/>
            </a:pPr>
            <a:endParaRPr lang="en-US" b="1" dirty="0"/>
          </a:p>
        </p:txBody>
      </p:sp>
      <p:pic>
        <p:nvPicPr>
          <p:cNvPr id="11" name="Picture 10">
            <a:extLst>
              <a:ext uri="{FF2B5EF4-FFF2-40B4-BE49-F238E27FC236}">
                <a16:creationId xmlns:a16="http://schemas.microsoft.com/office/drawing/2014/main" id="{3C753F24-9038-CFA6-2FAE-2CDA60EFEF36}"/>
              </a:ext>
            </a:extLst>
          </p:cNvPr>
          <p:cNvPicPr>
            <a:picLocks noChangeAspect="1"/>
          </p:cNvPicPr>
          <p:nvPr/>
        </p:nvPicPr>
        <p:blipFill>
          <a:blip r:embed="rId3"/>
          <a:stretch>
            <a:fillRect/>
          </a:stretch>
        </p:blipFill>
        <p:spPr>
          <a:xfrm>
            <a:off x="6197958" y="4740917"/>
            <a:ext cx="5489370" cy="1998707"/>
          </a:xfrm>
          <a:prstGeom prst="rect">
            <a:avLst/>
          </a:prstGeom>
        </p:spPr>
      </p:pic>
      <p:graphicFrame>
        <p:nvGraphicFramePr>
          <p:cNvPr id="5" name="Table 4">
            <a:extLst>
              <a:ext uri="{FF2B5EF4-FFF2-40B4-BE49-F238E27FC236}">
                <a16:creationId xmlns:a16="http://schemas.microsoft.com/office/drawing/2014/main" id="{836B6454-3A9C-71DF-F544-FD3A0C9E26F0}"/>
              </a:ext>
            </a:extLst>
          </p:cNvPr>
          <p:cNvGraphicFramePr>
            <a:graphicFrameLocks noGrp="1"/>
          </p:cNvGraphicFramePr>
          <p:nvPr>
            <p:extLst>
              <p:ext uri="{D42A27DB-BD31-4B8C-83A1-F6EECF244321}">
                <p14:modId xmlns:p14="http://schemas.microsoft.com/office/powerpoint/2010/main" val="1314228038"/>
              </p:ext>
            </p:extLst>
          </p:nvPr>
        </p:nvGraphicFramePr>
        <p:xfrm>
          <a:off x="6197958" y="2808820"/>
          <a:ext cx="5689241" cy="1828800"/>
        </p:xfrm>
        <a:graphic>
          <a:graphicData uri="http://schemas.openxmlformats.org/drawingml/2006/table">
            <a:tbl>
              <a:tblPr firstRow="1" bandRow="1">
                <a:tableStyleId>{5940675A-B579-460E-94D1-54222C63F5DA}</a:tableStyleId>
              </a:tblPr>
              <a:tblGrid>
                <a:gridCol w="1481524">
                  <a:extLst>
                    <a:ext uri="{9D8B030D-6E8A-4147-A177-3AD203B41FA5}">
                      <a16:colId xmlns:a16="http://schemas.microsoft.com/office/drawing/2014/main" val="572344113"/>
                    </a:ext>
                  </a:extLst>
                </a:gridCol>
                <a:gridCol w="383831">
                  <a:extLst>
                    <a:ext uri="{9D8B030D-6E8A-4147-A177-3AD203B41FA5}">
                      <a16:colId xmlns:a16="http://schemas.microsoft.com/office/drawing/2014/main" val="3431798763"/>
                    </a:ext>
                  </a:extLst>
                </a:gridCol>
                <a:gridCol w="493868">
                  <a:extLst>
                    <a:ext uri="{9D8B030D-6E8A-4147-A177-3AD203B41FA5}">
                      <a16:colId xmlns:a16="http://schemas.microsoft.com/office/drawing/2014/main" val="2587928260"/>
                    </a:ext>
                  </a:extLst>
                </a:gridCol>
                <a:gridCol w="533912">
                  <a:extLst>
                    <a:ext uri="{9D8B030D-6E8A-4147-A177-3AD203B41FA5}">
                      <a16:colId xmlns:a16="http://schemas.microsoft.com/office/drawing/2014/main" val="1108368050"/>
                    </a:ext>
                  </a:extLst>
                </a:gridCol>
                <a:gridCol w="520564">
                  <a:extLst>
                    <a:ext uri="{9D8B030D-6E8A-4147-A177-3AD203B41FA5}">
                      <a16:colId xmlns:a16="http://schemas.microsoft.com/office/drawing/2014/main" val="2506898600"/>
                    </a:ext>
                  </a:extLst>
                </a:gridCol>
                <a:gridCol w="493868">
                  <a:extLst>
                    <a:ext uri="{9D8B030D-6E8A-4147-A177-3AD203B41FA5}">
                      <a16:colId xmlns:a16="http://schemas.microsoft.com/office/drawing/2014/main" val="1566616541"/>
                    </a:ext>
                  </a:extLst>
                </a:gridCol>
                <a:gridCol w="520564">
                  <a:extLst>
                    <a:ext uri="{9D8B030D-6E8A-4147-A177-3AD203B41FA5}">
                      <a16:colId xmlns:a16="http://schemas.microsoft.com/office/drawing/2014/main" val="643360668"/>
                    </a:ext>
                  </a:extLst>
                </a:gridCol>
                <a:gridCol w="440478">
                  <a:extLst>
                    <a:ext uri="{9D8B030D-6E8A-4147-A177-3AD203B41FA5}">
                      <a16:colId xmlns:a16="http://schemas.microsoft.com/office/drawing/2014/main" val="562860999"/>
                    </a:ext>
                  </a:extLst>
                </a:gridCol>
                <a:gridCol w="440478">
                  <a:extLst>
                    <a:ext uri="{9D8B030D-6E8A-4147-A177-3AD203B41FA5}">
                      <a16:colId xmlns:a16="http://schemas.microsoft.com/office/drawing/2014/main" val="2603453691"/>
                    </a:ext>
                  </a:extLst>
                </a:gridCol>
                <a:gridCol w="380154">
                  <a:extLst>
                    <a:ext uri="{9D8B030D-6E8A-4147-A177-3AD203B41FA5}">
                      <a16:colId xmlns:a16="http://schemas.microsoft.com/office/drawing/2014/main" val="1404394936"/>
                    </a:ext>
                  </a:extLst>
                </a:gridCol>
              </a:tblGrid>
              <a:tr h="289701">
                <a:tc>
                  <a:txBody>
                    <a:bodyPr/>
                    <a:lstStyle/>
                    <a:p>
                      <a:r>
                        <a:rPr lang="en-US" b="1" dirty="0"/>
                        <a:t>s</a:t>
                      </a:r>
                      <a:r>
                        <a:rPr lang="en-NP" b="1" dirty="0"/>
                        <a:t>t.rollNo</a:t>
                      </a:r>
                    </a:p>
                  </a:txBody>
                  <a:tcPr/>
                </a:tc>
                <a:tc gridSpan="9">
                  <a:txBody>
                    <a:bodyPr/>
                    <a:lstStyle/>
                    <a:p>
                      <a:r>
                        <a:rPr lang="en-NP" b="1" dirty="0"/>
                        <a:t>2</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28970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highlight>
                          <a:srgbClr val="00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highlight>
                            <a:srgbClr val="00FF00"/>
                          </a:highlight>
                        </a:rPr>
                        <a:t>s</a:t>
                      </a:r>
                      <a:r>
                        <a:rPr lang="en-NP" b="1" dirty="0">
                          <a:highlight>
                            <a:srgbClr val="00FF00"/>
                          </a:highlight>
                        </a:rPr>
                        <a:t>t.name[50]</a:t>
                      </a:r>
                    </a:p>
                  </a:txBody>
                  <a:tcPr/>
                </a:tc>
                <a:tc>
                  <a:txBody>
                    <a:bodyPr/>
                    <a:lstStyle/>
                    <a:p>
                      <a:r>
                        <a:rPr lang="en-NP" b="1" dirty="0">
                          <a:highlight>
                            <a:srgbClr val="00FF00"/>
                          </a:highlight>
                        </a:rPr>
                        <a:t>0</a:t>
                      </a:r>
                    </a:p>
                  </a:txBody>
                  <a:tcPr/>
                </a:tc>
                <a:tc>
                  <a:txBody>
                    <a:bodyPr/>
                    <a:lstStyle/>
                    <a:p>
                      <a:r>
                        <a:rPr lang="en-NP" b="1" dirty="0">
                          <a:highlight>
                            <a:srgbClr val="00FF00"/>
                          </a:highlight>
                        </a:rPr>
                        <a:t>1</a:t>
                      </a:r>
                    </a:p>
                  </a:txBody>
                  <a:tcPr/>
                </a:tc>
                <a:tc>
                  <a:txBody>
                    <a:bodyPr/>
                    <a:lstStyle/>
                    <a:p>
                      <a:r>
                        <a:rPr lang="en-NP" b="1" dirty="0">
                          <a:highlight>
                            <a:srgbClr val="00FF00"/>
                          </a:highlight>
                        </a:rPr>
                        <a:t>2</a:t>
                      </a:r>
                    </a:p>
                  </a:txBody>
                  <a:tcPr/>
                </a:tc>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gridSpan="3">
                  <a:txBody>
                    <a:bodyPr/>
                    <a:lstStyle/>
                    <a:p>
                      <a:r>
                        <a:rPr lang="en-NP"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289701">
                <a:tc vMerge="1">
                  <a:txBody>
                    <a:bodyPr/>
                    <a:lstStyle/>
                    <a:p>
                      <a:endParaRPr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a:p>
                  </a:txBody>
                  <a:tcPr/>
                </a:tc>
                <a:tc>
                  <a:txBody>
                    <a:bodyPr/>
                    <a:lstStyle/>
                    <a:p>
                      <a:endParaRPr lang="en-NP" b="1" dirty="0"/>
                    </a:p>
                  </a:txBody>
                  <a:tcPr/>
                </a:tc>
                <a:tc>
                  <a:txBody>
                    <a:bodyPr/>
                    <a:lstStyle/>
                    <a:p>
                      <a:endParaRPr lang="en-NP" b="1" dirty="0"/>
                    </a:p>
                  </a:txBody>
                  <a:tcPr/>
                </a:tc>
                <a:tc>
                  <a:txBody>
                    <a:bodyPr/>
                    <a:lstStyle/>
                    <a:p>
                      <a:endParaRPr lang="en-NP" b="1"/>
                    </a:p>
                  </a:txBody>
                  <a:tcPr/>
                </a:tc>
                <a:tc>
                  <a:txBody>
                    <a:bodyPr/>
                    <a:lstStyle/>
                    <a:p>
                      <a:endParaRPr lang="en-NP" b="1"/>
                    </a:p>
                  </a:txBody>
                  <a:tcPr/>
                </a:tc>
                <a:extLst>
                  <a:ext uri="{0D108BD9-81ED-4DB2-BD59-A6C34878D82A}">
                    <a16:rowId xmlns:a16="http://schemas.microsoft.com/office/drawing/2014/main" val="939781137"/>
                  </a:ext>
                </a:extLst>
              </a:tr>
              <a:tr h="289701">
                <a:tc rowSpan="2">
                  <a:txBody>
                    <a:bodyPr/>
                    <a:lstStyle/>
                    <a:p>
                      <a:endParaRPr lang="en-US" b="1" dirty="0">
                        <a:highlight>
                          <a:srgbClr val="00FFFF"/>
                        </a:highlight>
                      </a:endParaRPr>
                    </a:p>
                    <a:p>
                      <a:r>
                        <a:rPr lang="en-US" b="1" dirty="0">
                          <a:highlight>
                            <a:srgbClr val="00FFFF"/>
                          </a:highlight>
                        </a:rPr>
                        <a:t> </a:t>
                      </a:r>
                      <a:r>
                        <a:rPr lang="en-US" b="1" dirty="0" err="1">
                          <a:highlight>
                            <a:srgbClr val="00FFFF"/>
                          </a:highlight>
                        </a:rPr>
                        <a:t>st.a</a:t>
                      </a:r>
                      <a:r>
                        <a:rPr lang="en-NP" b="1" dirty="0">
                          <a:highlight>
                            <a:srgbClr val="00FFFF"/>
                          </a:highlight>
                        </a:rPr>
                        <a:t>dr[60]</a:t>
                      </a:r>
                    </a:p>
                  </a:txBody>
                  <a:tcPr/>
                </a:tc>
                <a:tc>
                  <a:txBody>
                    <a:bodyPr/>
                    <a:lstStyle/>
                    <a:p>
                      <a:r>
                        <a:rPr lang="en-NP" b="1" dirty="0">
                          <a:highlight>
                            <a:srgbClr val="00FFFF"/>
                          </a:highlight>
                        </a:rPr>
                        <a:t>0</a:t>
                      </a:r>
                    </a:p>
                  </a:txBody>
                  <a:tcPr/>
                </a:tc>
                <a:tc>
                  <a:txBody>
                    <a:bodyPr/>
                    <a:lstStyle/>
                    <a:p>
                      <a:r>
                        <a:rPr lang="en-NP" b="1" dirty="0">
                          <a:highlight>
                            <a:srgbClr val="00FFFF"/>
                          </a:highlight>
                        </a:rPr>
                        <a:t>1</a:t>
                      </a:r>
                    </a:p>
                  </a:txBody>
                  <a:tcPr/>
                </a:tc>
                <a:tc>
                  <a:txBody>
                    <a:bodyPr/>
                    <a:lstStyle/>
                    <a:p>
                      <a:r>
                        <a:rPr lang="en-NP" b="1" dirty="0">
                          <a:highlight>
                            <a:srgbClr val="00FFFF"/>
                          </a:highlight>
                        </a:rPr>
                        <a:t>2</a:t>
                      </a:r>
                    </a:p>
                  </a:txBody>
                  <a:tcPr/>
                </a:tc>
                <a:tc>
                  <a:txBody>
                    <a:bodyPr/>
                    <a:lstStyle/>
                    <a:p>
                      <a:r>
                        <a:rPr lang="en-NP" b="1" dirty="0">
                          <a:highlight>
                            <a:srgbClr val="00FFFF"/>
                          </a:highlight>
                        </a:rPr>
                        <a:t>3</a:t>
                      </a:r>
                    </a:p>
                  </a:txBody>
                  <a:tcPr/>
                </a:tc>
                <a:tc>
                  <a:txBody>
                    <a:bodyPr/>
                    <a:lstStyle/>
                    <a:p>
                      <a:r>
                        <a:rPr lang="en-NP" b="1" dirty="0">
                          <a:highlight>
                            <a:srgbClr val="00FFFF"/>
                          </a:highlight>
                        </a:rPr>
                        <a:t>4</a:t>
                      </a:r>
                    </a:p>
                  </a:txBody>
                  <a:tcPr/>
                </a:tc>
                <a:tc>
                  <a:txBody>
                    <a:bodyPr/>
                    <a:lstStyle/>
                    <a:p>
                      <a:r>
                        <a:rPr lang="en-NP" b="1" dirty="0">
                          <a:highlight>
                            <a:srgbClr val="00FFFF"/>
                          </a:highlight>
                        </a:rPr>
                        <a:t>5</a:t>
                      </a:r>
                    </a:p>
                  </a:txBody>
                  <a:tcPr/>
                </a:tc>
                <a:tc gridSpan="3">
                  <a:txBody>
                    <a:bodyPr/>
                    <a:lstStyle/>
                    <a:p>
                      <a:r>
                        <a:rPr lang="en-NP" b="1" dirty="0">
                          <a:highlight>
                            <a:srgbClr val="00FFFF"/>
                          </a:highlight>
                        </a:rPr>
                        <a:t>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289701">
                <a:tc vMerge="1">
                  <a:txBody>
                    <a:bodyPr/>
                    <a:lstStyle/>
                    <a:p>
                      <a:endParaRPr lang="en-NP" dirty="0"/>
                    </a:p>
                  </a:txBody>
                  <a:tcPr/>
                </a:tc>
                <a:tc>
                  <a:txBody>
                    <a:bodyPr/>
                    <a:lstStyle/>
                    <a:p>
                      <a:r>
                        <a:rPr lang="en-NP" b="1" dirty="0"/>
                        <a:t>k</a:t>
                      </a:r>
                    </a:p>
                  </a:txBody>
                  <a:tcPr/>
                </a:tc>
                <a:tc>
                  <a:txBody>
                    <a:bodyPr/>
                    <a:lstStyle/>
                    <a:p>
                      <a:r>
                        <a:rPr lang="en-NP" b="1" dirty="0"/>
                        <a:t>t</a:t>
                      </a:r>
                    </a:p>
                  </a:txBody>
                  <a:tcPr/>
                </a:tc>
                <a:tc>
                  <a:txBody>
                    <a:bodyPr/>
                    <a:lstStyle/>
                    <a:p>
                      <a:r>
                        <a:rPr lang="en-NP" b="1" dirty="0"/>
                        <a:t>m</a:t>
                      </a:r>
                    </a:p>
                  </a:txBody>
                  <a:tcPr/>
                </a:tc>
                <a:tc>
                  <a:txBody>
                    <a:bodyPr/>
                    <a:lstStyle/>
                    <a:p>
                      <a:endParaRPr lang="en-NP" b="1" dirty="0"/>
                    </a:p>
                  </a:txBody>
                  <a:tcPr/>
                </a:tc>
                <a:tc>
                  <a:txBody>
                    <a:bodyPr/>
                    <a:lstStyle/>
                    <a:p>
                      <a:endParaRPr lang="en-NP" b="1"/>
                    </a:p>
                  </a:txBody>
                  <a:tcPr/>
                </a:tc>
                <a:tc>
                  <a:txBody>
                    <a:bodyPr/>
                    <a:lstStyle/>
                    <a:p>
                      <a:endParaRPr lang="en-NP" b="1"/>
                    </a:p>
                  </a:txBody>
                  <a:tcPr/>
                </a:tc>
                <a:tc>
                  <a:txBody>
                    <a:bodyPr/>
                    <a:lstStyle/>
                    <a:p>
                      <a:endParaRPr lang="en-NP" b="1"/>
                    </a:p>
                  </a:txBody>
                  <a:tcPr/>
                </a:tc>
                <a:tc>
                  <a:txBody>
                    <a:bodyPr/>
                    <a:lstStyle/>
                    <a:p>
                      <a:endParaRPr lang="en-NP" b="1"/>
                    </a:p>
                  </a:txBody>
                  <a:tcPr/>
                </a:tc>
                <a:tc>
                  <a:txBody>
                    <a:bodyPr/>
                    <a:lstStyle/>
                    <a:p>
                      <a:endParaRPr lang="en-NP" b="1" dirty="0"/>
                    </a:p>
                  </a:txBody>
                  <a:tcPr/>
                </a:tc>
                <a:extLst>
                  <a:ext uri="{0D108BD9-81ED-4DB2-BD59-A6C34878D82A}">
                    <a16:rowId xmlns:a16="http://schemas.microsoft.com/office/drawing/2014/main" val="1670417921"/>
                  </a:ext>
                </a:extLst>
              </a:tr>
            </a:tbl>
          </a:graphicData>
        </a:graphic>
      </p:graphicFrame>
      <p:cxnSp>
        <p:nvCxnSpPr>
          <p:cNvPr id="6" name="Straight Arrow Connector 5">
            <a:extLst>
              <a:ext uri="{FF2B5EF4-FFF2-40B4-BE49-F238E27FC236}">
                <a16:creationId xmlns:a16="http://schemas.microsoft.com/office/drawing/2014/main" id="{5C75663E-3F7E-2A9F-DAC4-352A7301D817}"/>
              </a:ext>
            </a:extLst>
          </p:cNvPr>
          <p:cNvCxnSpPr>
            <a:cxnSpLocks/>
          </p:cNvCxnSpPr>
          <p:nvPr/>
        </p:nvCxnSpPr>
        <p:spPr>
          <a:xfrm flipV="1">
            <a:off x="5199017" y="386818"/>
            <a:ext cx="0" cy="32054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3768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8484E-FCD4-D633-B5C1-F0F409871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4665E-207D-B11B-07AD-C6DFEB41DC2C}"/>
              </a:ext>
            </a:extLst>
          </p:cNvPr>
          <p:cNvSpPr>
            <a:spLocks noGrp="1"/>
          </p:cNvSpPr>
          <p:nvPr>
            <p:ph type="title"/>
          </p:nvPr>
        </p:nvSpPr>
        <p:spPr>
          <a:xfrm>
            <a:off x="838200" y="365126"/>
            <a:ext cx="10515600" cy="433528"/>
          </a:xfrm>
        </p:spPr>
        <p:txBody>
          <a:bodyPr>
            <a:normAutofit fontScale="90000"/>
          </a:bodyPr>
          <a:lstStyle/>
          <a:p>
            <a:br>
              <a:rPr lang="en-NP" sz="2200" dirty="0"/>
            </a:br>
            <a:br>
              <a:rPr lang="en-NP" sz="2200" b="1" dirty="0"/>
            </a:br>
            <a:r>
              <a:rPr lang="en-NP" sz="2200" b="1" i="1" dirty="0">
                <a:solidFill>
                  <a:srgbClr val="FF0000"/>
                </a:solidFill>
              </a:rPr>
              <a:t>2. Write a C Program using structure variable to store n students records like rollNo, name and address using array  and loop.</a:t>
            </a:r>
            <a:br>
              <a:rPr lang="en-NP" b="1" dirty="0"/>
            </a:br>
            <a:endParaRPr lang="en-NP" b="1" dirty="0"/>
          </a:p>
        </p:txBody>
      </p:sp>
      <p:sp>
        <p:nvSpPr>
          <p:cNvPr id="3" name="Content Placeholder 2">
            <a:extLst>
              <a:ext uri="{FF2B5EF4-FFF2-40B4-BE49-F238E27FC236}">
                <a16:creationId xmlns:a16="http://schemas.microsoft.com/office/drawing/2014/main" id="{BF0A56DE-32B4-A97C-67A1-5DE1CF65AE51}"/>
              </a:ext>
            </a:extLst>
          </p:cNvPr>
          <p:cNvSpPr>
            <a:spLocks noGrp="1"/>
          </p:cNvSpPr>
          <p:nvPr>
            <p:ph sz="half" idx="1"/>
          </p:nvPr>
        </p:nvSpPr>
        <p:spPr>
          <a:xfrm>
            <a:off x="597220" y="862782"/>
            <a:ext cx="5257800" cy="5931089"/>
          </a:xfrm>
        </p:spPr>
        <p:txBody>
          <a:bodyPr>
            <a:normAutofit fontScale="92500" lnSpcReduction="10000"/>
          </a:bodyPr>
          <a:lstStyle/>
          <a:p>
            <a:pPr marL="0" indent="0">
              <a:spcBef>
                <a:spcPts val="0"/>
              </a:spcBef>
              <a:buNone/>
            </a:pPr>
            <a:r>
              <a:rPr lang="en-US" sz="2000" b="1" dirty="0"/>
              <a:t>#include&lt;</a:t>
            </a:r>
            <a:r>
              <a:rPr lang="en-US" sz="2000" b="1" dirty="0" err="1"/>
              <a:t>stdio.h</a:t>
            </a:r>
            <a:r>
              <a:rPr lang="en-US" sz="2000" b="1" dirty="0"/>
              <a:t>&gt; </a:t>
            </a:r>
          </a:p>
          <a:p>
            <a:pPr marL="0" indent="0">
              <a:spcBef>
                <a:spcPts val="0"/>
              </a:spcBef>
              <a:buNone/>
            </a:pPr>
            <a:r>
              <a:rPr lang="en-US" sz="2000" b="1" dirty="0"/>
              <a:t>struct student </a:t>
            </a:r>
          </a:p>
          <a:p>
            <a:pPr marL="0" indent="0">
              <a:spcBef>
                <a:spcPts val="0"/>
              </a:spcBef>
              <a:buNone/>
            </a:pPr>
            <a:r>
              <a:rPr lang="en-US" sz="2000" b="1" dirty="0"/>
              <a:t>{ </a:t>
            </a:r>
          </a:p>
          <a:p>
            <a:pPr marL="0" indent="0">
              <a:spcBef>
                <a:spcPts val="0"/>
              </a:spcBef>
              <a:buNone/>
            </a:pPr>
            <a:r>
              <a:rPr lang="en-US" sz="2000" b="1" dirty="0"/>
              <a:t>int </a:t>
            </a:r>
            <a:r>
              <a:rPr lang="en-US" sz="2000" b="1" dirty="0" err="1"/>
              <a:t>rollNo</a:t>
            </a:r>
            <a:r>
              <a:rPr lang="en-US" sz="2000" b="1" dirty="0"/>
              <a:t>; </a:t>
            </a:r>
          </a:p>
          <a:p>
            <a:pPr marL="0" indent="0">
              <a:spcBef>
                <a:spcPts val="0"/>
              </a:spcBef>
              <a:buNone/>
            </a:pPr>
            <a:r>
              <a:rPr lang="en-US" sz="2000" b="1" dirty="0"/>
              <a:t>char name[50]; </a:t>
            </a:r>
          </a:p>
          <a:p>
            <a:pPr marL="0" indent="0">
              <a:spcBef>
                <a:spcPts val="0"/>
              </a:spcBef>
              <a:buNone/>
            </a:pPr>
            <a:r>
              <a:rPr lang="en-US" sz="2000" b="1" dirty="0"/>
              <a:t>char </a:t>
            </a:r>
            <a:r>
              <a:rPr lang="en-US" sz="2000" b="1" dirty="0" err="1"/>
              <a:t>adr</a:t>
            </a:r>
            <a:r>
              <a:rPr lang="en-US" sz="2000" b="1" dirty="0"/>
              <a:t>[60]; </a:t>
            </a:r>
          </a:p>
          <a:p>
            <a:pPr marL="0" indent="0">
              <a:spcBef>
                <a:spcPts val="0"/>
              </a:spcBef>
              <a:buNone/>
            </a:pPr>
            <a:r>
              <a:rPr lang="en-US" sz="2000" b="1" dirty="0"/>
              <a:t>}</a:t>
            </a:r>
            <a:r>
              <a:rPr lang="en-US" sz="2000" b="1" dirty="0" err="1"/>
              <a:t>st</a:t>
            </a:r>
            <a:r>
              <a:rPr lang="en-US" sz="2000" b="1" dirty="0"/>
              <a:t>[100];</a:t>
            </a:r>
          </a:p>
          <a:p>
            <a:pPr marL="0" indent="0">
              <a:spcBef>
                <a:spcPts val="0"/>
              </a:spcBef>
              <a:buNone/>
            </a:pPr>
            <a:r>
              <a:rPr lang="en-US" sz="2000" b="1" dirty="0"/>
              <a:t>int main()</a:t>
            </a:r>
          </a:p>
          <a:p>
            <a:pPr marL="0" indent="0">
              <a:spcBef>
                <a:spcPts val="0"/>
              </a:spcBef>
              <a:buNone/>
            </a:pPr>
            <a:r>
              <a:rPr lang="en-US" sz="2000" b="1" dirty="0"/>
              <a:t>{</a:t>
            </a:r>
          </a:p>
          <a:p>
            <a:pPr marL="0" indent="0">
              <a:spcBef>
                <a:spcPts val="0"/>
              </a:spcBef>
              <a:buNone/>
            </a:pPr>
            <a:r>
              <a:rPr lang="en-US" sz="2000" b="1" dirty="0"/>
              <a:t>int </a:t>
            </a:r>
            <a:r>
              <a:rPr lang="en-US" sz="2000" b="1" dirty="0" err="1"/>
              <a:t>i</a:t>
            </a:r>
            <a:r>
              <a:rPr lang="en-US" sz="2000" b="1" dirty="0"/>
              <a:t>, n; </a:t>
            </a:r>
          </a:p>
          <a:p>
            <a:pPr marL="0" indent="0">
              <a:spcBef>
                <a:spcPts val="0"/>
              </a:spcBef>
              <a:buNone/>
            </a:pPr>
            <a:r>
              <a:rPr lang="en-US" sz="2000" b="1" dirty="0" err="1"/>
              <a:t>printf</a:t>
            </a:r>
            <a:r>
              <a:rPr lang="en-US" sz="2000" b="1" dirty="0"/>
              <a:t>("\</a:t>
            </a:r>
            <a:r>
              <a:rPr lang="en-US" sz="2000" b="1" dirty="0" err="1"/>
              <a:t>nEnter</a:t>
            </a:r>
            <a:r>
              <a:rPr lang="en-US" sz="2000" b="1" dirty="0"/>
              <a:t> the no of records n: "); </a:t>
            </a:r>
          </a:p>
          <a:p>
            <a:pPr marL="0" indent="0">
              <a:spcBef>
                <a:spcPts val="0"/>
              </a:spcBef>
              <a:buNone/>
            </a:pPr>
            <a:r>
              <a:rPr lang="en-US" sz="2000" b="1" dirty="0" err="1"/>
              <a:t>scanf</a:t>
            </a:r>
            <a:r>
              <a:rPr lang="en-US" sz="2000" b="1" dirty="0"/>
              <a:t>("%d", &amp;n); </a:t>
            </a:r>
          </a:p>
          <a:p>
            <a:pPr marL="0" indent="0">
              <a:spcBef>
                <a:spcPts val="0"/>
              </a:spcBef>
              <a:buNone/>
            </a:pPr>
            <a:endParaRPr lang="en-US" sz="2000" b="1" dirty="0"/>
          </a:p>
          <a:p>
            <a:pPr marL="0" indent="0">
              <a:spcBef>
                <a:spcPts val="0"/>
              </a:spcBef>
              <a:buNone/>
            </a:pPr>
            <a:r>
              <a:rPr lang="en-US" sz="2000" b="1" dirty="0"/>
              <a:t>               </a:t>
            </a:r>
            <a:r>
              <a:rPr lang="en-US" sz="2000" b="1" dirty="0">
                <a:highlight>
                  <a:srgbClr val="FFFF00"/>
                </a:highlight>
              </a:rPr>
              <a:t> //code to input to structure </a:t>
            </a:r>
          </a:p>
          <a:p>
            <a:pPr marL="0" indent="0">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spcBef>
                <a:spcPts val="0"/>
              </a:spcBef>
              <a:buNone/>
            </a:pPr>
            <a:r>
              <a:rPr lang="en-US" sz="2000" b="1" dirty="0"/>
              <a:t>{ </a:t>
            </a:r>
          </a:p>
          <a:p>
            <a:pPr marL="0" indent="0">
              <a:spcBef>
                <a:spcPts val="0"/>
              </a:spcBef>
              <a:buNone/>
            </a:pPr>
            <a:r>
              <a:rPr lang="en-US" sz="2000" b="1" dirty="0" err="1"/>
              <a:t>printf</a:t>
            </a:r>
            <a:r>
              <a:rPr lang="en-US" sz="2000" b="1" dirty="0"/>
              <a:t>("\</a:t>
            </a:r>
            <a:r>
              <a:rPr lang="en-US" sz="2000" b="1" dirty="0" err="1"/>
              <a:t>nEnter</a:t>
            </a:r>
            <a:r>
              <a:rPr lang="en-US" sz="2000" b="1" dirty="0"/>
              <a:t> the roll no of the student: "); </a:t>
            </a:r>
          </a:p>
          <a:p>
            <a:pPr marL="0" indent="0">
              <a:spcBef>
                <a:spcPts val="0"/>
              </a:spcBef>
              <a:buNone/>
            </a:pPr>
            <a:r>
              <a:rPr lang="en-US" sz="2000" b="1" dirty="0" err="1"/>
              <a:t>scanf</a:t>
            </a:r>
            <a:r>
              <a:rPr lang="en-US" sz="2000" b="1" dirty="0"/>
              <a:t>("%d", &amp;</a:t>
            </a:r>
            <a:r>
              <a:rPr lang="en-US" sz="2000" b="1" dirty="0" err="1"/>
              <a:t>st</a:t>
            </a:r>
            <a:r>
              <a:rPr lang="en-US" sz="2000" b="1" dirty="0"/>
              <a:t>[i].</a:t>
            </a:r>
            <a:r>
              <a:rPr lang="en-US" sz="2000" b="1" dirty="0" err="1"/>
              <a:t>rollNo</a:t>
            </a:r>
            <a:r>
              <a:rPr lang="en-US" sz="2000" b="1" dirty="0"/>
              <a:t>); </a:t>
            </a:r>
          </a:p>
          <a:p>
            <a:pPr marL="0" indent="0">
              <a:spcBef>
                <a:spcPts val="0"/>
              </a:spcBef>
              <a:buNone/>
            </a:pPr>
            <a:r>
              <a:rPr lang="en-US" sz="2000" b="1" dirty="0" err="1"/>
              <a:t>printf</a:t>
            </a:r>
            <a:r>
              <a:rPr lang="en-US" sz="2000" b="1" dirty="0"/>
              <a:t>("\</a:t>
            </a:r>
            <a:r>
              <a:rPr lang="en-US" sz="2000" b="1" dirty="0" err="1"/>
              <a:t>nEnter</a:t>
            </a:r>
            <a:r>
              <a:rPr lang="en-US" sz="2000" b="1" dirty="0"/>
              <a:t> the name of the student: "); </a:t>
            </a:r>
          </a:p>
          <a:p>
            <a:pPr marL="0" indent="0">
              <a:spcBef>
                <a:spcPts val="0"/>
              </a:spcBef>
              <a:buNone/>
            </a:pPr>
            <a:r>
              <a:rPr lang="en-US" sz="2000" b="1" dirty="0" err="1"/>
              <a:t>scanf</a:t>
            </a:r>
            <a:r>
              <a:rPr lang="en-US" sz="2000" b="1" dirty="0"/>
              <a:t>("%s", </a:t>
            </a:r>
            <a:r>
              <a:rPr lang="en-US" sz="2000" b="1" dirty="0" err="1"/>
              <a:t>st</a:t>
            </a:r>
            <a:r>
              <a:rPr lang="en-US" sz="2000" b="1" dirty="0"/>
              <a:t>[i].name); </a:t>
            </a:r>
          </a:p>
          <a:p>
            <a:pPr marL="0" indent="0">
              <a:spcBef>
                <a:spcPts val="0"/>
              </a:spcBef>
              <a:buNone/>
            </a:pPr>
            <a:r>
              <a:rPr lang="en-US" sz="2000" b="1" dirty="0" err="1"/>
              <a:t>printf</a:t>
            </a:r>
            <a:r>
              <a:rPr lang="en-US" sz="2000" b="1" dirty="0"/>
              <a:t>("\</a:t>
            </a:r>
            <a:r>
              <a:rPr lang="en-US" sz="2000" b="1" dirty="0" err="1"/>
              <a:t>nEnter</a:t>
            </a:r>
            <a:r>
              <a:rPr lang="en-US" sz="2000" b="1" dirty="0"/>
              <a:t> the address of the student: "); </a:t>
            </a:r>
          </a:p>
          <a:p>
            <a:pPr marL="0" indent="0">
              <a:spcBef>
                <a:spcPts val="0"/>
              </a:spcBef>
              <a:buNone/>
            </a:pPr>
            <a:r>
              <a:rPr lang="en-US" sz="2000" b="1" dirty="0" err="1"/>
              <a:t>scanf</a:t>
            </a:r>
            <a:r>
              <a:rPr lang="en-US" sz="2000" b="1" dirty="0"/>
              <a:t>("%s", </a:t>
            </a:r>
            <a:r>
              <a:rPr lang="en-US" sz="2000" b="1" dirty="0" err="1"/>
              <a:t>st</a:t>
            </a:r>
            <a:r>
              <a:rPr lang="en-US" sz="2000" b="1" dirty="0"/>
              <a:t>[i].</a:t>
            </a:r>
            <a:r>
              <a:rPr lang="en-US" sz="2000" b="1" dirty="0" err="1"/>
              <a:t>adr</a:t>
            </a:r>
            <a:r>
              <a:rPr lang="en-US" sz="2000" b="1" dirty="0"/>
              <a:t>); </a:t>
            </a:r>
          </a:p>
          <a:p>
            <a:pPr marL="0" indent="0">
              <a:spcBef>
                <a:spcPts val="0"/>
              </a:spcBef>
              <a:buNone/>
            </a:pPr>
            <a:r>
              <a:rPr lang="en-US" sz="2000" b="1" dirty="0"/>
              <a:t>} </a:t>
            </a:r>
          </a:p>
          <a:p>
            <a:pPr marL="0" indent="0">
              <a:spcBef>
                <a:spcPts val="0"/>
              </a:spcBef>
              <a:buNone/>
            </a:pPr>
            <a:endParaRPr lang="en-US" sz="1800" dirty="0"/>
          </a:p>
          <a:p>
            <a:endParaRPr lang="en-NP" sz="1800" dirty="0"/>
          </a:p>
        </p:txBody>
      </p:sp>
      <p:sp>
        <p:nvSpPr>
          <p:cNvPr id="5" name="Content Placeholder 3">
            <a:extLst>
              <a:ext uri="{FF2B5EF4-FFF2-40B4-BE49-F238E27FC236}">
                <a16:creationId xmlns:a16="http://schemas.microsoft.com/office/drawing/2014/main" id="{66AC6404-0293-71DE-9C32-B711FEDB9CDE}"/>
              </a:ext>
            </a:extLst>
          </p:cNvPr>
          <p:cNvSpPr txBox="1">
            <a:spLocks/>
          </p:cNvSpPr>
          <p:nvPr/>
        </p:nvSpPr>
        <p:spPr>
          <a:xfrm>
            <a:off x="5461481" y="798655"/>
            <a:ext cx="6911661" cy="60593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1800" b="1" i="1" dirty="0">
                <a:highlight>
                  <a:srgbClr val="FFFF00"/>
                </a:highlight>
              </a:rPr>
              <a:t>//code to display records </a:t>
            </a:r>
          </a:p>
          <a:p>
            <a:pPr marL="0" indent="0">
              <a:spcBef>
                <a:spcPts val="0"/>
              </a:spcBef>
              <a:buFont typeface="Arial" panose="020B0604020202020204" pitchFamily="34" charset="0"/>
              <a:buNone/>
            </a:pPr>
            <a:r>
              <a:rPr lang="en-US" sz="1800" b="1" i="1" dirty="0" err="1"/>
              <a:t>printf</a:t>
            </a:r>
            <a:r>
              <a:rPr lang="en-US" sz="1800" b="1" i="1" dirty="0"/>
              <a:t>("\n\</a:t>
            </a:r>
            <a:r>
              <a:rPr lang="en-US" sz="1800" b="1" i="1" dirty="0" err="1"/>
              <a:t>nThe</a:t>
            </a:r>
            <a:r>
              <a:rPr lang="en-US" sz="1800" b="1" i="1" dirty="0"/>
              <a:t> record of the </a:t>
            </a:r>
            <a:r>
              <a:rPr lang="en-US" sz="1800" b="1" i="1" dirty="0" err="1"/>
              <a:t>sutdent</a:t>
            </a:r>
            <a:r>
              <a:rPr lang="en-US" sz="1800" b="1" i="1" dirty="0"/>
              <a:t>: "); </a:t>
            </a:r>
          </a:p>
          <a:p>
            <a:pPr marL="0" indent="0">
              <a:spcBef>
                <a:spcPts val="0"/>
              </a:spcBef>
              <a:buFont typeface="Arial" panose="020B0604020202020204" pitchFamily="34" charset="0"/>
              <a:buNone/>
            </a:pPr>
            <a:r>
              <a:rPr lang="en-US" sz="1800" b="1" i="1" dirty="0" err="1"/>
              <a:t>printf</a:t>
            </a:r>
            <a:r>
              <a:rPr lang="en-US" sz="1800" b="1" i="1" dirty="0"/>
              <a:t>("\</a:t>
            </a:r>
            <a:r>
              <a:rPr lang="en-US" sz="1800" b="1" i="1" dirty="0" err="1"/>
              <a:t>nRoll</a:t>
            </a:r>
            <a:r>
              <a:rPr lang="en-US" sz="1800" b="1" i="1" dirty="0"/>
              <a:t> No\t\t\</a:t>
            </a:r>
            <a:r>
              <a:rPr lang="en-US" sz="1800" b="1" i="1" dirty="0" err="1"/>
              <a:t>tName</a:t>
            </a:r>
            <a:r>
              <a:rPr lang="en-US" sz="1800" b="1" i="1" dirty="0"/>
              <a:t> of Student\t\</a:t>
            </a:r>
            <a:r>
              <a:rPr lang="en-US" sz="1800" b="1" i="1" dirty="0" err="1"/>
              <a:t>tAddress</a:t>
            </a:r>
            <a:r>
              <a:rPr lang="en-US" sz="1800" b="1" i="1" dirty="0"/>
              <a:t>"); </a:t>
            </a:r>
          </a:p>
          <a:p>
            <a:pPr marL="0" indent="0">
              <a:spcBef>
                <a:spcPts val="0"/>
              </a:spcBef>
              <a:buFont typeface="Arial" panose="020B0604020202020204" pitchFamily="34" charset="0"/>
              <a:buNone/>
            </a:pPr>
            <a:r>
              <a:rPr lang="en-US" sz="1800" b="1" i="1" dirty="0"/>
              <a:t>for(</a:t>
            </a:r>
            <a:r>
              <a:rPr lang="en-US" sz="1800" b="1" i="1" dirty="0" err="1"/>
              <a:t>i</a:t>
            </a:r>
            <a:r>
              <a:rPr lang="en-US" sz="1800" b="1" i="1" dirty="0"/>
              <a:t>=0; i</a:t>
            </a:r>
            <a:r>
              <a:rPr lang="en-US" sz="1800" b="1" i="1"/>
              <a:t>&lt;</a:t>
            </a:r>
            <a:r>
              <a:rPr lang="en-US" sz="1800" b="1" i="1" dirty="0"/>
              <a:t>n; </a:t>
            </a:r>
            <a:r>
              <a:rPr lang="en-US" sz="1800" b="1" i="1" dirty="0" err="1"/>
              <a:t>i</a:t>
            </a:r>
            <a:r>
              <a:rPr lang="en-US" sz="1800" b="1" i="1" dirty="0"/>
              <a:t>++) </a:t>
            </a:r>
          </a:p>
          <a:p>
            <a:pPr marL="0" indent="0">
              <a:spcBef>
                <a:spcPts val="0"/>
              </a:spcBef>
              <a:buFont typeface="Arial" panose="020B0604020202020204" pitchFamily="34" charset="0"/>
              <a:buNone/>
            </a:pPr>
            <a:r>
              <a:rPr lang="en-US" sz="1800" b="1" i="1" dirty="0"/>
              <a:t>{ </a:t>
            </a:r>
          </a:p>
          <a:p>
            <a:pPr marL="0" indent="0">
              <a:spcBef>
                <a:spcPts val="0"/>
              </a:spcBef>
              <a:buFont typeface="Arial" panose="020B0604020202020204" pitchFamily="34" charset="0"/>
              <a:buNone/>
            </a:pPr>
            <a:r>
              <a:rPr lang="en-US" sz="1800" b="1" i="1" dirty="0" err="1"/>
              <a:t>printf</a:t>
            </a:r>
            <a:r>
              <a:rPr lang="en-US" sz="1800" b="1" i="1" dirty="0"/>
              <a:t>("\n\</a:t>
            </a:r>
            <a:r>
              <a:rPr lang="en-US" sz="1800" b="1" i="1" dirty="0" err="1"/>
              <a:t>n%d</a:t>
            </a:r>
            <a:r>
              <a:rPr lang="en-US" sz="1800" b="1" i="1" dirty="0"/>
              <a:t> \t\t\</a:t>
            </a:r>
            <a:r>
              <a:rPr lang="en-US" sz="1800" b="1" i="1" dirty="0" err="1"/>
              <a:t>t%s</a:t>
            </a:r>
            <a:r>
              <a:rPr lang="en-US" sz="1800" b="1" i="1" dirty="0"/>
              <a:t>\t\t\</a:t>
            </a:r>
            <a:r>
              <a:rPr lang="en-US" sz="1800" b="1" i="1" dirty="0" err="1"/>
              <a:t>t%s</a:t>
            </a:r>
            <a:r>
              <a:rPr lang="en-US" sz="1800" b="1" i="1" dirty="0"/>
              <a:t>",</a:t>
            </a:r>
            <a:r>
              <a:rPr lang="en-US" sz="1800" b="1" i="1" dirty="0" err="1"/>
              <a:t>st</a:t>
            </a:r>
            <a:r>
              <a:rPr lang="en-US" sz="1800" b="1" i="1" dirty="0"/>
              <a:t>[</a:t>
            </a:r>
            <a:r>
              <a:rPr lang="en-US" sz="1800" b="1" i="1" dirty="0" err="1"/>
              <a:t>i</a:t>
            </a:r>
            <a:r>
              <a:rPr lang="en-US" sz="1800" b="1" i="1" dirty="0"/>
              <a:t>].</a:t>
            </a:r>
            <a:r>
              <a:rPr lang="en-US" sz="1800" b="1" i="1" dirty="0" err="1"/>
              <a:t>rollNo</a:t>
            </a:r>
            <a:r>
              <a:rPr lang="en-US" sz="1800" b="1" i="1" dirty="0"/>
              <a:t>, </a:t>
            </a:r>
            <a:r>
              <a:rPr lang="en-US" sz="1800" b="1" i="1" dirty="0" err="1"/>
              <a:t>st</a:t>
            </a:r>
            <a:r>
              <a:rPr lang="en-US" sz="1800" b="1" i="1" dirty="0"/>
              <a:t>[</a:t>
            </a:r>
            <a:r>
              <a:rPr lang="en-US" sz="1800" b="1" i="1" dirty="0" err="1"/>
              <a:t>i</a:t>
            </a:r>
            <a:r>
              <a:rPr lang="en-US" sz="1800" b="1" i="1" dirty="0"/>
              <a:t>].name, </a:t>
            </a:r>
            <a:r>
              <a:rPr lang="en-US" sz="1800" b="1" i="1" dirty="0" err="1"/>
              <a:t>st</a:t>
            </a:r>
            <a:r>
              <a:rPr lang="en-US" sz="1800" b="1" i="1" dirty="0"/>
              <a:t>[</a:t>
            </a:r>
            <a:r>
              <a:rPr lang="en-US" sz="1800" b="1" i="1" dirty="0" err="1"/>
              <a:t>i</a:t>
            </a:r>
            <a:r>
              <a:rPr lang="en-US" sz="1800" b="1" i="1" dirty="0"/>
              <a:t>].</a:t>
            </a:r>
            <a:r>
              <a:rPr lang="en-US" sz="1800" b="1" i="1" dirty="0" err="1"/>
              <a:t>adr</a:t>
            </a:r>
            <a:r>
              <a:rPr lang="en-US" sz="1800" b="1" i="1" dirty="0"/>
              <a:t>); </a:t>
            </a:r>
          </a:p>
          <a:p>
            <a:pPr marL="0" indent="0">
              <a:spcBef>
                <a:spcPts val="0"/>
              </a:spcBef>
              <a:buFont typeface="Arial" panose="020B0604020202020204" pitchFamily="34" charset="0"/>
              <a:buNone/>
            </a:pPr>
            <a:r>
              <a:rPr lang="en-US" sz="1800" b="1" i="1" dirty="0"/>
              <a:t>} </a:t>
            </a:r>
          </a:p>
          <a:p>
            <a:pPr marL="0" indent="0">
              <a:spcBef>
                <a:spcPts val="0"/>
              </a:spcBef>
              <a:buFont typeface="Arial" panose="020B0604020202020204" pitchFamily="34" charset="0"/>
              <a:buNone/>
            </a:pPr>
            <a:r>
              <a:rPr lang="en-US" sz="1800" b="1" i="1" dirty="0"/>
              <a:t>return 0; </a:t>
            </a:r>
          </a:p>
          <a:p>
            <a:pPr marL="0" indent="0">
              <a:spcBef>
                <a:spcPts val="0"/>
              </a:spcBef>
              <a:buFont typeface="Arial" panose="020B0604020202020204" pitchFamily="34" charset="0"/>
              <a:buNone/>
            </a:pPr>
            <a:r>
              <a:rPr lang="en-US" sz="1800" b="1" i="1" dirty="0"/>
              <a:t>}</a:t>
            </a:r>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F8A987C4-38F5-9EF7-F8CF-4D5EA71C2483}"/>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7DBB5218-E22C-781D-72BB-29079579D425}"/>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7579C41F-72D6-9362-229C-850FDE1F1E19}"/>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5FF4DDA3-B591-D6C7-CC96-A9279282402E}"/>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A46568C2-BC76-C9C2-EBD7-B06F9EDCB3C8}"/>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A66ECB59-BB8E-2161-0F87-36CD891521EA}"/>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DB25C4A8-69A6-A488-C41F-22F27258A51F}"/>
              </a:ext>
            </a:extLst>
          </p:cNvPr>
          <p:cNvCxnSpPr>
            <a:cxnSpLocks/>
          </p:cNvCxnSpPr>
          <p:nvPr/>
        </p:nvCxnSpPr>
        <p:spPr>
          <a:xfrm flipH="1" flipV="1">
            <a:off x="5127585" y="798654"/>
            <a:ext cx="920935" cy="60593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 name="Content Placeholder 6">
            <a:extLst>
              <a:ext uri="{FF2B5EF4-FFF2-40B4-BE49-F238E27FC236}">
                <a16:creationId xmlns:a16="http://schemas.microsoft.com/office/drawing/2014/main" id="{34382B82-FEA9-447A-D262-3DDA25EC93B3}"/>
              </a:ext>
            </a:extLst>
          </p:cNvPr>
          <p:cNvPicPr>
            <a:picLocks noChangeAspect="1"/>
          </p:cNvPicPr>
          <p:nvPr/>
        </p:nvPicPr>
        <p:blipFill>
          <a:blip r:embed="rId13"/>
          <a:stretch>
            <a:fillRect/>
          </a:stretch>
        </p:blipFill>
        <p:spPr>
          <a:xfrm>
            <a:off x="6924765" y="2449545"/>
            <a:ext cx="5123700" cy="4239220"/>
          </a:xfrm>
          <a:prstGeom prst="rect">
            <a:avLst/>
          </a:prstGeom>
        </p:spPr>
      </p:pic>
    </p:spTree>
    <p:extLst>
      <p:ext uri="{BB962C8B-B14F-4D97-AF65-F5344CB8AC3E}">
        <p14:creationId xmlns:p14="http://schemas.microsoft.com/office/powerpoint/2010/main" val="2804127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1F9747-02F8-7A22-159C-43B1B4ABB23B}"/>
              </a:ext>
            </a:extLst>
          </p:cNvPr>
          <p:cNvSpPr>
            <a:spLocks noGrp="1"/>
          </p:cNvSpPr>
          <p:nvPr>
            <p:ph idx="1"/>
          </p:nvPr>
        </p:nvSpPr>
        <p:spPr>
          <a:xfrm>
            <a:off x="345688" y="0"/>
            <a:ext cx="11008112" cy="6768790"/>
          </a:xfrm>
        </p:spPr>
        <p:txBody>
          <a:bodyPr/>
          <a:lstStyle/>
          <a:p>
            <a:pPr marL="0" indent="0">
              <a:buNone/>
            </a:pPr>
            <a:r>
              <a:rPr lang="en-NP" sz="1400" b="1" dirty="0"/>
              <a:t>					student</a:t>
            </a:r>
          </a:p>
          <a:p>
            <a:pPr marL="0" indent="0">
              <a:buNone/>
            </a:pPr>
            <a:r>
              <a:rPr lang="en-NP" dirty="0"/>
              <a:t>					</a:t>
            </a:r>
          </a:p>
        </p:txBody>
      </p:sp>
      <p:graphicFrame>
        <p:nvGraphicFramePr>
          <p:cNvPr id="8" name="Table 7">
            <a:extLst>
              <a:ext uri="{FF2B5EF4-FFF2-40B4-BE49-F238E27FC236}">
                <a16:creationId xmlns:a16="http://schemas.microsoft.com/office/drawing/2014/main" id="{A4245000-974B-D909-E4DF-385196BB9B93}"/>
              </a:ext>
            </a:extLst>
          </p:cNvPr>
          <p:cNvGraphicFramePr>
            <a:graphicFrameLocks noGrp="1"/>
          </p:cNvGraphicFramePr>
          <p:nvPr>
            <p:extLst>
              <p:ext uri="{D42A27DB-BD31-4B8C-83A1-F6EECF244321}">
                <p14:modId xmlns:p14="http://schemas.microsoft.com/office/powerpoint/2010/main" val="210421158"/>
              </p:ext>
            </p:extLst>
          </p:nvPr>
        </p:nvGraphicFramePr>
        <p:xfrm>
          <a:off x="838200" y="289367"/>
          <a:ext cx="8486449" cy="6555648"/>
        </p:xfrm>
        <a:graphic>
          <a:graphicData uri="http://schemas.openxmlformats.org/drawingml/2006/table">
            <a:tbl>
              <a:tblPr firstRow="1" bandRow="1">
                <a:tableStyleId>{5940675A-B579-460E-94D1-54222C63F5DA}</a:tableStyleId>
              </a:tblPr>
              <a:tblGrid>
                <a:gridCol w="2201858">
                  <a:extLst>
                    <a:ext uri="{9D8B030D-6E8A-4147-A177-3AD203B41FA5}">
                      <a16:colId xmlns:a16="http://schemas.microsoft.com/office/drawing/2014/main" val="572344113"/>
                    </a:ext>
                  </a:extLst>
                </a:gridCol>
                <a:gridCol w="580628">
                  <a:extLst>
                    <a:ext uri="{9D8B030D-6E8A-4147-A177-3AD203B41FA5}">
                      <a16:colId xmlns:a16="http://schemas.microsoft.com/office/drawing/2014/main" val="3431798763"/>
                    </a:ext>
                  </a:extLst>
                </a:gridCol>
                <a:gridCol w="736687">
                  <a:extLst>
                    <a:ext uri="{9D8B030D-6E8A-4147-A177-3AD203B41FA5}">
                      <a16:colId xmlns:a16="http://schemas.microsoft.com/office/drawing/2014/main" val="2587928260"/>
                    </a:ext>
                  </a:extLst>
                </a:gridCol>
                <a:gridCol w="796420">
                  <a:extLst>
                    <a:ext uri="{9D8B030D-6E8A-4147-A177-3AD203B41FA5}">
                      <a16:colId xmlns:a16="http://schemas.microsoft.com/office/drawing/2014/main" val="1108368050"/>
                    </a:ext>
                  </a:extLst>
                </a:gridCol>
                <a:gridCol w="776509">
                  <a:extLst>
                    <a:ext uri="{9D8B030D-6E8A-4147-A177-3AD203B41FA5}">
                      <a16:colId xmlns:a16="http://schemas.microsoft.com/office/drawing/2014/main" val="2506898600"/>
                    </a:ext>
                  </a:extLst>
                </a:gridCol>
                <a:gridCol w="736687">
                  <a:extLst>
                    <a:ext uri="{9D8B030D-6E8A-4147-A177-3AD203B41FA5}">
                      <a16:colId xmlns:a16="http://schemas.microsoft.com/office/drawing/2014/main" val="1566616541"/>
                    </a:ext>
                  </a:extLst>
                </a:gridCol>
                <a:gridCol w="776509">
                  <a:extLst>
                    <a:ext uri="{9D8B030D-6E8A-4147-A177-3AD203B41FA5}">
                      <a16:colId xmlns:a16="http://schemas.microsoft.com/office/drawing/2014/main" val="643360668"/>
                    </a:ext>
                  </a:extLst>
                </a:gridCol>
                <a:gridCol w="657044">
                  <a:extLst>
                    <a:ext uri="{9D8B030D-6E8A-4147-A177-3AD203B41FA5}">
                      <a16:colId xmlns:a16="http://schemas.microsoft.com/office/drawing/2014/main" val="562860999"/>
                    </a:ext>
                  </a:extLst>
                </a:gridCol>
                <a:gridCol w="657044">
                  <a:extLst>
                    <a:ext uri="{9D8B030D-6E8A-4147-A177-3AD203B41FA5}">
                      <a16:colId xmlns:a16="http://schemas.microsoft.com/office/drawing/2014/main" val="2603453691"/>
                    </a:ext>
                  </a:extLst>
                </a:gridCol>
                <a:gridCol w="567063">
                  <a:extLst>
                    <a:ext uri="{9D8B030D-6E8A-4147-A177-3AD203B41FA5}">
                      <a16:colId xmlns:a16="http://schemas.microsoft.com/office/drawing/2014/main" val="1404394936"/>
                    </a:ext>
                  </a:extLst>
                </a:gridCol>
              </a:tblGrid>
              <a:tr h="357723">
                <a:tc>
                  <a:txBody>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i].rollNo</a:t>
                      </a:r>
                    </a:p>
                  </a:txBody>
                  <a:tcPr/>
                </a:tc>
                <a:tc gridSpan="9">
                  <a:txBody>
                    <a:bodyPr/>
                    <a:lstStyle/>
                    <a:p>
                      <a:endParaRPr lang="en-NP" sz="1600" b="1" dirty="0">
                        <a:highlight>
                          <a:srgbClr val="FF00FF"/>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0].rollNo</a:t>
                      </a:r>
                    </a:p>
                  </a:txBody>
                  <a:tcPr/>
                </a:tc>
                <a:tc gridSpan="9">
                  <a:txBody>
                    <a:bodyPr/>
                    <a:lstStyle/>
                    <a:p>
                      <a:r>
                        <a:rPr lang="en-NP" sz="1600" b="1" dirty="0">
                          <a:highlight>
                            <a:srgbClr val="FF00FF"/>
                          </a:highlight>
                        </a:rPr>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08135213"/>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1].rollNo</a:t>
                      </a:r>
                    </a:p>
                  </a:txBody>
                  <a:tcPr/>
                </a:tc>
                <a:tc gridSpan="9">
                  <a:txBody>
                    <a:bodyPr/>
                    <a:lstStyle/>
                    <a:p>
                      <a:r>
                        <a:rPr lang="en-NP" sz="1600" b="1" dirty="0">
                          <a:highlight>
                            <a:srgbClr val="FF00FF"/>
                          </a:highlight>
                        </a:rPr>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2431927224"/>
                  </a:ext>
                </a:extLst>
              </a:tr>
              <a:tr h="3577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2].rollNo</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2512362444"/>
                  </a:ext>
                </a:extLst>
              </a:tr>
              <a:tr h="6231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highlight>
                            <a:srgbClr val="FF00FF"/>
                          </a:highlight>
                        </a:rPr>
                        <a:t>st</a:t>
                      </a:r>
                      <a:r>
                        <a:rPr lang="en-US" sz="1600" b="1" dirty="0">
                          <a:highlight>
                            <a:srgbClr val="FF00FF"/>
                          </a:highlight>
                        </a:rPr>
                        <a:t>[</a:t>
                      </a:r>
                      <a:r>
                        <a:rPr lang="en-NP" sz="1600" b="1" dirty="0">
                          <a:highlight>
                            <a:srgbClr val="FF00FF"/>
                          </a:highlight>
                        </a:rPr>
                        <a:t>99].rollNo</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886895679"/>
                  </a:ext>
                </a:extLst>
              </a:tr>
              <a:tr h="357723">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st[99].name</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t>        </a:t>
                      </a:r>
                      <a:r>
                        <a:rPr lang="en-NP" sz="1600"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7723">
                <a:tc vMerge="1">
                  <a:txBody>
                    <a:bodyPr/>
                    <a:lstStyle/>
                    <a:p>
                      <a:endParaRPr dirty="0"/>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939781137"/>
                  </a:ext>
                </a:extLst>
              </a:tr>
              <a:tr h="35772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600" b="1" dirty="0">
                          <a:highlight>
                            <a:srgbClr val="00FF00"/>
                          </a:highlight>
                        </a:rPr>
                        <a:t>h</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i</a:t>
                      </a: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637305035"/>
                  </a:ext>
                </a:extLst>
              </a:tr>
              <a:tr h="35772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101711809"/>
                  </a:ext>
                </a:extLst>
              </a:tr>
              <a:tr h="781819">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7723">
                <a:tc rowSpan="5">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st[2].</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st[99].</a:t>
                      </a:r>
                      <a:r>
                        <a:rPr lang="en-US" sz="1600" b="1" dirty="0">
                          <a:highlight>
                            <a:srgbClr val="00FFFF"/>
                          </a:highlight>
                        </a:rPr>
                        <a:t>a</a:t>
                      </a:r>
                      <a:r>
                        <a:rPr lang="en-NP" sz="1600" b="1" dirty="0">
                          <a:highlight>
                            <a:srgbClr val="00FFFF"/>
                          </a:highlight>
                        </a:rPr>
                        <a:t>dr</a:t>
                      </a: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t>       </a:t>
                      </a:r>
                      <a:r>
                        <a:rPr lang="en-NP" sz="1600" b="1" dirty="0">
                          <a:highlight>
                            <a:srgbClr val="00FFFF"/>
                          </a:highlight>
                        </a:rPr>
                        <a:t>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7723">
                <a:tc vMerge="1">
                  <a:txBody>
                    <a:bodyPr/>
                    <a:lstStyle/>
                    <a:p>
                      <a:endParaRPr lang="en-NP" dirty="0"/>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m</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670417921"/>
                  </a:ext>
                </a:extLst>
              </a:tr>
              <a:tr h="357723">
                <a:tc vMerge="1">
                  <a:txBody>
                    <a:bodyPr/>
                    <a:lstStyle/>
                    <a:p>
                      <a:endParaRPr lang="en-NP" b="1" dirty="0">
                        <a:highlight>
                          <a:srgbClr val="00FFFF"/>
                        </a:highlight>
                      </a:endParaRPr>
                    </a:p>
                  </a:txBody>
                  <a:tcPr/>
                </a:tc>
                <a:tc>
                  <a:txBody>
                    <a:bodyPr/>
                    <a:lstStyle/>
                    <a:p>
                      <a:r>
                        <a:rPr lang="en-NP" sz="1600" b="1" dirty="0">
                          <a:highlight>
                            <a:srgbClr val="00FFFF"/>
                          </a:highlight>
                        </a:rPr>
                        <a:t>b</a:t>
                      </a:r>
                    </a:p>
                  </a:txBody>
                  <a:tcPr/>
                </a:tc>
                <a:tc>
                  <a:txBody>
                    <a:bodyPr/>
                    <a:lstStyle/>
                    <a:p>
                      <a:r>
                        <a:rPr lang="en-NP" sz="1600" b="1" dirty="0">
                          <a:highlight>
                            <a:srgbClr val="00FFFF"/>
                          </a:highlight>
                        </a:rPr>
                        <a:t>h</a:t>
                      </a:r>
                    </a:p>
                  </a:txBody>
                  <a:tcPr/>
                </a:tc>
                <a:tc>
                  <a:txBody>
                    <a:bodyPr/>
                    <a:lstStyle/>
                    <a:p>
                      <a:r>
                        <a:rPr lang="en-NP" sz="1600" b="1" dirty="0">
                          <a:highlight>
                            <a:srgbClr val="00FFFF"/>
                          </a:highlight>
                        </a:rPr>
                        <a:t>a</a:t>
                      </a:r>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a</a:t>
                      </a:r>
                    </a:p>
                  </a:txBody>
                  <a:tcPr/>
                </a:tc>
                <a:tc>
                  <a:txBody>
                    <a:bodyPr/>
                    <a:lstStyle/>
                    <a:p>
                      <a:r>
                        <a:rPr lang="en-NP" sz="1600" b="1" dirty="0">
                          <a:highlight>
                            <a:srgbClr val="00FFFF"/>
                          </a:highlight>
                        </a:rPr>
                        <a:t>p</a:t>
                      </a:r>
                    </a:p>
                  </a:txBody>
                  <a:tcPr/>
                </a:tc>
                <a:tc>
                  <a:txBody>
                    <a:bodyPr/>
                    <a:lstStyle/>
                    <a:p>
                      <a:r>
                        <a:rPr lang="en-NP" sz="1600" b="1" dirty="0">
                          <a:highlight>
                            <a:srgbClr val="00FFFF"/>
                          </a:highlight>
                        </a:rPr>
                        <a:t>u</a:t>
                      </a:r>
                    </a:p>
                  </a:txBody>
                  <a:tcPr/>
                </a:tc>
                <a:tc>
                  <a:txBody>
                    <a:bodyPr/>
                    <a:lstStyle/>
                    <a:p>
                      <a:r>
                        <a:rPr lang="en-NP" sz="1600" b="1" dirty="0">
                          <a:highlight>
                            <a:srgbClr val="00FFFF"/>
                          </a:highlight>
                        </a:rPr>
                        <a:t>r</a:t>
                      </a:r>
                    </a:p>
                  </a:txBody>
                  <a:tcPr/>
                </a:tc>
                <a:extLst>
                  <a:ext uri="{0D108BD9-81ED-4DB2-BD59-A6C34878D82A}">
                    <a16:rowId xmlns:a16="http://schemas.microsoft.com/office/drawing/2014/main" val="2286473001"/>
                  </a:ext>
                </a:extLst>
              </a:tr>
              <a:tr h="357723">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781819">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40366568"/>
                  </a:ext>
                </a:extLst>
              </a:tr>
            </a:tbl>
          </a:graphicData>
        </a:graphic>
      </p:graphicFrame>
      <p:sp>
        <p:nvSpPr>
          <p:cNvPr id="23" name="TextBox 22">
            <a:extLst>
              <a:ext uri="{FF2B5EF4-FFF2-40B4-BE49-F238E27FC236}">
                <a16:creationId xmlns:a16="http://schemas.microsoft.com/office/drawing/2014/main" id="{6C9ADCA9-BE3D-4CD4-2782-6D5CFF97D517}"/>
              </a:ext>
            </a:extLst>
          </p:cNvPr>
          <p:cNvSpPr txBox="1"/>
          <p:nvPr/>
        </p:nvSpPr>
        <p:spPr>
          <a:xfrm>
            <a:off x="16912" y="400879"/>
            <a:ext cx="657552" cy="369332"/>
          </a:xfrm>
          <a:prstGeom prst="rect">
            <a:avLst/>
          </a:prstGeom>
          <a:noFill/>
        </p:spPr>
        <p:txBody>
          <a:bodyPr wrap="none" rtlCol="0">
            <a:spAutoFit/>
          </a:bodyPr>
          <a:lstStyle/>
          <a:p>
            <a:r>
              <a:rPr lang="en-NP" b="1" dirty="0">
                <a:highlight>
                  <a:srgbClr val="FFFF00"/>
                </a:highlight>
              </a:rPr>
              <a:t>Qn 2</a:t>
            </a:r>
          </a:p>
        </p:txBody>
      </p:sp>
      <p:cxnSp>
        <p:nvCxnSpPr>
          <p:cNvPr id="2" name="Straight Arrow Connector 1">
            <a:extLst>
              <a:ext uri="{FF2B5EF4-FFF2-40B4-BE49-F238E27FC236}">
                <a16:creationId xmlns:a16="http://schemas.microsoft.com/office/drawing/2014/main" id="{6627E192-9CA6-6ABE-E593-7D6E4A1B113A}"/>
              </a:ext>
            </a:extLst>
          </p:cNvPr>
          <p:cNvCxnSpPr>
            <a:cxnSpLocks/>
          </p:cNvCxnSpPr>
          <p:nvPr/>
        </p:nvCxnSpPr>
        <p:spPr>
          <a:xfrm>
            <a:off x="1276302" y="1655392"/>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164C522C-95FF-0D2C-1326-FCCFBEEFCD08}"/>
              </a:ext>
            </a:extLst>
          </p:cNvPr>
          <p:cNvCxnSpPr>
            <a:cxnSpLocks/>
          </p:cNvCxnSpPr>
          <p:nvPr/>
        </p:nvCxnSpPr>
        <p:spPr>
          <a:xfrm>
            <a:off x="1224201" y="3750249"/>
            <a:ext cx="23798" cy="57355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EFDB8E2-0B94-0E1E-DDFF-83D19D77DFAB}"/>
              </a:ext>
            </a:extLst>
          </p:cNvPr>
          <p:cNvCxnSpPr>
            <a:cxnSpLocks/>
          </p:cNvCxnSpPr>
          <p:nvPr/>
        </p:nvCxnSpPr>
        <p:spPr>
          <a:xfrm>
            <a:off x="1207983" y="6053064"/>
            <a:ext cx="0" cy="515569"/>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7994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A9BFA-9F1D-C64C-A295-E0FE29DE2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A52CE-55B9-06DD-ED3B-6528091C8717}"/>
              </a:ext>
            </a:extLst>
          </p:cNvPr>
          <p:cNvSpPr>
            <a:spLocks noGrp="1"/>
          </p:cNvSpPr>
          <p:nvPr>
            <p:ph type="title"/>
          </p:nvPr>
        </p:nvSpPr>
        <p:spPr>
          <a:xfrm>
            <a:off x="706060" y="144024"/>
            <a:ext cx="10647740" cy="437866"/>
          </a:xfrm>
        </p:spPr>
        <p:txBody>
          <a:bodyPr>
            <a:normAutofit fontScale="90000"/>
          </a:bodyPr>
          <a:lstStyle/>
          <a:p>
            <a:br>
              <a:rPr lang="en-NP" sz="2200" dirty="0">
                <a:solidFill>
                  <a:srgbClr val="FF0000"/>
                </a:solidFill>
              </a:rPr>
            </a:br>
            <a:br>
              <a:rPr lang="en-NP" sz="2200" b="1" dirty="0">
                <a:solidFill>
                  <a:srgbClr val="FF0000"/>
                </a:solidFill>
              </a:rPr>
            </a:br>
            <a:br>
              <a:rPr lang="en-NP" sz="2200" b="1" dirty="0">
                <a:solidFill>
                  <a:srgbClr val="FF0000"/>
                </a:solidFill>
              </a:rPr>
            </a:br>
            <a:r>
              <a:rPr lang="en-NP" sz="2000" b="1" i="1" dirty="0">
                <a:solidFill>
                  <a:srgbClr val="FF0000"/>
                </a:solidFill>
              </a:rPr>
              <a:t>3. Program to store n students records like name and address using array and loop.  Print</a:t>
            </a:r>
            <a:r>
              <a:rPr lang="en-NP" sz="2000" b="1" i="1" u="sng" dirty="0">
                <a:solidFill>
                  <a:srgbClr val="FF0000"/>
                </a:solidFill>
              </a:rPr>
              <a:t> the sorted record on the basis of name.</a:t>
            </a:r>
            <a:r>
              <a:rPr lang="en-NP" sz="2000" b="1" i="1" dirty="0">
                <a:solidFill>
                  <a:srgbClr val="FF0000"/>
                </a:solidFill>
              </a:rPr>
              <a:t> </a:t>
            </a:r>
            <a:br>
              <a:rPr lang="en-NP" sz="2400" b="1" i="1" dirty="0"/>
            </a:br>
            <a:br>
              <a:rPr lang="en-NP" b="1" dirty="0"/>
            </a:br>
            <a:endParaRPr lang="en-NP" b="1" dirty="0"/>
          </a:p>
        </p:txBody>
      </p:sp>
      <p:sp>
        <p:nvSpPr>
          <p:cNvPr id="3" name="Content Placeholder 2">
            <a:extLst>
              <a:ext uri="{FF2B5EF4-FFF2-40B4-BE49-F238E27FC236}">
                <a16:creationId xmlns:a16="http://schemas.microsoft.com/office/drawing/2014/main" id="{FA4143F8-6F5A-2861-C85B-EB7280C6F7E2}"/>
              </a:ext>
            </a:extLst>
          </p:cNvPr>
          <p:cNvSpPr>
            <a:spLocks noGrp="1"/>
          </p:cNvSpPr>
          <p:nvPr>
            <p:ph sz="half" idx="1"/>
          </p:nvPr>
        </p:nvSpPr>
        <p:spPr>
          <a:xfrm>
            <a:off x="323581" y="408599"/>
            <a:ext cx="5350727" cy="6615325"/>
          </a:xfrm>
        </p:spPr>
        <p:txBody>
          <a:bodyPr>
            <a:noAutofit/>
          </a:bodyPr>
          <a:lstStyle/>
          <a:p>
            <a:pPr marL="0" indent="0">
              <a:spcBef>
                <a:spcPts val="0"/>
              </a:spcBef>
              <a:buNone/>
            </a:pPr>
            <a:r>
              <a:rPr lang="en-US" sz="1800" b="1" dirty="0"/>
              <a:t>#include&lt;</a:t>
            </a:r>
            <a:r>
              <a:rPr lang="en-US" sz="1800" b="1" dirty="0" err="1"/>
              <a:t>stdio.h</a:t>
            </a:r>
            <a:r>
              <a:rPr lang="en-US" sz="1800" b="1" dirty="0"/>
              <a:t>&gt;</a:t>
            </a:r>
          </a:p>
          <a:p>
            <a:pPr marL="0" indent="0">
              <a:spcBef>
                <a:spcPts val="0"/>
              </a:spcBef>
              <a:buNone/>
            </a:pPr>
            <a:r>
              <a:rPr lang="en-US" sz="1800" b="1" dirty="0"/>
              <a:t>#include&lt;</a:t>
            </a:r>
            <a:r>
              <a:rPr lang="en-US" sz="1800" b="1" dirty="0" err="1"/>
              <a:t>string.h</a:t>
            </a:r>
            <a:r>
              <a:rPr lang="en-US" sz="1800" b="1" dirty="0"/>
              <a:t>&gt; </a:t>
            </a:r>
          </a:p>
          <a:p>
            <a:pPr marL="0" indent="0">
              <a:spcBef>
                <a:spcPts val="0"/>
              </a:spcBef>
              <a:buNone/>
            </a:pPr>
            <a:r>
              <a:rPr lang="en-US" sz="1800" b="1" dirty="0"/>
              <a:t>struct student </a:t>
            </a:r>
          </a:p>
          <a:p>
            <a:pPr marL="0" indent="0">
              <a:spcBef>
                <a:spcPts val="0"/>
              </a:spcBef>
              <a:buNone/>
            </a:pPr>
            <a:r>
              <a:rPr lang="en-US" sz="1800" b="1" dirty="0"/>
              <a:t>{ </a:t>
            </a:r>
          </a:p>
          <a:p>
            <a:pPr marL="0" indent="0">
              <a:spcBef>
                <a:spcPts val="0"/>
              </a:spcBef>
              <a:buNone/>
            </a:pPr>
            <a:r>
              <a:rPr lang="en-US" sz="1800" b="1" dirty="0"/>
              <a:t>int </a:t>
            </a:r>
            <a:r>
              <a:rPr lang="en-US" sz="1800" b="1" dirty="0" err="1"/>
              <a:t>rollNo</a:t>
            </a:r>
            <a:r>
              <a:rPr lang="en-US" sz="1800" b="1" dirty="0"/>
              <a:t>; </a:t>
            </a:r>
          </a:p>
          <a:p>
            <a:pPr marL="0" indent="0">
              <a:spcBef>
                <a:spcPts val="0"/>
              </a:spcBef>
              <a:buNone/>
            </a:pPr>
            <a:r>
              <a:rPr lang="en-US" sz="1800" b="1" dirty="0"/>
              <a:t>char name[50]; </a:t>
            </a:r>
          </a:p>
          <a:p>
            <a:pPr marL="0" indent="0">
              <a:spcBef>
                <a:spcPts val="0"/>
              </a:spcBef>
              <a:buNone/>
            </a:pPr>
            <a:r>
              <a:rPr lang="en-US" sz="1800" b="1" dirty="0"/>
              <a:t>char </a:t>
            </a:r>
            <a:r>
              <a:rPr lang="en-US" sz="1800" b="1" dirty="0" err="1"/>
              <a:t>adr</a:t>
            </a:r>
            <a:r>
              <a:rPr lang="en-US" sz="1800" b="1" dirty="0"/>
              <a:t>[60]; </a:t>
            </a:r>
          </a:p>
          <a:p>
            <a:pPr marL="0" indent="0">
              <a:spcBef>
                <a:spcPts val="0"/>
              </a:spcBef>
              <a:buNone/>
            </a:pPr>
            <a:r>
              <a:rPr lang="en-US" sz="1800" b="1" dirty="0"/>
              <a:t>}</a:t>
            </a:r>
            <a:r>
              <a:rPr lang="en-US" sz="1800" b="1" dirty="0" err="1"/>
              <a:t>st</a:t>
            </a:r>
            <a:r>
              <a:rPr lang="en-US" sz="1800" b="1" dirty="0"/>
              <a:t>[100]; </a:t>
            </a:r>
          </a:p>
          <a:p>
            <a:pPr marL="0" indent="0">
              <a:spcBef>
                <a:spcPts val="0"/>
              </a:spcBef>
              <a:buNone/>
            </a:pPr>
            <a:r>
              <a:rPr lang="en-US" sz="1800" b="1" dirty="0"/>
              <a:t>int main()</a:t>
            </a:r>
          </a:p>
          <a:p>
            <a:pPr marL="0" indent="0">
              <a:spcBef>
                <a:spcPts val="0"/>
              </a:spcBef>
              <a:buNone/>
            </a:pPr>
            <a:r>
              <a:rPr lang="en-US" sz="1800" b="1" dirty="0"/>
              <a:t>{ struct student temp;</a:t>
            </a:r>
          </a:p>
          <a:p>
            <a:pPr marL="0" indent="0">
              <a:spcBef>
                <a:spcPts val="0"/>
              </a:spcBef>
              <a:buNone/>
            </a:pPr>
            <a:r>
              <a:rPr lang="en-US" sz="1800" b="1" dirty="0"/>
              <a:t>int </a:t>
            </a:r>
            <a:r>
              <a:rPr lang="en-US" sz="1800" b="1" dirty="0" err="1"/>
              <a:t>i</a:t>
            </a:r>
            <a:r>
              <a:rPr lang="en-US" sz="1800" b="1" dirty="0"/>
              <a:t>, n; </a:t>
            </a:r>
          </a:p>
          <a:p>
            <a:pPr marL="0" indent="0">
              <a:spcBef>
                <a:spcPts val="0"/>
              </a:spcBef>
              <a:buNone/>
            </a:pPr>
            <a:r>
              <a:rPr lang="en-US" sz="1800" b="1" dirty="0"/>
              <a:t>{ </a:t>
            </a:r>
          </a:p>
          <a:p>
            <a:pPr marL="0" indent="0">
              <a:spcBef>
                <a:spcPts val="0"/>
              </a:spcBef>
              <a:buNone/>
            </a:pPr>
            <a:r>
              <a:rPr lang="en-US" sz="1800" b="1" dirty="0" err="1"/>
              <a:t>printf</a:t>
            </a:r>
            <a:r>
              <a:rPr lang="en-US" sz="1800" b="1" dirty="0"/>
              <a:t>("\</a:t>
            </a:r>
            <a:r>
              <a:rPr lang="en-US" sz="1800" b="1" dirty="0" err="1"/>
              <a:t>nEnter</a:t>
            </a:r>
            <a:r>
              <a:rPr lang="en-US" sz="1800" b="1" dirty="0"/>
              <a:t> the no of records n: "); </a:t>
            </a:r>
          </a:p>
          <a:p>
            <a:pPr marL="0" indent="0">
              <a:spcBef>
                <a:spcPts val="0"/>
              </a:spcBef>
              <a:buNone/>
            </a:pPr>
            <a:r>
              <a:rPr lang="en-US" sz="1800" b="1" dirty="0" err="1"/>
              <a:t>scanf</a:t>
            </a:r>
            <a:r>
              <a:rPr lang="en-US" sz="1800" b="1" dirty="0"/>
              <a:t>("%d", &amp;n); </a:t>
            </a:r>
          </a:p>
          <a:p>
            <a:pPr marL="0" indent="0">
              <a:spcBef>
                <a:spcPts val="0"/>
              </a:spcBef>
              <a:buNone/>
            </a:pPr>
            <a:r>
              <a:rPr lang="en-US" sz="1800" b="1" dirty="0"/>
              <a:t>}</a:t>
            </a:r>
          </a:p>
          <a:p>
            <a:pPr marL="0" indent="0">
              <a:lnSpc>
                <a:spcPct val="100000"/>
              </a:lnSpc>
              <a:spcBef>
                <a:spcPts val="0"/>
              </a:spcBef>
              <a:buNone/>
            </a:pPr>
            <a:r>
              <a:rPr lang="en-US" sz="1800" b="1" dirty="0">
                <a:highlight>
                  <a:srgbClr val="FFFF00"/>
                </a:highlight>
              </a:rPr>
              <a:t>//code to input to structure </a:t>
            </a:r>
          </a:p>
          <a:p>
            <a:pPr marL="0" indent="0">
              <a:lnSpc>
                <a:spcPct val="10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roll no of the student: "); </a:t>
            </a:r>
          </a:p>
          <a:p>
            <a:pPr marL="0" indent="0">
              <a:lnSpc>
                <a:spcPct val="100000"/>
              </a:lnSpc>
              <a:spcBef>
                <a:spcPts val="0"/>
              </a:spcBef>
              <a:buNone/>
            </a:pPr>
            <a:r>
              <a:rPr lang="en-US" sz="1800" b="1" dirty="0" err="1"/>
              <a:t>scanf</a:t>
            </a:r>
            <a:r>
              <a:rPr lang="en-US" sz="1800" b="1" dirty="0"/>
              <a:t>("%d", &amp;</a:t>
            </a:r>
            <a:r>
              <a:rPr lang="en-US" sz="1800" b="1" dirty="0" err="1"/>
              <a:t>st</a:t>
            </a:r>
            <a:r>
              <a:rPr lang="en-US" sz="1800" b="1" dirty="0"/>
              <a:t>[</a:t>
            </a:r>
            <a:r>
              <a:rPr lang="en-US" sz="1800" b="1" dirty="0" err="1"/>
              <a:t>i</a:t>
            </a:r>
            <a:r>
              <a:rPr lang="en-US" sz="1800" b="1" dirty="0"/>
              <a:t>].</a:t>
            </a:r>
            <a:r>
              <a:rPr lang="en-US" sz="1800" b="1" dirty="0" err="1"/>
              <a:t>rollNo</a:t>
            </a: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name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].name);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address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a:t>
            </a:r>
            <a:r>
              <a:rPr lang="en-US" sz="1800" b="1" dirty="0" err="1"/>
              <a:t>adr</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endParaRPr lang="en-US" sz="1800" b="1" dirty="0">
              <a:highlight>
                <a:srgbClr val="FFFF00"/>
              </a:highlight>
            </a:endParaRPr>
          </a:p>
          <a:p>
            <a:pPr marL="0" indent="0">
              <a:spcBef>
                <a:spcPts val="0"/>
              </a:spcBef>
              <a:buNone/>
            </a:pPr>
            <a:endParaRPr lang="en-US" sz="1600" b="1" dirty="0"/>
          </a:p>
          <a:p>
            <a:pPr marL="0" indent="0">
              <a:buNone/>
            </a:pPr>
            <a:endParaRPr lang="en-NP" sz="1800" b="1" dirty="0"/>
          </a:p>
        </p:txBody>
      </p:sp>
      <p:sp>
        <p:nvSpPr>
          <p:cNvPr id="5" name="Content Placeholder 3">
            <a:extLst>
              <a:ext uri="{FF2B5EF4-FFF2-40B4-BE49-F238E27FC236}">
                <a16:creationId xmlns:a16="http://schemas.microsoft.com/office/drawing/2014/main" id="{B9DD98E0-6DC9-50A4-D3A7-902BA623E02D}"/>
              </a:ext>
            </a:extLst>
          </p:cNvPr>
          <p:cNvSpPr txBox="1">
            <a:spLocks/>
          </p:cNvSpPr>
          <p:nvPr/>
        </p:nvSpPr>
        <p:spPr>
          <a:xfrm>
            <a:off x="5429588" y="238398"/>
            <a:ext cx="7024673" cy="69726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b="1" dirty="0">
                <a:highlight>
                  <a:srgbClr val="FFFF00"/>
                </a:highlight>
              </a:rPr>
              <a:t>//code to arrange in alphabetic order using nested loop</a:t>
            </a:r>
          </a:p>
          <a:p>
            <a:pPr marL="0" indent="0">
              <a:buNone/>
            </a:pPr>
            <a:r>
              <a:rPr lang="en-US" sz="7200" b="1" dirty="0"/>
              <a:t>for(</a:t>
            </a:r>
            <a:r>
              <a:rPr lang="en-US" sz="7200" b="1" dirty="0" err="1"/>
              <a:t>i</a:t>
            </a:r>
            <a:r>
              <a:rPr lang="en-US" sz="7200" b="1" dirty="0"/>
              <a:t>=0; </a:t>
            </a:r>
            <a:r>
              <a:rPr lang="en-US" sz="7200" b="1" dirty="0" err="1"/>
              <a:t>i</a:t>
            </a:r>
            <a:r>
              <a:rPr lang="en-US" sz="7200" b="1" dirty="0"/>
              <a:t>&lt;n-1; </a:t>
            </a:r>
            <a:r>
              <a:rPr lang="en-US" sz="7200" b="1" dirty="0" err="1"/>
              <a:t>i</a:t>
            </a:r>
            <a:r>
              <a:rPr lang="en-US" sz="7200" b="1" dirty="0"/>
              <a:t>++) </a:t>
            </a:r>
          </a:p>
          <a:p>
            <a:pPr marL="0" indent="0">
              <a:buNone/>
            </a:pPr>
            <a:r>
              <a:rPr lang="en-US" sz="7200" b="1" dirty="0"/>
              <a:t>{ </a:t>
            </a:r>
          </a:p>
          <a:p>
            <a:pPr marL="0" indent="0">
              <a:buNone/>
            </a:pPr>
            <a:r>
              <a:rPr lang="en-US" sz="7200" b="1" dirty="0"/>
              <a:t>for(int j=i+1; j&lt;n; </a:t>
            </a:r>
            <a:r>
              <a:rPr lang="en-US" sz="7200" b="1" dirty="0" err="1"/>
              <a:t>j++</a:t>
            </a:r>
            <a:r>
              <a:rPr lang="en-US" sz="7200" b="1" dirty="0"/>
              <a:t>) </a:t>
            </a:r>
          </a:p>
          <a:p>
            <a:pPr marL="0" indent="0">
              <a:buNone/>
            </a:pPr>
            <a:r>
              <a:rPr lang="en-US" sz="7200" b="1" dirty="0"/>
              <a:t>{ </a:t>
            </a:r>
          </a:p>
          <a:p>
            <a:pPr marL="0" indent="0">
              <a:buNone/>
            </a:pPr>
            <a:r>
              <a:rPr lang="en-US" sz="7200" b="1" dirty="0"/>
              <a:t>if(</a:t>
            </a:r>
            <a:r>
              <a:rPr lang="en-US" sz="7200" b="1" dirty="0" err="1"/>
              <a:t>strcmp</a:t>
            </a:r>
            <a:r>
              <a:rPr lang="en-US" sz="7200" b="1" dirty="0"/>
              <a:t>(</a:t>
            </a:r>
            <a:r>
              <a:rPr lang="en-US" sz="7200" b="1" dirty="0" err="1"/>
              <a:t>st</a:t>
            </a:r>
            <a:r>
              <a:rPr lang="en-US" sz="7200" b="1" dirty="0"/>
              <a:t>[</a:t>
            </a:r>
            <a:r>
              <a:rPr lang="en-US" sz="7200" b="1" dirty="0" err="1"/>
              <a:t>i</a:t>
            </a:r>
            <a:r>
              <a:rPr lang="en-US" sz="7200" b="1" dirty="0"/>
              <a:t>].name, </a:t>
            </a:r>
            <a:r>
              <a:rPr lang="en-US" sz="7200" b="1" dirty="0" err="1"/>
              <a:t>st</a:t>
            </a:r>
            <a:r>
              <a:rPr lang="en-US" sz="7200" b="1" dirty="0"/>
              <a:t>[j].name)&gt;0) </a:t>
            </a:r>
          </a:p>
          <a:p>
            <a:pPr marL="0" indent="0">
              <a:buNone/>
            </a:pPr>
            <a:r>
              <a:rPr lang="en-US" sz="7200" b="1" dirty="0"/>
              <a:t>{ </a:t>
            </a:r>
          </a:p>
          <a:p>
            <a:pPr marL="0" indent="0">
              <a:buNone/>
            </a:pPr>
            <a:r>
              <a:rPr lang="en-US" sz="7200" b="1" dirty="0"/>
              <a:t>temp=</a:t>
            </a:r>
            <a:r>
              <a:rPr lang="en-US" sz="7200" b="1" dirty="0" err="1"/>
              <a:t>st</a:t>
            </a:r>
            <a:r>
              <a:rPr lang="en-US" sz="7200" b="1" dirty="0"/>
              <a:t>[</a:t>
            </a:r>
            <a:r>
              <a:rPr lang="en-US" sz="7200" b="1" dirty="0" err="1"/>
              <a:t>i</a:t>
            </a:r>
            <a:r>
              <a:rPr lang="en-US" sz="7200" b="1" dirty="0"/>
              <a:t>]; </a:t>
            </a:r>
          </a:p>
          <a:p>
            <a:pPr marL="0" indent="0">
              <a:buNone/>
            </a:pPr>
            <a:r>
              <a:rPr lang="en-US" sz="7200" b="1" dirty="0" err="1"/>
              <a:t>st</a:t>
            </a:r>
            <a:r>
              <a:rPr lang="en-US" sz="7200" b="1" dirty="0"/>
              <a:t>[</a:t>
            </a:r>
            <a:r>
              <a:rPr lang="en-US" sz="7200" b="1" dirty="0" err="1"/>
              <a:t>i</a:t>
            </a:r>
            <a:r>
              <a:rPr lang="en-US" sz="7200" b="1" dirty="0"/>
              <a:t>]=</a:t>
            </a:r>
            <a:r>
              <a:rPr lang="en-US" sz="7200" b="1" dirty="0" err="1"/>
              <a:t>st</a:t>
            </a:r>
            <a:r>
              <a:rPr lang="en-US" sz="7200" b="1" dirty="0"/>
              <a:t>[j]; </a:t>
            </a:r>
          </a:p>
          <a:p>
            <a:pPr marL="0" indent="0">
              <a:buNone/>
            </a:pPr>
            <a:r>
              <a:rPr lang="en-US" sz="7200" b="1" dirty="0" err="1"/>
              <a:t>st</a:t>
            </a:r>
            <a:r>
              <a:rPr lang="en-US" sz="7200" b="1" dirty="0"/>
              <a:t>[j]=temp; </a:t>
            </a:r>
          </a:p>
          <a:p>
            <a:pPr marL="0" indent="0">
              <a:buNone/>
            </a:pPr>
            <a:r>
              <a:rPr lang="en-US" sz="7200" b="1" dirty="0"/>
              <a:t>} </a:t>
            </a:r>
          </a:p>
          <a:p>
            <a:pPr marL="0" indent="0">
              <a:buNone/>
            </a:pPr>
            <a:r>
              <a:rPr lang="en-US" sz="7200" b="1" dirty="0"/>
              <a:t>} </a:t>
            </a:r>
          </a:p>
          <a:p>
            <a:pPr marL="0" indent="0">
              <a:buNone/>
            </a:pPr>
            <a:r>
              <a:rPr lang="en-US" sz="7200" b="1" dirty="0"/>
              <a:t>}</a:t>
            </a:r>
          </a:p>
          <a:p>
            <a:pPr marL="0" indent="0">
              <a:buNone/>
            </a:pPr>
            <a:r>
              <a:rPr lang="en-US" sz="7200" b="1" dirty="0">
                <a:highlight>
                  <a:srgbClr val="FFFF00"/>
                </a:highlight>
              </a:rPr>
              <a:t>//code to display after sorting </a:t>
            </a:r>
          </a:p>
          <a:p>
            <a:pPr marL="0" indent="0">
              <a:buNone/>
            </a:pPr>
            <a:r>
              <a:rPr lang="en-US" sz="7200" b="1" dirty="0" err="1"/>
              <a:t>printf</a:t>
            </a:r>
            <a:r>
              <a:rPr lang="en-US" sz="7200" b="1" dirty="0"/>
              <a:t>("\n\</a:t>
            </a:r>
            <a:r>
              <a:rPr lang="en-US" sz="7200" b="1" dirty="0" err="1"/>
              <a:t>nThe</a:t>
            </a:r>
            <a:r>
              <a:rPr lang="en-US" sz="7200" b="1" dirty="0"/>
              <a:t> record of the </a:t>
            </a:r>
            <a:r>
              <a:rPr lang="en-US" sz="7200" b="1" dirty="0" err="1"/>
              <a:t>sutdent</a:t>
            </a:r>
            <a:r>
              <a:rPr lang="en-US" sz="7200" b="1" dirty="0"/>
              <a:t> after sorting: "); </a:t>
            </a:r>
          </a:p>
          <a:p>
            <a:pPr marL="0" indent="0">
              <a:buNone/>
            </a:pPr>
            <a:r>
              <a:rPr lang="en-US" sz="7200" b="1" dirty="0" err="1"/>
              <a:t>printf</a:t>
            </a:r>
            <a:r>
              <a:rPr lang="en-US" sz="7200" b="1" dirty="0"/>
              <a:t>("\</a:t>
            </a:r>
            <a:r>
              <a:rPr lang="en-US" sz="7200" b="1" dirty="0" err="1"/>
              <a:t>nROLL</a:t>
            </a:r>
            <a:r>
              <a:rPr lang="en-US" sz="7200" b="1" dirty="0"/>
              <a:t>\t\</a:t>
            </a:r>
            <a:r>
              <a:rPr lang="en-US" sz="7200" b="1" dirty="0" err="1"/>
              <a:t>tName</a:t>
            </a:r>
            <a:r>
              <a:rPr lang="en-US" sz="7200" b="1" dirty="0"/>
              <a:t> of Student\t\</a:t>
            </a:r>
            <a:r>
              <a:rPr lang="en-US" sz="7200" b="1" dirty="0" err="1"/>
              <a:t>tAddress</a:t>
            </a:r>
            <a:r>
              <a:rPr lang="en-US" sz="7200" b="1" dirty="0"/>
              <a:t>"); </a:t>
            </a:r>
          </a:p>
          <a:p>
            <a:pPr marL="0" indent="0">
              <a:buNone/>
            </a:pPr>
            <a:r>
              <a:rPr lang="en-US" sz="7200" b="1" dirty="0"/>
              <a:t>for(</a:t>
            </a:r>
            <a:r>
              <a:rPr lang="en-US" sz="7200" b="1" dirty="0" err="1"/>
              <a:t>i</a:t>
            </a:r>
            <a:r>
              <a:rPr lang="en-US" sz="7200" b="1" dirty="0"/>
              <a:t>=0;i&lt;</a:t>
            </a:r>
            <a:r>
              <a:rPr lang="en-US" sz="7200" b="1" dirty="0" err="1"/>
              <a:t>n;i</a:t>
            </a:r>
            <a:r>
              <a:rPr lang="en-US" sz="7200" b="1" dirty="0"/>
              <a:t>++) </a:t>
            </a:r>
          </a:p>
          <a:p>
            <a:pPr marL="0" indent="0">
              <a:buNone/>
            </a:pPr>
            <a:r>
              <a:rPr lang="en-US" sz="7200" b="1" dirty="0"/>
              <a:t>{ </a:t>
            </a:r>
          </a:p>
          <a:p>
            <a:pPr marL="0" indent="0">
              <a:lnSpc>
                <a:spcPts val="1350"/>
              </a:lnSpc>
              <a:buNone/>
            </a:pPr>
            <a:r>
              <a:rPr lang="en-US" sz="8000" b="1" dirty="0" err="1">
                <a:effectLst/>
                <a:latin typeface="Calibri" panose="020F0502020204030204" pitchFamily="34" charset="0"/>
                <a:cs typeface="Calibri" panose="020F0502020204030204" pitchFamily="34" charset="0"/>
              </a:rPr>
              <a:t>printf</a:t>
            </a:r>
            <a:r>
              <a:rPr lang="en-US" sz="8000" b="1" dirty="0">
                <a:effectLst/>
                <a:latin typeface="Calibri" panose="020F0502020204030204" pitchFamily="34" charset="0"/>
                <a:cs typeface="Calibri" panose="020F0502020204030204" pitchFamily="34" charset="0"/>
              </a:rPr>
              <a:t>("\n\</a:t>
            </a:r>
            <a:r>
              <a:rPr lang="en-US" sz="8000" b="1" dirty="0" err="1">
                <a:effectLst/>
                <a:latin typeface="Calibri" panose="020F0502020204030204" pitchFamily="34" charset="0"/>
                <a:cs typeface="Calibri" panose="020F0502020204030204" pitchFamily="34" charset="0"/>
              </a:rPr>
              <a:t>n%d</a:t>
            </a:r>
            <a:r>
              <a:rPr lang="en-US" sz="8000" b="1" dirty="0">
                <a:effectLst/>
                <a:latin typeface="Calibri" panose="020F0502020204030204" pitchFamily="34" charset="0"/>
                <a:cs typeface="Calibri" panose="020F0502020204030204" pitchFamily="34" charset="0"/>
              </a:rPr>
              <a: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rollNo,st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name,st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adr</a:t>
            </a:r>
            <a:r>
              <a:rPr lang="en-US" sz="8000" b="1" dirty="0">
                <a:effectLst/>
                <a:latin typeface="Calibri" panose="020F0502020204030204" pitchFamily="34" charset="0"/>
                <a:cs typeface="Calibri" panose="020F0502020204030204" pitchFamily="34" charset="0"/>
              </a:rPr>
              <a:t>); </a:t>
            </a:r>
          </a:p>
          <a:p>
            <a:pPr marL="0" indent="0">
              <a:buNone/>
            </a:pPr>
            <a:r>
              <a:rPr lang="en-US" sz="7200" b="1" dirty="0"/>
              <a:t>} return 0;</a:t>
            </a:r>
          </a:p>
          <a:p>
            <a:pPr marL="0" indent="0">
              <a:buNone/>
            </a:pPr>
            <a:r>
              <a:rPr lang="en-US" sz="7200" b="1" dirty="0"/>
              <a:t>}</a:t>
            </a:r>
          </a:p>
          <a:p>
            <a:pPr marL="0" indent="0">
              <a:buNone/>
            </a:pPr>
            <a:br>
              <a:rPr lang="en-US" sz="7200" b="1" dirty="0"/>
            </a:br>
            <a:endParaRPr lang="en-US" sz="7200" b="1" dirty="0"/>
          </a:p>
          <a:p>
            <a:br>
              <a:rPr lang="en-US" dirty="0"/>
            </a:br>
            <a:endParaRPr lang="en-US" dirty="0"/>
          </a:p>
          <a:p>
            <a:pPr marL="0" indent="0">
              <a:spcBef>
                <a:spcPts val="0"/>
              </a:spcBef>
              <a:buNone/>
            </a:pPr>
            <a:endParaRPr lang="en-US" sz="1800" b="1" dirty="0"/>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8D2C890C-DF90-E0E2-6FC6-B0D2D05CDA3A}"/>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9F4D4AE5-4585-321A-F478-0BC16377D525}"/>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12778216-48E6-101C-657C-93DCE58E8E7D}"/>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2B45FC02-1D87-05F8-A95E-19785E33EBDD}"/>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CA879B3E-D31D-8E78-406A-086CB72EE94E}"/>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07EE6E9-1293-0157-A858-527D1DB0CEC0}"/>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5377B199-15E2-DCD0-736E-C38C1D532F6C}"/>
              </a:ext>
            </a:extLst>
          </p:cNvPr>
          <p:cNvCxnSpPr>
            <a:cxnSpLocks/>
          </p:cNvCxnSpPr>
          <p:nvPr/>
        </p:nvCxnSpPr>
        <p:spPr>
          <a:xfrm flipV="1">
            <a:off x="5309251" y="362957"/>
            <a:ext cx="0" cy="6276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17782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ontent Placeholder 8">
            <a:extLst>
              <a:ext uri="{FF2B5EF4-FFF2-40B4-BE49-F238E27FC236}">
                <a16:creationId xmlns:a16="http://schemas.microsoft.com/office/drawing/2014/main" id="{01F5C87B-F11C-3761-5559-9D502F0EA8E5}"/>
              </a:ext>
            </a:extLst>
          </p:cNvPr>
          <p:cNvGraphicFramePr>
            <a:graphicFrameLocks/>
          </p:cNvGraphicFramePr>
          <p:nvPr>
            <p:extLst>
              <p:ext uri="{D42A27DB-BD31-4B8C-83A1-F6EECF244321}">
                <p14:modId xmlns:p14="http://schemas.microsoft.com/office/powerpoint/2010/main" val="132073077"/>
              </p:ext>
            </p:extLst>
          </p:nvPr>
        </p:nvGraphicFramePr>
        <p:xfrm>
          <a:off x="6096000" y="22926"/>
          <a:ext cx="5898996" cy="6704531"/>
        </p:xfrm>
        <a:graphic>
          <a:graphicData uri="http://schemas.openxmlformats.org/drawingml/2006/table">
            <a:tbl>
              <a:tblPr firstRow="1" bandRow="1">
                <a:tableStyleId>{5940675A-B579-460E-94D1-54222C63F5DA}</a:tableStyleId>
              </a:tblPr>
              <a:tblGrid>
                <a:gridCol w="1530527">
                  <a:extLst>
                    <a:ext uri="{9D8B030D-6E8A-4147-A177-3AD203B41FA5}">
                      <a16:colId xmlns:a16="http://schemas.microsoft.com/office/drawing/2014/main" val="572344113"/>
                    </a:ext>
                  </a:extLst>
                </a:gridCol>
                <a:gridCol w="403600">
                  <a:extLst>
                    <a:ext uri="{9D8B030D-6E8A-4147-A177-3AD203B41FA5}">
                      <a16:colId xmlns:a16="http://schemas.microsoft.com/office/drawing/2014/main" val="3431798763"/>
                    </a:ext>
                  </a:extLst>
                </a:gridCol>
                <a:gridCol w="512076">
                  <a:extLst>
                    <a:ext uri="{9D8B030D-6E8A-4147-A177-3AD203B41FA5}">
                      <a16:colId xmlns:a16="http://schemas.microsoft.com/office/drawing/2014/main" val="2587928260"/>
                    </a:ext>
                  </a:extLst>
                </a:gridCol>
                <a:gridCol w="327477">
                  <a:extLst>
                    <a:ext uri="{9D8B030D-6E8A-4147-A177-3AD203B41FA5}">
                      <a16:colId xmlns:a16="http://schemas.microsoft.com/office/drawing/2014/main" val="1108368050"/>
                    </a:ext>
                  </a:extLst>
                </a:gridCol>
                <a:gridCol w="226120">
                  <a:extLst>
                    <a:ext uri="{9D8B030D-6E8A-4147-A177-3AD203B41FA5}">
                      <a16:colId xmlns:a16="http://schemas.microsoft.com/office/drawing/2014/main" val="4022544123"/>
                    </a:ext>
                  </a:extLst>
                </a:gridCol>
                <a:gridCol w="178829">
                  <a:extLst>
                    <a:ext uri="{9D8B030D-6E8A-4147-A177-3AD203B41FA5}">
                      <a16:colId xmlns:a16="http://schemas.microsoft.com/office/drawing/2014/main" val="2506898600"/>
                    </a:ext>
                  </a:extLst>
                </a:gridCol>
                <a:gridCol w="360928">
                  <a:extLst>
                    <a:ext uri="{9D8B030D-6E8A-4147-A177-3AD203B41FA5}">
                      <a16:colId xmlns:a16="http://schemas.microsoft.com/office/drawing/2014/main" val="949422547"/>
                    </a:ext>
                  </a:extLst>
                </a:gridCol>
                <a:gridCol w="512076">
                  <a:extLst>
                    <a:ext uri="{9D8B030D-6E8A-4147-A177-3AD203B41FA5}">
                      <a16:colId xmlns:a16="http://schemas.microsoft.com/office/drawing/2014/main" val="1566616541"/>
                    </a:ext>
                  </a:extLst>
                </a:gridCol>
                <a:gridCol w="539757">
                  <a:extLst>
                    <a:ext uri="{9D8B030D-6E8A-4147-A177-3AD203B41FA5}">
                      <a16:colId xmlns:a16="http://schemas.microsoft.com/office/drawing/2014/main" val="643360668"/>
                    </a:ext>
                  </a:extLst>
                </a:gridCol>
                <a:gridCol w="456718">
                  <a:extLst>
                    <a:ext uri="{9D8B030D-6E8A-4147-A177-3AD203B41FA5}">
                      <a16:colId xmlns:a16="http://schemas.microsoft.com/office/drawing/2014/main" val="562860999"/>
                    </a:ext>
                  </a:extLst>
                </a:gridCol>
                <a:gridCol w="456718">
                  <a:extLst>
                    <a:ext uri="{9D8B030D-6E8A-4147-A177-3AD203B41FA5}">
                      <a16:colId xmlns:a16="http://schemas.microsoft.com/office/drawing/2014/main" val="2603453691"/>
                    </a:ext>
                  </a:extLst>
                </a:gridCol>
                <a:gridCol w="394170">
                  <a:extLst>
                    <a:ext uri="{9D8B030D-6E8A-4147-A177-3AD203B41FA5}">
                      <a16:colId xmlns:a16="http://schemas.microsoft.com/office/drawing/2014/main" val="1404394936"/>
                    </a:ext>
                  </a:extLst>
                </a:gridCol>
              </a:tblGrid>
              <a:tr h="313459">
                <a:tc rowSpan="3">
                  <a:txBody>
                    <a:bodyPr/>
                    <a:lstStyle/>
                    <a:p>
                      <a:r>
                        <a:rPr lang="en-NP" sz="1400" b="1" dirty="0">
                          <a:solidFill>
                            <a:srgbClr val="FF0000"/>
                          </a:solidFill>
                          <a:highlight>
                            <a:srgbClr val="FFFF00"/>
                          </a:highlight>
                        </a:rPr>
                        <a:t>     </a:t>
                      </a:r>
                    </a:p>
                    <a:p>
                      <a:r>
                        <a:rPr lang="en-NP" sz="1400" b="1" dirty="0">
                          <a:solidFill>
                            <a:srgbClr val="FF0000"/>
                          </a:solidFill>
                          <a:highlight>
                            <a:srgbClr val="FFFF00"/>
                          </a:highlight>
                        </a:rPr>
                        <a:t>          </a:t>
                      </a:r>
                      <a:r>
                        <a:rPr lang="en-NP" sz="2000" b="1" dirty="0">
                          <a:solidFill>
                            <a:srgbClr val="FF0000"/>
                          </a:solidFill>
                          <a:highlight>
                            <a:srgbClr val="FFFF00"/>
                          </a:highlight>
                        </a:rPr>
                        <a:t>TEMP</a:t>
                      </a: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hMerge="1">
                  <a:txBody>
                    <a:bodyPr/>
                    <a:lstStyle/>
                    <a:p>
                      <a:endParaRPr lang="en-NP" sz="1400" b="1" dirty="0">
                        <a:highlight>
                          <a:srgbClr val="00FF00"/>
                        </a:highlight>
                      </a:endParaRPr>
                    </a:p>
                  </a:txBody>
                  <a:tcPr/>
                </a:tc>
                <a:tc hMerge="1">
                  <a:txBody>
                    <a:bodyPr/>
                    <a:lstStyle/>
                    <a:p>
                      <a:r>
                        <a:rPr lang="en-NP" sz="1400" b="1" dirty="0">
                          <a:highlight>
                            <a:srgbClr val="FF00FF"/>
                          </a:highlight>
                        </a:rPr>
                        <a:t>1</a:t>
                      </a:r>
                    </a:p>
                  </a:txBody>
                  <a:tcPr/>
                </a:tc>
                <a:tc gridSpan="8">
                  <a:txBody>
                    <a:bodyPr/>
                    <a:lstStyle/>
                    <a:p>
                      <a:r>
                        <a:rPr lang="en-NP" sz="1400" b="1">
                          <a:highlight>
                            <a:srgbClr val="FF00FF"/>
                          </a:highlight>
                        </a:rPr>
                        <a:t>1</a:t>
                      </a:r>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2485449971"/>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00"/>
                          </a:highlight>
                        </a:rPr>
                        <a:t>r</a:t>
                      </a:r>
                    </a:p>
                  </a:txBody>
                  <a:tcPr/>
                </a:tc>
                <a:tc gridSpan="2">
                  <a:txBody>
                    <a:bodyPr/>
                    <a:lstStyle/>
                    <a:p>
                      <a:r>
                        <a:rPr lang="en-NP" sz="1400" b="1">
                          <a:highlight>
                            <a:srgbClr val="00FF00"/>
                          </a:highlight>
                        </a:rPr>
                        <a:t>r</a:t>
                      </a:r>
                      <a:endParaRPr lang="en-NP" sz="1400" b="1" dirty="0">
                        <a:highlight>
                          <a:srgbClr val="00FF00"/>
                        </a:highlight>
                      </a:endParaRPr>
                    </a:p>
                  </a:txBody>
                  <a:tcPr/>
                </a:tc>
                <a:tc hMerge="1">
                  <a:txBody>
                    <a:bodyPr/>
                    <a:lstStyle/>
                    <a:p>
                      <a:r>
                        <a:rPr lang="en-NP" sz="1400" b="1" dirty="0">
                          <a:highlight>
                            <a:srgbClr val="00FF00"/>
                          </a:highlight>
                        </a:rPr>
                        <a:t>a</a:t>
                      </a:r>
                    </a:p>
                  </a:txBody>
                  <a:tcPr/>
                </a:tc>
                <a:tc>
                  <a:txBody>
                    <a:bodyPr/>
                    <a:lstStyle/>
                    <a:p>
                      <a:r>
                        <a:rPr lang="en-NP" sz="1400" b="1">
                          <a:highlight>
                            <a:srgbClr val="00FF00"/>
                          </a:highlight>
                        </a:rPr>
                        <a:t>a</a:t>
                      </a:r>
                      <a:endParaRPr lang="en-NP" sz="1400" b="1" dirty="0">
                        <a:highlight>
                          <a:srgbClr val="00FF00"/>
                        </a:highlight>
                      </a:endParaRPr>
                    </a:p>
                  </a:txBody>
                  <a:tcPr/>
                </a:tc>
                <a:tc>
                  <a:txBody>
                    <a:bodyPr/>
                    <a:lstStyle/>
                    <a:p>
                      <a:r>
                        <a:rPr lang="en-NP" sz="1400" b="1" dirty="0">
                          <a:highlight>
                            <a:srgbClr val="00FF00"/>
                          </a:highlight>
                        </a:rPr>
                        <a:t>m</a:t>
                      </a: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3613964346"/>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400" b="1" dirty="0">
                          <a:highlight>
                            <a:srgbClr val="00FFFF"/>
                          </a:highlight>
                        </a:rPr>
                        <a:t>st[i].adr</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FF"/>
                          </a:highlight>
                        </a:rPr>
                        <a:t>k</a:t>
                      </a:r>
                    </a:p>
                  </a:txBody>
                  <a:tcPr/>
                </a:tc>
                <a:tc gridSpan="2">
                  <a:txBody>
                    <a:bodyPr/>
                    <a:lstStyle/>
                    <a:p>
                      <a:r>
                        <a:rPr lang="en-NP" sz="1400" b="1" dirty="0">
                          <a:highlight>
                            <a:srgbClr val="00FFFF"/>
                          </a:highlight>
                        </a:rPr>
                        <a:t>k</a:t>
                      </a:r>
                    </a:p>
                  </a:txBody>
                  <a:tcPr/>
                </a:tc>
                <a:tc hMerge="1">
                  <a:txBody>
                    <a:bodyPr/>
                    <a:lstStyle/>
                    <a:p>
                      <a:r>
                        <a:rPr lang="en-NP" sz="1400" b="1" dirty="0">
                          <a:highlight>
                            <a:srgbClr val="00FFFF"/>
                          </a:highlight>
                        </a:rPr>
                        <a:t>t</a:t>
                      </a:r>
                    </a:p>
                  </a:txBody>
                  <a:tcPr/>
                </a:tc>
                <a:tc>
                  <a:txBody>
                    <a:bodyPr/>
                    <a:lstStyle/>
                    <a:p>
                      <a:r>
                        <a:rPr lang="en-NP" sz="1400" b="1" dirty="0">
                          <a:highlight>
                            <a:srgbClr val="00FFFF"/>
                          </a:highlight>
                        </a:rPr>
                        <a:t>t</a:t>
                      </a:r>
                    </a:p>
                  </a:txBody>
                  <a:tcPr/>
                </a:tc>
                <a:tc>
                  <a:txBody>
                    <a:bodyPr/>
                    <a:lstStyle/>
                    <a:p>
                      <a:r>
                        <a:rPr lang="en-NP" sz="1400" b="1" dirty="0">
                          <a:highlight>
                            <a:srgbClr val="00FFFF"/>
                          </a:highlight>
                        </a:rPr>
                        <a:t>m</a:t>
                      </a: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3761194259"/>
                  </a:ext>
                </a:extLst>
              </a:tr>
              <a:tr h="313459">
                <a:tc>
                  <a:txBody>
                    <a:bodyPr/>
                    <a:lstStyle/>
                    <a:p>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gridSpan="11">
                  <a:txBody>
                    <a:bodyPr/>
                    <a:lstStyle/>
                    <a:p>
                      <a:endParaRPr lang="en-NP" sz="1400" b="1"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360701773"/>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0].rollNo</a:t>
                      </a:r>
                    </a:p>
                  </a:txBody>
                  <a:tcPr/>
                </a:tc>
                <a:tc gridSpan="11">
                  <a:txBody>
                    <a:bodyPr/>
                    <a:lstStyle/>
                    <a:p>
                      <a:r>
                        <a:rPr lang="en-NP" sz="1400" b="1" dirty="0"/>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25130327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1].rollNo</a:t>
                      </a:r>
                    </a:p>
                  </a:txBody>
                  <a:tcPr/>
                </a:tc>
                <a:tc gridSpan="11">
                  <a:txBody>
                    <a:bodyPr/>
                    <a:lstStyle/>
                    <a:p>
                      <a:r>
                        <a:rPr lang="en-NP" sz="1400" b="1" dirty="0"/>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93193304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2].rollNo</a:t>
                      </a:r>
                    </a:p>
                  </a:txBody>
                  <a:tcPr/>
                </a:tc>
                <a:tc gridSpan="11">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634278864"/>
                  </a:ext>
                </a:extLst>
              </a:tr>
              <a:tr h="548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99].rollNo</a:t>
                      </a:r>
                    </a:p>
                  </a:txBody>
                  <a:tcPr/>
                </a:tc>
                <a:tc gridSpan="11">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775342184"/>
                  </a:ext>
                </a:extLst>
              </a:tr>
              <a:tr h="313459">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st[99].name</a:t>
                      </a:r>
                    </a:p>
                  </a:txBody>
                  <a:tcPr/>
                </a:tc>
                <a:tc>
                  <a:txBody>
                    <a:bodyPr/>
                    <a:lstStyle/>
                    <a:p>
                      <a:r>
                        <a:rPr lang="en-NP" sz="1400" b="1" dirty="0">
                          <a:highlight>
                            <a:srgbClr val="00FF00"/>
                          </a:highlight>
                        </a:rPr>
                        <a:t>0</a:t>
                      </a:r>
                    </a:p>
                  </a:txBody>
                  <a:tcPr/>
                </a:tc>
                <a:tc>
                  <a:txBody>
                    <a:bodyPr/>
                    <a:lstStyle/>
                    <a:p>
                      <a:r>
                        <a:rPr lang="en-NP" sz="1400" b="1" dirty="0">
                          <a:highlight>
                            <a:srgbClr val="00FF00"/>
                          </a:highlight>
                        </a:rPr>
                        <a:t>1</a:t>
                      </a:r>
                    </a:p>
                  </a:txBody>
                  <a:tcPr/>
                </a:tc>
                <a:tc gridSpan="2">
                  <a:txBody>
                    <a:bodyPr/>
                    <a:lstStyle/>
                    <a:p>
                      <a:r>
                        <a:rPr lang="en-NP" sz="1400" b="1" dirty="0">
                          <a:highlight>
                            <a:srgbClr val="00FF00"/>
                          </a:highlight>
                        </a:rPr>
                        <a:t>2</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3</a:t>
                      </a:r>
                    </a:p>
                  </a:txBody>
                  <a:tcPr/>
                </a:tc>
                <a:tc hMerge="1">
                  <a:txBody>
                    <a:bodyPr/>
                    <a:lstStyle/>
                    <a:p>
                      <a:endParaRPr lang="en-NP" sz="1400" b="1" dirty="0">
                        <a:highlight>
                          <a:srgbClr val="00FF00"/>
                        </a:highlight>
                      </a:endParaRPr>
                    </a:p>
                  </a:txBody>
                  <a:tcPr/>
                </a:tc>
                <a:tc>
                  <a:txBody>
                    <a:bodyPr/>
                    <a:lstStyle/>
                    <a:p>
                      <a:r>
                        <a:rPr lang="en-NP" sz="1400" b="1" dirty="0">
                          <a:highlight>
                            <a:srgbClr val="00FF00"/>
                          </a:highlight>
                        </a:rPr>
                        <a:t>4</a:t>
                      </a:r>
                    </a:p>
                  </a:txBody>
                  <a:tcPr/>
                </a:tc>
                <a:tc>
                  <a:txBody>
                    <a:bodyPr/>
                    <a:lstStyle/>
                    <a:p>
                      <a:r>
                        <a:rPr lang="en-NP" sz="1400" b="1" dirty="0">
                          <a:highlight>
                            <a:srgbClr val="00FF00"/>
                          </a:highlight>
                        </a:rPr>
                        <a:t>5</a:t>
                      </a:r>
                    </a:p>
                  </a:txBody>
                  <a:tcPr/>
                </a:tc>
                <a:tc gridSpan="3">
                  <a:txBody>
                    <a:bodyPr/>
                    <a:lstStyle/>
                    <a:p>
                      <a:r>
                        <a:rPr lang="en-NP" sz="1400"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13459">
                <a:tc vMerge="1">
                  <a:txBody>
                    <a:bodyPr/>
                    <a:lstStyle/>
                    <a:p>
                      <a:endParaRPr dirty="0"/>
                    </a:p>
                  </a:txBody>
                  <a:tcPr/>
                </a:tc>
                <a:tc>
                  <a:txBody>
                    <a:bodyPr/>
                    <a:lstStyle/>
                    <a:p>
                      <a:r>
                        <a:rPr lang="en-NP" sz="1400" b="1" dirty="0">
                          <a:highlight>
                            <a:srgbClr val="00FF00"/>
                          </a:highlight>
                        </a:rPr>
                        <a:t>h</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r</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i</a:t>
                      </a: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939781137"/>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400" b="1" dirty="0">
                          <a:highlight>
                            <a:srgbClr val="00FF00"/>
                          </a:highlight>
                        </a:rPr>
                        <a:t>r</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637305035"/>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101711809"/>
                  </a:ext>
                </a:extLst>
              </a:tr>
              <a:tr h="708788">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424640484"/>
                  </a:ext>
                </a:extLst>
              </a:tr>
              <a:tr h="313459">
                <a:tc rowSpan="5">
                  <a:txBody>
                    <a:bodyPr/>
                    <a:lstStyle/>
                    <a:p>
                      <a:pPr>
                        <a:lnSpc>
                          <a:spcPct val="150000"/>
                        </a:lnSpc>
                      </a:pPr>
                      <a:r>
                        <a:rPr lang="en-NP" sz="1400" b="1" dirty="0">
                          <a:highlight>
                            <a:srgbClr val="00FFFF"/>
                          </a:highlight>
                        </a:rPr>
                        <a:t>st[i].</a:t>
                      </a:r>
                      <a:r>
                        <a:rPr lang="en-US" sz="1400" b="1" dirty="0">
                          <a:highlight>
                            <a:srgbClr val="00FFFF"/>
                          </a:highlight>
                        </a:rPr>
                        <a:t>a</a:t>
                      </a:r>
                      <a:r>
                        <a:rPr lang="en-NP" sz="14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st[0].</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st[1].</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st[2].</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st[99].</a:t>
                      </a:r>
                      <a:r>
                        <a:rPr lang="en-US" sz="1400" b="1" dirty="0">
                          <a:highlight>
                            <a:srgbClr val="00FFFF"/>
                          </a:highlight>
                        </a:rPr>
                        <a:t>a</a:t>
                      </a:r>
                      <a:r>
                        <a:rPr lang="en-NP" sz="1400" b="1" dirty="0">
                          <a:highlight>
                            <a:srgbClr val="00FFFF"/>
                          </a:highlight>
                        </a:rPr>
                        <a:t>dr</a:t>
                      </a:r>
                    </a:p>
                  </a:txBody>
                  <a:tcPr/>
                </a:tc>
                <a:tc>
                  <a:txBody>
                    <a:bodyPr/>
                    <a:lstStyle/>
                    <a:p>
                      <a:r>
                        <a:rPr lang="en-NP" sz="1400" b="1" dirty="0">
                          <a:highlight>
                            <a:srgbClr val="00FFFF"/>
                          </a:highlight>
                        </a:rPr>
                        <a:t>0</a:t>
                      </a:r>
                    </a:p>
                  </a:txBody>
                  <a:tcPr/>
                </a:tc>
                <a:tc>
                  <a:txBody>
                    <a:bodyPr/>
                    <a:lstStyle/>
                    <a:p>
                      <a:r>
                        <a:rPr lang="en-NP" sz="1400" b="1" dirty="0">
                          <a:highlight>
                            <a:srgbClr val="00FFFF"/>
                          </a:highlight>
                        </a:rPr>
                        <a:t>1</a:t>
                      </a:r>
                    </a:p>
                  </a:txBody>
                  <a:tcPr/>
                </a:tc>
                <a:tc gridSpan="2">
                  <a:txBody>
                    <a:bodyPr/>
                    <a:lstStyle/>
                    <a:p>
                      <a:r>
                        <a:rPr lang="en-NP" sz="1400" b="1" dirty="0">
                          <a:highlight>
                            <a:srgbClr val="00FFFF"/>
                          </a:highlight>
                        </a:rPr>
                        <a:t>2</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3</a:t>
                      </a:r>
                    </a:p>
                  </a:txBody>
                  <a:tcPr/>
                </a:tc>
                <a:tc hMerge="1">
                  <a:txBody>
                    <a:bodyPr/>
                    <a:lstStyle/>
                    <a:p>
                      <a:endParaRPr lang="en-NP" sz="1400" b="1" dirty="0">
                        <a:highlight>
                          <a:srgbClr val="00FFFF"/>
                        </a:highlight>
                      </a:endParaRPr>
                    </a:p>
                  </a:txBody>
                  <a:tcPr/>
                </a:tc>
                <a:tc>
                  <a:txBody>
                    <a:bodyPr/>
                    <a:lstStyle/>
                    <a:p>
                      <a:r>
                        <a:rPr lang="en-NP" sz="1400" b="1" dirty="0">
                          <a:highlight>
                            <a:srgbClr val="00FFFF"/>
                          </a:highlight>
                        </a:rPr>
                        <a:t>4</a:t>
                      </a:r>
                    </a:p>
                  </a:txBody>
                  <a:tcPr/>
                </a:tc>
                <a:tc>
                  <a:txBody>
                    <a:bodyPr/>
                    <a:lstStyle/>
                    <a:p>
                      <a:r>
                        <a:rPr lang="en-NP" sz="1400" b="1" dirty="0">
                          <a:highlight>
                            <a:srgbClr val="00FFFF"/>
                          </a:highlight>
                        </a:rPr>
                        <a:t>5</a:t>
                      </a:r>
                    </a:p>
                  </a:txBody>
                  <a:tcPr/>
                </a:tc>
                <a:tc gridSpan="3">
                  <a:txBody>
                    <a:bodyPr/>
                    <a:lstStyle/>
                    <a:p>
                      <a:r>
                        <a:rPr lang="en-NP" sz="1400" b="1" dirty="0">
                          <a:highlight>
                            <a:srgbClr val="00FFFF"/>
                          </a:highlight>
                        </a:rPr>
                        <a:t>  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13459">
                <a:tc vMerge="1">
                  <a:txBody>
                    <a:bodyPr/>
                    <a:lstStyle/>
                    <a:p>
                      <a:endParaRPr lang="en-NP" dirty="0"/>
                    </a:p>
                  </a:txBody>
                  <a:tcPr/>
                </a:tc>
                <a:tc>
                  <a:txBody>
                    <a:bodyPr/>
                    <a:lstStyle/>
                    <a:p>
                      <a:r>
                        <a:rPr lang="en-NP" sz="1400" b="1" dirty="0">
                          <a:highlight>
                            <a:srgbClr val="00FFFF"/>
                          </a:highlight>
                        </a:rPr>
                        <a:t>b</a:t>
                      </a:r>
                    </a:p>
                  </a:txBody>
                  <a:tcPr/>
                </a:tc>
                <a:tc>
                  <a:txBody>
                    <a:bodyPr/>
                    <a:lstStyle/>
                    <a:p>
                      <a:r>
                        <a:rPr lang="en-NP" sz="1400" b="1" dirty="0">
                          <a:highlight>
                            <a:srgbClr val="00FFFF"/>
                          </a:highlight>
                        </a:rPr>
                        <a:t>k</a:t>
                      </a:r>
                    </a:p>
                  </a:txBody>
                  <a:tcPr/>
                </a:tc>
                <a:tc gridSpan="2">
                  <a:txBody>
                    <a:bodyPr/>
                    <a:lstStyle/>
                    <a:p>
                      <a:r>
                        <a:rPr lang="en-NP" sz="1400" b="1" dirty="0">
                          <a:highlight>
                            <a:srgbClr val="00FFFF"/>
                          </a:highlight>
                        </a:rPr>
                        <a:t>t</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670417921"/>
                  </a:ext>
                </a:extLst>
              </a:tr>
              <a:tr h="313459">
                <a:tc vMerge="1">
                  <a:txBody>
                    <a:bodyPr/>
                    <a:lstStyle/>
                    <a:p>
                      <a:endParaRPr lang="en-NP" b="1" dirty="0">
                        <a:highlight>
                          <a:srgbClr val="00FFFF"/>
                        </a:highlight>
                      </a:endParaRPr>
                    </a:p>
                  </a:txBody>
                  <a:tcPr/>
                </a:tc>
                <a:tc>
                  <a:txBody>
                    <a:bodyPr/>
                    <a:lstStyle/>
                    <a:p>
                      <a:r>
                        <a:rPr lang="en-NP" sz="1400" b="1" dirty="0">
                          <a:highlight>
                            <a:srgbClr val="00FFFF"/>
                          </a:highlight>
                        </a:rPr>
                        <a:t>k</a:t>
                      </a:r>
                    </a:p>
                  </a:txBody>
                  <a:tcPr/>
                </a:tc>
                <a:tc>
                  <a:txBody>
                    <a:bodyPr/>
                    <a:lstStyle/>
                    <a:p>
                      <a:r>
                        <a:rPr lang="en-NP" sz="1400" b="1" dirty="0">
                          <a:highlight>
                            <a:srgbClr val="00FFFF"/>
                          </a:highlight>
                        </a:rPr>
                        <a:t>t</a:t>
                      </a: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2286473001"/>
                  </a:ext>
                </a:extLst>
              </a:tr>
              <a:tr h="313459">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092514564"/>
                  </a:ext>
                </a:extLst>
              </a:tr>
              <a:tr h="708788">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40366568"/>
                  </a:ext>
                </a:extLst>
              </a:tr>
            </a:tbl>
          </a:graphicData>
        </a:graphic>
      </p:graphicFrame>
      <p:pic>
        <p:nvPicPr>
          <p:cNvPr id="16" name="Picture 15">
            <a:extLst>
              <a:ext uri="{FF2B5EF4-FFF2-40B4-BE49-F238E27FC236}">
                <a16:creationId xmlns:a16="http://schemas.microsoft.com/office/drawing/2014/main" id="{A9B4E8C2-720E-54D8-4610-0CE9DB063B35}"/>
              </a:ext>
            </a:extLst>
          </p:cNvPr>
          <p:cNvPicPr>
            <a:picLocks noChangeAspect="1"/>
          </p:cNvPicPr>
          <p:nvPr/>
        </p:nvPicPr>
        <p:blipFill>
          <a:blip r:embed="rId3"/>
          <a:stretch>
            <a:fillRect/>
          </a:stretch>
        </p:blipFill>
        <p:spPr>
          <a:xfrm>
            <a:off x="197004" y="1568046"/>
            <a:ext cx="5050032" cy="5039006"/>
          </a:xfrm>
          <a:prstGeom prst="rect">
            <a:avLst/>
          </a:prstGeom>
        </p:spPr>
      </p:pic>
      <p:sp>
        <p:nvSpPr>
          <p:cNvPr id="18" name="TextBox 17">
            <a:extLst>
              <a:ext uri="{FF2B5EF4-FFF2-40B4-BE49-F238E27FC236}">
                <a16:creationId xmlns:a16="http://schemas.microsoft.com/office/drawing/2014/main" id="{C000D8B9-7B05-4093-0149-C06FAE3D0235}"/>
              </a:ext>
            </a:extLst>
          </p:cNvPr>
          <p:cNvSpPr txBox="1"/>
          <p:nvPr/>
        </p:nvSpPr>
        <p:spPr>
          <a:xfrm rot="16200000">
            <a:off x="5361136" y="4100806"/>
            <a:ext cx="952761" cy="369332"/>
          </a:xfrm>
          <a:prstGeom prst="rect">
            <a:avLst/>
          </a:prstGeom>
          <a:noFill/>
        </p:spPr>
        <p:txBody>
          <a:bodyPr wrap="none" rtlCol="0">
            <a:spAutoFit/>
          </a:bodyPr>
          <a:lstStyle/>
          <a:p>
            <a:r>
              <a:rPr lang="en-NP" dirty="0">
                <a:highlight>
                  <a:srgbClr val="FFFF00"/>
                </a:highlight>
              </a:rPr>
              <a:t>student</a:t>
            </a:r>
          </a:p>
        </p:txBody>
      </p:sp>
      <p:sp>
        <p:nvSpPr>
          <p:cNvPr id="19" name="TextBox 18">
            <a:extLst>
              <a:ext uri="{FF2B5EF4-FFF2-40B4-BE49-F238E27FC236}">
                <a16:creationId xmlns:a16="http://schemas.microsoft.com/office/drawing/2014/main" id="{E37FF9E9-BAB9-FD19-785C-64B8B04FFF13}"/>
              </a:ext>
            </a:extLst>
          </p:cNvPr>
          <p:cNvSpPr txBox="1"/>
          <p:nvPr/>
        </p:nvSpPr>
        <p:spPr>
          <a:xfrm>
            <a:off x="2280213" y="1157468"/>
            <a:ext cx="922047" cy="369332"/>
          </a:xfrm>
          <a:prstGeom prst="rect">
            <a:avLst/>
          </a:prstGeom>
          <a:noFill/>
        </p:spPr>
        <p:txBody>
          <a:bodyPr wrap="none" rtlCol="0">
            <a:spAutoFit/>
          </a:bodyPr>
          <a:lstStyle/>
          <a:p>
            <a:r>
              <a:rPr lang="en-NP" b="1" dirty="0"/>
              <a:t>Output</a:t>
            </a:r>
          </a:p>
        </p:txBody>
      </p:sp>
      <p:sp>
        <p:nvSpPr>
          <p:cNvPr id="9" name="TextBox 8">
            <a:extLst>
              <a:ext uri="{FF2B5EF4-FFF2-40B4-BE49-F238E27FC236}">
                <a16:creationId xmlns:a16="http://schemas.microsoft.com/office/drawing/2014/main" id="{00BD9D73-C109-4200-3E83-4358F653B7C4}"/>
              </a:ext>
            </a:extLst>
          </p:cNvPr>
          <p:cNvSpPr txBox="1"/>
          <p:nvPr/>
        </p:nvSpPr>
        <p:spPr>
          <a:xfrm>
            <a:off x="462915" y="127322"/>
            <a:ext cx="686406" cy="369332"/>
          </a:xfrm>
          <a:prstGeom prst="rect">
            <a:avLst/>
          </a:prstGeom>
          <a:noFill/>
        </p:spPr>
        <p:txBody>
          <a:bodyPr wrap="none" rtlCol="0">
            <a:spAutoFit/>
          </a:bodyPr>
          <a:lstStyle/>
          <a:p>
            <a:r>
              <a:rPr lang="en-NP" dirty="0">
                <a:highlight>
                  <a:srgbClr val="FFFF00"/>
                </a:highlight>
              </a:rPr>
              <a:t>QN 3</a:t>
            </a:r>
          </a:p>
        </p:txBody>
      </p:sp>
      <p:cxnSp>
        <p:nvCxnSpPr>
          <p:cNvPr id="10" name="Straight Arrow Connector 9">
            <a:extLst>
              <a:ext uri="{FF2B5EF4-FFF2-40B4-BE49-F238E27FC236}">
                <a16:creationId xmlns:a16="http://schemas.microsoft.com/office/drawing/2014/main" id="{4BD4FF1A-F64E-5D7B-F569-7DE817B89686}"/>
              </a:ext>
            </a:extLst>
          </p:cNvPr>
          <p:cNvCxnSpPr>
            <a:cxnSpLocks/>
          </p:cNvCxnSpPr>
          <p:nvPr/>
        </p:nvCxnSpPr>
        <p:spPr>
          <a:xfrm>
            <a:off x="6477400" y="2186255"/>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CD9149A-3C32-8FDD-247B-06F32C3D08F7}"/>
              </a:ext>
            </a:extLst>
          </p:cNvPr>
          <p:cNvCxnSpPr>
            <a:cxnSpLocks/>
          </p:cNvCxnSpPr>
          <p:nvPr/>
        </p:nvCxnSpPr>
        <p:spPr>
          <a:xfrm>
            <a:off x="6477400" y="4121611"/>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1267CED-C3A5-2B8A-8715-CA5E41064A7A}"/>
              </a:ext>
            </a:extLst>
          </p:cNvPr>
          <p:cNvCxnSpPr>
            <a:cxnSpLocks/>
          </p:cNvCxnSpPr>
          <p:nvPr/>
        </p:nvCxnSpPr>
        <p:spPr>
          <a:xfrm>
            <a:off x="6477400" y="6064904"/>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3355524-5C92-1ED3-6032-B259427F7BF0}"/>
              </a:ext>
            </a:extLst>
          </p:cNvPr>
          <p:cNvSpPr txBox="1"/>
          <p:nvPr/>
        </p:nvSpPr>
        <p:spPr>
          <a:xfrm>
            <a:off x="5320854" y="1324257"/>
            <a:ext cx="766292" cy="1077218"/>
          </a:xfrm>
          <a:prstGeom prst="rect">
            <a:avLst/>
          </a:prstGeom>
          <a:noFill/>
        </p:spPr>
        <p:txBody>
          <a:bodyPr wrap="square" rtlCol="0">
            <a:spAutoFit/>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a:t>
            </a:r>
          </a:p>
          <a:p>
            <a:r>
              <a:rPr lang="en-US" sz="1600" b="1" dirty="0" err="1">
                <a:highlight>
                  <a:srgbClr val="FF00FF"/>
                </a:highlight>
              </a:rPr>
              <a:t>st</a:t>
            </a:r>
            <a:r>
              <a:rPr lang="en-US" sz="1600" b="1" dirty="0">
                <a:highlight>
                  <a:srgbClr val="FF00FF"/>
                </a:highlight>
              </a:rPr>
              <a:t>[</a:t>
            </a:r>
            <a:r>
              <a:rPr lang="en-NP" sz="1600" b="1" dirty="0">
                <a:highlight>
                  <a:srgbClr val="FF00FF"/>
                </a:highlight>
              </a:rPr>
              <a:t>j]</a:t>
            </a:r>
          </a:p>
          <a:p>
            <a:endParaRPr lang="en-NP" sz="1600" b="1" dirty="0">
              <a:highlight>
                <a:srgbClr val="FF00FF"/>
              </a:highlight>
            </a:endParaRPr>
          </a:p>
          <a:p>
            <a:endParaRPr lang="en-NP" sz="1600" dirty="0"/>
          </a:p>
        </p:txBody>
      </p:sp>
      <p:cxnSp>
        <p:nvCxnSpPr>
          <p:cNvPr id="26" name="Straight Arrow Connector 25">
            <a:extLst>
              <a:ext uri="{FF2B5EF4-FFF2-40B4-BE49-F238E27FC236}">
                <a16:creationId xmlns:a16="http://schemas.microsoft.com/office/drawing/2014/main" id="{E9178EAC-5074-9C5C-B7CC-F6F8DF5A77CC}"/>
              </a:ext>
            </a:extLst>
          </p:cNvPr>
          <p:cNvCxnSpPr>
            <a:cxnSpLocks/>
          </p:cNvCxnSpPr>
          <p:nvPr/>
        </p:nvCxnSpPr>
        <p:spPr>
          <a:xfrm>
            <a:off x="5777337" y="1417482"/>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8B93362-C267-BAB6-5CD4-8AFDE76219E5}"/>
              </a:ext>
            </a:extLst>
          </p:cNvPr>
          <p:cNvCxnSpPr>
            <a:cxnSpLocks/>
          </p:cNvCxnSpPr>
          <p:nvPr/>
        </p:nvCxnSpPr>
        <p:spPr>
          <a:xfrm>
            <a:off x="5777336" y="1722495"/>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C6EA5CC0-A4B6-408E-21DA-532E0F0C46BF}"/>
              </a:ext>
            </a:extLst>
          </p:cNvPr>
          <p:cNvCxnSpPr>
            <a:cxnSpLocks/>
          </p:cNvCxnSpPr>
          <p:nvPr/>
        </p:nvCxnSpPr>
        <p:spPr>
          <a:xfrm>
            <a:off x="5837516" y="3321045"/>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867B4FE-0550-CD62-0EE1-22EBD590A754}"/>
              </a:ext>
            </a:extLst>
          </p:cNvPr>
          <p:cNvCxnSpPr>
            <a:cxnSpLocks/>
          </p:cNvCxnSpPr>
          <p:nvPr/>
        </p:nvCxnSpPr>
        <p:spPr>
          <a:xfrm>
            <a:off x="5837516" y="362605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0EEA51FA-E2EE-183A-241F-281B6C6B7CC5}"/>
              </a:ext>
            </a:extLst>
          </p:cNvPr>
          <p:cNvSpPr txBox="1"/>
          <p:nvPr/>
        </p:nvSpPr>
        <p:spPr>
          <a:xfrm>
            <a:off x="5320853" y="5145900"/>
            <a:ext cx="766292" cy="1077218"/>
          </a:xfrm>
          <a:prstGeom prst="rect">
            <a:avLst/>
          </a:prstGeom>
          <a:noFill/>
        </p:spPr>
        <p:txBody>
          <a:bodyPr wrap="square" rtlCol="0">
            <a:spAutoFit/>
          </a:bodyPr>
          <a:lstStyle/>
          <a:p>
            <a:r>
              <a:rPr lang="en-US" sz="1600" b="1" dirty="0" err="1">
                <a:highlight>
                  <a:srgbClr val="00FFFF"/>
                </a:highlight>
              </a:rPr>
              <a:t>st</a:t>
            </a:r>
            <a:r>
              <a:rPr lang="en-US" sz="1600" b="1" dirty="0">
                <a:highlight>
                  <a:srgbClr val="00FFFF"/>
                </a:highlight>
              </a:rPr>
              <a:t>[</a:t>
            </a:r>
            <a:r>
              <a:rPr lang="en-NP" sz="1600" b="1" dirty="0">
                <a:highlight>
                  <a:srgbClr val="00FFFF"/>
                </a:highlight>
              </a:rPr>
              <a:t>i]</a:t>
            </a:r>
          </a:p>
          <a:p>
            <a:r>
              <a:rPr lang="en-US" sz="1600" b="1" dirty="0" err="1">
                <a:highlight>
                  <a:srgbClr val="00FFFF"/>
                </a:highlight>
              </a:rPr>
              <a:t>st</a:t>
            </a:r>
            <a:r>
              <a:rPr lang="en-US" sz="1600" b="1" dirty="0">
                <a:highlight>
                  <a:srgbClr val="00FFFF"/>
                </a:highlight>
              </a:rPr>
              <a:t>[</a:t>
            </a:r>
            <a:r>
              <a:rPr lang="en-NP" sz="1600" b="1" dirty="0">
                <a:highlight>
                  <a:srgbClr val="00FFFF"/>
                </a:highlight>
              </a:rPr>
              <a:t>j]</a:t>
            </a:r>
          </a:p>
          <a:p>
            <a:endParaRPr lang="en-NP" sz="1600" b="1" dirty="0">
              <a:highlight>
                <a:srgbClr val="00FFFF"/>
              </a:highlight>
            </a:endParaRPr>
          </a:p>
          <a:p>
            <a:endParaRPr lang="en-NP" sz="1600" dirty="0">
              <a:highlight>
                <a:srgbClr val="00FFFF"/>
              </a:highlight>
            </a:endParaRPr>
          </a:p>
        </p:txBody>
      </p:sp>
      <p:cxnSp>
        <p:nvCxnSpPr>
          <p:cNvPr id="31" name="Straight Arrow Connector 30">
            <a:extLst>
              <a:ext uri="{FF2B5EF4-FFF2-40B4-BE49-F238E27FC236}">
                <a16:creationId xmlns:a16="http://schemas.microsoft.com/office/drawing/2014/main" id="{0B6061F9-C783-9612-4C99-CACCAE668F5C}"/>
              </a:ext>
            </a:extLst>
          </p:cNvPr>
          <p:cNvCxnSpPr>
            <a:cxnSpLocks/>
          </p:cNvCxnSpPr>
          <p:nvPr/>
        </p:nvCxnSpPr>
        <p:spPr>
          <a:xfrm>
            <a:off x="5777336" y="5330566"/>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E8501B31-A3FC-9BDA-C298-AB1960E26CAF}"/>
              </a:ext>
            </a:extLst>
          </p:cNvPr>
          <p:cNvCxnSpPr>
            <a:cxnSpLocks/>
          </p:cNvCxnSpPr>
          <p:nvPr/>
        </p:nvCxnSpPr>
        <p:spPr>
          <a:xfrm>
            <a:off x="5777335" y="558332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C121B1D-10C8-9D70-DBD9-E1E106DEFFF6}"/>
              </a:ext>
            </a:extLst>
          </p:cNvPr>
          <p:cNvSpPr txBox="1"/>
          <p:nvPr/>
        </p:nvSpPr>
        <p:spPr>
          <a:xfrm>
            <a:off x="5329708" y="3178149"/>
            <a:ext cx="766292" cy="1077218"/>
          </a:xfrm>
          <a:prstGeom prst="rect">
            <a:avLst/>
          </a:prstGeom>
          <a:noFill/>
        </p:spPr>
        <p:txBody>
          <a:bodyPr wrap="square" rtlCol="0">
            <a:spAutoFit/>
          </a:bodyPr>
          <a:lstStyle/>
          <a:p>
            <a:r>
              <a:rPr lang="en-US" sz="1600" b="1" dirty="0" err="1">
                <a:highlight>
                  <a:srgbClr val="00FF00"/>
                </a:highlight>
              </a:rPr>
              <a:t>st</a:t>
            </a:r>
            <a:r>
              <a:rPr lang="en-US" sz="1600" b="1" dirty="0">
                <a:highlight>
                  <a:srgbClr val="00FF00"/>
                </a:highlight>
              </a:rPr>
              <a:t>[</a:t>
            </a:r>
            <a:r>
              <a:rPr lang="en-NP" sz="1600" b="1" dirty="0">
                <a:highlight>
                  <a:srgbClr val="00FF00"/>
                </a:highlight>
              </a:rPr>
              <a:t>i]</a:t>
            </a:r>
          </a:p>
          <a:p>
            <a:r>
              <a:rPr lang="en-US" sz="1600" b="1" dirty="0" err="1">
                <a:highlight>
                  <a:srgbClr val="00FF00"/>
                </a:highlight>
              </a:rPr>
              <a:t>st</a:t>
            </a:r>
            <a:r>
              <a:rPr lang="en-US" sz="1600" b="1" dirty="0">
                <a:highlight>
                  <a:srgbClr val="00FF00"/>
                </a:highlight>
              </a:rPr>
              <a:t>[</a:t>
            </a:r>
            <a:r>
              <a:rPr lang="en-NP" sz="1600" b="1" dirty="0">
                <a:highlight>
                  <a:srgbClr val="00FF00"/>
                </a:highlight>
              </a:rPr>
              <a:t>j]</a:t>
            </a:r>
          </a:p>
          <a:p>
            <a:endParaRPr lang="en-NP" sz="1600" b="1" dirty="0">
              <a:highlight>
                <a:srgbClr val="00FF00"/>
              </a:highlight>
            </a:endParaRPr>
          </a:p>
          <a:p>
            <a:endParaRPr lang="en-NP" sz="1600" dirty="0">
              <a:highlight>
                <a:srgbClr val="00FF00"/>
              </a:highlight>
            </a:endParaRPr>
          </a:p>
        </p:txBody>
      </p:sp>
    </p:spTree>
    <p:extLst>
      <p:ext uri="{BB962C8B-B14F-4D97-AF65-F5344CB8AC3E}">
        <p14:creationId xmlns:p14="http://schemas.microsoft.com/office/powerpoint/2010/main" val="1089781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C303-6F4F-8EBA-BC2C-8B4A30A50D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20E968-A55F-5ABF-8843-9EB459009AD4}"/>
              </a:ext>
            </a:extLst>
          </p:cNvPr>
          <p:cNvSpPr>
            <a:spLocks noGrp="1"/>
          </p:cNvSpPr>
          <p:nvPr>
            <p:ph type="title"/>
          </p:nvPr>
        </p:nvSpPr>
        <p:spPr>
          <a:xfrm>
            <a:off x="706060" y="144024"/>
            <a:ext cx="10647740" cy="437866"/>
          </a:xfrm>
        </p:spPr>
        <p:txBody>
          <a:bodyPr>
            <a:normAutofit fontScale="90000"/>
          </a:bodyPr>
          <a:lstStyle/>
          <a:p>
            <a:br>
              <a:rPr lang="en-NP" sz="2200" dirty="0">
                <a:solidFill>
                  <a:srgbClr val="FF0000"/>
                </a:solidFill>
              </a:rPr>
            </a:br>
            <a:br>
              <a:rPr lang="en-NP" sz="2200" b="1" dirty="0">
                <a:solidFill>
                  <a:srgbClr val="FF0000"/>
                </a:solidFill>
              </a:rPr>
            </a:br>
            <a:br>
              <a:rPr lang="en-NP" sz="2200" b="1" dirty="0">
                <a:solidFill>
                  <a:srgbClr val="FF0000"/>
                </a:solidFill>
              </a:rPr>
            </a:br>
            <a:r>
              <a:rPr lang="en-NP" sz="2000" b="1" i="1" dirty="0">
                <a:solidFill>
                  <a:srgbClr val="FF0000"/>
                </a:solidFill>
              </a:rPr>
              <a:t>4. Program to store n students records like name and address using array and loop.  Print</a:t>
            </a:r>
            <a:r>
              <a:rPr lang="en-NP" sz="2000" b="1" i="1" u="sng" dirty="0">
                <a:solidFill>
                  <a:srgbClr val="FF0000"/>
                </a:solidFill>
              </a:rPr>
              <a:t> the sorted record in ascending order on the basis of rollno.</a:t>
            </a:r>
            <a:br>
              <a:rPr lang="en-NP" sz="2400" b="1" i="1" dirty="0"/>
            </a:br>
            <a:br>
              <a:rPr lang="en-NP" b="1" dirty="0"/>
            </a:br>
            <a:endParaRPr lang="en-NP" b="1" dirty="0"/>
          </a:p>
        </p:txBody>
      </p:sp>
      <p:sp>
        <p:nvSpPr>
          <p:cNvPr id="3" name="Content Placeholder 2">
            <a:extLst>
              <a:ext uri="{FF2B5EF4-FFF2-40B4-BE49-F238E27FC236}">
                <a16:creationId xmlns:a16="http://schemas.microsoft.com/office/drawing/2014/main" id="{8509FAB0-CA2A-3D60-203E-D7FEF32C07BF}"/>
              </a:ext>
            </a:extLst>
          </p:cNvPr>
          <p:cNvSpPr>
            <a:spLocks noGrp="1"/>
          </p:cNvSpPr>
          <p:nvPr>
            <p:ph sz="half" idx="1"/>
          </p:nvPr>
        </p:nvSpPr>
        <p:spPr>
          <a:xfrm>
            <a:off x="323581" y="408599"/>
            <a:ext cx="5350727" cy="6615325"/>
          </a:xfrm>
        </p:spPr>
        <p:txBody>
          <a:bodyPr>
            <a:noAutofit/>
          </a:bodyPr>
          <a:lstStyle/>
          <a:p>
            <a:pPr marL="0" indent="0">
              <a:spcBef>
                <a:spcPts val="0"/>
              </a:spcBef>
              <a:buNone/>
            </a:pPr>
            <a:r>
              <a:rPr lang="en-US" sz="1800" b="1" dirty="0"/>
              <a:t>#include&lt;</a:t>
            </a:r>
            <a:r>
              <a:rPr lang="en-US" sz="1800" b="1" dirty="0" err="1"/>
              <a:t>stdio.h</a:t>
            </a:r>
            <a:r>
              <a:rPr lang="en-US" sz="1800" b="1" dirty="0"/>
              <a:t>&gt;</a:t>
            </a:r>
          </a:p>
          <a:p>
            <a:pPr marL="0" indent="0">
              <a:spcBef>
                <a:spcPts val="0"/>
              </a:spcBef>
              <a:buNone/>
            </a:pPr>
            <a:r>
              <a:rPr lang="en-US" sz="1800" b="1"/>
              <a:t>struct </a:t>
            </a:r>
            <a:r>
              <a:rPr lang="en-US" sz="1800" b="1" dirty="0"/>
              <a:t>student </a:t>
            </a:r>
          </a:p>
          <a:p>
            <a:pPr marL="0" indent="0">
              <a:spcBef>
                <a:spcPts val="0"/>
              </a:spcBef>
              <a:buNone/>
            </a:pPr>
            <a:r>
              <a:rPr lang="en-US" sz="1800" b="1" dirty="0"/>
              <a:t>{ </a:t>
            </a:r>
          </a:p>
          <a:p>
            <a:pPr marL="0" indent="0">
              <a:spcBef>
                <a:spcPts val="0"/>
              </a:spcBef>
              <a:buNone/>
            </a:pPr>
            <a:r>
              <a:rPr lang="en-US" sz="1800" b="1" dirty="0"/>
              <a:t>int </a:t>
            </a:r>
            <a:r>
              <a:rPr lang="en-US" sz="1800" b="1" dirty="0" err="1"/>
              <a:t>rollNo</a:t>
            </a:r>
            <a:r>
              <a:rPr lang="en-US" sz="1800" b="1" dirty="0"/>
              <a:t>; </a:t>
            </a:r>
          </a:p>
          <a:p>
            <a:pPr marL="0" indent="0">
              <a:spcBef>
                <a:spcPts val="0"/>
              </a:spcBef>
              <a:buNone/>
            </a:pPr>
            <a:r>
              <a:rPr lang="en-US" sz="1800" b="1" dirty="0"/>
              <a:t>char name[50]; </a:t>
            </a:r>
          </a:p>
          <a:p>
            <a:pPr marL="0" indent="0">
              <a:spcBef>
                <a:spcPts val="0"/>
              </a:spcBef>
              <a:buNone/>
            </a:pPr>
            <a:r>
              <a:rPr lang="en-US" sz="1800" b="1" dirty="0"/>
              <a:t>char </a:t>
            </a:r>
            <a:r>
              <a:rPr lang="en-US" sz="1800" b="1" dirty="0" err="1"/>
              <a:t>adr</a:t>
            </a:r>
            <a:r>
              <a:rPr lang="en-US" sz="1800" b="1" dirty="0"/>
              <a:t>[60]; </a:t>
            </a:r>
          </a:p>
          <a:p>
            <a:pPr marL="0" indent="0">
              <a:spcBef>
                <a:spcPts val="0"/>
              </a:spcBef>
              <a:buNone/>
            </a:pPr>
            <a:r>
              <a:rPr lang="en-US" sz="1800" b="1" dirty="0"/>
              <a:t>}</a:t>
            </a:r>
            <a:r>
              <a:rPr lang="en-US" sz="1800" b="1" dirty="0" err="1"/>
              <a:t>st</a:t>
            </a:r>
            <a:r>
              <a:rPr lang="en-US" sz="1800" b="1" dirty="0"/>
              <a:t>[100]; </a:t>
            </a:r>
          </a:p>
          <a:p>
            <a:pPr marL="0" indent="0">
              <a:spcBef>
                <a:spcPts val="0"/>
              </a:spcBef>
              <a:buNone/>
            </a:pPr>
            <a:r>
              <a:rPr lang="en-US" sz="1800" b="1" dirty="0"/>
              <a:t>int main()</a:t>
            </a:r>
          </a:p>
          <a:p>
            <a:pPr marL="0" indent="0">
              <a:spcBef>
                <a:spcPts val="0"/>
              </a:spcBef>
              <a:buNone/>
            </a:pPr>
            <a:r>
              <a:rPr lang="en-US" sz="1800" b="1" dirty="0"/>
              <a:t>{ struct student temp;</a:t>
            </a:r>
          </a:p>
          <a:p>
            <a:pPr marL="0" indent="0">
              <a:spcBef>
                <a:spcPts val="0"/>
              </a:spcBef>
              <a:buNone/>
            </a:pPr>
            <a:r>
              <a:rPr lang="en-US" sz="1800" b="1" dirty="0"/>
              <a:t>int </a:t>
            </a:r>
            <a:r>
              <a:rPr lang="en-US" sz="1800" b="1" dirty="0" err="1"/>
              <a:t>i</a:t>
            </a:r>
            <a:r>
              <a:rPr lang="en-US" sz="1800" b="1" dirty="0"/>
              <a:t>, n; </a:t>
            </a:r>
          </a:p>
          <a:p>
            <a:pPr marL="0" indent="0">
              <a:spcBef>
                <a:spcPts val="0"/>
              </a:spcBef>
              <a:buNone/>
            </a:pPr>
            <a:r>
              <a:rPr lang="en-US" sz="1800" b="1" dirty="0"/>
              <a:t>{ </a:t>
            </a:r>
          </a:p>
          <a:p>
            <a:pPr marL="0" indent="0">
              <a:spcBef>
                <a:spcPts val="0"/>
              </a:spcBef>
              <a:buNone/>
            </a:pPr>
            <a:r>
              <a:rPr lang="en-US" sz="1800" b="1" dirty="0" err="1"/>
              <a:t>printf</a:t>
            </a:r>
            <a:r>
              <a:rPr lang="en-US" sz="1800" b="1" dirty="0"/>
              <a:t>("\</a:t>
            </a:r>
            <a:r>
              <a:rPr lang="en-US" sz="1800" b="1" dirty="0" err="1"/>
              <a:t>nEnter</a:t>
            </a:r>
            <a:r>
              <a:rPr lang="en-US" sz="1800" b="1" dirty="0"/>
              <a:t> the no of records n: "); </a:t>
            </a:r>
          </a:p>
          <a:p>
            <a:pPr marL="0" indent="0">
              <a:spcBef>
                <a:spcPts val="0"/>
              </a:spcBef>
              <a:buNone/>
            </a:pPr>
            <a:r>
              <a:rPr lang="en-US" sz="1800" b="1" dirty="0" err="1"/>
              <a:t>scanf</a:t>
            </a:r>
            <a:r>
              <a:rPr lang="en-US" sz="1800" b="1" dirty="0"/>
              <a:t>("%d", &amp;n); </a:t>
            </a:r>
          </a:p>
          <a:p>
            <a:pPr marL="0" indent="0">
              <a:spcBef>
                <a:spcPts val="0"/>
              </a:spcBef>
              <a:buNone/>
            </a:pPr>
            <a:r>
              <a:rPr lang="en-US" sz="1800" b="1" dirty="0"/>
              <a:t>}</a:t>
            </a:r>
          </a:p>
          <a:p>
            <a:pPr marL="0" indent="0">
              <a:lnSpc>
                <a:spcPct val="100000"/>
              </a:lnSpc>
              <a:spcBef>
                <a:spcPts val="0"/>
              </a:spcBef>
              <a:buNone/>
            </a:pPr>
            <a:r>
              <a:rPr lang="en-US" sz="1800" b="1" dirty="0">
                <a:highlight>
                  <a:srgbClr val="FFFF00"/>
                </a:highlight>
              </a:rPr>
              <a:t>//code to input to structure </a:t>
            </a:r>
          </a:p>
          <a:p>
            <a:pPr marL="0" indent="0">
              <a:lnSpc>
                <a:spcPct val="10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roll no of the student: "); </a:t>
            </a:r>
          </a:p>
          <a:p>
            <a:pPr marL="0" indent="0">
              <a:lnSpc>
                <a:spcPct val="100000"/>
              </a:lnSpc>
              <a:spcBef>
                <a:spcPts val="0"/>
              </a:spcBef>
              <a:buNone/>
            </a:pPr>
            <a:r>
              <a:rPr lang="en-US" sz="1800" b="1" dirty="0" err="1"/>
              <a:t>scanf</a:t>
            </a:r>
            <a:r>
              <a:rPr lang="en-US" sz="1800" b="1" dirty="0"/>
              <a:t>("%d", &amp;</a:t>
            </a:r>
            <a:r>
              <a:rPr lang="en-US" sz="1800" b="1" dirty="0" err="1"/>
              <a:t>st</a:t>
            </a:r>
            <a:r>
              <a:rPr lang="en-US" sz="1800" b="1" dirty="0"/>
              <a:t>[</a:t>
            </a:r>
            <a:r>
              <a:rPr lang="en-US" sz="1800" b="1" dirty="0" err="1"/>
              <a:t>i</a:t>
            </a:r>
            <a:r>
              <a:rPr lang="en-US" sz="1800" b="1" dirty="0"/>
              <a:t>].</a:t>
            </a:r>
            <a:r>
              <a:rPr lang="en-US" sz="1800" b="1" dirty="0" err="1"/>
              <a:t>rollNo</a:t>
            </a:r>
            <a:r>
              <a:rPr lang="en-US" sz="1800" b="1" dirty="0"/>
              <a:t>);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name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].name); </a:t>
            </a:r>
          </a:p>
          <a:p>
            <a:pPr marL="0" indent="0">
              <a:lnSpc>
                <a:spcPct val="100000"/>
              </a:lnSpc>
              <a:spcBef>
                <a:spcPts val="0"/>
              </a:spcBef>
              <a:buNone/>
            </a:pPr>
            <a:r>
              <a:rPr lang="en-US" sz="1800" b="1" dirty="0" err="1"/>
              <a:t>printf</a:t>
            </a:r>
            <a:r>
              <a:rPr lang="en-US" sz="1800" b="1" dirty="0"/>
              <a:t>("\</a:t>
            </a:r>
            <a:r>
              <a:rPr lang="en-US" sz="1800" b="1" dirty="0" err="1"/>
              <a:t>nEnter</a:t>
            </a:r>
            <a:r>
              <a:rPr lang="en-US" sz="1800" b="1" dirty="0"/>
              <a:t> the address of the student: "); </a:t>
            </a:r>
          </a:p>
          <a:p>
            <a:pPr marL="0" indent="0">
              <a:lnSpc>
                <a:spcPct val="100000"/>
              </a:lnSpc>
              <a:spcBef>
                <a:spcPts val="0"/>
              </a:spcBef>
              <a:buNone/>
            </a:pPr>
            <a:r>
              <a:rPr lang="en-US" sz="1800" b="1" dirty="0" err="1"/>
              <a:t>scanf</a:t>
            </a:r>
            <a:r>
              <a:rPr lang="en-US" sz="1800" b="1" dirty="0"/>
              <a:t>("%s", </a:t>
            </a:r>
            <a:r>
              <a:rPr lang="en-US" sz="1800" b="1" dirty="0" err="1"/>
              <a:t>st</a:t>
            </a:r>
            <a:r>
              <a:rPr lang="en-US" sz="1800" b="1" dirty="0"/>
              <a:t>[</a:t>
            </a:r>
            <a:r>
              <a:rPr lang="en-US" sz="1800" b="1" dirty="0" err="1"/>
              <a:t>i</a:t>
            </a:r>
            <a:r>
              <a:rPr lang="en-US" sz="1800" b="1" dirty="0"/>
              <a:t>].</a:t>
            </a:r>
            <a:r>
              <a:rPr lang="en-US" sz="1800" b="1" dirty="0" err="1"/>
              <a:t>adr</a:t>
            </a:r>
            <a:r>
              <a:rPr lang="en-US" sz="1800" b="1" dirty="0"/>
              <a:t>); </a:t>
            </a:r>
          </a:p>
          <a:p>
            <a:pPr marL="0" indent="0">
              <a:lnSpc>
                <a:spcPct val="100000"/>
              </a:lnSpc>
              <a:spcBef>
                <a:spcPts val="0"/>
              </a:spcBef>
              <a:buNone/>
            </a:pPr>
            <a:r>
              <a:rPr lang="en-US" sz="1800" b="1" dirty="0"/>
              <a:t>} </a:t>
            </a:r>
          </a:p>
          <a:p>
            <a:pPr marL="0" indent="0">
              <a:lnSpc>
                <a:spcPct val="100000"/>
              </a:lnSpc>
              <a:spcBef>
                <a:spcPts val="0"/>
              </a:spcBef>
              <a:buNone/>
            </a:pPr>
            <a:endParaRPr lang="en-US" sz="1800" b="1" dirty="0">
              <a:highlight>
                <a:srgbClr val="FFFF00"/>
              </a:highlight>
            </a:endParaRPr>
          </a:p>
          <a:p>
            <a:pPr marL="0" indent="0">
              <a:spcBef>
                <a:spcPts val="0"/>
              </a:spcBef>
              <a:buNone/>
            </a:pPr>
            <a:endParaRPr lang="en-US" sz="1600" b="1" dirty="0"/>
          </a:p>
          <a:p>
            <a:pPr marL="0" indent="0">
              <a:buNone/>
            </a:pPr>
            <a:endParaRPr lang="en-NP" sz="1800" b="1" dirty="0"/>
          </a:p>
        </p:txBody>
      </p:sp>
      <p:sp>
        <p:nvSpPr>
          <p:cNvPr id="5" name="Content Placeholder 3">
            <a:extLst>
              <a:ext uri="{FF2B5EF4-FFF2-40B4-BE49-F238E27FC236}">
                <a16:creationId xmlns:a16="http://schemas.microsoft.com/office/drawing/2014/main" id="{B57CB029-85DB-E185-5000-E7543715B08F}"/>
              </a:ext>
            </a:extLst>
          </p:cNvPr>
          <p:cNvSpPr txBox="1">
            <a:spLocks/>
          </p:cNvSpPr>
          <p:nvPr/>
        </p:nvSpPr>
        <p:spPr>
          <a:xfrm>
            <a:off x="5429588" y="238398"/>
            <a:ext cx="7024673" cy="697263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200" b="1" dirty="0">
                <a:highlight>
                  <a:srgbClr val="FFFF00"/>
                </a:highlight>
              </a:rPr>
              <a:t>//code to arrange in ascending order of </a:t>
            </a:r>
            <a:r>
              <a:rPr lang="en-US" sz="7200" b="1" dirty="0" err="1">
                <a:highlight>
                  <a:srgbClr val="FFFF00"/>
                </a:highlight>
              </a:rPr>
              <a:t>rollno</a:t>
            </a:r>
            <a:r>
              <a:rPr lang="en-US" sz="7200" b="1" dirty="0">
                <a:highlight>
                  <a:srgbClr val="FFFF00"/>
                </a:highlight>
              </a:rPr>
              <a:t> using nested loop</a:t>
            </a:r>
          </a:p>
          <a:p>
            <a:pPr marL="0" indent="0">
              <a:buNone/>
            </a:pPr>
            <a:r>
              <a:rPr lang="en-US" sz="7200" b="1" dirty="0"/>
              <a:t>for(</a:t>
            </a:r>
            <a:r>
              <a:rPr lang="en-US" sz="7200" b="1" dirty="0" err="1"/>
              <a:t>i</a:t>
            </a:r>
            <a:r>
              <a:rPr lang="en-US" sz="7200" b="1" dirty="0"/>
              <a:t>=0; </a:t>
            </a:r>
            <a:r>
              <a:rPr lang="en-US" sz="7200" b="1" dirty="0" err="1"/>
              <a:t>i</a:t>
            </a:r>
            <a:r>
              <a:rPr lang="en-US" sz="7200" b="1" dirty="0"/>
              <a:t>&lt;n-1; </a:t>
            </a:r>
            <a:r>
              <a:rPr lang="en-US" sz="7200" b="1" dirty="0" err="1"/>
              <a:t>i</a:t>
            </a:r>
            <a:r>
              <a:rPr lang="en-US" sz="7200" b="1" dirty="0"/>
              <a:t>++) </a:t>
            </a:r>
          </a:p>
          <a:p>
            <a:pPr marL="0" indent="0">
              <a:buNone/>
            </a:pPr>
            <a:r>
              <a:rPr lang="en-US" sz="7200" b="1" dirty="0"/>
              <a:t>{ </a:t>
            </a:r>
          </a:p>
          <a:p>
            <a:pPr marL="0" indent="0">
              <a:buNone/>
            </a:pPr>
            <a:r>
              <a:rPr lang="en-US" sz="7200" b="1" dirty="0"/>
              <a:t>for(int j=i+1; j&lt;n; </a:t>
            </a:r>
            <a:r>
              <a:rPr lang="en-US" sz="7200" b="1" dirty="0" err="1"/>
              <a:t>j++</a:t>
            </a:r>
            <a:r>
              <a:rPr lang="en-US" sz="7200" b="1" dirty="0"/>
              <a:t>) </a:t>
            </a:r>
          </a:p>
          <a:p>
            <a:pPr marL="0" indent="0">
              <a:buNone/>
            </a:pPr>
            <a:r>
              <a:rPr lang="en-US" sz="7200" b="1" dirty="0"/>
              <a:t>{ </a:t>
            </a:r>
          </a:p>
          <a:p>
            <a:pPr marL="0" indent="0">
              <a:buNone/>
            </a:pPr>
            <a:r>
              <a:rPr lang="en-US" sz="7200" b="1" dirty="0"/>
              <a:t>if(</a:t>
            </a:r>
            <a:r>
              <a:rPr lang="en-US" sz="7200" b="1" dirty="0" err="1"/>
              <a:t>st</a:t>
            </a:r>
            <a:r>
              <a:rPr lang="en-US" sz="7200" b="1" dirty="0"/>
              <a:t>[</a:t>
            </a:r>
            <a:r>
              <a:rPr lang="en-US" sz="7200" b="1" dirty="0" err="1"/>
              <a:t>i</a:t>
            </a:r>
            <a:r>
              <a:rPr lang="en-US" sz="7200" b="1" dirty="0"/>
              <a:t>].</a:t>
            </a:r>
            <a:r>
              <a:rPr lang="en-US" sz="7200" b="1" dirty="0" err="1"/>
              <a:t>rollNo</a:t>
            </a:r>
            <a:r>
              <a:rPr lang="en-US" sz="7200" b="1" dirty="0"/>
              <a:t>&gt;</a:t>
            </a:r>
            <a:r>
              <a:rPr lang="en-US" sz="7200" b="1" dirty="0" err="1"/>
              <a:t>st</a:t>
            </a:r>
            <a:r>
              <a:rPr lang="en-US" sz="7200" b="1" dirty="0"/>
              <a:t>[j].</a:t>
            </a:r>
            <a:r>
              <a:rPr lang="en-US" sz="7200" b="1" dirty="0" err="1"/>
              <a:t>rollNo</a:t>
            </a:r>
            <a:r>
              <a:rPr lang="en-US" sz="7200" b="1" dirty="0"/>
              <a:t>)</a:t>
            </a:r>
          </a:p>
          <a:p>
            <a:pPr marL="0" indent="0">
              <a:buNone/>
            </a:pPr>
            <a:r>
              <a:rPr lang="en-US" sz="7200" b="1" dirty="0"/>
              <a:t>{ </a:t>
            </a:r>
          </a:p>
          <a:p>
            <a:pPr marL="0" indent="0">
              <a:buNone/>
            </a:pPr>
            <a:r>
              <a:rPr lang="en-US" sz="7200" b="1" dirty="0"/>
              <a:t>temp=</a:t>
            </a:r>
            <a:r>
              <a:rPr lang="en-US" sz="7200" b="1" dirty="0" err="1"/>
              <a:t>st</a:t>
            </a:r>
            <a:r>
              <a:rPr lang="en-US" sz="7200" b="1" dirty="0"/>
              <a:t>[</a:t>
            </a:r>
            <a:r>
              <a:rPr lang="en-US" sz="7200" b="1" dirty="0" err="1"/>
              <a:t>i</a:t>
            </a:r>
            <a:r>
              <a:rPr lang="en-US" sz="7200" b="1" dirty="0"/>
              <a:t>]; </a:t>
            </a:r>
          </a:p>
          <a:p>
            <a:pPr marL="0" indent="0">
              <a:buNone/>
            </a:pPr>
            <a:r>
              <a:rPr lang="en-US" sz="7200" b="1" dirty="0" err="1"/>
              <a:t>st</a:t>
            </a:r>
            <a:r>
              <a:rPr lang="en-US" sz="7200" b="1" dirty="0"/>
              <a:t>[</a:t>
            </a:r>
            <a:r>
              <a:rPr lang="en-US" sz="7200" b="1" dirty="0" err="1"/>
              <a:t>i</a:t>
            </a:r>
            <a:r>
              <a:rPr lang="en-US" sz="7200" b="1" dirty="0"/>
              <a:t>]=</a:t>
            </a:r>
            <a:r>
              <a:rPr lang="en-US" sz="7200" b="1" dirty="0" err="1"/>
              <a:t>st</a:t>
            </a:r>
            <a:r>
              <a:rPr lang="en-US" sz="7200" b="1" dirty="0"/>
              <a:t>[j]; </a:t>
            </a:r>
          </a:p>
          <a:p>
            <a:pPr marL="0" indent="0">
              <a:buNone/>
            </a:pPr>
            <a:r>
              <a:rPr lang="en-US" sz="7200" b="1" dirty="0" err="1"/>
              <a:t>st</a:t>
            </a:r>
            <a:r>
              <a:rPr lang="en-US" sz="7200" b="1" dirty="0"/>
              <a:t>[j]=temp; </a:t>
            </a:r>
          </a:p>
          <a:p>
            <a:pPr marL="0" indent="0">
              <a:buNone/>
            </a:pPr>
            <a:r>
              <a:rPr lang="en-US" sz="7200" b="1" dirty="0"/>
              <a:t>} </a:t>
            </a:r>
          </a:p>
          <a:p>
            <a:pPr marL="0" indent="0">
              <a:buNone/>
            </a:pPr>
            <a:r>
              <a:rPr lang="en-US" sz="7200" b="1" dirty="0"/>
              <a:t>} </a:t>
            </a:r>
          </a:p>
          <a:p>
            <a:pPr marL="0" indent="0">
              <a:buNone/>
            </a:pPr>
            <a:r>
              <a:rPr lang="en-US" sz="7200" b="1" dirty="0"/>
              <a:t>}</a:t>
            </a:r>
          </a:p>
          <a:p>
            <a:pPr marL="0" indent="0">
              <a:buNone/>
            </a:pPr>
            <a:r>
              <a:rPr lang="en-US" sz="7200" b="1" dirty="0">
                <a:highlight>
                  <a:srgbClr val="FFFF00"/>
                </a:highlight>
              </a:rPr>
              <a:t>//code to display after sorting </a:t>
            </a:r>
          </a:p>
          <a:p>
            <a:pPr marL="0" indent="0">
              <a:buNone/>
            </a:pPr>
            <a:r>
              <a:rPr lang="en-US" sz="7200" b="1" dirty="0" err="1"/>
              <a:t>printf</a:t>
            </a:r>
            <a:r>
              <a:rPr lang="en-US" sz="7200" b="1" dirty="0"/>
              <a:t>("\n\</a:t>
            </a:r>
            <a:r>
              <a:rPr lang="en-US" sz="7200" b="1" dirty="0" err="1"/>
              <a:t>nThe</a:t>
            </a:r>
            <a:r>
              <a:rPr lang="en-US" sz="7200" b="1" dirty="0"/>
              <a:t> record of the </a:t>
            </a:r>
            <a:r>
              <a:rPr lang="en-US" sz="7200" b="1" dirty="0" err="1"/>
              <a:t>sutdent</a:t>
            </a:r>
            <a:r>
              <a:rPr lang="en-US" sz="7200" b="1" dirty="0"/>
              <a:t> after sorting "); </a:t>
            </a:r>
          </a:p>
          <a:p>
            <a:pPr marL="0" indent="0">
              <a:buNone/>
            </a:pPr>
            <a:r>
              <a:rPr lang="en-US" sz="7200" b="1" dirty="0" err="1"/>
              <a:t>printf</a:t>
            </a:r>
            <a:r>
              <a:rPr lang="en-US" sz="7200" b="1" dirty="0"/>
              <a:t>("\</a:t>
            </a:r>
            <a:r>
              <a:rPr lang="en-US" sz="7200" b="1" dirty="0" err="1"/>
              <a:t>nROLL</a:t>
            </a:r>
            <a:r>
              <a:rPr lang="en-US" sz="7200" b="1" dirty="0"/>
              <a:t>\t\</a:t>
            </a:r>
            <a:r>
              <a:rPr lang="en-US" sz="7200" b="1" dirty="0" err="1"/>
              <a:t>tName</a:t>
            </a:r>
            <a:r>
              <a:rPr lang="en-US" sz="7200" b="1" dirty="0"/>
              <a:t> of Student\t\</a:t>
            </a:r>
            <a:r>
              <a:rPr lang="en-US" sz="7200" b="1" dirty="0" err="1"/>
              <a:t>tAddress</a:t>
            </a:r>
            <a:r>
              <a:rPr lang="en-US" sz="7200" b="1" dirty="0"/>
              <a:t>"); </a:t>
            </a:r>
          </a:p>
          <a:p>
            <a:pPr marL="0" indent="0">
              <a:buNone/>
            </a:pPr>
            <a:r>
              <a:rPr lang="en-US" sz="7200" b="1" dirty="0"/>
              <a:t>for(</a:t>
            </a:r>
            <a:r>
              <a:rPr lang="en-US" sz="7200" b="1" dirty="0" err="1"/>
              <a:t>i</a:t>
            </a:r>
            <a:r>
              <a:rPr lang="en-US" sz="7200" b="1" dirty="0"/>
              <a:t>=0;i&lt;</a:t>
            </a:r>
            <a:r>
              <a:rPr lang="en-US" sz="7200" b="1" dirty="0" err="1"/>
              <a:t>n;i</a:t>
            </a:r>
            <a:r>
              <a:rPr lang="en-US" sz="7200" b="1" dirty="0"/>
              <a:t>++) </a:t>
            </a:r>
          </a:p>
          <a:p>
            <a:pPr marL="0" indent="0">
              <a:buNone/>
            </a:pPr>
            <a:r>
              <a:rPr lang="en-US" sz="7200" b="1" dirty="0"/>
              <a:t>{ </a:t>
            </a:r>
          </a:p>
          <a:p>
            <a:pPr marL="0" indent="0">
              <a:lnSpc>
                <a:spcPts val="1350"/>
              </a:lnSpc>
              <a:buNone/>
            </a:pPr>
            <a:r>
              <a:rPr lang="en-US" sz="8000" b="1" dirty="0" err="1">
                <a:effectLst/>
                <a:latin typeface="Calibri" panose="020F0502020204030204" pitchFamily="34" charset="0"/>
                <a:cs typeface="Calibri" panose="020F0502020204030204" pitchFamily="34" charset="0"/>
              </a:rPr>
              <a:t>printf</a:t>
            </a:r>
            <a:r>
              <a:rPr lang="en-US" sz="8000" b="1" dirty="0">
                <a:effectLst/>
                <a:latin typeface="Calibri" panose="020F0502020204030204" pitchFamily="34" charset="0"/>
                <a:cs typeface="Calibri" panose="020F0502020204030204" pitchFamily="34" charset="0"/>
              </a:rPr>
              <a:t>("\n\</a:t>
            </a:r>
            <a:r>
              <a:rPr lang="en-US" sz="8000" b="1" dirty="0" err="1">
                <a:effectLst/>
                <a:latin typeface="Calibri" panose="020F0502020204030204" pitchFamily="34" charset="0"/>
                <a:cs typeface="Calibri" panose="020F0502020204030204" pitchFamily="34" charset="0"/>
              </a:rPr>
              <a:t>n%d</a:t>
            </a:r>
            <a:r>
              <a:rPr lang="en-US" sz="8000" b="1" dirty="0">
                <a:effectLst/>
                <a:latin typeface="Calibri" panose="020F0502020204030204" pitchFamily="34" charset="0"/>
                <a:cs typeface="Calibri" panose="020F0502020204030204" pitchFamily="34" charset="0"/>
              </a:rPr>
              <a: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\t\t\</a:t>
            </a:r>
            <a:r>
              <a:rPr lang="en-US" sz="8000" b="1" dirty="0" err="1">
                <a:effectLst/>
                <a:latin typeface="Calibri" panose="020F0502020204030204" pitchFamily="34" charset="0"/>
                <a:cs typeface="Calibri" panose="020F0502020204030204" pitchFamily="34" charset="0"/>
              </a:rPr>
              <a:t>t%s</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rollNo,st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name,st</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i</a:t>
            </a:r>
            <a:r>
              <a:rPr lang="en-US" sz="8000" b="1" dirty="0">
                <a:effectLst/>
                <a:latin typeface="Calibri" panose="020F0502020204030204" pitchFamily="34" charset="0"/>
                <a:cs typeface="Calibri" panose="020F0502020204030204" pitchFamily="34" charset="0"/>
              </a:rPr>
              <a:t>].</a:t>
            </a:r>
            <a:r>
              <a:rPr lang="en-US" sz="8000" b="1" dirty="0" err="1">
                <a:effectLst/>
                <a:latin typeface="Calibri" panose="020F0502020204030204" pitchFamily="34" charset="0"/>
                <a:cs typeface="Calibri" panose="020F0502020204030204" pitchFamily="34" charset="0"/>
              </a:rPr>
              <a:t>adr</a:t>
            </a:r>
            <a:r>
              <a:rPr lang="en-US" sz="8000" b="1" dirty="0">
                <a:effectLst/>
                <a:latin typeface="Calibri" panose="020F0502020204030204" pitchFamily="34" charset="0"/>
                <a:cs typeface="Calibri" panose="020F0502020204030204" pitchFamily="34" charset="0"/>
              </a:rPr>
              <a:t>); </a:t>
            </a:r>
          </a:p>
          <a:p>
            <a:pPr marL="0" indent="0">
              <a:buNone/>
            </a:pPr>
            <a:r>
              <a:rPr lang="en-US" sz="7200" b="1" dirty="0"/>
              <a:t>} return 0;</a:t>
            </a:r>
          </a:p>
          <a:p>
            <a:pPr marL="0" indent="0">
              <a:buNone/>
            </a:pPr>
            <a:r>
              <a:rPr lang="en-US" sz="7200" b="1" dirty="0"/>
              <a:t>}</a:t>
            </a:r>
          </a:p>
          <a:p>
            <a:pPr marL="0" indent="0">
              <a:buNone/>
            </a:pPr>
            <a:br>
              <a:rPr lang="en-US" sz="7200" b="1" dirty="0"/>
            </a:br>
            <a:endParaRPr lang="en-US" sz="7200" b="1" dirty="0"/>
          </a:p>
          <a:p>
            <a:br>
              <a:rPr lang="en-US" dirty="0"/>
            </a:br>
            <a:endParaRPr lang="en-US" dirty="0"/>
          </a:p>
          <a:p>
            <a:pPr marL="0" indent="0">
              <a:spcBef>
                <a:spcPts val="0"/>
              </a:spcBef>
              <a:buNone/>
            </a:pPr>
            <a:endParaRPr lang="en-US" sz="1800" b="1" dirty="0"/>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C45FE750-119D-ACF9-B1C1-C63A79D01563}"/>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76CF7CAE-4654-E68C-80C1-277CACA83331}"/>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C940761A-ED70-95DF-D2F1-8AB156CDD6F6}"/>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46E36780-98C8-C091-9837-C3A14D6883D3}"/>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E562C09E-9A90-D191-F64B-29B0DC789EE7}"/>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BC1FFF88-C4A2-5185-970C-20C0368FBB06}"/>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2D3DCC95-2C93-B157-2859-6304597708AD}"/>
              </a:ext>
            </a:extLst>
          </p:cNvPr>
          <p:cNvCxnSpPr>
            <a:cxnSpLocks/>
          </p:cNvCxnSpPr>
          <p:nvPr/>
        </p:nvCxnSpPr>
        <p:spPr>
          <a:xfrm flipV="1">
            <a:off x="5309251" y="362957"/>
            <a:ext cx="0" cy="62761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88390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F0EDF-01EE-A827-B9DE-908E2B3D14A5}"/>
            </a:ext>
          </a:extLst>
        </p:cNvPr>
        <p:cNvGrpSpPr/>
        <p:nvPr/>
      </p:nvGrpSpPr>
      <p:grpSpPr>
        <a:xfrm>
          <a:off x="0" y="0"/>
          <a:ext cx="0" cy="0"/>
          <a:chOff x="0" y="0"/>
          <a:chExt cx="0" cy="0"/>
        </a:xfrm>
      </p:grpSpPr>
      <p:graphicFrame>
        <p:nvGraphicFramePr>
          <p:cNvPr id="33" name="Content Placeholder 8">
            <a:extLst>
              <a:ext uri="{FF2B5EF4-FFF2-40B4-BE49-F238E27FC236}">
                <a16:creationId xmlns:a16="http://schemas.microsoft.com/office/drawing/2014/main" id="{6CA6668A-4A2B-F969-E208-260EFC43725E}"/>
              </a:ext>
            </a:extLst>
          </p:cNvPr>
          <p:cNvGraphicFramePr>
            <a:graphicFrameLocks/>
          </p:cNvGraphicFramePr>
          <p:nvPr>
            <p:extLst>
              <p:ext uri="{D42A27DB-BD31-4B8C-83A1-F6EECF244321}">
                <p14:modId xmlns:p14="http://schemas.microsoft.com/office/powerpoint/2010/main" val="4012159204"/>
              </p:ext>
            </p:extLst>
          </p:nvPr>
        </p:nvGraphicFramePr>
        <p:xfrm>
          <a:off x="6461182" y="22926"/>
          <a:ext cx="5533816" cy="6695872"/>
        </p:xfrm>
        <a:graphic>
          <a:graphicData uri="http://schemas.openxmlformats.org/drawingml/2006/table">
            <a:tbl>
              <a:tblPr firstRow="1" bandRow="1">
                <a:tableStyleId>{5940675A-B579-460E-94D1-54222C63F5DA}</a:tableStyleId>
              </a:tblPr>
              <a:tblGrid>
                <a:gridCol w="1435779">
                  <a:extLst>
                    <a:ext uri="{9D8B030D-6E8A-4147-A177-3AD203B41FA5}">
                      <a16:colId xmlns:a16="http://schemas.microsoft.com/office/drawing/2014/main" val="572344113"/>
                    </a:ext>
                  </a:extLst>
                </a:gridCol>
                <a:gridCol w="378615">
                  <a:extLst>
                    <a:ext uri="{9D8B030D-6E8A-4147-A177-3AD203B41FA5}">
                      <a16:colId xmlns:a16="http://schemas.microsoft.com/office/drawing/2014/main" val="3431798763"/>
                    </a:ext>
                  </a:extLst>
                </a:gridCol>
                <a:gridCol w="480376">
                  <a:extLst>
                    <a:ext uri="{9D8B030D-6E8A-4147-A177-3AD203B41FA5}">
                      <a16:colId xmlns:a16="http://schemas.microsoft.com/office/drawing/2014/main" val="2587928260"/>
                    </a:ext>
                  </a:extLst>
                </a:gridCol>
                <a:gridCol w="218231">
                  <a:extLst>
                    <a:ext uri="{9D8B030D-6E8A-4147-A177-3AD203B41FA5}">
                      <a16:colId xmlns:a16="http://schemas.microsoft.com/office/drawing/2014/main" val="1108368050"/>
                    </a:ext>
                  </a:extLst>
                </a:gridCol>
                <a:gridCol w="301094">
                  <a:extLst>
                    <a:ext uri="{9D8B030D-6E8A-4147-A177-3AD203B41FA5}">
                      <a16:colId xmlns:a16="http://schemas.microsoft.com/office/drawing/2014/main" val="1850826025"/>
                    </a:ext>
                  </a:extLst>
                </a:gridCol>
                <a:gridCol w="169169">
                  <a:extLst>
                    <a:ext uri="{9D8B030D-6E8A-4147-A177-3AD203B41FA5}">
                      <a16:colId xmlns:a16="http://schemas.microsoft.com/office/drawing/2014/main" val="2506898600"/>
                    </a:ext>
                  </a:extLst>
                </a:gridCol>
                <a:gridCol w="337173">
                  <a:extLst>
                    <a:ext uri="{9D8B030D-6E8A-4147-A177-3AD203B41FA5}">
                      <a16:colId xmlns:a16="http://schemas.microsoft.com/office/drawing/2014/main" val="3050933217"/>
                    </a:ext>
                  </a:extLst>
                </a:gridCol>
                <a:gridCol w="131815">
                  <a:extLst>
                    <a:ext uri="{9D8B030D-6E8A-4147-A177-3AD203B41FA5}">
                      <a16:colId xmlns:a16="http://schemas.microsoft.com/office/drawing/2014/main" val="1566616541"/>
                    </a:ext>
                  </a:extLst>
                </a:gridCol>
                <a:gridCol w="348561">
                  <a:extLst>
                    <a:ext uri="{9D8B030D-6E8A-4147-A177-3AD203B41FA5}">
                      <a16:colId xmlns:a16="http://schemas.microsoft.com/office/drawing/2014/main" val="2291000946"/>
                    </a:ext>
                  </a:extLst>
                </a:gridCol>
                <a:gridCol w="242454">
                  <a:extLst>
                    <a:ext uri="{9D8B030D-6E8A-4147-A177-3AD203B41FA5}">
                      <a16:colId xmlns:a16="http://schemas.microsoft.com/office/drawing/2014/main" val="643360668"/>
                    </a:ext>
                  </a:extLst>
                </a:gridCol>
                <a:gridCol w="263888">
                  <a:extLst>
                    <a:ext uri="{9D8B030D-6E8A-4147-A177-3AD203B41FA5}">
                      <a16:colId xmlns:a16="http://schemas.microsoft.com/office/drawing/2014/main" val="3705697324"/>
                    </a:ext>
                  </a:extLst>
                </a:gridCol>
                <a:gridCol w="293673">
                  <a:extLst>
                    <a:ext uri="{9D8B030D-6E8A-4147-A177-3AD203B41FA5}">
                      <a16:colId xmlns:a16="http://schemas.microsoft.com/office/drawing/2014/main" val="562860999"/>
                    </a:ext>
                  </a:extLst>
                </a:gridCol>
                <a:gridCol w="134773">
                  <a:extLst>
                    <a:ext uri="{9D8B030D-6E8A-4147-A177-3AD203B41FA5}">
                      <a16:colId xmlns:a16="http://schemas.microsoft.com/office/drawing/2014/main" val="3506001845"/>
                    </a:ext>
                  </a:extLst>
                </a:gridCol>
                <a:gridCol w="428446">
                  <a:extLst>
                    <a:ext uri="{9D8B030D-6E8A-4147-A177-3AD203B41FA5}">
                      <a16:colId xmlns:a16="http://schemas.microsoft.com/office/drawing/2014/main" val="2603453691"/>
                    </a:ext>
                  </a:extLst>
                </a:gridCol>
                <a:gridCol w="369769">
                  <a:extLst>
                    <a:ext uri="{9D8B030D-6E8A-4147-A177-3AD203B41FA5}">
                      <a16:colId xmlns:a16="http://schemas.microsoft.com/office/drawing/2014/main" val="1404394936"/>
                    </a:ext>
                  </a:extLst>
                </a:gridCol>
              </a:tblGrid>
              <a:tr h="313459">
                <a:tc rowSpan="3">
                  <a:txBody>
                    <a:bodyPr/>
                    <a:lstStyle/>
                    <a:p>
                      <a:r>
                        <a:rPr lang="en-NP" sz="1400" b="1" dirty="0">
                          <a:solidFill>
                            <a:srgbClr val="FF0000"/>
                          </a:solidFill>
                          <a:highlight>
                            <a:srgbClr val="FFFF00"/>
                          </a:highlight>
                        </a:rPr>
                        <a:t>     </a:t>
                      </a:r>
                    </a:p>
                    <a:p>
                      <a:r>
                        <a:rPr lang="en-NP" sz="1400" b="1" dirty="0">
                          <a:solidFill>
                            <a:srgbClr val="FF0000"/>
                          </a:solidFill>
                        </a:rPr>
                        <a:t>         </a:t>
                      </a:r>
                      <a:r>
                        <a:rPr lang="en-NP" sz="1400" b="1" dirty="0">
                          <a:solidFill>
                            <a:srgbClr val="FF0000"/>
                          </a:solidFill>
                          <a:highlight>
                            <a:srgbClr val="FFFF00"/>
                          </a:highlight>
                        </a:rPr>
                        <a:t> </a:t>
                      </a:r>
                      <a:r>
                        <a:rPr lang="en-NP" sz="2000" b="1" dirty="0">
                          <a:solidFill>
                            <a:srgbClr val="FF0000"/>
                          </a:solidFill>
                          <a:highlight>
                            <a:srgbClr val="FFFF00"/>
                          </a:highlight>
                        </a:rPr>
                        <a:t>TEMP</a:t>
                      </a: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hMerge="1">
                  <a:txBody>
                    <a:bodyPr/>
                    <a:lstStyle/>
                    <a:p>
                      <a:endParaRPr lang="en-NP" sz="1400" b="1" dirty="0">
                        <a:highlight>
                          <a:srgbClr val="00FF00"/>
                        </a:highlight>
                      </a:endParaRPr>
                    </a:p>
                  </a:txBody>
                  <a:tcPr/>
                </a:tc>
                <a:tc hMerge="1">
                  <a:txBody>
                    <a:bodyPr/>
                    <a:lstStyle/>
                    <a:p>
                      <a:r>
                        <a:rPr lang="en-NP" sz="1400" b="1" dirty="0">
                          <a:highlight>
                            <a:srgbClr val="FF00FF"/>
                          </a:highlight>
                        </a:rPr>
                        <a:t>2</a:t>
                      </a:r>
                    </a:p>
                  </a:txBody>
                  <a:tcPr/>
                </a:tc>
                <a:tc gridSpan="11">
                  <a:txBody>
                    <a:bodyPr/>
                    <a:lstStyle/>
                    <a:p>
                      <a:r>
                        <a:rPr lang="en-NP" sz="1400" b="1">
                          <a:highlight>
                            <a:srgbClr val="FF00FF"/>
                          </a:highlight>
                        </a:rPr>
                        <a:t>2</a:t>
                      </a:r>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a:p>
                  </a:txBody>
                  <a:tcPr/>
                </a:tc>
                <a:tc hMerge="1">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extLst>
                  <a:ext uri="{0D108BD9-81ED-4DB2-BD59-A6C34878D82A}">
                    <a16:rowId xmlns:a16="http://schemas.microsoft.com/office/drawing/2014/main" val="2485449971"/>
                  </a:ext>
                </a:extLst>
              </a:tr>
              <a:tr h="313459">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00"/>
                          </a:highlight>
                        </a:rPr>
                        <a:t>r</a:t>
                      </a:r>
                    </a:p>
                  </a:txBody>
                  <a:tcPr/>
                </a:tc>
                <a:tc gridSpan="2">
                  <a:txBody>
                    <a:bodyPr/>
                    <a:lstStyle/>
                    <a:p>
                      <a:r>
                        <a:rPr lang="en-NP" sz="1400" b="1">
                          <a:highlight>
                            <a:srgbClr val="00FF00"/>
                          </a:highlight>
                        </a:rPr>
                        <a:t>r</a:t>
                      </a:r>
                      <a:endParaRPr lang="en-NP" sz="1400" b="1" dirty="0">
                        <a:highlight>
                          <a:srgbClr val="00FF00"/>
                        </a:highlight>
                      </a:endParaRPr>
                    </a:p>
                  </a:txBody>
                  <a:tcPr/>
                </a:tc>
                <a:tc hMerge="1">
                  <a:txBody>
                    <a:bodyPr/>
                    <a:lstStyle/>
                    <a:p>
                      <a:r>
                        <a:rPr lang="en-NP" sz="1400" b="1" dirty="0">
                          <a:highlight>
                            <a:srgbClr val="00FF00"/>
                          </a:highlight>
                        </a:rPr>
                        <a:t>a</a:t>
                      </a:r>
                    </a:p>
                  </a:txBody>
                  <a:tcPr/>
                </a:tc>
                <a:tc gridSpan="2">
                  <a:txBody>
                    <a:bodyPr/>
                    <a:lstStyle/>
                    <a:p>
                      <a:r>
                        <a:rPr lang="en-NP" sz="1400" b="1">
                          <a:highlight>
                            <a:srgbClr val="00FF00"/>
                          </a:highlight>
                        </a:rPr>
                        <a:t>a</a:t>
                      </a:r>
                      <a:endParaRPr lang="en-NP"/>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3613964346"/>
                  </a:ext>
                </a:extLst>
              </a:tr>
              <a:tr h="275707">
                <a:tc vMerge="1">
                  <a:txBody>
                    <a:bodyPr/>
                    <a:lstStyle/>
                    <a:p>
                      <a:endParaRPr lang="en-NP" sz="1400" b="1" dirty="0">
                        <a:highlight>
                          <a:srgbClr val="FF00FF"/>
                        </a:highlight>
                      </a:endParaRPr>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P" sz="1400" b="1" dirty="0">
                          <a:highlight>
                            <a:srgbClr val="00FFFF"/>
                          </a:highlight>
                        </a:rPr>
                        <a:t>st[i].adr</a:t>
                      </a:r>
                    </a:p>
                  </a:txBody>
                  <a:tcPr/>
                </a:tc>
                <a:tc hMerge="1">
                  <a:txBody>
                    <a:bodyPr/>
                    <a:lstStyle/>
                    <a:p>
                      <a:endParaRPr lang="en-NP" sz="1400" b="1" dirty="0">
                        <a:highlight>
                          <a:srgbClr val="00FF00"/>
                        </a:highlight>
                      </a:endParaRPr>
                    </a:p>
                  </a:txBody>
                  <a:tcPr/>
                </a:tc>
                <a:tc hMerge="1">
                  <a:txBody>
                    <a:bodyPr/>
                    <a:lstStyle/>
                    <a:p>
                      <a:r>
                        <a:rPr lang="en-NP" sz="1400" b="1" dirty="0">
                          <a:highlight>
                            <a:srgbClr val="00FFFF"/>
                          </a:highlight>
                        </a:rPr>
                        <a:t>k</a:t>
                      </a:r>
                    </a:p>
                  </a:txBody>
                  <a:tcPr/>
                </a:tc>
                <a:tc gridSpan="2">
                  <a:txBody>
                    <a:bodyPr/>
                    <a:lstStyle/>
                    <a:p>
                      <a:r>
                        <a:rPr lang="en-NP" sz="1400" b="1" dirty="0">
                          <a:highlight>
                            <a:srgbClr val="00FFFF"/>
                          </a:highlight>
                        </a:rPr>
                        <a:t>k</a:t>
                      </a:r>
                    </a:p>
                  </a:txBody>
                  <a:tcPr/>
                </a:tc>
                <a:tc hMerge="1">
                  <a:txBody>
                    <a:bodyPr/>
                    <a:lstStyle/>
                    <a:p>
                      <a:r>
                        <a:rPr lang="en-NP" sz="1400" b="1" dirty="0">
                          <a:highlight>
                            <a:srgbClr val="00FFFF"/>
                          </a:highlight>
                        </a:rPr>
                        <a:t>t</a:t>
                      </a:r>
                    </a:p>
                  </a:txBody>
                  <a:tcPr/>
                </a:tc>
                <a:tc gridSpan="2">
                  <a:txBody>
                    <a:bodyPr/>
                    <a:lstStyle/>
                    <a:p>
                      <a:r>
                        <a:rPr lang="en-NP" sz="1400" b="1" dirty="0">
                          <a:highlight>
                            <a:srgbClr val="00FFFF"/>
                          </a:highlight>
                        </a:rPr>
                        <a:t>t</a:t>
                      </a:r>
                      <a:endParaRPr lang="en-NP" dirty="0"/>
                    </a:p>
                  </a:txBody>
                  <a:tcPr/>
                </a:tc>
                <a:tc hMerge="1">
                  <a:txBody>
                    <a:bodyPr/>
                    <a:lstStyle/>
                    <a:p>
                      <a:endParaRPr lang="en-NP" sz="1400" b="1" dirty="0">
                        <a:highlight>
                          <a:srgbClr val="00FF00"/>
                        </a:highlight>
                      </a:endParaRP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00"/>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3761194259"/>
                  </a:ext>
                </a:extLst>
              </a:tr>
              <a:tr h="313459">
                <a:tc>
                  <a:txBody>
                    <a:bodyPr/>
                    <a:lstStyle/>
                    <a:p>
                      <a:r>
                        <a:rPr lang="en-US" sz="1400" b="1" dirty="0" err="1">
                          <a:highlight>
                            <a:srgbClr val="FF00FF"/>
                          </a:highlight>
                        </a:rPr>
                        <a:t>st</a:t>
                      </a:r>
                      <a:r>
                        <a:rPr lang="en-US" sz="1400" b="1" dirty="0">
                          <a:highlight>
                            <a:srgbClr val="FF00FF"/>
                          </a:highlight>
                        </a:rPr>
                        <a:t>[</a:t>
                      </a:r>
                      <a:r>
                        <a:rPr lang="en-NP" sz="1400" b="1" dirty="0">
                          <a:highlight>
                            <a:srgbClr val="FF00FF"/>
                          </a:highlight>
                        </a:rPr>
                        <a:t>i].rollNo</a:t>
                      </a:r>
                    </a:p>
                  </a:txBody>
                  <a:tcPr/>
                </a:tc>
                <a:tc gridSpan="14">
                  <a:txBody>
                    <a:bodyPr/>
                    <a:lstStyle/>
                    <a:p>
                      <a:endParaRPr lang="en-NP" sz="1400" b="1"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0].rollNo</a:t>
                      </a:r>
                    </a:p>
                  </a:txBody>
                  <a:tcPr/>
                </a:tc>
                <a:tc gridSpan="14">
                  <a:txBody>
                    <a:bodyPr/>
                    <a:lstStyle/>
                    <a:p>
                      <a:r>
                        <a:rPr lang="en-NP" sz="1400" b="1" dirty="0"/>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25130327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1].rollNo</a:t>
                      </a:r>
                    </a:p>
                  </a:txBody>
                  <a:tcPr/>
                </a:tc>
                <a:tc gridSpan="14">
                  <a:txBody>
                    <a:bodyPr/>
                    <a:lstStyle/>
                    <a:p>
                      <a:r>
                        <a:rPr lang="en-NP" sz="1400" b="1" dirty="0"/>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931933046"/>
                  </a:ext>
                </a:extLst>
              </a:tr>
              <a:tr h="3134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2].rollNo</a:t>
                      </a:r>
                    </a:p>
                  </a:txBody>
                  <a:tcPr/>
                </a:tc>
                <a:tc gridSpan="14">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634278864"/>
                  </a:ext>
                </a:extLst>
              </a:tr>
              <a:tr h="5485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err="1">
                          <a:highlight>
                            <a:srgbClr val="FF00FF"/>
                          </a:highlight>
                        </a:rPr>
                        <a:t>st</a:t>
                      </a:r>
                      <a:r>
                        <a:rPr lang="en-US" sz="1400" b="1" dirty="0">
                          <a:highlight>
                            <a:srgbClr val="FF00FF"/>
                          </a:highlight>
                        </a:rPr>
                        <a:t>[</a:t>
                      </a:r>
                      <a:r>
                        <a:rPr lang="en-NP" sz="1400" b="1" dirty="0">
                          <a:highlight>
                            <a:srgbClr val="FF00FF"/>
                          </a:highlight>
                        </a:rPr>
                        <a:t>99].rollNo</a:t>
                      </a:r>
                    </a:p>
                  </a:txBody>
                  <a:tcPr/>
                </a:tc>
                <a:tc gridSpan="14">
                  <a:txBody>
                    <a:bodyPr/>
                    <a:lstStyle/>
                    <a:p>
                      <a:endParaRPr lang="en-NP" sz="1400" b="1"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3775342184"/>
                  </a:ext>
                </a:extLst>
              </a:tr>
              <a:tr h="313459">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400" b="1" dirty="0">
                          <a:highlight>
                            <a:srgbClr val="00FF00"/>
                          </a:highlight>
                        </a:rPr>
                        <a:t>s</a:t>
                      </a:r>
                      <a:r>
                        <a:rPr lang="en-NP" sz="14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00"/>
                          </a:highlight>
                        </a:rPr>
                        <a:t>st[99].name</a:t>
                      </a:r>
                    </a:p>
                  </a:txBody>
                  <a:tcPr/>
                </a:tc>
                <a:tc>
                  <a:txBody>
                    <a:bodyPr/>
                    <a:lstStyle/>
                    <a:p>
                      <a:r>
                        <a:rPr lang="en-NP" sz="1400" b="1" dirty="0">
                          <a:highlight>
                            <a:srgbClr val="00FF00"/>
                          </a:highlight>
                        </a:rPr>
                        <a:t>0</a:t>
                      </a:r>
                    </a:p>
                  </a:txBody>
                  <a:tcPr/>
                </a:tc>
                <a:tc>
                  <a:txBody>
                    <a:bodyPr/>
                    <a:lstStyle/>
                    <a:p>
                      <a:r>
                        <a:rPr lang="en-NP" sz="1400" b="1" dirty="0">
                          <a:highlight>
                            <a:srgbClr val="00FF00"/>
                          </a:highlight>
                        </a:rPr>
                        <a:t>1</a:t>
                      </a:r>
                    </a:p>
                  </a:txBody>
                  <a:tcPr/>
                </a:tc>
                <a:tc gridSpan="2">
                  <a:txBody>
                    <a:bodyPr/>
                    <a:lstStyle/>
                    <a:p>
                      <a:r>
                        <a:rPr lang="en-NP" sz="1400" b="1" dirty="0">
                          <a:highlight>
                            <a:srgbClr val="00FF00"/>
                          </a:highlight>
                        </a:rPr>
                        <a:t>2</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3</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4</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5</a:t>
                      </a:r>
                    </a:p>
                  </a:txBody>
                  <a:tcPr/>
                </a:tc>
                <a:tc hMerge="1">
                  <a:txBody>
                    <a:bodyPr/>
                    <a:lstStyle/>
                    <a:p>
                      <a:endParaRPr lang="en-NP" sz="1400" b="1" dirty="0">
                        <a:highlight>
                          <a:srgbClr val="00FF00"/>
                        </a:highlight>
                      </a:endParaRPr>
                    </a:p>
                  </a:txBody>
                  <a:tcPr/>
                </a:tc>
                <a:tc gridSpan="4">
                  <a:txBody>
                    <a:bodyPr/>
                    <a:lstStyle/>
                    <a:p>
                      <a:r>
                        <a:rPr lang="en-NP" sz="1400" b="1" dirty="0">
                          <a:highlight>
                            <a:srgbClr val="00FF00"/>
                          </a:highlight>
                        </a:rPr>
                        <a:t>6--------49</a:t>
                      </a:r>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13459">
                <a:tc vMerge="1">
                  <a:txBody>
                    <a:bodyPr/>
                    <a:lstStyle/>
                    <a:p>
                      <a:endParaRPr dirty="0"/>
                    </a:p>
                  </a:txBody>
                  <a:tcPr/>
                </a:tc>
                <a:tc>
                  <a:txBody>
                    <a:bodyPr/>
                    <a:lstStyle/>
                    <a:p>
                      <a:r>
                        <a:rPr lang="en-NP" sz="1400" b="1" dirty="0">
                          <a:highlight>
                            <a:srgbClr val="00FF00"/>
                          </a:highlight>
                        </a:rPr>
                        <a:t>h</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r</a:t>
                      </a:r>
                    </a:p>
                  </a:txBody>
                  <a:tcPr/>
                </a:tc>
                <a:tc hMerge="1">
                  <a:txBody>
                    <a:bodyPr/>
                    <a:lstStyle/>
                    <a:p>
                      <a:endParaRPr lang="en-NP" sz="1400" b="1" dirty="0">
                        <a:highlight>
                          <a:srgbClr val="00FF00"/>
                        </a:highlight>
                      </a:endParaRPr>
                    </a:p>
                  </a:txBody>
                  <a:tcPr/>
                </a:tc>
                <a:tc gridSpan="2">
                  <a:txBody>
                    <a:bodyPr/>
                    <a:lstStyle/>
                    <a:p>
                      <a:r>
                        <a:rPr lang="en-NP" sz="1400" b="1" dirty="0">
                          <a:highlight>
                            <a:srgbClr val="00FF00"/>
                          </a:highlight>
                        </a:rPr>
                        <a:t>i</a:t>
                      </a: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939781137"/>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400" b="1" dirty="0">
                          <a:highlight>
                            <a:srgbClr val="00FF00"/>
                          </a:highlight>
                        </a:rPr>
                        <a:t>r</a:t>
                      </a:r>
                    </a:p>
                  </a:txBody>
                  <a:tcPr/>
                </a:tc>
                <a:tc>
                  <a:txBody>
                    <a:bodyPr/>
                    <a:lstStyle/>
                    <a:p>
                      <a:r>
                        <a:rPr lang="en-NP" sz="1400" b="1" dirty="0">
                          <a:highlight>
                            <a:srgbClr val="00FF00"/>
                          </a:highlight>
                        </a:rPr>
                        <a:t>a</a:t>
                      </a:r>
                    </a:p>
                  </a:txBody>
                  <a:tcPr/>
                </a:tc>
                <a:tc gridSpan="2">
                  <a:txBody>
                    <a:bodyPr/>
                    <a:lstStyle/>
                    <a:p>
                      <a:r>
                        <a:rPr lang="en-NP" sz="1400" b="1" dirty="0">
                          <a:highlight>
                            <a:srgbClr val="00FF00"/>
                          </a:highlight>
                        </a:rPr>
                        <a:t>m</a:t>
                      </a: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637305035"/>
                  </a:ext>
                </a:extLst>
              </a:tr>
              <a:tr h="3134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101711809"/>
                  </a:ext>
                </a:extLst>
              </a:tr>
              <a:tr h="708788">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a:highlight>
                          <a:srgbClr val="00FF00"/>
                        </a:highlight>
                      </a:endParaRPr>
                    </a:p>
                  </a:txBody>
                  <a:tcPr/>
                </a:tc>
                <a:tc hMerge="1">
                  <a:txBody>
                    <a:bodyPr/>
                    <a:lstStyle/>
                    <a:p>
                      <a:endParaRPr lang="en-NP" sz="1400" b="1">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gridSpan="2">
                  <a:txBody>
                    <a:bodyPr/>
                    <a:lstStyle/>
                    <a:p>
                      <a:endParaRPr lang="en-NP" sz="1400" b="1" dirty="0">
                        <a:highlight>
                          <a:srgbClr val="00FF00"/>
                        </a:highlight>
                      </a:endParaRPr>
                    </a:p>
                  </a:txBody>
                  <a:tcPr/>
                </a:tc>
                <a:tc hMerge="1">
                  <a:txBody>
                    <a:bodyPr/>
                    <a:lstStyle/>
                    <a:p>
                      <a:endParaRPr lang="en-NP" sz="1400" b="1" dirty="0">
                        <a:highlight>
                          <a:srgbClr val="00FF00"/>
                        </a:highlight>
                      </a:endParaRPr>
                    </a:p>
                  </a:txBody>
                  <a:tcPr/>
                </a:tc>
                <a:tc>
                  <a:txBody>
                    <a:bodyPr/>
                    <a:lstStyle/>
                    <a:p>
                      <a:endParaRPr lang="en-NP" sz="1400" b="1">
                        <a:highlight>
                          <a:srgbClr val="00FF00"/>
                        </a:highlight>
                      </a:endParaRPr>
                    </a:p>
                  </a:txBody>
                  <a:tcPr/>
                </a:tc>
                <a:tc>
                  <a:txBody>
                    <a:bodyPr/>
                    <a:lstStyle/>
                    <a:p>
                      <a:endParaRPr lang="en-NP" sz="1400" b="1" dirty="0">
                        <a:highlight>
                          <a:srgbClr val="00FF00"/>
                        </a:highlight>
                      </a:endParaRPr>
                    </a:p>
                  </a:txBody>
                  <a:tcPr/>
                </a:tc>
                <a:extLst>
                  <a:ext uri="{0D108BD9-81ED-4DB2-BD59-A6C34878D82A}">
                    <a16:rowId xmlns:a16="http://schemas.microsoft.com/office/drawing/2014/main" val="1424640484"/>
                  </a:ext>
                </a:extLst>
              </a:tr>
              <a:tr h="313459">
                <a:tc rowSpan="5">
                  <a:txBody>
                    <a:bodyPr/>
                    <a:lstStyle/>
                    <a:p>
                      <a:pPr>
                        <a:lnSpc>
                          <a:spcPct val="150000"/>
                        </a:lnSpc>
                      </a:pPr>
                      <a:r>
                        <a:rPr lang="en-NP" sz="1400" b="1" dirty="0">
                          <a:highlight>
                            <a:srgbClr val="00FFFF"/>
                          </a:highlight>
                        </a:rPr>
                        <a:t>st[i].</a:t>
                      </a:r>
                      <a:r>
                        <a:rPr lang="en-US" sz="1400" b="1" dirty="0">
                          <a:highlight>
                            <a:srgbClr val="00FFFF"/>
                          </a:highlight>
                        </a:rPr>
                        <a:t>a</a:t>
                      </a:r>
                      <a:r>
                        <a:rPr lang="en-NP" sz="14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st[0].</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st[1].</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st[2].</a:t>
                      </a:r>
                      <a:r>
                        <a:rPr lang="en-US" sz="1400" b="1" dirty="0">
                          <a:highlight>
                            <a:srgbClr val="00FFFF"/>
                          </a:highlight>
                        </a:rPr>
                        <a:t>a</a:t>
                      </a:r>
                      <a:r>
                        <a:rPr lang="en-NP" sz="14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4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400" b="1" dirty="0">
                          <a:highlight>
                            <a:srgbClr val="00FFFF"/>
                          </a:highlight>
                        </a:rPr>
                        <a:t>st[99].</a:t>
                      </a:r>
                      <a:r>
                        <a:rPr lang="en-US" sz="1400" b="1" dirty="0">
                          <a:highlight>
                            <a:srgbClr val="00FFFF"/>
                          </a:highlight>
                        </a:rPr>
                        <a:t>a</a:t>
                      </a:r>
                      <a:r>
                        <a:rPr lang="en-NP" sz="1400" b="1" dirty="0">
                          <a:highlight>
                            <a:srgbClr val="00FFFF"/>
                          </a:highlight>
                        </a:rPr>
                        <a:t>dr</a:t>
                      </a:r>
                    </a:p>
                  </a:txBody>
                  <a:tcPr/>
                </a:tc>
                <a:tc>
                  <a:txBody>
                    <a:bodyPr/>
                    <a:lstStyle/>
                    <a:p>
                      <a:r>
                        <a:rPr lang="en-NP" sz="1400" b="1" dirty="0">
                          <a:highlight>
                            <a:srgbClr val="00FFFF"/>
                          </a:highlight>
                        </a:rPr>
                        <a:t>0</a:t>
                      </a:r>
                    </a:p>
                  </a:txBody>
                  <a:tcPr/>
                </a:tc>
                <a:tc>
                  <a:txBody>
                    <a:bodyPr/>
                    <a:lstStyle/>
                    <a:p>
                      <a:r>
                        <a:rPr lang="en-NP" sz="1400" b="1" dirty="0">
                          <a:highlight>
                            <a:srgbClr val="00FFFF"/>
                          </a:highlight>
                        </a:rPr>
                        <a:t>1</a:t>
                      </a:r>
                    </a:p>
                  </a:txBody>
                  <a:tcPr/>
                </a:tc>
                <a:tc gridSpan="2">
                  <a:txBody>
                    <a:bodyPr/>
                    <a:lstStyle/>
                    <a:p>
                      <a:r>
                        <a:rPr lang="en-NP" sz="1400" b="1" dirty="0">
                          <a:highlight>
                            <a:srgbClr val="00FFFF"/>
                          </a:highlight>
                        </a:rPr>
                        <a:t>2</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3</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4</a:t>
                      </a:r>
                    </a:p>
                  </a:txBody>
                  <a:tcPr/>
                </a:tc>
                <a:tc hMerge="1">
                  <a:txBody>
                    <a:bodyPr/>
                    <a:lstStyle/>
                    <a:p>
                      <a:endParaRPr lang="en-NP" sz="1400" b="1" dirty="0">
                        <a:highlight>
                          <a:srgbClr val="00FFFF"/>
                        </a:highlight>
                      </a:endParaRPr>
                    </a:p>
                  </a:txBody>
                  <a:tcPr/>
                </a:tc>
                <a:tc gridSpan="2">
                  <a:txBody>
                    <a:bodyPr/>
                    <a:lstStyle/>
                    <a:p>
                      <a:r>
                        <a:rPr lang="en-NP" sz="1400" b="1" dirty="0">
                          <a:highlight>
                            <a:srgbClr val="00FFFF"/>
                          </a:highlight>
                        </a:rPr>
                        <a:t>5</a:t>
                      </a:r>
                    </a:p>
                  </a:txBody>
                  <a:tcPr/>
                </a:tc>
                <a:tc hMerge="1">
                  <a:txBody>
                    <a:bodyPr/>
                    <a:lstStyle/>
                    <a:p>
                      <a:endParaRPr lang="en-NP" sz="1400" b="1" dirty="0">
                        <a:highlight>
                          <a:srgbClr val="00FFFF"/>
                        </a:highlight>
                      </a:endParaRPr>
                    </a:p>
                  </a:txBody>
                  <a:tcPr/>
                </a:tc>
                <a:tc gridSpan="4">
                  <a:txBody>
                    <a:bodyPr/>
                    <a:lstStyle/>
                    <a:p>
                      <a:r>
                        <a:rPr lang="en-NP" sz="1400" b="1" dirty="0">
                          <a:highlight>
                            <a:srgbClr val="00FFFF"/>
                          </a:highlight>
                        </a:rPr>
                        <a:t>  6--------59</a:t>
                      </a:r>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13459">
                <a:tc vMerge="1">
                  <a:txBody>
                    <a:bodyPr/>
                    <a:lstStyle/>
                    <a:p>
                      <a:endParaRPr lang="en-NP" dirty="0"/>
                    </a:p>
                  </a:txBody>
                  <a:tcPr/>
                </a:tc>
                <a:tc>
                  <a:txBody>
                    <a:bodyPr/>
                    <a:lstStyle/>
                    <a:p>
                      <a:r>
                        <a:rPr lang="en-NP" sz="1400" b="1" dirty="0">
                          <a:highlight>
                            <a:srgbClr val="00FFFF"/>
                          </a:highlight>
                        </a:rPr>
                        <a:t>b</a:t>
                      </a:r>
                    </a:p>
                  </a:txBody>
                  <a:tcPr/>
                </a:tc>
                <a:tc>
                  <a:txBody>
                    <a:bodyPr/>
                    <a:lstStyle/>
                    <a:p>
                      <a:r>
                        <a:rPr lang="en-NP" sz="1400" b="1" dirty="0">
                          <a:highlight>
                            <a:srgbClr val="00FFFF"/>
                          </a:highlight>
                        </a:rPr>
                        <a:t>k</a:t>
                      </a:r>
                    </a:p>
                  </a:txBody>
                  <a:tcPr/>
                </a:tc>
                <a:tc gridSpan="2">
                  <a:txBody>
                    <a:bodyPr/>
                    <a:lstStyle/>
                    <a:p>
                      <a:r>
                        <a:rPr lang="en-NP" sz="1400" b="1" dirty="0">
                          <a:highlight>
                            <a:srgbClr val="00FFFF"/>
                          </a:highlight>
                        </a:rPr>
                        <a:t>t</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670417921"/>
                  </a:ext>
                </a:extLst>
              </a:tr>
              <a:tr h="313459">
                <a:tc vMerge="1">
                  <a:txBody>
                    <a:bodyPr/>
                    <a:lstStyle/>
                    <a:p>
                      <a:endParaRPr lang="en-NP" b="1" dirty="0">
                        <a:highlight>
                          <a:srgbClr val="00FFFF"/>
                        </a:highlight>
                      </a:endParaRPr>
                    </a:p>
                  </a:txBody>
                  <a:tcPr/>
                </a:tc>
                <a:tc>
                  <a:txBody>
                    <a:bodyPr/>
                    <a:lstStyle/>
                    <a:p>
                      <a:r>
                        <a:rPr lang="en-NP" sz="1400" b="1" dirty="0">
                          <a:highlight>
                            <a:srgbClr val="00FFFF"/>
                          </a:highlight>
                        </a:rPr>
                        <a:t>k</a:t>
                      </a:r>
                    </a:p>
                  </a:txBody>
                  <a:tcPr/>
                </a:tc>
                <a:tc>
                  <a:txBody>
                    <a:bodyPr/>
                    <a:lstStyle/>
                    <a:p>
                      <a:r>
                        <a:rPr lang="en-NP" sz="1400" b="1" dirty="0">
                          <a:highlight>
                            <a:srgbClr val="00FFFF"/>
                          </a:highlight>
                        </a:rPr>
                        <a:t>t</a:t>
                      </a:r>
                    </a:p>
                  </a:txBody>
                  <a:tcPr/>
                </a:tc>
                <a:tc gridSpan="2">
                  <a:txBody>
                    <a:bodyPr/>
                    <a:lstStyle/>
                    <a:p>
                      <a:r>
                        <a:rPr lang="en-NP" sz="1400" b="1" dirty="0">
                          <a:highlight>
                            <a:srgbClr val="00FFFF"/>
                          </a:highlight>
                        </a:rPr>
                        <a:t>m</a:t>
                      </a: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2286473001"/>
                  </a:ext>
                </a:extLst>
              </a:tr>
              <a:tr h="313459">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1092514564"/>
                  </a:ext>
                </a:extLst>
              </a:tr>
              <a:tr h="708788">
                <a:tc vMerge="1">
                  <a:txBody>
                    <a:bodyPr/>
                    <a:lstStyle/>
                    <a:p>
                      <a:endParaRPr lang="en-NP" b="1" dirty="0">
                        <a:highlight>
                          <a:srgbClr val="00FFFF"/>
                        </a:highlight>
                      </a:endParaRPr>
                    </a:p>
                  </a:txBody>
                  <a:tcPr/>
                </a:tc>
                <a:tc>
                  <a:txBody>
                    <a:bodyPr/>
                    <a:lstStyle/>
                    <a:p>
                      <a:endParaRPr lang="en-NP" sz="1400" b="1" dirty="0">
                        <a:highlight>
                          <a:srgbClr val="00FFFF"/>
                        </a:highlight>
                      </a:endParaRPr>
                    </a:p>
                  </a:txBody>
                  <a:tcPr/>
                </a:tc>
                <a:tc>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gridSpan="2">
                  <a:txBody>
                    <a:bodyPr/>
                    <a:lstStyle/>
                    <a:p>
                      <a:endParaRPr lang="en-NP" sz="1400" b="1" dirty="0">
                        <a:highlight>
                          <a:srgbClr val="00FFFF"/>
                        </a:highlight>
                      </a:endParaRPr>
                    </a:p>
                  </a:txBody>
                  <a:tcPr/>
                </a:tc>
                <a:tc hMerge="1">
                  <a:txBody>
                    <a:bodyPr/>
                    <a:lstStyle/>
                    <a:p>
                      <a:endParaRPr lang="en-NP" sz="1400" b="1" dirty="0">
                        <a:highlight>
                          <a:srgbClr val="00FFFF"/>
                        </a:highlight>
                      </a:endParaRPr>
                    </a:p>
                  </a:txBody>
                  <a:tcPr/>
                </a:tc>
                <a:tc gridSpan="2">
                  <a:txBody>
                    <a:bodyPr/>
                    <a:lstStyle/>
                    <a:p>
                      <a:endParaRPr lang="en-NP" sz="1400" b="1">
                        <a:highlight>
                          <a:srgbClr val="00FFFF"/>
                        </a:highlight>
                      </a:endParaRPr>
                    </a:p>
                  </a:txBody>
                  <a:tcPr/>
                </a:tc>
                <a:tc hMerge="1">
                  <a:txBody>
                    <a:bodyPr/>
                    <a:lstStyle/>
                    <a:p>
                      <a:endParaRPr lang="en-NP" sz="1400" b="1">
                        <a:highlight>
                          <a:srgbClr val="00FFFF"/>
                        </a:highlight>
                      </a:endParaRPr>
                    </a:p>
                  </a:txBody>
                  <a:tcPr/>
                </a:tc>
                <a:tc>
                  <a:txBody>
                    <a:bodyPr/>
                    <a:lstStyle/>
                    <a:p>
                      <a:endParaRPr lang="en-NP" sz="1400" b="1">
                        <a:highlight>
                          <a:srgbClr val="00FFFF"/>
                        </a:highlight>
                      </a:endParaRPr>
                    </a:p>
                  </a:txBody>
                  <a:tcPr/>
                </a:tc>
                <a:tc>
                  <a:txBody>
                    <a:bodyPr/>
                    <a:lstStyle/>
                    <a:p>
                      <a:endParaRPr lang="en-NP" sz="1400" b="1" dirty="0">
                        <a:highlight>
                          <a:srgbClr val="00FFFF"/>
                        </a:highlight>
                      </a:endParaRPr>
                    </a:p>
                  </a:txBody>
                  <a:tcPr/>
                </a:tc>
                <a:extLst>
                  <a:ext uri="{0D108BD9-81ED-4DB2-BD59-A6C34878D82A}">
                    <a16:rowId xmlns:a16="http://schemas.microsoft.com/office/drawing/2014/main" val="40366568"/>
                  </a:ext>
                </a:extLst>
              </a:tr>
            </a:tbl>
          </a:graphicData>
        </a:graphic>
      </p:graphicFrame>
      <p:sp>
        <p:nvSpPr>
          <p:cNvPr id="18" name="TextBox 17">
            <a:extLst>
              <a:ext uri="{FF2B5EF4-FFF2-40B4-BE49-F238E27FC236}">
                <a16:creationId xmlns:a16="http://schemas.microsoft.com/office/drawing/2014/main" id="{16B4692A-807C-7EC2-0FDE-F26E3AE9C2F1}"/>
              </a:ext>
            </a:extLst>
          </p:cNvPr>
          <p:cNvSpPr txBox="1"/>
          <p:nvPr/>
        </p:nvSpPr>
        <p:spPr>
          <a:xfrm>
            <a:off x="5270720" y="128581"/>
            <a:ext cx="995465" cy="369332"/>
          </a:xfrm>
          <a:prstGeom prst="rect">
            <a:avLst/>
          </a:prstGeom>
          <a:noFill/>
        </p:spPr>
        <p:txBody>
          <a:bodyPr wrap="none" rtlCol="0">
            <a:spAutoFit/>
          </a:bodyPr>
          <a:lstStyle/>
          <a:p>
            <a:r>
              <a:rPr lang="en-NP" b="1" dirty="0">
                <a:highlight>
                  <a:srgbClr val="FFFF00"/>
                </a:highlight>
              </a:rPr>
              <a:t>student</a:t>
            </a:r>
          </a:p>
        </p:txBody>
      </p:sp>
      <p:sp>
        <p:nvSpPr>
          <p:cNvPr id="19" name="TextBox 18">
            <a:extLst>
              <a:ext uri="{FF2B5EF4-FFF2-40B4-BE49-F238E27FC236}">
                <a16:creationId xmlns:a16="http://schemas.microsoft.com/office/drawing/2014/main" id="{5D96527B-F7D2-732C-F2A4-928A65933903}"/>
              </a:ext>
            </a:extLst>
          </p:cNvPr>
          <p:cNvSpPr txBox="1"/>
          <p:nvPr/>
        </p:nvSpPr>
        <p:spPr>
          <a:xfrm>
            <a:off x="2289226" y="804723"/>
            <a:ext cx="922047" cy="369332"/>
          </a:xfrm>
          <a:prstGeom prst="rect">
            <a:avLst/>
          </a:prstGeom>
          <a:noFill/>
        </p:spPr>
        <p:txBody>
          <a:bodyPr wrap="none" rtlCol="0">
            <a:spAutoFit/>
          </a:bodyPr>
          <a:lstStyle/>
          <a:p>
            <a:r>
              <a:rPr lang="en-NP" b="1" dirty="0"/>
              <a:t>Output</a:t>
            </a:r>
          </a:p>
        </p:txBody>
      </p:sp>
      <p:sp>
        <p:nvSpPr>
          <p:cNvPr id="9" name="TextBox 8">
            <a:extLst>
              <a:ext uri="{FF2B5EF4-FFF2-40B4-BE49-F238E27FC236}">
                <a16:creationId xmlns:a16="http://schemas.microsoft.com/office/drawing/2014/main" id="{95B4F03D-9407-D7A0-48F2-8031250377C4}"/>
              </a:ext>
            </a:extLst>
          </p:cNvPr>
          <p:cNvSpPr txBox="1"/>
          <p:nvPr/>
        </p:nvSpPr>
        <p:spPr>
          <a:xfrm>
            <a:off x="197004" y="146174"/>
            <a:ext cx="825867" cy="369332"/>
          </a:xfrm>
          <a:prstGeom prst="rect">
            <a:avLst/>
          </a:prstGeom>
          <a:noFill/>
        </p:spPr>
        <p:txBody>
          <a:bodyPr wrap="none" rtlCol="0">
            <a:spAutoFit/>
          </a:bodyPr>
          <a:lstStyle/>
          <a:p>
            <a:r>
              <a:rPr lang="en-NP" b="1" dirty="0">
                <a:highlight>
                  <a:srgbClr val="FFFF00"/>
                </a:highlight>
              </a:rPr>
              <a:t>QN (4)</a:t>
            </a:r>
          </a:p>
        </p:txBody>
      </p:sp>
      <p:cxnSp>
        <p:nvCxnSpPr>
          <p:cNvPr id="11" name="Straight Arrow Connector 10">
            <a:extLst>
              <a:ext uri="{FF2B5EF4-FFF2-40B4-BE49-F238E27FC236}">
                <a16:creationId xmlns:a16="http://schemas.microsoft.com/office/drawing/2014/main" id="{7717705D-BCC4-9075-0FE9-766029A09BD1}"/>
              </a:ext>
            </a:extLst>
          </p:cNvPr>
          <p:cNvCxnSpPr>
            <a:cxnSpLocks/>
          </p:cNvCxnSpPr>
          <p:nvPr/>
        </p:nvCxnSpPr>
        <p:spPr>
          <a:xfrm>
            <a:off x="6829172" y="2186596"/>
            <a:ext cx="8109" cy="337814"/>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131262D-8618-D743-F623-7AD437B3B5E2}"/>
              </a:ext>
            </a:extLst>
          </p:cNvPr>
          <p:cNvCxnSpPr>
            <a:cxnSpLocks/>
          </p:cNvCxnSpPr>
          <p:nvPr/>
        </p:nvCxnSpPr>
        <p:spPr>
          <a:xfrm>
            <a:off x="6832780" y="4087548"/>
            <a:ext cx="0" cy="40792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F5BE9DB3-C703-BE77-CC2D-3E1FDF08305F}"/>
              </a:ext>
            </a:extLst>
          </p:cNvPr>
          <p:cNvCxnSpPr>
            <a:cxnSpLocks/>
          </p:cNvCxnSpPr>
          <p:nvPr/>
        </p:nvCxnSpPr>
        <p:spPr>
          <a:xfrm>
            <a:off x="6821063" y="6058609"/>
            <a:ext cx="16218" cy="43171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31C6CC64-EA27-AEFA-F68B-912105CFCFB4}"/>
              </a:ext>
            </a:extLst>
          </p:cNvPr>
          <p:cNvPicPr>
            <a:picLocks noChangeAspect="1"/>
          </p:cNvPicPr>
          <p:nvPr/>
        </p:nvPicPr>
        <p:blipFill>
          <a:blip r:embed="rId3"/>
          <a:stretch>
            <a:fillRect/>
          </a:stretch>
        </p:blipFill>
        <p:spPr>
          <a:xfrm>
            <a:off x="273170" y="1226183"/>
            <a:ext cx="5369348" cy="5384831"/>
          </a:xfrm>
          <a:prstGeom prst="rect">
            <a:avLst/>
          </a:prstGeom>
        </p:spPr>
      </p:pic>
      <p:sp>
        <p:nvSpPr>
          <p:cNvPr id="21" name="TextBox 20">
            <a:extLst>
              <a:ext uri="{FF2B5EF4-FFF2-40B4-BE49-F238E27FC236}">
                <a16:creationId xmlns:a16="http://schemas.microsoft.com/office/drawing/2014/main" id="{3F0449ED-A1A4-47A4-6FBC-55A37EDE2AB8}"/>
              </a:ext>
            </a:extLst>
          </p:cNvPr>
          <p:cNvSpPr txBox="1"/>
          <p:nvPr/>
        </p:nvSpPr>
        <p:spPr>
          <a:xfrm>
            <a:off x="5748148" y="1298131"/>
            <a:ext cx="766292" cy="1077218"/>
          </a:xfrm>
          <a:prstGeom prst="rect">
            <a:avLst/>
          </a:prstGeom>
          <a:noFill/>
        </p:spPr>
        <p:txBody>
          <a:bodyPr wrap="square" rtlCol="0">
            <a:spAutoFit/>
          </a:bodyPr>
          <a:lstStyle/>
          <a:p>
            <a:r>
              <a:rPr lang="en-US" sz="1600" b="1" dirty="0" err="1">
                <a:highlight>
                  <a:srgbClr val="FF00FF"/>
                </a:highlight>
              </a:rPr>
              <a:t>st</a:t>
            </a:r>
            <a:r>
              <a:rPr lang="en-US" sz="1600" b="1" dirty="0">
                <a:highlight>
                  <a:srgbClr val="FF00FF"/>
                </a:highlight>
              </a:rPr>
              <a:t>[</a:t>
            </a:r>
            <a:r>
              <a:rPr lang="en-NP" sz="1600" b="1" dirty="0">
                <a:highlight>
                  <a:srgbClr val="FF00FF"/>
                </a:highlight>
              </a:rPr>
              <a:t>i]</a:t>
            </a:r>
          </a:p>
          <a:p>
            <a:r>
              <a:rPr lang="en-US" sz="1600" b="1" dirty="0" err="1">
                <a:highlight>
                  <a:srgbClr val="FF00FF"/>
                </a:highlight>
              </a:rPr>
              <a:t>st</a:t>
            </a:r>
            <a:r>
              <a:rPr lang="en-US" sz="1600" b="1" dirty="0">
                <a:highlight>
                  <a:srgbClr val="FF00FF"/>
                </a:highlight>
              </a:rPr>
              <a:t>[</a:t>
            </a:r>
            <a:r>
              <a:rPr lang="en-NP" sz="1600" b="1" dirty="0">
                <a:highlight>
                  <a:srgbClr val="FF00FF"/>
                </a:highlight>
              </a:rPr>
              <a:t>j]</a:t>
            </a:r>
          </a:p>
          <a:p>
            <a:endParaRPr lang="en-NP" sz="1600" b="1" dirty="0">
              <a:highlight>
                <a:srgbClr val="FF00FF"/>
              </a:highlight>
            </a:endParaRPr>
          </a:p>
          <a:p>
            <a:endParaRPr lang="en-NP" sz="1600" dirty="0"/>
          </a:p>
        </p:txBody>
      </p:sp>
      <p:cxnSp>
        <p:nvCxnSpPr>
          <p:cNvPr id="22" name="Straight Arrow Connector 21">
            <a:extLst>
              <a:ext uri="{FF2B5EF4-FFF2-40B4-BE49-F238E27FC236}">
                <a16:creationId xmlns:a16="http://schemas.microsoft.com/office/drawing/2014/main" id="{0E029E14-61EE-CBF4-4996-ECF20483CA60}"/>
              </a:ext>
            </a:extLst>
          </p:cNvPr>
          <p:cNvCxnSpPr>
            <a:cxnSpLocks/>
          </p:cNvCxnSpPr>
          <p:nvPr/>
        </p:nvCxnSpPr>
        <p:spPr>
          <a:xfrm>
            <a:off x="6204631" y="1482797"/>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123190B-2F13-0FD9-0424-6968AF96D800}"/>
              </a:ext>
            </a:extLst>
          </p:cNvPr>
          <p:cNvCxnSpPr>
            <a:cxnSpLocks/>
          </p:cNvCxnSpPr>
          <p:nvPr/>
        </p:nvCxnSpPr>
        <p:spPr>
          <a:xfrm>
            <a:off x="6204630" y="1735558"/>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9013C932-1176-16C9-86ED-F497B6BA628E}"/>
              </a:ext>
            </a:extLst>
          </p:cNvPr>
          <p:cNvSpPr txBox="1"/>
          <p:nvPr/>
        </p:nvSpPr>
        <p:spPr>
          <a:xfrm>
            <a:off x="5768453" y="3175567"/>
            <a:ext cx="766292" cy="1077218"/>
          </a:xfrm>
          <a:prstGeom prst="rect">
            <a:avLst/>
          </a:prstGeom>
          <a:noFill/>
        </p:spPr>
        <p:txBody>
          <a:bodyPr wrap="square" rtlCol="0">
            <a:spAutoFit/>
          </a:bodyPr>
          <a:lstStyle/>
          <a:p>
            <a:r>
              <a:rPr lang="en-US" sz="1600" b="1" dirty="0" err="1">
                <a:highlight>
                  <a:srgbClr val="00FF00"/>
                </a:highlight>
              </a:rPr>
              <a:t>st</a:t>
            </a:r>
            <a:r>
              <a:rPr lang="en-US" sz="1600" b="1" dirty="0">
                <a:highlight>
                  <a:srgbClr val="00FF00"/>
                </a:highlight>
              </a:rPr>
              <a:t>[</a:t>
            </a:r>
            <a:r>
              <a:rPr lang="en-NP" sz="1600" b="1" dirty="0">
                <a:highlight>
                  <a:srgbClr val="00FF00"/>
                </a:highlight>
              </a:rPr>
              <a:t>i]</a:t>
            </a:r>
          </a:p>
          <a:p>
            <a:r>
              <a:rPr lang="en-US" sz="1600" b="1" dirty="0" err="1">
                <a:highlight>
                  <a:srgbClr val="00FF00"/>
                </a:highlight>
              </a:rPr>
              <a:t>st</a:t>
            </a:r>
            <a:r>
              <a:rPr lang="en-US" sz="1600" b="1" dirty="0">
                <a:highlight>
                  <a:srgbClr val="00FF00"/>
                </a:highlight>
              </a:rPr>
              <a:t>[</a:t>
            </a:r>
            <a:r>
              <a:rPr lang="en-NP" sz="1600" b="1" dirty="0">
                <a:highlight>
                  <a:srgbClr val="00FF00"/>
                </a:highlight>
              </a:rPr>
              <a:t>j]</a:t>
            </a:r>
          </a:p>
          <a:p>
            <a:endParaRPr lang="en-NP" sz="1600" b="1" dirty="0">
              <a:highlight>
                <a:srgbClr val="00FF00"/>
              </a:highlight>
            </a:endParaRPr>
          </a:p>
          <a:p>
            <a:endParaRPr lang="en-NP" sz="1600" dirty="0">
              <a:highlight>
                <a:srgbClr val="00FF00"/>
              </a:highlight>
            </a:endParaRPr>
          </a:p>
        </p:txBody>
      </p:sp>
      <p:cxnSp>
        <p:nvCxnSpPr>
          <p:cNvPr id="28" name="Straight Arrow Connector 27">
            <a:extLst>
              <a:ext uri="{FF2B5EF4-FFF2-40B4-BE49-F238E27FC236}">
                <a16:creationId xmlns:a16="http://schemas.microsoft.com/office/drawing/2014/main" id="{CC4CACC5-2E08-E936-EA2E-45E6EB5BB70C}"/>
              </a:ext>
            </a:extLst>
          </p:cNvPr>
          <p:cNvCxnSpPr>
            <a:cxnSpLocks/>
          </p:cNvCxnSpPr>
          <p:nvPr/>
        </p:nvCxnSpPr>
        <p:spPr>
          <a:xfrm>
            <a:off x="6224936" y="3360233"/>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7B0B08B-6B11-4622-3335-D9BE1E88AA9B}"/>
              </a:ext>
            </a:extLst>
          </p:cNvPr>
          <p:cNvCxnSpPr>
            <a:cxnSpLocks/>
          </p:cNvCxnSpPr>
          <p:nvPr/>
        </p:nvCxnSpPr>
        <p:spPr>
          <a:xfrm>
            <a:off x="6224935" y="3612994"/>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D9C1549-C01A-7D61-0CB5-4CF1C649A65D}"/>
              </a:ext>
            </a:extLst>
          </p:cNvPr>
          <p:cNvSpPr txBox="1"/>
          <p:nvPr/>
        </p:nvSpPr>
        <p:spPr>
          <a:xfrm>
            <a:off x="5748147" y="5119774"/>
            <a:ext cx="766292" cy="1077218"/>
          </a:xfrm>
          <a:prstGeom prst="rect">
            <a:avLst/>
          </a:prstGeom>
          <a:noFill/>
        </p:spPr>
        <p:txBody>
          <a:bodyPr wrap="square" rtlCol="0">
            <a:spAutoFit/>
          </a:bodyPr>
          <a:lstStyle/>
          <a:p>
            <a:r>
              <a:rPr lang="en-US" sz="1600" b="1" dirty="0" err="1">
                <a:highlight>
                  <a:srgbClr val="00FFFF"/>
                </a:highlight>
              </a:rPr>
              <a:t>st</a:t>
            </a:r>
            <a:r>
              <a:rPr lang="en-US" sz="1600" b="1" dirty="0">
                <a:highlight>
                  <a:srgbClr val="00FFFF"/>
                </a:highlight>
              </a:rPr>
              <a:t>[</a:t>
            </a:r>
            <a:r>
              <a:rPr lang="en-NP" sz="1600" b="1" dirty="0">
                <a:highlight>
                  <a:srgbClr val="00FFFF"/>
                </a:highlight>
              </a:rPr>
              <a:t>i]</a:t>
            </a:r>
          </a:p>
          <a:p>
            <a:r>
              <a:rPr lang="en-US" sz="1600" b="1" dirty="0" err="1">
                <a:highlight>
                  <a:srgbClr val="00FFFF"/>
                </a:highlight>
              </a:rPr>
              <a:t>st</a:t>
            </a:r>
            <a:r>
              <a:rPr lang="en-US" sz="1600" b="1" dirty="0">
                <a:highlight>
                  <a:srgbClr val="00FFFF"/>
                </a:highlight>
              </a:rPr>
              <a:t>[</a:t>
            </a:r>
            <a:r>
              <a:rPr lang="en-NP" sz="1600" b="1" dirty="0">
                <a:highlight>
                  <a:srgbClr val="00FFFF"/>
                </a:highlight>
              </a:rPr>
              <a:t>j]</a:t>
            </a:r>
          </a:p>
          <a:p>
            <a:endParaRPr lang="en-NP" sz="1600" b="1" dirty="0">
              <a:highlight>
                <a:srgbClr val="00FFFF"/>
              </a:highlight>
            </a:endParaRPr>
          </a:p>
          <a:p>
            <a:endParaRPr lang="en-NP" sz="1600" dirty="0">
              <a:highlight>
                <a:srgbClr val="00FFFF"/>
              </a:highlight>
            </a:endParaRPr>
          </a:p>
        </p:txBody>
      </p:sp>
      <p:cxnSp>
        <p:nvCxnSpPr>
          <p:cNvPr id="32" name="Straight Arrow Connector 31">
            <a:extLst>
              <a:ext uri="{FF2B5EF4-FFF2-40B4-BE49-F238E27FC236}">
                <a16:creationId xmlns:a16="http://schemas.microsoft.com/office/drawing/2014/main" id="{8B2D03AB-3E93-650D-46CE-371A2A47D3DE}"/>
              </a:ext>
            </a:extLst>
          </p:cNvPr>
          <p:cNvCxnSpPr>
            <a:cxnSpLocks/>
          </p:cNvCxnSpPr>
          <p:nvPr/>
        </p:nvCxnSpPr>
        <p:spPr>
          <a:xfrm>
            <a:off x="6204630" y="5304440"/>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B02E20E-832C-8657-42C1-9439302E3E48}"/>
              </a:ext>
            </a:extLst>
          </p:cNvPr>
          <p:cNvCxnSpPr>
            <a:cxnSpLocks/>
          </p:cNvCxnSpPr>
          <p:nvPr/>
        </p:nvCxnSpPr>
        <p:spPr>
          <a:xfrm>
            <a:off x="6204629" y="5557201"/>
            <a:ext cx="309809" cy="0"/>
          </a:xfrm>
          <a:prstGeom prst="straightConnector1">
            <a:avLst/>
          </a:prstGeom>
          <a:ln w="3175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226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817ED-B56E-8665-CBC8-C762B6A4E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D9E1C-A264-3F11-F4CC-62AA6D7827A6}"/>
              </a:ext>
            </a:extLst>
          </p:cNvPr>
          <p:cNvSpPr>
            <a:spLocks noGrp="1"/>
          </p:cNvSpPr>
          <p:nvPr>
            <p:ph type="title"/>
          </p:nvPr>
        </p:nvSpPr>
        <p:spPr>
          <a:xfrm>
            <a:off x="0" y="0"/>
            <a:ext cx="11253439" cy="680989"/>
          </a:xfrm>
        </p:spPr>
        <p:txBody>
          <a:bodyPr>
            <a:noAutofit/>
          </a:bodyPr>
          <a:lstStyle/>
          <a:p>
            <a:br>
              <a:rPr lang="en-NP" sz="1800" dirty="0"/>
            </a:br>
            <a:br>
              <a:rPr lang="en-NP" sz="1800" b="1" dirty="0"/>
            </a:br>
            <a:r>
              <a:rPr lang="en-NP" sz="1800" b="1" i="1" dirty="0">
                <a:solidFill>
                  <a:srgbClr val="FF0000"/>
                </a:solidFill>
              </a:rPr>
              <a:t>5. Write a C Program using structure variable Program to store n students records like name, address and age using array and  loop. Print the record on the basis of age between 20 and 30.</a:t>
            </a:r>
            <a:br>
              <a:rPr lang="en-NP" sz="1600" dirty="0"/>
            </a:br>
            <a:br>
              <a:rPr lang="en-NP" sz="1600" b="1" dirty="0"/>
            </a:br>
            <a:endParaRPr lang="en-NP" sz="1600" b="1" dirty="0"/>
          </a:p>
        </p:txBody>
      </p:sp>
      <p:sp>
        <p:nvSpPr>
          <p:cNvPr id="3" name="Content Placeholder 2">
            <a:extLst>
              <a:ext uri="{FF2B5EF4-FFF2-40B4-BE49-F238E27FC236}">
                <a16:creationId xmlns:a16="http://schemas.microsoft.com/office/drawing/2014/main" id="{F107A9A5-CB32-F077-42B3-5108299BB83A}"/>
              </a:ext>
            </a:extLst>
          </p:cNvPr>
          <p:cNvSpPr>
            <a:spLocks noGrp="1"/>
          </p:cNvSpPr>
          <p:nvPr>
            <p:ph sz="half" idx="1"/>
          </p:nvPr>
        </p:nvSpPr>
        <p:spPr>
          <a:xfrm>
            <a:off x="0" y="689990"/>
            <a:ext cx="5207332" cy="6165749"/>
          </a:xfrm>
        </p:spPr>
        <p:txBody>
          <a:bodyPr>
            <a:normAutofit/>
          </a:bodyPr>
          <a:lstStyle/>
          <a:p>
            <a:pPr marL="0" indent="0">
              <a:lnSpc>
                <a:spcPct val="120000"/>
              </a:lnSpc>
              <a:spcBef>
                <a:spcPts val="0"/>
              </a:spcBef>
              <a:buNone/>
            </a:pPr>
            <a:r>
              <a:rPr lang="en-US" sz="2100" b="1" dirty="0"/>
              <a:t>     #include&lt;</a:t>
            </a:r>
            <a:r>
              <a:rPr lang="en-US" sz="2100" b="1" dirty="0" err="1"/>
              <a:t>stdio.h</a:t>
            </a:r>
            <a:r>
              <a:rPr lang="en-US" sz="2100" b="1" dirty="0"/>
              <a:t>&gt; </a:t>
            </a:r>
          </a:p>
          <a:p>
            <a:pPr marL="0" indent="0">
              <a:lnSpc>
                <a:spcPct val="120000"/>
              </a:lnSpc>
              <a:spcBef>
                <a:spcPts val="0"/>
              </a:spcBef>
              <a:buNone/>
            </a:pPr>
            <a:r>
              <a:rPr lang="en-US" sz="2100" b="1" dirty="0"/>
              <a:t>     struct student </a:t>
            </a:r>
          </a:p>
          <a:p>
            <a:pPr marL="0" indent="0">
              <a:lnSpc>
                <a:spcPct val="120000"/>
              </a:lnSpc>
              <a:spcBef>
                <a:spcPts val="0"/>
              </a:spcBef>
              <a:buNone/>
            </a:pPr>
            <a:r>
              <a:rPr lang="en-US" sz="2100" b="1" dirty="0"/>
              <a:t>     { </a:t>
            </a:r>
          </a:p>
          <a:p>
            <a:pPr marL="0" indent="0">
              <a:lnSpc>
                <a:spcPct val="120000"/>
              </a:lnSpc>
              <a:spcBef>
                <a:spcPts val="0"/>
              </a:spcBef>
              <a:buNone/>
            </a:pPr>
            <a:r>
              <a:rPr lang="en-US" sz="2100" b="1" dirty="0"/>
              <a:t>     char name[50], </a:t>
            </a:r>
            <a:r>
              <a:rPr lang="en-US" sz="2100" b="1" dirty="0" err="1"/>
              <a:t>adr</a:t>
            </a:r>
            <a:r>
              <a:rPr lang="en-US" sz="2100" b="1" dirty="0"/>
              <a:t>[60]; </a:t>
            </a:r>
          </a:p>
          <a:p>
            <a:pPr marL="0" indent="0">
              <a:lnSpc>
                <a:spcPct val="120000"/>
              </a:lnSpc>
              <a:spcBef>
                <a:spcPts val="0"/>
              </a:spcBef>
              <a:buNone/>
            </a:pPr>
            <a:r>
              <a:rPr lang="en-US" sz="2100" b="1" dirty="0"/>
              <a:t>     int age; </a:t>
            </a:r>
          </a:p>
          <a:p>
            <a:pPr marL="0" indent="0">
              <a:lnSpc>
                <a:spcPct val="120000"/>
              </a:lnSpc>
              <a:spcBef>
                <a:spcPts val="0"/>
              </a:spcBef>
              <a:buNone/>
            </a:pPr>
            <a:r>
              <a:rPr lang="en-US" sz="2100" b="1" dirty="0"/>
              <a:t>     }; </a:t>
            </a:r>
          </a:p>
          <a:p>
            <a:pPr marL="0" indent="0">
              <a:lnSpc>
                <a:spcPct val="120000"/>
              </a:lnSpc>
              <a:spcBef>
                <a:spcPts val="0"/>
              </a:spcBef>
              <a:buNone/>
            </a:pPr>
            <a:r>
              <a:rPr lang="en-US" sz="2100" b="1" dirty="0"/>
              <a:t>    int main()</a:t>
            </a:r>
          </a:p>
          <a:p>
            <a:pPr marL="0" indent="0">
              <a:lnSpc>
                <a:spcPct val="120000"/>
              </a:lnSpc>
              <a:spcBef>
                <a:spcPts val="0"/>
              </a:spcBef>
              <a:buNone/>
            </a:pPr>
            <a:r>
              <a:rPr lang="en-US" sz="2100" b="1" dirty="0"/>
              <a:t>     {</a:t>
            </a:r>
          </a:p>
          <a:p>
            <a:pPr marL="0" indent="0">
              <a:lnSpc>
                <a:spcPct val="120000"/>
              </a:lnSpc>
              <a:spcBef>
                <a:spcPts val="0"/>
              </a:spcBef>
              <a:buNone/>
            </a:pPr>
            <a:r>
              <a:rPr lang="en-US" sz="2100" b="1" dirty="0"/>
              <a:t>      struct student </a:t>
            </a:r>
            <a:r>
              <a:rPr lang="en-US" sz="2100" b="1" dirty="0" err="1"/>
              <a:t>st</a:t>
            </a:r>
            <a:r>
              <a:rPr lang="en-US" sz="2100" b="1" dirty="0"/>
              <a:t>[100], temp; </a:t>
            </a:r>
          </a:p>
          <a:p>
            <a:pPr marL="0" indent="0">
              <a:lnSpc>
                <a:spcPct val="120000"/>
              </a:lnSpc>
              <a:spcBef>
                <a:spcPts val="0"/>
              </a:spcBef>
              <a:buNone/>
            </a:pPr>
            <a:r>
              <a:rPr lang="en-US" sz="2100" b="1" dirty="0"/>
              <a:t>      int </a:t>
            </a:r>
            <a:r>
              <a:rPr lang="en-US" sz="2100" b="1" dirty="0" err="1"/>
              <a:t>i</a:t>
            </a:r>
            <a:r>
              <a:rPr lang="en-US" sz="2100" b="1" dirty="0"/>
              <a:t>, j, n; </a:t>
            </a:r>
            <a:br>
              <a:rPr lang="en-US" sz="2100" b="1" dirty="0"/>
            </a:br>
            <a:r>
              <a:rPr lang="en-US" sz="2100" b="1" dirty="0"/>
              <a:t>      </a:t>
            </a:r>
            <a:r>
              <a:rPr lang="en-US" sz="1600" b="1" dirty="0" err="1"/>
              <a:t>printf</a:t>
            </a:r>
            <a:r>
              <a:rPr lang="en-US" sz="1600" b="1" dirty="0"/>
              <a:t>("\</a:t>
            </a:r>
            <a:r>
              <a:rPr lang="en-US" sz="1600" b="1" dirty="0" err="1"/>
              <a:t>nEnter</a:t>
            </a:r>
            <a:r>
              <a:rPr lang="en-US" sz="1600" b="1" dirty="0"/>
              <a:t> a number how many records you   </a:t>
            </a:r>
          </a:p>
          <a:p>
            <a:pPr marL="0" indent="0">
              <a:lnSpc>
                <a:spcPct val="120000"/>
              </a:lnSpc>
              <a:spcBef>
                <a:spcPts val="0"/>
              </a:spcBef>
              <a:buNone/>
            </a:pPr>
            <a:r>
              <a:rPr lang="en-US" sz="1600" b="1" dirty="0"/>
              <a:t>        want to input: "); </a:t>
            </a:r>
          </a:p>
          <a:p>
            <a:pPr marL="0" indent="0">
              <a:lnSpc>
                <a:spcPct val="120000"/>
              </a:lnSpc>
              <a:spcBef>
                <a:spcPts val="0"/>
              </a:spcBef>
              <a:buNone/>
            </a:pPr>
            <a:r>
              <a:rPr lang="en-US" sz="2100" b="1" dirty="0"/>
              <a:t>     </a:t>
            </a:r>
            <a:r>
              <a:rPr lang="en-US" sz="2100" b="1" dirty="0" err="1"/>
              <a:t>scanf</a:t>
            </a:r>
            <a:r>
              <a:rPr lang="en-US" sz="2100" b="1" dirty="0"/>
              <a:t>("%d", &amp;n); </a:t>
            </a:r>
          </a:p>
          <a:p>
            <a:pPr marL="0" indent="0">
              <a:lnSpc>
                <a:spcPct val="120000"/>
              </a:lnSpc>
              <a:spcBef>
                <a:spcPts val="0"/>
              </a:spcBef>
              <a:buNone/>
            </a:pPr>
            <a:endParaRPr lang="en-US" sz="6200" dirty="0"/>
          </a:p>
        </p:txBody>
      </p:sp>
      <p:sp>
        <p:nvSpPr>
          <p:cNvPr id="5" name="Content Placeholder 3">
            <a:extLst>
              <a:ext uri="{FF2B5EF4-FFF2-40B4-BE49-F238E27FC236}">
                <a16:creationId xmlns:a16="http://schemas.microsoft.com/office/drawing/2014/main" id="{35A98C55-3292-F6DB-2FB7-BA6F10B4C136}"/>
              </a:ext>
            </a:extLst>
          </p:cNvPr>
          <p:cNvSpPr txBox="1">
            <a:spLocks/>
          </p:cNvSpPr>
          <p:nvPr/>
        </p:nvSpPr>
        <p:spPr>
          <a:xfrm>
            <a:off x="5285452" y="680989"/>
            <a:ext cx="6980897" cy="6160506"/>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400"/>
              </a:spcBef>
              <a:buNone/>
            </a:pPr>
            <a:r>
              <a:rPr lang="en-US" sz="7200" b="1" dirty="0">
                <a:highlight>
                  <a:srgbClr val="FFFF00"/>
                </a:highlight>
              </a:rPr>
              <a:t>//code to input to structure </a:t>
            </a:r>
          </a:p>
          <a:p>
            <a:pPr marL="0" indent="0">
              <a:lnSpc>
                <a:spcPct val="110000"/>
              </a:lnSpc>
              <a:spcBef>
                <a:spcPts val="400"/>
              </a:spcBef>
              <a:buNone/>
            </a:pPr>
            <a:r>
              <a:rPr lang="en-US" sz="7200" b="1" dirty="0"/>
              <a:t>for(</a:t>
            </a:r>
            <a:r>
              <a:rPr lang="en-US" sz="7200" b="1" dirty="0" err="1"/>
              <a:t>i</a:t>
            </a:r>
            <a:r>
              <a:rPr lang="en-US" sz="7200" b="1" dirty="0"/>
              <a:t>=0; </a:t>
            </a:r>
            <a:r>
              <a:rPr lang="en-US" sz="7200" b="1" dirty="0" err="1"/>
              <a:t>i</a:t>
            </a:r>
            <a:r>
              <a:rPr lang="en-US" sz="7200" b="1" dirty="0"/>
              <a:t>&lt;n; </a:t>
            </a:r>
            <a:r>
              <a:rPr lang="en-US" sz="7200" b="1" dirty="0" err="1"/>
              <a:t>i</a:t>
            </a:r>
            <a:r>
              <a:rPr lang="en-US" sz="7200" b="1" dirty="0"/>
              <a:t>++) </a:t>
            </a:r>
          </a:p>
          <a:p>
            <a:pPr marL="0" indent="0">
              <a:lnSpc>
                <a:spcPct val="110000"/>
              </a:lnSpc>
              <a:spcBef>
                <a:spcPts val="400"/>
              </a:spcBef>
              <a:buNone/>
            </a:pPr>
            <a:r>
              <a:rPr lang="en-US" sz="7200" b="1" dirty="0"/>
              <a:t>{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name of the student: "); </a:t>
            </a:r>
          </a:p>
          <a:p>
            <a:pPr marL="0" indent="0">
              <a:lnSpc>
                <a:spcPct val="110000"/>
              </a:lnSpc>
              <a:spcBef>
                <a:spcPts val="400"/>
              </a:spcBef>
              <a:buNone/>
            </a:pPr>
            <a:r>
              <a:rPr lang="en-US" sz="7200" b="1" dirty="0" err="1"/>
              <a:t>scanf</a:t>
            </a:r>
            <a:r>
              <a:rPr lang="en-US" sz="7200" b="1" dirty="0"/>
              <a:t>("%s",</a:t>
            </a:r>
            <a:r>
              <a:rPr lang="en-US" sz="7200" b="1" dirty="0" err="1"/>
              <a:t>st</a:t>
            </a:r>
            <a:r>
              <a:rPr lang="en-US" sz="7200" b="1" dirty="0"/>
              <a:t>[</a:t>
            </a:r>
            <a:r>
              <a:rPr lang="en-US" sz="7200" b="1" dirty="0" err="1"/>
              <a:t>i</a:t>
            </a:r>
            <a:r>
              <a:rPr lang="en-US" sz="7200" b="1" dirty="0"/>
              <a:t>].name);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address of the student: "); </a:t>
            </a:r>
          </a:p>
          <a:p>
            <a:pPr marL="0" indent="0">
              <a:lnSpc>
                <a:spcPct val="110000"/>
              </a:lnSpc>
              <a:spcBef>
                <a:spcPts val="400"/>
              </a:spcBef>
              <a:buNone/>
            </a:pPr>
            <a:r>
              <a:rPr lang="en-US" sz="7200" b="1" dirty="0" err="1"/>
              <a:t>scanf</a:t>
            </a:r>
            <a:r>
              <a:rPr lang="en-US" sz="7200" b="1" dirty="0"/>
              <a:t>("%s",</a:t>
            </a:r>
            <a:r>
              <a:rPr lang="en-US" sz="7200" b="1" dirty="0" err="1"/>
              <a:t>st</a:t>
            </a:r>
            <a:r>
              <a:rPr lang="en-US" sz="7200" b="1" dirty="0"/>
              <a:t>[</a:t>
            </a:r>
            <a:r>
              <a:rPr lang="en-US" sz="7200" b="1" dirty="0" err="1"/>
              <a:t>i</a:t>
            </a:r>
            <a:r>
              <a:rPr lang="en-US" sz="7200" b="1" dirty="0"/>
              <a:t>].</a:t>
            </a:r>
            <a:r>
              <a:rPr lang="en-US" sz="7200" b="1" dirty="0" err="1"/>
              <a:t>adr</a:t>
            </a:r>
            <a:r>
              <a:rPr lang="en-US" sz="7200" b="1" dirty="0"/>
              <a:t>); </a:t>
            </a:r>
          </a:p>
          <a:p>
            <a:pPr marL="0" indent="0">
              <a:lnSpc>
                <a:spcPct val="110000"/>
              </a:lnSpc>
              <a:spcBef>
                <a:spcPts val="400"/>
              </a:spcBef>
              <a:buNone/>
            </a:pPr>
            <a:r>
              <a:rPr lang="en-US" sz="7200" b="1" dirty="0" err="1"/>
              <a:t>printf</a:t>
            </a:r>
            <a:r>
              <a:rPr lang="en-US" sz="7200" b="1" dirty="0"/>
              <a:t>("\</a:t>
            </a:r>
            <a:r>
              <a:rPr lang="en-US" sz="7200" b="1" dirty="0" err="1"/>
              <a:t>nEnter</a:t>
            </a:r>
            <a:r>
              <a:rPr lang="en-US" sz="7200" b="1" dirty="0"/>
              <a:t> the age of the student: "); </a:t>
            </a:r>
          </a:p>
          <a:p>
            <a:pPr marL="0" indent="0">
              <a:lnSpc>
                <a:spcPct val="110000"/>
              </a:lnSpc>
              <a:spcBef>
                <a:spcPts val="400"/>
              </a:spcBef>
              <a:buNone/>
            </a:pPr>
            <a:r>
              <a:rPr lang="en-US" sz="7200" b="1" dirty="0" err="1"/>
              <a:t>scanf</a:t>
            </a:r>
            <a:r>
              <a:rPr lang="en-US" sz="7200" b="1" dirty="0"/>
              <a:t>("%d", &amp;</a:t>
            </a:r>
            <a:r>
              <a:rPr lang="en-US" sz="7200" b="1" dirty="0" err="1"/>
              <a:t>st</a:t>
            </a:r>
            <a:r>
              <a:rPr lang="en-US" sz="7200" b="1" dirty="0"/>
              <a:t>[</a:t>
            </a:r>
            <a:r>
              <a:rPr lang="en-US" sz="7200" b="1" dirty="0" err="1"/>
              <a:t>i</a:t>
            </a:r>
            <a:r>
              <a:rPr lang="en-US" sz="7200" b="1" dirty="0"/>
              <a:t>].age); </a:t>
            </a:r>
          </a:p>
          <a:p>
            <a:pPr marL="0" indent="0">
              <a:lnSpc>
                <a:spcPct val="110000"/>
              </a:lnSpc>
              <a:spcBef>
                <a:spcPts val="400"/>
              </a:spcBef>
              <a:buNone/>
            </a:pPr>
            <a:r>
              <a:rPr lang="en-US" sz="7200" b="1" dirty="0"/>
              <a:t>} </a:t>
            </a:r>
          </a:p>
          <a:p>
            <a:pPr marL="0" indent="0">
              <a:lnSpc>
                <a:spcPct val="110000"/>
              </a:lnSpc>
              <a:spcBef>
                <a:spcPts val="400"/>
              </a:spcBef>
              <a:buNone/>
            </a:pPr>
            <a:r>
              <a:rPr lang="en-US" sz="8000" b="1" dirty="0">
                <a:highlight>
                  <a:srgbClr val="FFFF00"/>
                </a:highlight>
              </a:rPr>
              <a:t>//code to display after sorting </a:t>
            </a:r>
          </a:p>
          <a:p>
            <a:pPr marL="0" indent="0">
              <a:lnSpc>
                <a:spcPct val="110000"/>
              </a:lnSpc>
              <a:spcBef>
                <a:spcPts val="400"/>
              </a:spcBef>
              <a:buNone/>
            </a:pPr>
            <a:r>
              <a:rPr lang="en-US" sz="8000" b="1" dirty="0" err="1"/>
              <a:t>printf</a:t>
            </a:r>
            <a:r>
              <a:rPr lang="en-US" sz="8000" b="1" dirty="0"/>
              <a:t>("\</a:t>
            </a:r>
            <a:r>
              <a:rPr lang="en-US" sz="8000" b="1" dirty="0" err="1"/>
              <a:t>nName</a:t>
            </a:r>
            <a:r>
              <a:rPr lang="en-US" sz="8000" b="1" dirty="0"/>
              <a:t> of Student\t\</a:t>
            </a:r>
            <a:r>
              <a:rPr lang="en-US" sz="8000" b="1" dirty="0" err="1"/>
              <a:t>tAddress</a:t>
            </a:r>
            <a:r>
              <a:rPr lang="en-US" sz="8000" b="1" dirty="0"/>
              <a:t>\t\</a:t>
            </a:r>
            <a:r>
              <a:rPr lang="en-US" sz="8000" b="1" dirty="0" err="1"/>
              <a:t>tAge</a:t>
            </a:r>
            <a:r>
              <a:rPr lang="en-US" sz="8000" b="1" dirty="0"/>
              <a:t> "); </a:t>
            </a:r>
          </a:p>
          <a:p>
            <a:pPr marL="0" indent="0">
              <a:lnSpc>
                <a:spcPct val="110000"/>
              </a:lnSpc>
              <a:spcBef>
                <a:spcPts val="400"/>
              </a:spcBef>
              <a:buNone/>
            </a:pPr>
            <a:r>
              <a:rPr lang="en-US" sz="8000" b="1" dirty="0"/>
              <a:t>for(</a:t>
            </a:r>
            <a:r>
              <a:rPr lang="en-US" sz="8000" b="1" dirty="0" err="1"/>
              <a:t>i</a:t>
            </a:r>
            <a:r>
              <a:rPr lang="en-US" sz="8000" b="1" dirty="0"/>
              <a:t>=0;i&lt;</a:t>
            </a:r>
            <a:r>
              <a:rPr lang="en-US" sz="8000" b="1" dirty="0" err="1"/>
              <a:t>n;i</a:t>
            </a:r>
            <a:r>
              <a:rPr lang="en-US" sz="8000" b="1" dirty="0"/>
              <a:t>++)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if(</a:t>
            </a:r>
            <a:r>
              <a:rPr lang="en-US" sz="8000" b="1" dirty="0" err="1"/>
              <a:t>st</a:t>
            </a:r>
            <a:r>
              <a:rPr lang="en-US" sz="8000" b="1" dirty="0"/>
              <a:t>[</a:t>
            </a:r>
            <a:r>
              <a:rPr lang="en-US" sz="8000" b="1" dirty="0" err="1"/>
              <a:t>i</a:t>
            </a:r>
            <a:r>
              <a:rPr lang="en-US" sz="8000" b="1" dirty="0"/>
              <a:t>].age&gt;=20 &amp;&amp; </a:t>
            </a:r>
            <a:r>
              <a:rPr lang="en-US" sz="8000" b="1" dirty="0" err="1"/>
              <a:t>st</a:t>
            </a:r>
            <a:r>
              <a:rPr lang="en-US" sz="8000" b="1" dirty="0"/>
              <a:t>[</a:t>
            </a:r>
            <a:r>
              <a:rPr lang="en-US" sz="8000" b="1" dirty="0" err="1"/>
              <a:t>i</a:t>
            </a:r>
            <a:r>
              <a:rPr lang="en-US" sz="8000" b="1" dirty="0"/>
              <a:t>].age&lt;=30)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err="1"/>
              <a:t>printf</a:t>
            </a:r>
            <a:r>
              <a:rPr lang="en-US" sz="8000" b="1" dirty="0"/>
              <a:t>("\n\</a:t>
            </a:r>
            <a:r>
              <a:rPr lang="en-US" sz="8000" b="1" dirty="0" err="1"/>
              <a:t>n%s</a:t>
            </a:r>
            <a:r>
              <a:rPr lang="en-US" sz="8000" b="1" dirty="0"/>
              <a:t>\t\t\</a:t>
            </a:r>
            <a:r>
              <a:rPr lang="en-US" sz="8000" b="1" dirty="0" err="1"/>
              <a:t>t%s</a:t>
            </a:r>
            <a:r>
              <a:rPr lang="en-US" sz="8000" b="1" dirty="0"/>
              <a:t>\t\</a:t>
            </a:r>
            <a:r>
              <a:rPr lang="en-US" sz="8000" b="1" dirty="0" err="1"/>
              <a:t>t%d</a:t>
            </a:r>
            <a:r>
              <a:rPr lang="en-US" sz="8000" b="1" dirty="0"/>
              <a:t>",</a:t>
            </a:r>
            <a:r>
              <a:rPr lang="en-US" sz="8000" b="1" dirty="0" err="1"/>
              <a:t>st</a:t>
            </a:r>
            <a:r>
              <a:rPr lang="en-US" sz="8000" b="1" dirty="0"/>
              <a:t>[</a:t>
            </a:r>
            <a:r>
              <a:rPr lang="en-US" sz="8000" b="1" dirty="0" err="1"/>
              <a:t>i</a:t>
            </a:r>
            <a:r>
              <a:rPr lang="en-US" sz="8000" b="1" dirty="0"/>
              <a:t>].</a:t>
            </a:r>
            <a:r>
              <a:rPr lang="en-US" sz="8000" b="1" dirty="0" err="1"/>
              <a:t>name,st</a:t>
            </a:r>
            <a:r>
              <a:rPr lang="en-US" sz="8000" b="1" dirty="0"/>
              <a:t>[</a:t>
            </a:r>
            <a:r>
              <a:rPr lang="en-US" sz="8000" b="1" dirty="0" err="1"/>
              <a:t>i</a:t>
            </a:r>
            <a:r>
              <a:rPr lang="en-US" sz="8000" b="1" dirty="0"/>
              <a:t>].</a:t>
            </a:r>
            <a:r>
              <a:rPr lang="en-US" sz="8000" b="1" dirty="0" err="1"/>
              <a:t>adr,st</a:t>
            </a:r>
            <a:r>
              <a:rPr lang="en-US" sz="8000" b="1" dirty="0"/>
              <a:t>[</a:t>
            </a:r>
            <a:r>
              <a:rPr lang="en-US" sz="8000" b="1" dirty="0" err="1"/>
              <a:t>i</a:t>
            </a:r>
            <a:r>
              <a:rPr lang="en-US" sz="8000" b="1" dirty="0"/>
              <a:t>].age);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 </a:t>
            </a:r>
          </a:p>
          <a:p>
            <a:pPr marL="0" indent="0">
              <a:lnSpc>
                <a:spcPct val="110000"/>
              </a:lnSpc>
              <a:spcBef>
                <a:spcPts val="400"/>
              </a:spcBef>
              <a:buNone/>
            </a:pPr>
            <a:r>
              <a:rPr lang="en-US" sz="8000" b="1" dirty="0"/>
              <a:t>}</a:t>
            </a:r>
          </a:p>
          <a:p>
            <a:pPr marL="0" indent="0">
              <a:lnSpc>
                <a:spcPct val="120000"/>
              </a:lnSpc>
              <a:spcBef>
                <a:spcPts val="0"/>
              </a:spcBef>
              <a:buNone/>
            </a:pPr>
            <a:endParaRPr lang="en-US" sz="8000" b="1" dirty="0">
              <a:highlight>
                <a:srgbClr val="FFFF00"/>
              </a:highlight>
            </a:endParaRPr>
          </a:p>
          <a:p>
            <a:pPr marL="0" indent="0">
              <a:buNone/>
            </a:pPr>
            <a:br>
              <a:rPr lang="en-US" dirty="0"/>
            </a:br>
            <a:endParaRPr lang="en-US" dirty="0"/>
          </a:p>
          <a:p>
            <a:pPr marL="0" indent="0">
              <a:spcBef>
                <a:spcPts val="0"/>
              </a:spcBef>
              <a:buNone/>
            </a:pPr>
            <a:endParaRPr lang="en-US" sz="1800" b="1" dirty="0">
              <a:highlight>
                <a:srgbClr val="FFFF00"/>
              </a:highlight>
            </a:endParaRPr>
          </a:p>
          <a:p>
            <a:pPr marL="0" indent="0">
              <a:spcBef>
                <a:spcPts val="0"/>
              </a:spcBef>
              <a:buFont typeface="Arial" panose="020B0604020202020204" pitchFamily="34" charset="0"/>
              <a:buNone/>
            </a:pPr>
            <a:endParaRPr lang="en-US" sz="1800" b="1" i="1" dirty="0"/>
          </a:p>
          <a:p>
            <a:pPr marL="0" indent="0">
              <a:buNone/>
            </a:pPr>
            <a:endParaRPr lang="en-NP" dirty="0"/>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7" name="Ink 6">
                <a:extLst>
                  <a:ext uri="{FF2B5EF4-FFF2-40B4-BE49-F238E27FC236}">
                    <a16:creationId xmlns:a16="http://schemas.microsoft.com/office/drawing/2014/main" id="{F8C9252F-CFD7-AD53-2448-878A5DAF2055}"/>
                  </a:ext>
                </a:extLst>
              </p14:cNvPr>
              <p14:cNvContentPartPr/>
              <p14:nvPr/>
            </p14:nvContentPartPr>
            <p14:xfrm>
              <a:off x="6730905" y="4581755"/>
              <a:ext cx="360" cy="360"/>
            </p14:xfrm>
          </p:contentPart>
        </mc:Choice>
        <mc:Fallback xmlns="">
          <p:pic>
            <p:nvPicPr>
              <p:cNvPr id="7" name="Ink 6">
                <a:extLst>
                  <a:ext uri="{FF2B5EF4-FFF2-40B4-BE49-F238E27FC236}">
                    <a16:creationId xmlns:a16="http://schemas.microsoft.com/office/drawing/2014/main" id="{F8A987C4-38F5-9EF7-F8CF-4D5EA71C2483}"/>
                  </a:ext>
                </a:extLst>
              </p:cNvPr>
              <p:cNvPicPr/>
              <p:nvPr/>
            </p:nvPicPr>
            <p:blipFill>
              <a:blip r:embed="rId4"/>
              <a:stretch>
                <a:fillRect/>
              </a:stretch>
            </p:blipFill>
            <p:spPr>
              <a:xfrm>
                <a:off x="6726585" y="4555115"/>
                <a:ext cx="9000" cy="54000"/>
              </a:xfrm>
              <a:prstGeom prst="rect">
                <a:avLst/>
              </a:prstGeom>
            </p:spPr>
          </p:pic>
        </mc:Fallback>
      </mc:AlternateContent>
      <p:grpSp>
        <p:nvGrpSpPr>
          <p:cNvPr id="12" name="Group 11">
            <a:extLst>
              <a:ext uri="{FF2B5EF4-FFF2-40B4-BE49-F238E27FC236}">
                <a16:creationId xmlns:a16="http://schemas.microsoft.com/office/drawing/2014/main" id="{6D17DD40-92BC-81E9-0B09-3FAC696ACBA4}"/>
              </a:ext>
            </a:extLst>
          </p:cNvPr>
          <p:cNvGrpSpPr/>
          <p:nvPr/>
        </p:nvGrpSpPr>
        <p:grpSpPr>
          <a:xfrm>
            <a:off x="6782025" y="4569155"/>
            <a:ext cx="8640" cy="44280"/>
            <a:chOff x="6782025" y="4569155"/>
            <a:chExt cx="8640" cy="44280"/>
          </a:xfrm>
        </p:grpSpPr>
        <mc:AlternateContent xmlns:mc="http://schemas.openxmlformats.org/markup-compatibility/2006" xmlns:p14="http://schemas.microsoft.com/office/powerpoint/2010/main" xmlns:aink="http://schemas.microsoft.com/office/drawing/2016/ink">
          <mc:Choice Requires="p14 aink">
            <p:contentPart p14:bwMode="auto" r:id="rId5">
              <p14:nvContentPartPr>
                <p14:cNvPr id="8" name="Ink 7">
                  <a:extLst>
                    <a:ext uri="{FF2B5EF4-FFF2-40B4-BE49-F238E27FC236}">
                      <a16:creationId xmlns:a16="http://schemas.microsoft.com/office/drawing/2014/main" id="{B67C256B-78DD-7F8F-4B88-67CF07C6D826}"/>
                    </a:ext>
                  </a:extLst>
                </p14:cNvPr>
                <p14:cNvContentPartPr/>
                <p14:nvPr/>
              </p14:nvContentPartPr>
              <p14:xfrm>
                <a:off x="6790305" y="4569155"/>
                <a:ext cx="360" cy="360"/>
              </p14:xfrm>
            </p:contentPart>
          </mc:Choice>
          <mc:Fallback xmlns="">
            <p:pic>
              <p:nvPicPr>
                <p:cNvPr id="8" name="Ink 7">
                  <a:extLst>
                    <a:ext uri="{FF2B5EF4-FFF2-40B4-BE49-F238E27FC236}">
                      <a16:creationId xmlns:a16="http://schemas.microsoft.com/office/drawing/2014/main" id="{7579C41F-72D6-9362-229C-850FDE1F1E19}"/>
                    </a:ext>
                  </a:extLst>
                </p:cNvPr>
                <p:cNvPicPr/>
                <p:nvPr/>
              </p:nvPicPr>
              <p:blipFill>
                <a:blip r:embed="rId6"/>
                <a:stretch>
                  <a:fillRect/>
                </a:stretch>
              </p:blipFill>
              <p:spPr>
                <a:xfrm>
                  <a:off x="6781665" y="4515515"/>
                  <a:ext cx="18000" cy="10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8397CFE3-8802-CFD4-6132-F3415D8A49E0}"/>
                    </a:ext>
                  </a:extLst>
                </p14:cNvPr>
                <p14:cNvContentPartPr/>
                <p14:nvPr/>
              </p14:nvContentPartPr>
              <p14:xfrm>
                <a:off x="6782025" y="4578515"/>
                <a:ext cx="6120" cy="34920"/>
              </p14:xfrm>
            </p:contentPart>
          </mc:Choice>
          <mc:Fallback xmlns="">
            <p:pic>
              <p:nvPicPr>
                <p:cNvPr id="9" name="Ink 8">
                  <a:extLst>
                    <a:ext uri="{FF2B5EF4-FFF2-40B4-BE49-F238E27FC236}">
                      <a16:creationId xmlns:a16="http://schemas.microsoft.com/office/drawing/2014/main" id="{5FF4DDA3-B591-D6C7-CC96-A9279282402E}"/>
                    </a:ext>
                  </a:extLst>
                </p:cNvPr>
                <p:cNvPicPr/>
                <p:nvPr/>
              </p:nvPicPr>
              <p:blipFill>
                <a:blip r:embed="rId8"/>
                <a:stretch>
                  <a:fillRect/>
                </a:stretch>
              </p:blipFill>
              <p:spPr>
                <a:xfrm>
                  <a:off x="6773385" y="4524515"/>
                  <a:ext cx="23760" cy="14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0" name="Ink 9">
                  <a:extLst>
                    <a:ext uri="{FF2B5EF4-FFF2-40B4-BE49-F238E27FC236}">
                      <a16:creationId xmlns:a16="http://schemas.microsoft.com/office/drawing/2014/main" id="{FDD32635-0845-C9DA-7E07-B0E47511DDE0}"/>
                    </a:ext>
                  </a:extLst>
                </p14:cNvPr>
                <p14:cNvContentPartPr/>
                <p14:nvPr/>
              </p14:nvContentPartPr>
              <p14:xfrm>
                <a:off x="6782025" y="4578515"/>
                <a:ext cx="360" cy="360"/>
              </p14:xfrm>
            </p:contentPart>
          </mc:Choice>
          <mc:Fallback xmlns="">
            <p:pic>
              <p:nvPicPr>
                <p:cNvPr id="10" name="Ink 9">
                  <a:extLst>
                    <a:ext uri="{FF2B5EF4-FFF2-40B4-BE49-F238E27FC236}">
                      <a16:creationId xmlns:a16="http://schemas.microsoft.com/office/drawing/2014/main" id="{A46568C2-BC76-C9C2-EBD7-B06F9EDCB3C8}"/>
                    </a:ext>
                  </a:extLst>
                </p:cNvPr>
                <p:cNvPicPr/>
                <p:nvPr/>
              </p:nvPicPr>
              <p:blipFill>
                <a:blip r:embed="rId10"/>
                <a:stretch>
                  <a:fillRect/>
                </a:stretch>
              </p:blipFill>
              <p:spPr>
                <a:xfrm>
                  <a:off x="6773385" y="4524515"/>
                  <a:ext cx="1800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00908788-DF93-5ACA-635D-F8DD8B6F1531}"/>
                  </a:ext>
                </a:extLst>
              </p14:cNvPr>
              <p14:cNvContentPartPr/>
              <p14:nvPr/>
            </p14:nvContentPartPr>
            <p14:xfrm>
              <a:off x="6703545" y="4599035"/>
              <a:ext cx="360" cy="360"/>
            </p14:xfrm>
          </p:contentPart>
        </mc:Choice>
        <mc:Fallback xmlns="">
          <p:pic>
            <p:nvPicPr>
              <p:cNvPr id="16" name="Ink 15">
                <a:extLst>
                  <a:ext uri="{FF2B5EF4-FFF2-40B4-BE49-F238E27FC236}">
                    <a16:creationId xmlns:a16="http://schemas.microsoft.com/office/drawing/2014/main" id="{A66ECB59-BB8E-2161-0F87-36CD891521EA}"/>
                  </a:ext>
                </a:extLst>
              </p:cNvPr>
              <p:cNvPicPr/>
              <p:nvPr/>
            </p:nvPicPr>
            <p:blipFill>
              <a:blip r:embed="rId12"/>
              <a:stretch>
                <a:fillRect/>
              </a:stretch>
            </p:blipFill>
            <p:spPr>
              <a:xfrm>
                <a:off x="6697425" y="4592915"/>
                <a:ext cx="12600" cy="12600"/>
              </a:xfrm>
              <a:prstGeom prst="rect">
                <a:avLst/>
              </a:prstGeom>
            </p:spPr>
          </p:pic>
        </mc:Fallback>
      </mc:AlternateContent>
      <p:cxnSp>
        <p:nvCxnSpPr>
          <p:cNvPr id="6" name="Straight Arrow Connector 5">
            <a:extLst>
              <a:ext uri="{FF2B5EF4-FFF2-40B4-BE49-F238E27FC236}">
                <a16:creationId xmlns:a16="http://schemas.microsoft.com/office/drawing/2014/main" id="{4F2AC7C9-71F7-F4EB-36A2-D96F18CA0D7D}"/>
              </a:ext>
            </a:extLst>
          </p:cNvPr>
          <p:cNvCxnSpPr>
            <a:cxnSpLocks/>
          </p:cNvCxnSpPr>
          <p:nvPr/>
        </p:nvCxnSpPr>
        <p:spPr>
          <a:xfrm flipV="1">
            <a:off x="5285452" y="883419"/>
            <a:ext cx="0" cy="58294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19825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4C3B65D-3C5A-1B62-41A6-B0332900D7D9}"/>
              </a:ext>
            </a:extLst>
          </p:cNvPr>
          <p:cNvPicPr>
            <a:picLocks noGrp="1" noChangeAspect="1"/>
          </p:cNvPicPr>
          <p:nvPr>
            <p:ph idx="1"/>
          </p:nvPr>
        </p:nvPicPr>
        <p:blipFill>
          <a:blip r:embed="rId3"/>
          <a:stretch>
            <a:fillRect/>
          </a:stretch>
        </p:blipFill>
        <p:spPr>
          <a:xfrm>
            <a:off x="6867293" y="279167"/>
            <a:ext cx="5224307" cy="6181141"/>
          </a:xfrm>
          <a:prstGeom prst="rect">
            <a:avLst/>
          </a:prstGeom>
        </p:spPr>
      </p:pic>
      <p:graphicFrame>
        <p:nvGraphicFramePr>
          <p:cNvPr id="8" name="Content Placeholder 8">
            <a:extLst>
              <a:ext uri="{FF2B5EF4-FFF2-40B4-BE49-F238E27FC236}">
                <a16:creationId xmlns:a16="http://schemas.microsoft.com/office/drawing/2014/main" id="{8B4C98D4-0DFC-14A9-71B3-681A5F4F3A31}"/>
              </a:ext>
            </a:extLst>
          </p:cNvPr>
          <p:cNvGraphicFramePr>
            <a:graphicFrameLocks/>
          </p:cNvGraphicFramePr>
          <p:nvPr>
            <p:extLst>
              <p:ext uri="{D42A27DB-BD31-4B8C-83A1-F6EECF244321}">
                <p14:modId xmlns:p14="http://schemas.microsoft.com/office/powerpoint/2010/main" val="2082712676"/>
              </p:ext>
            </p:extLst>
          </p:nvPr>
        </p:nvGraphicFramePr>
        <p:xfrm>
          <a:off x="801958" y="169215"/>
          <a:ext cx="5898996" cy="6617614"/>
        </p:xfrm>
        <a:graphic>
          <a:graphicData uri="http://schemas.openxmlformats.org/drawingml/2006/table">
            <a:tbl>
              <a:tblPr firstRow="1" bandRow="1">
                <a:tableStyleId>{5940675A-B579-460E-94D1-54222C63F5DA}</a:tableStyleId>
              </a:tblPr>
              <a:tblGrid>
                <a:gridCol w="1530527">
                  <a:extLst>
                    <a:ext uri="{9D8B030D-6E8A-4147-A177-3AD203B41FA5}">
                      <a16:colId xmlns:a16="http://schemas.microsoft.com/office/drawing/2014/main" val="572344113"/>
                    </a:ext>
                  </a:extLst>
                </a:gridCol>
                <a:gridCol w="403600">
                  <a:extLst>
                    <a:ext uri="{9D8B030D-6E8A-4147-A177-3AD203B41FA5}">
                      <a16:colId xmlns:a16="http://schemas.microsoft.com/office/drawing/2014/main" val="3431798763"/>
                    </a:ext>
                  </a:extLst>
                </a:gridCol>
                <a:gridCol w="512076">
                  <a:extLst>
                    <a:ext uri="{9D8B030D-6E8A-4147-A177-3AD203B41FA5}">
                      <a16:colId xmlns:a16="http://schemas.microsoft.com/office/drawing/2014/main" val="2587928260"/>
                    </a:ext>
                  </a:extLst>
                </a:gridCol>
                <a:gridCol w="553597">
                  <a:extLst>
                    <a:ext uri="{9D8B030D-6E8A-4147-A177-3AD203B41FA5}">
                      <a16:colId xmlns:a16="http://schemas.microsoft.com/office/drawing/2014/main" val="1108368050"/>
                    </a:ext>
                  </a:extLst>
                </a:gridCol>
                <a:gridCol w="539757">
                  <a:extLst>
                    <a:ext uri="{9D8B030D-6E8A-4147-A177-3AD203B41FA5}">
                      <a16:colId xmlns:a16="http://schemas.microsoft.com/office/drawing/2014/main" val="2506898600"/>
                    </a:ext>
                  </a:extLst>
                </a:gridCol>
                <a:gridCol w="512076">
                  <a:extLst>
                    <a:ext uri="{9D8B030D-6E8A-4147-A177-3AD203B41FA5}">
                      <a16:colId xmlns:a16="http://schemas.microsoft.com/office/drawing/2014/main" val="1566616541"/>
                    </a:ext>
                  </a:extLst>
                </a:gridCol>
                <a:gridCol w="539757">
                  <a:extLst>
                    <a:ext uri="{9D8B030D-6E8A-4147-A177-3AD203B41FA5}">
                      <a16:colId xmlns:a16="http://schemas.microsoft.com/office/drawing/2014/main" val="643360668"/>
                    </a:ext>
                  </a:extLst>
                </a:gridCol>
                <a:gridCol w="456718">
                  <a:extLst>
                    <a:ext uri="{9D8B030D-6E8A-4147-A177-3AD203B41FA5}">
                      <a16:colId xmlns:a16="http://schemas.microsoft.com/office/drawing/2014/main" val="562860999"/>
                    </a:ext>
                  </a:extLst>
                </a:gridCol>
                <a:gridCol w="456718">
                  <a:extLst>
                    <a:ext uri="{9D8B030D-6E8A-4147-A177-3AD203B41FA5}">
                      <a16:colId xmlns:a16="http://schemas.microsoft.com/office/drawing/2014/main" val="2603453691"/>
                    </a:ext>
                  </a:extLst>
                </a:gridCol>
                <a:gridCol w="394170">
                  <a:extLst>
                    <a:ext uri="{9D8B030D-6E8A-4147-A177-3AD203B41FA5}">
                      <a16:colId xmlns:a16="http://schemas.microsoft.com/office/drawing/2014/main" val="1404394936"/>
                    </a:ext>
                  </a:extLst>
                </a:gridCol>
              </a:tblGrid>
              <a:tr h="358396">
                <a:tc rowSpan="6">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t[i].name[50]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st[2].name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st[3].name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st[99].name</a:t>
                      </a:r>
                    </a:p>
                  </a:txBody>
                  <a:tcPr/>
                </a:tc>
                <a:tc>
                  <a:txBody>
                    <a:bodyPr/>
                    <a:lstStyle/>
                    <a:p>
                      <a:r>
                        <a:rPr lang="en-NP" b="1" dirty="0">
                          <a:highlight>
                            <a:srgbClr val="00FF00"/>
                          </a:highlight>
                        </a:rPr>
                        <a:t>0</a:t>
                      </a:r>
                    </a:p>
                  </a:txBody>
                  <a:tcPr/>
                </a:tc>
                <a:tc>
                  <a:txBody>
                    <a:bodyPr/>
                    <a:lstStyle/>
                    <a:p>
                      <a:r>
                        <a:rPr lang="en-NP" b="1" dirty="0">
                          <a:highlight>
                            <a:srgbClr val="00FF00"/>
                          </a:highlight>
                        </a:rPr>
                        <a:t>1</a:t>
                      </a:r>
                    </a:p>
                  </a:txBody>
                  <a:tcPr/>
                </a:tc>
                <a:tc>
                  <a:txBody>
                    <a:bodyPr/>
                    <a:lstStyle/>
                    <a:p>
                      <a:r>
                        <a:rPr lang="en-NP" b="1" dirty="0">
                          <a:highlight>
                            <a:srgbClr val="00FF00"/>
                          </a:highlight>
                        </a:rPr>
                        <a:t>2</a:t>
                      </a:r>
                    </a:p>
                  </a:txBody>
                  <a:tcPr/>
                </a:tc>
                <a:tc>
                  <a:txBody>
                    <a:bodyPr/>
                    <a:lstStyle/>
                    <a:p>
                      <a:r>
                        <a:rPr lang="en-NP" b="1" dirty="0">
                          <a:highlight>
                            <a:srgbClr val="00FF00"/>
                          </a:highlight>
                        </a:rPr>
                        <a:t>3</a:t>
                      </a:r>
                    </a:p>
                  </a:txBody>
                  <a:tcPr/>
                </a:tc>
                <a:tc>
                  <a:txBody>
                    <a:bodyPr/>
                    <a:lstStyle/>
                    <a:p>
                      <a:r>
                        <a:rPr lang="en-NP" b="1" dirty="0">
                          <a:highlight>
                            <a:srgbClr val="00FF00"/>
                          </a:highlight>
                        </a:rPr>
                        <a:t>4</a:t>
                      </a:r>
                    </a:p>
                  </a:txBody>
                  <a:tcPr/>
                </a:tc>
                <a:tc>
                  <a:txBody>
                    <a:bodyPr/>
                    <a:lstStyle/>
                    <a:p>
                      <a:r>
                        <a:rPr lang="en-NP" b="1" dirty="0">
                          <a:highlight>
                            <a:srgbClr val="00FF00"/>
                          </a:highlight>
                        </a:rPr>
                        <a:t>5</a:t>
                      </a:r>
                    </a:p>
                  </a:txBody>
                  <a:tcPr/>
                </a:tc>
                <a:tc gridSpan="3">
                  <a:txBody>
                    <a:bodyPr/>
                    <a:lstStyle/>
                    <a:p>
                      <a:r>
                        <a:rPr lang="en-NP" b="1" dirty="0">
                          <a:highlight>
                            <a:srgbClr val="00FF00"/>
                          </a:highlight>
                        </a:rPr>
                        <a:t>6--------49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8396">
                <a:tc vMerge="1">
                  <a:txBody>
                    <a:bodyPr/>
                    <a:lstStyle/>
                    <a:p>
                      <a:endParaRPr dirty="0"/>
                    </a:p>
                  </a:txBody>
                  <a:tcPr/>
                </a:tc>
                <a:tc>
                  <a:txBody>
                    <a:bodyPr/>
                    <a:lstStyle/>
                    <a:p>
                      <a:r>
                        <a:rPr lang="en-NP" b="1" dirty="0">
                          <a:highlight>
                            <a:srgbClr val="00FF00"/>
                          </a:highlight>
                        </a:rPr>
                        <a:t>r</a:t>
                      </a:r>
                    </a:p>
                  </a:txBody>
                  <a:tcPr/>
                </a:tc>
                <a:tc>
                  <a:txBody>
                    <a:bodyPr/>
                    <a:lstStyle/>
                    <a:p>
                      <a:r>
                        <a:rPr lang="en-NP" b="1" dirty="0">
                          <a:highlight>
                            <a:srgbClr val="00FF00"/>
                          </a:highlight>
                        </a:rPr>
                        <a:t>a</a:t>
                      </a:r>
                    </a:p>
                  </a:txBody>
                  <a:tcPr/>
                </a:tc>
                <a:tc>
                  <a:txBody>
                    <a:bodyPr/>
                    <a:lstStyle/>
                    <a:p>
                      <a:r>
                        <a:rPr lang="en-NP" b="1" dirty="0">
                          <a:highlight>
                            <a:srgbClr val="00FF00"/>
                          </a:highlight>
                        </a:rPr>
                        <a:t>m</a:t>
                      </a: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939781137"/>
                  </a:ext>
                </a:extLst>
              </a:tr>
              <a:tr h="3583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b="1" dirty="0">
                          <a:highlight>
                            <a:srgbClr val="00FF00"/>
                          </a:highlight>
                        </a:rPr>
                        <a:t>h</a:t>
                      </a:r>
                    </a:p>
                  </a:txBody>
                  <a:tcPr/>
                </a:tc>
                <a:tc>
                  <a:txBody>
                    <a:bodyPr/>
                    <a:lstStyle/>
                    <a:p>
                      <a:r>
                        <a:rPr lang="en-NP" b="1" dirty="0">
                          <a:highlight>
                            <a:srgbClr val="00FF00"/>
                          </a:highlight>
                        </a:rPr>
                        <a:t>a</a:t>
                      </a:r>
                    </a:p>
                  </a:txBody>
                  <a:tcPr/>
                </a:tc>
                <a:tc>
                  <a:txBody>
                    <a:bodyPr/>
                    <a:lstStyle/>
                    <a:p>
                      <a:r>
                        <a:rPr lang="en-NP" b="1" dirty="0">
                          <a:highlight>
                            <a:srgbClr val="00FF00"/>
                          </a:highlight>
                        </a:rPr>
                        <a:t>r</a:t>
                      </a:r>
                    </a:p>
                  </a:txBody>
                  <a:tcPr/>
                </a:tc>
                <a:tc>
                  <a:txBody>
                    <a:bodyPr/>
                    <a:lstStyle/>
                    <a:p>
                      <a:r>
                        <a:rPr lang="en-NP" b="1" dirty="0">
                          <a:highlight>
                            <a:srgbClr val="00FF00"/>
                          </a:highlight>
                        </a:rPr>
                        <a:t>i</a:t>
                      </a: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637305035"/>
                  </a:ext>
                </a:extLst>
              </a:tr>
              <a:tr h="35839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b="1" dirty="0">
                          <a:highlight>
                            <a:srgbClr val="00FF00"/>
                          </a:highlight>
                        </a:rPr>
                        <a:t>s</a:t>
                      </a:r>
                    </a:p>
                  </a:txBody>
                  <a:tcPr/>
                </a:tc>
                <a:tc>
                  <a:txBody>
                    <a:bodyPr/>
                    <a:lstStyle/>
                    <a:p>
                      <a:r>
                        <a:rPr lang="en-NP" b="1" dirty="0">
                          <a:highlight>
                            <a:srgbClr val="00FF00"/>
                          </a:highlight>
                        </a:rPr>
                        <a:t>h</a:t>
                      </a:r>
                    </a:p>
                  </a:txBody>
                  <a:tcPr/>
                </a:tc>
                <a:tc>
                  <a:txBody>
                    <a:bodyPr/>
                    <a:lstStyle/>
                    <a:p>
                      <a:r>
                        <a:rPr lang="en-NP" b="1" dirty="0">
                          <a:highlight>
                            <a:srgbClr val="00FF00"/>
                          </a:highlight>
                        </a:rPr>
                        <a:t>y</a:t>
                      </a:r>
                    </a:p>
                  </a:txBody>
                  <a:tcPr/>
                </a:tc>
                <a:tc>
                  <a:txBody>
                    <a:bodyPr/>
                    <a:lstStyle/>
                    <a:p>
                      <a:r>
                        <a:rPr lang="en-NP" b="1" dirty="0">
                          <a:highlight>
                            <a:srgbClr val="00FF00"/>
                          </a:highlight>
                        </a:rPr>
                        <a:t>a</a:t>
                      </a:r>
                    </a:p>
                  </a:txBody>
                  <a:tcPr/>
                </a:tc>
                <a:tc>
                  <a:txBody>
                    <a:bodyPr/>
                    <a:lstStyle/>
                    <a:p>
                      <a:r>
                        <a:rPr lang="en-NP" b="1" dirty="0">
                          <a:highlight>
                            <a:srgbClr val="00FF00"/>
                          </a:highlight>
                        </a:rPr>
                        <a:t>m</a:t>
                      </a: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101711809"/>
                  </a:ext>
                </a:extLst>
              </a:tr>
              <a:tr h="358396">
                <a:tc vMerge="1">
                  <a:txBody>
                    <a:bodyPr/>
                    <a:lstStyle/>
                    <a:p>
                      <a:endParaRPr lang="en-NP"/>
                    </a:p>
                  </a:txBody>
                  <a:tcPr/>
                </a:tc>
                <a:tc>
                  <a:txBody>
                    <a:bodyPr/>
                    <a:lstStyle/>
                    <a:p>
                      <a:r>
                        <a:rPr lang="en-NP" b="1" dirty="0">
                          <a:highlight>
                            <a:srgbClr val="00FF00"/>
                          </a:highlight>
                        </a:rPr>
                        <a:t>s</a:t>
                      </a:r>
                    </a:p>
                  </a:txBody>
                  <a:tcPr/>
                </a:tc>
                <a:tc>
                  <a:txBody>
                    <a:bodyPr/>
                    <a:lstStyle/>
                    <a:p>
                      <a:r>
                        <a:rPr lang="en-NP" b="1" dirty="0">
                          <a:highlight>
                            <a:srgbClr val="00FF00"/>
                          </a:highlight>
                        </a:rPr>
                        <a:t>i</a:t>
                      </a:r>
                    </a:p>
                  </a:txBody>
                  <a:tcPr/>
                </a:tc>
                <a:tc>
                  <a:txBody>
                    <a:bodyPr/>
                    <a:lstStyle/>
                    <a:p>
                      <a:r>
                        <a:rPr lang="en-NP" b="1" dirty="0">
                          <a:highlight>
                            <a:srgbClr val="00FF00"/>
                          </a:highlight>
                        </a:rPr>
                        <a:t>t</a:t>
                      </a:r>
                    </a:p>
                  </a:txBody>
                  <a:tcPr/>
                </a:tc>
                <a:tc>
                  <a:txBody>
                    <a:bodyPr/>
                    <a:lstStyle/>
                    <a:p>
                      <a:r>
                        <a:rPr lang="en-NP" b="1" dirty="0">
                          <a:highlight>
                            <a:srgbClr val="00FF00"/>
                          </a:highlight>
                        </a:rPr>
                        <a:t>a</a:t>
                      </a: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2785773899"/>
                  </a:ext>
                </a:extLst>
              </a:tr>
              <a:tr h="413525">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tc>
                  <a:txBody>
                    <a:bodyPr/>
                    <a:lstStyle/>
                    <a:p>
                      <a:endParaRPr lang="en-NP" b="1" dirty="0">
                        <a:highlight>
                          <a:srgbClr val="00FF00"/>
                        </a:highlight>
                      </a:endParaRPr>
                    </a:p>
                  </a:txBody>
                  <a:tcPr/>
                </a:tc>
                <a:tc>
                  <a:txBody>
                    <a:bodyPr/>
                    <a:lstStyle/>
                    <a:p>
                      <a:endParaRPr lang="en-NP" b="1">
                        <a:highlight>
                          <a:srgbClr val="00FF00"/>
                        </a:highlight>
                      </a:endParaRPr>
                    </a:p>
                  </a:txBody>
                  <a:tcPr/>
                </a:tc>
                <a:tc>
                  <a:txBody>
                    <a:bodyPr/>
                    <a:lstStyle/>
                    <a:p>
                      <a:endParaRPr lang="en-NP" b="1" dirty="0">
                        <a:highlight>
                          <a:srgbClr val="00FF00"/>
                        </a:highlight>
                      </a:endParaRPr>
                    </a:p>
                  </a:txBody>
                  <a:tcPr/>
                </a:tc>
                <a:extLst>
                  <a:ext uri="{0D108BD9-81ED-4DB2-BD59-A6C34878D82A}">
                    <a16:rowId xmlns:a16="http://schemas.microsoft.com/office/drawing/2014/main" val="1424640484"/>
                  </a:ext>
                </a:extLst>
              </a:tr>
              <a:tr h="358396">
                <a:tc rowSpan="6">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dr[60]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st[2].</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st[3].</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st[99].</a:t>
                      </a:r>
                      <a:r>
                        <a:rPr lang="en-US" sz="1600" b="1" dirty="0">
                          <a:highlight>
                            <a:srgbClr val="00FFFF"/>
                          </a:highlight>
                        </a:rPr>
                        <a:t>a</a:t>
                      </a:r>
                      <a:r>
                        <a:rPr lang="en-NP" sz="1600" b="1" dirty="0">
                          <a:highlight>
                            <a:srgbClr val="00FFFF"/>
                          </a:highlight>
                        </a:rPr>
                        <a:t>dr</a:t>
                      </a:r>
                    </a:p>
                  </a:txBody>
                  <a:tcPr/>
                </a:tc>
                <a:tc>
                  <a:txBody>
                    <a:bodyPr/>
                    <a:lstStyle/>
                    <a:p>
                      <a:r>
                        <a:rPr lang="en-NP" b="1" dirty="0">
                          <a:highlight>
                            <a:srgbClr val="00FFFF"/>
                          </a:highlight>
                        </a:rPr>
                        <a:t>0</a:t>
                      </a:r>
                    </a:p>
                  </a:txBody>
                  <a:tcPr/>
                </a:tc>
                <a:tc>
                  <a:txBody>
                    <a:bodyPr/>
                    <a:lstStyle/>
                    <a:p>
                      <a:r>
                        <a:rPr lang="en-NP" b="1" dirty="0">
                          <a:highlight>
                            <a:srgbClr val="00FFFF"/>
                          </a:highlight>
                        </a:rPr>
                        <a:t>1</a:t>
                      </a:r>
                    </a:p>
                  </a:txBody>
                  <a:tcPr/>
                </a:tc>
                <a:tc>
                  <a:txBody>
                    <a:bodyPr/>
                    <a:lstStyle/>
                    <a:p>
                      <a:r>
                        <a:rPr lang="en-NP" b="1" dirty="0">
                          <a:highlight>
                            <a:srgbClr val="00FFFF"/>
                          </a:highlight>
                        </a:rPr>
                        <a:t>2</a:t>
                      </a:r>
                    </a:p>
                  </a:txBody>
                  <a:tcPr/>
                </a:tc>
                <a:tc>
                  <a:txBody>
                    <a:bodyPr/>
                    <a:lstStyle/>
                    <a:p>
                      <a:r>
                        <a:rPr lang="en-NP" b="1" dirty="0">
                          <a:highlight>
                            <a:srgbClr val="00FFFF"/>
                          </a:highlight>
                        </a:rPr>
                        <a:t>3</a:t>
                      </a:r>
                    </a:p>
                  </a:txBody>
                  <a:tcPr/>
                </a:tc>
                <a:tc>
                  <a:txBody>
                    <a:bodyPr/>
                    <a:lstStyle/>
                    <a:p>
                      <a:r>
                        <a:rPr lang="en-NP" b="1" dirty="0">
                          <a:highlight>
                            <a:srgbClr val="00FFFF"/>
                          </a:highlight>
                        </a:rPr>
                        <a:t>4</a:t>
                      </a:r>
                    </a:p>
                  </a:txBody>
                  <a:tcPr/>
                </a:tc>
                <a:tc>
                  <a:txBody>
                    <a:bodyPr/>
                    <a:lstStyle/>
                    <a:p>
                      <a:r>
                        <a:rPr lang="en-NP" b="1" dirty="0">
                          <a:highlight>
                            <a:srgbClr val="00FFFF"/>
                          </a:highlight>
                        </a:rPr>
                        <a:t>5</a:t>
                      </a:r>
                    </a:p>
                  </a:txBody>
                  <a:tcPr/>
                </a:tc>
                <a:tc gridSpan="3">
                  <a:txBody>
                    <a:bodyPr/>
                    <a:lstStyle/>
                    <a:p>
                      <a:r>
                        <a:rPr lang="en-NP" b="1" dirty="0">
                          <a:highlight>
                            <a:srgbClr val="00FFFF"/>
                          </a:highlight>
                        </a:rPr>
                        <a:t>  6--------59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8396">
                <a:tc vMerge="1">
                  <a:txBody>
                    <a:bodyPr/>
                    <a:lstStyle/>
                    <a:p>
                      <a:endParaRPr lang="en-NP" dirty="0"/>
                    </a:p>
                  </a:txBody>
                  <a:tcPr/>
                </a:tc>
                <a:tc>
                  <a:txBody>
                    <a:bodyPr/>
                    <a:lstStyle/>
                    <a:p>
                      <a:r>
                        <a:rPr lang="en-NP" b="1" dirty="0">
                          <a:highlight>
                            <a:srgbClr val="00FFFF"/>
                          </a:highlight>
                        </a:rPr>
                        <a:t>k</a:t>
                      </a:r>
                    </a:p>
                  </a:txBody>
                  <a:tcPr/>
                </a:tc>
                <a:tc>
                  <a:txBody>
                    <a:bodyPr/>
                    <a:lstStyle/>
                    <a:p>
                      <a:r>
                        <a:rPr lang="en-NP" b="1" dirty="0">
                          <a:highlight>
                            <a:srgbClr val="00FFFF"/>
                          </a:highlight>
                        </a:rPr>
                        <a:t>t</a:t>
                      </a:r>
                    </a:p>
                  </a:txBody>
                  <a:tcPr/>
                </a:tc>
                <a:tc>
                  <a:txBody>
                    <a:bodyPr/>
                    <a:lstStyle/>
                    <a:p>
                      <a:r>
                        <a:rPr lang="en-NP" b="1" dirty="0">
                          <a:highlight>
                            <a:srgbClr val="00FFFF"/>
                          </a:highlight>
                        </a:rPr>
                        <a:t>m</a:t>
                      </a: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1670417921"/>
                  </a:ext>
                </a:extLst>
              </a:tr>
              <a:tr h="358396">
                <a:tc vMerge="1">
                  <a:txBody>
                    <a:bodyPr/>
                    <a:lstStyle/>
                    <a:p>
                      <a:endParaRPr lang="en-NP" b="1" dirty="0">
                        <a:highlight>
                          <a:srgbClr val="00FFFF"/>
                        </a:highlight>
                      </a:endParaRPr>
                    </a:p>
                  </a:txBody>
                  <a:tcPr/>
                </a:tc>
                <a:tc>
                  <a:txBody>
                    <a:bodyPr/>
                    <a:lstStyle/>
                    <a:p>
                      <a:r>
                        <a:rPr lang="en-NP" b="1" dirty="0">
                          <a:highlight>
                            <a:srgbClr val="00FFFF"/>
                          </a:highlight>
                        </a:rPr>
                        <a:t>b</a:t>
                      </a:r>
                    </a:p>
                  </a:txBody>
                  <a:tcPr/>
                </a:tc>
                <a:tc>
                  <a:txBody>
                    <a:bodyPr/>
                    <a:lstStyle/>
                    <a:p>
                      <a:r>
                        <a:rPr lang="en-NP" b="1" dirty="0">
                          <a:highlight>
                            <a:srgbClr val="00FFFF"/>
                          </a:highlight>
                        </a:rPr>
                        <a:t>k</a:t>
                      </a:r>
                    </a:p>
                  </a:txBody>
                  <a:tcPr/>
                </a:tc>
                <a:tc>
                  <a:txBody>
                    <a:bodyPr/>
                    <a:lstStyle/>
                    <a:p>
                      <a:r>
                        <a:rPr lang="en-NP" b="1" dirty="0">
                          <a:highlight>
                            <a:srgbClr val="00FFFF"/>
                          </a:highlight>
                        </a:rPr>
                        <a:t>t</a:t>
                      </a: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2286473001"/>
                  </a:ext>
                </a:extLst>
              </a:tr>
              <a:tr h="358396">
                <a:tc vMerge="1">
                  <a:txBody>
                    <a:bodyPr/>
                    <a:lstStyle/>
                    <a:p>
                      <a:endParaRPr lang="en-NP" b="1" dirty="0">
                        <a:highlight>
                          <a:srgbClr val="00FFFF"/>
                        </a:highlight>
                      </a:endParaRPr>
                    </a:p>
                  </a:txBody>
                  <a:tcPr/>
                </a:tc>
                <a:tc>
                  <a:txBody>
                    <a:bodyPr/>
                    <a:lstStyle/>
                    <a:p>
                      <a:r>
                        <a:rPr lang="en-NP" b="1" dirty="0">
                          <a:highlight>
                            <a:srgbClr val="00FFFF"/>
                          </a:highlight>
                        </a:rPr>
                        <a:t>p</a:t>
                      </a:r>
                    </a:p>
                  </a:txBody>
                  <a:tcPr/>
                </a:tc>
                <a:tc>
                  <a:txBody>
                    <a:bodyPr/>
                    <a:lstStyle/>
                    <a:p>
                      <a:r>
                        <a:rPr lang="en-NP" b="1" dirty="0">
                          <a:highlight>
                            <a:srgbClr val="00FFFF"/>
                          </a:highlight>
                        </a:rPr>
                        <a:t>o</a:t>
                      </a:r>
                    </a:p>
                  </a:txBody>
                  <a:tcPr/>
                </a:tc>
                <a:tc>
                  <a:txBody>
                    <a:bodyPr/>
                    <a:lstStyle/>
                    <a:p>
                      <a:r>
                        <a:rPr lang="en-NP" b="1" dirty="0">
                          <a:highlight>
                            <a:srgbClr val="00FFFF"/>
                          </a:highlight>
                        </a:rPr>
                        <a:t>k</a:t>
                      </a:r>
                    </a:p>
                  </a:txBody>
                  <a:tcPr/>
                </a:tc>
                <a:tc>
                  <a:txBody>
                    <a:bodyPr/>
                    <a:lstStyle/>
                    <a:p>
                      <a:r>
                        <a:rPr lang="en-NP" b="1" dirty="0">
                          <a:highlight>
                            <a:srgbClr val="00FFFF"/>
                          </a:highlight>
                        </a:rPr>
                        <a:t>h</a:t>
                      </a:r>
                    </a:p>
                  </a:txBody>
                  <a:tcPr/>
                </a:tc>
                <a:tc>
                  <a:txBody>
                    <a:bodyPr/>
                    <a:lstStyle/>
                    <a:p>
                      <a:r>
                        <a:rPr lang="en-NP" b="1" dirty="0">
                          <a:highlight>
                            <a:srgbClr val="00FFFF"/>
                          </a:highlight>
                        </a:rPr>
                        <a:t>a</a:t>
                      </a:r>
                    </a:p>
                  </a:txBody>
                  <a:tcPr/>
                </a:tc>
                <a:tc>
                  <a:txBody>
                    <a:bodyPr/>
                    <a:lstStyle/>
                    <a:p>
                      <a:r>
                        <a:rPr lang="en-NP" b="1" dirty="0">
                          <a:highlight>
                            <a:srgbClr val="00FFFF"/>
                          </a:highlight>
                        </a:rPr>
                        <a:t>r</a:t>
                      </a:r>
                    </a:p>
                  </a:txBody>
                  <a:tcPr/>
                </a:tc>
                <a:tc>
                  <a:txBody>
                    <a:bodyPr/>
                    <a:lstStyle/>
                    <a:p>
                      <a:r>
                        <a:rPr lang="en-NP" b="1" dirty="0">
                          <a:highlight>
                            <a:srgbClr val="00FFFF"/>
                          </a:highlight>
                        </a:rPr>
                        <a:t>a</a:t>
                      </a: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1092514564"/>
                  </a:ext>
                </a:extLst>
              </a:tr>
              <a:tr h="358396">
                <a:tc vMerge="1">
                  <a:txBody>
                    <a:bodyPr/>
                    <a:lstStyle/>
                    <a:p>
                      <a:endParaRPr lang="en-NP"/>
                    </a:p>
                  </a:txBody>
                  <a:tcPr/>
                </a:tc>
                <a:tc>
                  <a:txBody>
                    <a:bodyPr/>
                    <a:lstStyle/>
                    <a:p>
                      <a:r>
                        <a:rPr lang="en-NP" b="1" dirty="0">
                          <a:highlight>
                            <a:srgbClr val="00FFFF"/>
                          </a:highlight>
                        </a:rPr>
                        <a:t>b</a:t>
                      </a:r>
                    </a:p>
                  </a:txBody>
                  <a:tcPr/>
                </a:tc>
                <a:tc>
                  <a:txBody>
                    <a:bodyPr/>
                    <a:lstStyle/>
                    <a:p>
                      <a:r>
                        <a:rPr lang="en-NP" b="1" dirty="0">
                          <a:highlight>
                            <a:srgbClr val="00FFFF"/>
                          </a:highlight>
                        </a:rPr>
                        <a:t>o</a:t>
                      </a:r>
                    </a:p>
                  </a:txBody>
                  <a:tcPr/>
                </a:tc>
                <a:tc>
                  <a:txBody>
                    <a:bodyPr/>
                    <a:lstStyle/>
                    <a:p>
                      <a:r>
                        <a:rPr lang="en-NP" b="1" dirty="0">
                          <a:highlight>
                            <a:srgbClr val="00FFFF"/>
                          </a:highlight>
                        </a:rPr>
                        <a:t>u</a:t>
                      </a:r>
                    </a:p>
                  </a:txBody>
                  <a:tcPr/>
                </a:tc>
                <a:tc>
                  <a:txBody>
                    <a:bodyPr/>
                    <a:lstStyle/>
                    <a:p>
                      <a:r>
                        <a:rPr lang="en-NP" b="1" dirty="0">
                          <a:highlight>
                            <a:srgbClr val="00FFFF"/>
                          </a:highlight>
                        </a:rPr>
                        <a:t>d</a:t>
                      </a:r>
                    </a:p>
                  </a:txBody>
                  <a:tcPr/>
                </a:tc>
                <a:tc>
                  <a:txBody>
                    <a:bodyPr/>
                    <a:lstStyle/>
                    <a:p>
                      <a:r>
                        <a:rPr lang="en-NP" b="1" dirty="0">
                          <a:highlight>
                            <a:srgbClr val="00FFFF"/>
                          </a:highlight>
                        </a:rPr>
                        <a:t>d</a:t>
                      </a:r>
                    </a:p>
                  </a:txBody>
                  <a:tcPr/>
                </a:tc>
                <a:tc>
                  <a:txBody>
                    <a:bodyPr/>
                    <a:lstStyle/>
                    <a:p>
                      <a:r>
                        <a:rPr lang="en-NP" b="1" dirty="0">
                          <a:highlight>
                            <a:srgbClr val="00FFFF"/>
                          </a:highlight>
                        </a:rPr>
                        <a:t>h</a:t>
                      </a:r>
                    </a:p>
                  </a:txBody>
                  <a:tcPr/>
                </a:tc>
                <a:tc>
                  <a:txBody>
                    <a:bodyPr/>
                    <a:lstStyle/>
                    <a:p>
                      <a:r>
                        <a:rPr lang="en-NP" b="1" dirty="0">
                          <a:highlight>
                            <a:srgbClr val="00FFFF"/>
                          </a:highlight>
                        </a:rPr>
                        <a:t>a</a:t>
                      </a: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2411621313"/>
                  </a:ext>
                </a:extLst>
              </a:tr>
              <a:tr h="413525">
                <a:tc vMerge="1">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dirty="0">
                        <a:highlight>
                          <a:srgbClr val="00FFFF"/>
                        </a:highlight>
                      </a:endParaRPr>
                    </a:p>
                  </a:txBody>
                  <a:tcPr/>
                </a:tc>
                <a:tc>
                  <a:txBody>
                    <a:bodyPr/>
                    <a:lstStyle/>
                    <a:p>
                      <a:endParaRPr lang="en-NP" b="1">
                        <a:highlight>
                          <a:srgbClr val="00FFFF"/>
                        </a:highlight>
                      </a:endParaRPr>
                    </a:p>
                  </a:txBody>
                  <a:tcPr/>
                </a:tc>
                <a:tc>
                  <a:txBody>
                    <a:bodyPr/>
                    <a:lstStyle/>
                    <a:p>
                      <a:endParaRPr lang="en-NP" b="1">
                        <a:highlight>
                          <a:srgbClr val="00FFFF"/>
                        </a:highlight>
                      </a:endParaRPr>
                    </a:p>
                  </a:txBody>
                  <a:tcPr/>
                </a:tc>
                <a:tc>
                  <a:txBody>
                    <a:bodyPr/>
                    <a:lstStyle/>
                    <a:p>
                      <a:endParaRPr lang="en-NP" b="1" dirty="0">
                        <a:highlight>
                          <a:srgbClr val="00FFFF"/>
                        </a:highlight>
                      </a:endParaRPr>
                    </a:p>
                  </a:txBody>
                  <a:tcPr/>
                </a:tc>
                <a:extLst>
                  <a:ext uri="{0D108BD9-81ED-4DB2-BD59-A6C34878D82A}">
                    <a16:rowId xmlns:a16="http://schemas.microsoft.com/office/drawing/2014/main" val="40366568"/>
                  </a:ext>
                </a:extLst>
              </a:tr>
              <a:tr h="352662">
                <a:tc gridSpan="10">
                  <a:txBody>
                    <a:bodyPr/>
                    <a:lstStyle/>
                    <a:p>
                      <a:r>
                        <a:rPr lang="en-US" sz="1600" b="1" dirty="0">
                          <a:highlight>
                            <a:srgbClr val="FF00FF"/>
                          </a:highlight>
                        </a:rPr>
                        <a:t>s</a:t>
                      </a:r>
                      <a:r>
                        <a:rPr lang="en-NP" sz="1600" b="1" dirty="0">
                          <a:highlight>
                            <a:srgbClr val="FF00FF"/>
                          </a:highlight>
                        </a:rPr>
                        <a:t>t[i].age</a:t>
                      </a:r>
                    </a:p>
                  </a:txBody>
                  <a:tcPr/>
                </a:tc>
                <a:tc hMerge="1">
                  <a:txBody>
                    <a:bodyPr/>
                    <a:lstStyle/>
                    <a:p>
                      <a:endParaRPr lang="en-NP" b="1" dirty="0">
                        <a:highlight>
                          <a:srgbClr val="FF00FF"/>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163701174"/>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t[0].age</a:t>
                      </a:r>
                    </a:p>
                  </a:txBody>
                  <a:tcPr/>
                </a:tc>
                <a:tc gridSpan="9">
                  <a:txBody>
                    <a:bodyPr/>
                    <a:lstStyle/>
                    <a:p>
                      <a:r>
                        <a:rPr lang="en-NP" sz="1600" b="1" dirty="0">
                          <a:highlight>
                            <a:srgbClr val="FF00FF"/>
                          </a:highlight>
                        </a:rPr>
                        <a:t>21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82436849"/>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t[1].age</a:t>
                      </a:r>
                    </a:p>
                  </a:txBody>
                  <a:tcPr/>
                </a:tc>
                <a:tc gridSpan="9">
                  <a:txBody>
                    <a:bodyPr/>
                    <a:lstStyle/>
                    <a:p>
                      <a:r>
                        <a:rPr lang="en-NP" sz="1600" b="1" dirty="0">
                          <a:highlight>
                            <a:srgbClr val="FF00FF"/>
                          </a:highlight>
                        </a:rPr>
                        <a:t>25</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004958280"/>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t[2].age</a:t>
                      </a:r>
                    </a:p>
                  </a:txBody>
                  <a:tcPr/>
                </a:tc>
                <a:tc gridSpan="9">
                  <a:txBody>
                    <a:bodyPr/>
                    <a:lstStyle/>
                    <a:p>
                      <a:r>
                        <a:rPr lang="en-NP" sz="1600" b="1" dirty="0">
                          <a:highlight>
                            <a:srgbClr val="FF00FF"/>
                          </a:highlight>
                        </a:rPr>
                        <a:t>31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452891449"/>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t[3].age</a:t>
                      </a:r>
                      <a:endParaRPr lang="en-US" sz="1600" b="1" dirty="0">
                        <a:highlight>
                          <a:srgbClr val="FF00FF"/>
                        </a:highlight>
                      </a:endParaRPr>
                    </a:p>
                  </a:txBody>
                  <a:tcPr/>
                </a:tc>
                <a:tc gridSpan="9">
                  <a:txBody>
                    <a:bodyPr/>
                    <a:lstStyle/>
                    <a:p>
                      <a:r>
                        <a:rPr lang="en-NP" sz="1600" b="1" dirty="0">
                          <a:highlight>
                            <a:srgbClr val="FF00FF"/>
                          </a:highlight>
                        </a:rPr>
                        <a:t>18</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126796036"/>
                  </a:ext>
                </a:extLst>
              </a:tr>
              <a:tr h="3526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t[99.]age</a:t>
                      </a:r>
                    </a:p>
                  </a:txBody>
                  <a:tcPr/>
                </a:tc>
                <a:tc gridSpan="9">
                  <a:txBody>
                    <a:bodyPr/>
                    <a:lstStyle/>
                    <a:p>
                      <a:endParaRPr lang="en-NP" sz="1600" b="1" dirty="0">
                        <a:highlight>
                          <a:srgbClr val="FF00FF"/>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126079730"/>
                  </a:ext>
                </a:extLst>
              </a:tr>
            </a:tbl>
          </a:graphicData>
        </a:graphic>
      </p:graphicFrame>
      <p:sp>
        <p:nvSpPr>
          <p:cNvPr id="9" name="TextBox 8">
            <a:extLst>
              <a:ext uri="{FF2B5EF4-FFF2-40B4-BE49-F238E27FC236}">
                <a16:creationId xmlns:a16="http://schemas.microsoft.com/office/drawing/2014/main" id="{DBE680C6-A548-E634-7BA0-B70964925A7F}"/>
              </a:ext>
            </a:extLst>
          </p:cNvPr>
          <p:cNvSpPr txBox="1"/>
          <p:nvPr/>
        </p:nvSpPr>
        <p:spPr>
          <a:xfrm>
            <a:off x="0" y="470298"/>
            <a:ext cx="802848" cy="369332"/>
          </a:xfrm>
          <a:prstGeom prst="rect">
            <a:avLst/>
          </a:prstGeom>
          <a:noFill/>
        </p:spPr>
        <p:txBody>
          <a:bodyPr wrap="square" rtlCol="0">
            <a:spAutoFit/>
          </a:bodyPr>
          <a:lstStyle/>
          <a:p>
            <a:r>
              <a:rPr lang="en-NP" dirty="0">
                <a:highlight>
                  <a:srgbClr val="FFFF00"/>
                </a:highlight>
              </a:rPr>
              <a:t>QN(5)</a:t>
            </a:r>
          </a:p>
        </p:txBody>
      </p:sp>
      <p:sp>
        <p:nvSpPr>
          <p:cNvPr id="10" name="TextBox 9">
            <a:extLst>
              <a:ext uri="{FF2B5EF4-FFF2-40B4-BE49-F238E27FC236}">
                <a16:creationId xmlns:a16="http://schemas.microsoft.com/office/drawing/2014/main" id="{D66C1F73-2256-D8C2-5595-698947BE1E52}"/>
              </a:ext>
            </a:extLst>
          </p:cNvPr>
          <p:cNvSpPr txBox="1"/>
          <p:nvPr/>
        </p:nvSpPr>
        <p:spPr>
          <a:xfrm rot="16200000">
            <a:off x="-234195" y="2765308"/>
            <a:ext cx="1271239" cy="369332"/>
          </a:xfrm>
          <a:prstGeom prst="rect">
            <a:avLst/>
          </a:prstGeom>
          <a:noFill/>
        </p:spPr>
        <p:txBody>
          <a:bodyPr wrap="square" rtlCol="0">
            <a:spAutoFit/>
          </a:bodyPr>
          <a:lstStyle/>
          <a:p>
            <a:r>
              <a:rPr lang="en-NP" dirty="0">
                <a:solidFill>
                  <a:srgbClr val="FF0000"/>
                </a:solidFill>
                <a:highlight>
                  <a:srgbClr val="FFFF00"/>
                </a:highlight>
              </a:rPr>
              <a:t>student</a:t>
            </a:r>
          </a:p>
        </p:txBody>
      </p:sp>
      <p:cxnSp>
        <p:nvCxnSpPr>
          <p:cNvPr id="34" name="Straight Arrow Connector 33">
            <a:extLst>
              <a:ext uri="{FF2B5EF4-FFF2-40B4-BE49-F238E27FC236}">
                <a16:creationId xmlns:a16="http://schemas.microsoft.com/office/drawing/2014/main" id="{C451BB11-A532-9D7E-4A30-B295F0ED21F9}"/>
              </a:ext>
            </a:extLst>
          </p:cNvPr>
          <p:cNvCxnSpPr>
            <a:cxnSpLocks/>
          </p:cNvCxnSpPr>
          <p:nvPr/>
        </p:nvCxnSpPr>
        <p:spPr>
          <a:xfrm>
            <a:off x="2157084" y="1791839"/>
            <a:ext cx="0" cy="522515"/>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78E4A8FE-5DF8-7107-4C84-9C92212A0A4F}"/>
              </a:ext>
            </a:extLst>
          </p:cNvPr>
          <p:cNvCxnSpPr>
            <a:cxnSpLocks/>
          </p:cNvCxnSpPr>
          <p:nvPr/>
        </p:nvCxnSpPr>
        <p:spPr>
          <a:xfrm>
            <a:off x="2023269" y="4133597"/>
            <a:ext cx="0" cy="43978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54525127-AA9E-7132-94D6-E1062B6E45EC}"/>
              </a:ext>
            </a:extLst>
          </p:cNvPr>
          <p:cNvCxnSpPr>
            <a:cxnSpLocks/>
          </p:cNvCxnSpPr>
          <p:nvPr/>
        </p:nvCxnSpPr>
        <p:spPr>
          <a:xfrm>
            <a:off x="2023269" y="6244683"/>
            <a:ext cx="0" cy="542146"/>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036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0B030-0820-D739-2F64-6EB70CB99F90}"/>
              </a:ext>
            </a:extLst>
          </p:cNvPr>
          <p:cNvSpPr>
            <a:spLocks noGrp="1"/>
          </p:cNvSpPr>
          <p:nvPr>
            <p:ph idx="1"/>
          </p:nvPr>
        </p:nvSpPr>
        <p:spPr>
          <a:xfrm>
            <a:off x="144964" y="66909"/>
            <a:ext cx="12047036" cy="6646123"/>
          </a:xfrm>
        </p:spPr>
        <p:txBody>
          <a:bodyPr>
            <a:normAutofit fontScale="25000" lnSpcReduction="20000"/>
          </a:bodyPr>
          <a:lstStyle/>
          <a:p>
            <a:pPr marL="0" indent="0">
              <a:lnSpc>
                <a:spcPct val="110000"/>
              </a:lnSpc>
              <a:spcBef>
                <a:spcPts val="0"/>
              </a:spcBef>
              <a:buNone/>
            </a:pPr>
            <a:r>
              <a:rPr lang="en-US" sz="7200" b="1" i="1" dirty="0">
                <a:solidFill>
                  <a:srgbClr val="FF0000"/>
                </a:solidFill>
              </a:rPr>
              <a:t>6. Write a program to calculate sum of two distances and distance is measured in terms of feet and inch using structure.						</a:t>
            </a:r>
            <a:r>
              <a:rPr lang="en-US" sz="7200" b="1" i="1" dirty="0">
                <a:highlight>
                  <a:srgbClr val="FFFF00"/>
                </a:highlight>
              </a:rPr>
              <a:t>distance</a:t>
            </a:r>
          </a:p>
          <a:p>
            <a:pPr marL="0" indent="0">
              <a:lnSpc>
                <a:spcPct val="110000"/>
              </a:lnSpc>
              <a:spcBef>
                <a:spcPts val="0"/>
              </a:spcBef>
              <a:buNone/>
            </a:pPr>
            <a:r>
              <a:rPr lang="en-US" sz="8800" b="1" dirty="0"/>
              <a:t>#include &lt;</a:t>
            </a:r>
            <a:r>
              <a:rPr lang="en-US" sz="8800" b="1" dirty="0" err="1"/>
              <a:t>stdio.h</a:t>
            </a:r>
            <a:r>
              <a:rPr lang="en-US" sz="8800" b="1" dirty="0"/>
              <a:t>&gt;</a:t>
            </a:r>
          </a:p>
          <a:p>
            <a:pPr marL="0" indent="0">
              <a:lnSpc>
                <a:spcPct val="110000"/>
              </a:lnSpc>
              <a:spcBef>
                <a:spcPts val="0"/>
              </a:spcBef>
              <a:buNone/>
            </a:pPr>
            <a:r>
              <a:rPr lang="en-US" sz="8800" b="1" dirty="0"/>
              <a:t>typedef struct</a:t>
            </a:r>
          </a:p>
          <a:p>
            <a:pPr marL="0" indent="0">
              <a:lnSpc>
                <a:spcPct val="110000"/>
              </a:lnSpc>
              <a:spcBef>
                <a:spcPts val="0"/>
              </a:spcBef>
              <a:buNone/>
            </a:pPr>
            <a:r>
              <a:rPr lang="en-US" sz="8800" b="1" dirty="0"/>
              <a:t>{</a:t>
            </a:r>
          </a:p>
          <a:p>
            <a:pPr marL="0" indent="0">
              <a:lnSpc>
                <a:spcPct val="110000"/>
              </a:lnSpc>
              <a:spcBef>
                <a:spcPts val="0"/>
              </a:spcBef>
              <a:buNone/>
            </a:pPr>
            <a:r>
              <a:rPr lang="en-US" sz="8800" b="1" dirty="0"/>
              <a:t>int feet;</a:t>
            </a:r>
          </a:p>
          <a:p>
            <a:pPr marL="0" indent="0">
              <a:lnSpc>
                <a:spcPct val="110000"/>
              </a:lnSpc>
              <a:spcBef>
                <a:spcPts val="0"/>
              </a:spcBef>
              <a:buNone/>
            </a:pPr>
            <a:r>
              <a:rPr lang="en-US" sz="8800" b="1" dirty="0"/>
              <a:t>int inch;</a:t>
            </a:r>
          </a:p>
          <a:p>
            <a:pPr marL="0" indent="0">
              <a:lnSpc>
                <a:spcPct val="110000"/>
              </a:lnSpc>
              <a:spcBef>
                <a:spcPts val="0"/>
              </a:spcBef>
              <a:buNone/>
            </a:pPr>
            <a:r>
              <a:rPr lang="en-US" sz="8800" b="1" dirty="0"/>
              <a:t>} distance;</a:t>
            </a:r>
          </a:p>
          <a:p>
            <a:pPr marL="0" indent="0">
              <a:lnSpc>
                <a:spcPct val="110000"/>
              </a:lnSpc>
              <a:spcBef>
                <a:spcPts val="0"/>
              </a:spcBef>
              <a:buNone/>
            </a:pPr>
            <a:br>
              <a:rPr lang="en-US" sz="8800" b="1" dirty="0"/>
            </a:br>
            <a:r>
              <a:rPr lang="en-US" sz="8800" b="1" dirty="0"/>
              <a:t>int main()</a:t>
            </a:r>
          </a:p>
          <a:p>
            <a:pPr marL="0" indent="0">
              <a:lnSpc>
                <a:spcPct val="110000"/>
              </a:lnSpc>
              <a:spcBef>
                <a:spcPts val="0"/>
              </a:spcBef>
              <a:buNone/>
            </a:pPr>
            <a:r>
              <a:rPr lang="en-US" sz="8800" b="1" dirty="0"/>
              <a:t>{</a:t>
            </a:r>
          </a:p>
          <a:p>
            <a:pPr marL="0" indent="0">
              <a:lnSpc>
                <a:spcPct val="110000"/>
              </a:lnSpc>
              <a:spcBef>
                <a:spcPts val="0"/>
              </a:spcBef>
              <a:buNone/>
            </a:pPr>
            <a:r>
              <a:rPr lang="en-US" sz="8800" b="1" dirty="0"/>
              <a:t>distance d1, d2, d;</a:t>
            </a:r>
          </a:p>
          <a:p>
            <a:pPr marL="0" indent="0">
              <a:lnSpc>
                <a:spcPct val="110000"/>
              </a:lnSpc>
              <a:spcBef>
                <a:spcPts val="0"/>
              </a:spcBef>
              <a:buNone/>
            </a:pPr>
            <a:r>
              <a:rPr lang="en-US" sz="8800" b="1" dirty="0" err="1"/>
              <a:t>printf</a:t>
            </a:r>
            <a:r>
              <a:rPr lang="en-US" sz="8800" b="1" dirty="0"/>
              <a:t>("\</a:t>
            </a:r>
            <a:r>
              <a:rPr lang="en-US" sz="8800" b="1" dirty="0" err="1"/>
              <a:t>nEnter</a:t>
            </a:r>
            <a:r>
              <a:rPr lang="en-US" sz="8800" b="1" dirty="0"/>
              <a:t> First Distance in Feet Inch Format = ");</a:t>
            </a:r>
          </a:p>
          <a:p>
            <a:pPr marL="0" indent="0">
              <a:lnSpc>
                <a:spcPct val="110000"/>
              </a:lnSpc>
              <a:spcBef>
                <a:spcPts val="0"/>
              </a:spcBef>
              <a:buNone/>
            </a:pPr>
            <a:r>
              <a:rPr lang="en-US" sz="8800" b="1" dirty="0" err="1"/>
              <a:t>scanf</a:t>
            </a:r>
            <a:r>
              <a:rPr lang="en-US" sz="8800" b="1" dirty="0"/>
              <a:t>("%</a:t>
            </a:r>
            <a:r>
              <a:rPr lang="en-US" sz="8800" b="1" dirty="0" err="1"/>
              <a:t>d%d</a:t>
            </a:r>
            <a:r>
              <a:rPr lang="en-US" sz="8800" b="1" dirty="0"/>
              <a:t>", &amp;d1.feet, &amp;d1.inch);</a:t>
            </a:r>
            <a:br>
              <a:rPr lang="en-US" sz="8800" b="1" dirty="0"/>
            </a:br>
            <a:r>
              <a:rPr lang="en-US" sz="8800" b="1" dirty="0" err="1"/>
              <a:t>printf</a:t>
            </a:r>
            <a:r>
              <a:rPr lang="en-US" sz="8800" b="1" dirty="0"/>
              <a:t>("\</a:t>
            </a:r>
            <a:r>
              <a:rPr lang="en-US" sz="8800" b="1" dirty="0" err="1"/>
              <a:t>nEnter</a:t>
            </a:r>
            <a:r>
              <a:rPr lang="en-US" sz="8800" b="1" dirty="0"/>
              <a:t> Second Distance in Feet Inch Format = ");</a:t>
            </a:r>
          </a:p>
          <a:p>
            <a:pPr marL="0" indent="0">
              <a:lnSpc>
                <a:spcPct val="110000"/>
              </a:lnSpc>
              <a:spcBef>
                <a:spcPts val="0"/>
              </a:spcBef>
              <a:buNone/>
            </a:pPr>
            <a:r>
              <a:rPr lang="en-US" sz="8800" b="1" dirty="0" err="1"/>
              <a:t>scanf</a:t>
            </a:r>
            <a:r>
              <a:rPr lang="en-US" sz="8800" b="1" dirty="0"/>
              <a:t>("%</a:t>
            </a:r>
            <a:r>
              <a:rPr lang="en-US" sz="8800" b="1" dirty="0" err="1"/>
              <a:t>d%d</a:t>
            </a:r>
            <a:r>
              <a:rPr lang="en-US" sz="8800" b="1" dirty="0"/>
              <a:t>", &amp;d2.feet, &amp;d2.inch);</a:t>
            </a:r>
            <a:br>
              <a:rPr lang="en-US" sz="8800" b="1" dirty="0"/>
            </a:br>
            <a:r>
              <a:rPr lang="en-US" sz="8800" b="1" dirty="0" err="1"/>
              <a:t>d.inch</a:t>
            </a:r>
            <a:r>
              <a:rPr lang="en-US" sz="8800" b="1" dirty="0"/>
              <a:t> = (d1.inch + d2.inch) % 12;</a:t>
            </a:r>
          </a:p>
          <a:p>
            <a:pPr marL="0" indent="0">
              <a:lnSpc>
                <a:spcPct val="110000"/>
              </a:lnSpc>
              <a:spcBef>
                <a:spcPts val="0"/>
              </a:spcBef>
              <a:buNone/>
            </a:pPr>
            <a:r>
              <a:rPr lang="en-US" sz="8800" b="1" dirty="0" err="1"/>
              <a:t>d.feet</a:t>
            </a:r>
            <a:r>
              <a:rPr lang="en-US" sz="8800" b="1" dirty="0"/>
              <a:t> = d1.feet + d2.feet + (d1.inch + d2.inch) / 12;</a:t>
            </a:r>
            <a:br>
              <a:rPr lang="en-US" sz="8800" b="1" dirty="0"/>
            </a:br>
            <a:r>
              <a:rPr lang="en-US" sz="8800" b="1" dirty="0" err="1"/>
              <a:t>printf</a:t>
            </a:r>
            <a:r>
              <a:rPr lang="en-US" sz="8800" b="1" dirty="0"/>
              <a:t>("\</a:t>
            </a:r>
            <a:r>
              <a:rPr lang="en-US" sz="8800" b="1" dirty="0" err="1"/>
              <a:t>nSum</a:t>
            </a:r>
            <a:r>
              <a:rPr lang="en-US" sz="8800" b="1" dirty="0"/>
              <a:t> of two distances = %d Feet %d Inch", </a:t>
            </a:r>
            <a:r>
              <a:rPr lang="en-US" sz="8800" b="1" dirty="0" err="1"/>
              <a:t>d.feet</a:t>
            </a:r>
            <a:r>
              <a:rPr lang="en-US" sz="8800" b="1" dirty="0"/>
              <a:t>, </a:t>
            </a:r>
            <a:r>
              <a:rPr lang="en-US" sz="8800" b="1" dirty="0" err="1"/>
              <a:t>d.inch</a:t>
            </a:r>
            <a:r>
              <a:rPr lang="en-US" sz="8800" b="1" dirty="0"/>
              <a:t>);</a:t>
            </a:r>
          </a:p>
          <a:p>
            <a:pPr marL="0" indent="0">
              <a:lnSpc>
                <a:spcPct val="110000"/>
              </a:lnSpc>
              <a:spcBef>
                <a:spcPts val="0"/>
              </a:spcBef>
              <a:buNone/>
            </a:pPr>
            <a:r>
              <a:rPr lang="en-US" sz="8800" b="1" dirty="0"/>
              <a:t>return 0;</a:t>
            </a:r>
          </a:p>
          <a:p>
            <a:pPr marL="0" indent="0">
              <a:lnSpc>
                <a:spcPct val="110000"/>
              </a:lnSpc>
              <a:spcBef>
                <a:spcPts val="0"/>
              </a:spcBef>
              <a:buNone/>
            </a:pPr>
            <a:r>
              <a:rPr lang="en-US" sz="8800" b="1" dirty="0"/>
              <a:t>}</a:t>
            </a:r>
          </a:p>
          <a:p>
            <a:pPr marL="0" indent="0">
              <a:buNone/>
            </a:pPr>
            <a:endParaRPr lang="en-NP" b="1" dirty="0"/>
          </a:p>
        </p:txBody>
      </p:sp>
      <p:sp>
        <p:nvSpPr>
          <p:cNvPr id="4" name="Content Placeholder 2">
            <a:extLst>
              <a:ext uri="{FF2B5EF4-FFF2-40B4-BE49-F238E27FC236}">
                <a16:creationId xmlns:a16="http://schemas.microsoft.com/office/drawing/2014/main" id="{F8485706-A194-F5B7-C768-535D26AC0C6D}"/>
              </a:ext>
            </a:extLst>
          </p:cNvPr>
          <p:cNvSpPr txBox="1">
            <a:spLocks/>
          </p:cNvSpPr>
          <p:nvPr/>
        </p:nvSpPr>
        <p:spPr>
          <a:xfrm>
            <a:off x="7393259" y="78058"/>
            <a:ext cx="4653776" cy="67130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b="1" dirty="0"/>
          </a:p>
        </p:txBody>
      </p:sp>
      <p:sp>
        <p:nvSpPr>
          <p:cNvPr id="6" name="Content Placeholder 2">
            <a:extLst>
              <a:ext uri="{FF2B5EF4-FFF2-40B4-BE49-F238E27FC236}">
                <a16:creationId xmlns:a16="http://schemas.microsoft.com/office/drawing/2014/main" id="{DBD491CB-4A71-0823-48AC-865355FDDE2B}"/>
              </a:ext>
            </a:extLst>
          </p:cNvPr>
          <p:cNvSpPr txBox="1">
            <a:spLocks/>
          </p:cNvSpPr>
          <p:nvPr/>
        </p:nvSpPr>
        <p:spPr>
          <a:xfrm>
            <a:off x="6891453" y="0"/>
            <a:ext cx="4401015" cy="6713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NP" dirty="0"/>
          </a:p>
          <a:p>
            <a:pPr marL="0" indent="0">
              <a:buFont typeface="Arial" panose="020B0604020202020204" pitchFamily="34" charset="0"/>
              <a:buNone/>
            </a:pPr>
            <a:endParaRPr lang="en-NP" b="1" dirty="0"/>
          </a:p>
        </p:txBody>
      </p:sp>
      <p:graphicFrame>
        <p:nvGraphicFramePr>
          <p:cNvPr id="10" name="Table 9">
            <a:extLst>
              <a:ext uri="{FF2B5EF4-FFF2-40B4-BE49-F238E27FC236}">
                <a16:creationId xmlns:a16="http://schemas.microsoft.com/office/drawing/2014/main" id="{F3228553-C4EC-17BC-7E4C-35F4D7A15B05}"/>
              </a:ext>
            </a:extLst>
          </p:cNvPr>
          <p:cNvGraphicFramePr>
            <a:graphicFrameLocks noGrp="1"/>
          </p:cNvGraphicFramePr>
          <p:nvPr>
            <p:extLst>
              <p:ext uri="{D42A27DB-BD31-4B8C-83A1-F6EECF244321}">
                <p14:modId xmlns:p14="http://schemas.microsoft.com/office/powerpoint/2010/main" val="2560704639"/>
              </p:ext>
            </p:extLst>
          </p:nvPr>
        </p:nvGraphicFramePr>
        <p:xfrm>
          <a:off x="3830448" y="610343"/>
          <a:ext cx="8216587" cy="2712720"/>
        </p:xfrm>
        <a:graphic>
          <a:graphicData uri="http://schemas.openxmlformats.org/drawingml/2006/table">
            <a:tbl>
              <a:tblPr firstRow="1" bandRow="1">
                <a:tableStyleId>{5940675A-B579-460E-94D1-54222C63F5DA}</a:tableStyleId>
              </a:tblPr>
              <a:tblGrid>
                <a:gridCol w="1539597">
                  <a:extLst>
                    <a:ext uri="{9D8B030D-6E8A-4147-A177-3AD203B41FA5}">
                      <a16:colId xmlns:a16="http://schemas.microsoft.com/office/drawing/2014/main" val="3045618862"/>
                    </a:ext>
                  </a:extLst>
                </a:gridCol>
                <a:gridCol w="6676990">
                  <a:extLst>
                    <a:ext uri="{9D8B030D-6E8A-4147-A177-3AD203B41FA5}">
                      <a16:colId xmlns:a16="http://schemas.microsoft.com/office/drawing/2014/main" val="1881519905"/>
                    </a:ext>
                  </a:extLst>
                </a:gridCol>
              </a:tblGrid>
              <a:tr h="323056">
                <a:tc rowSpan="3">
                  <a:txBody>
                    <a:bodyPr/>
                    <a:lstStyle/>
                    <a:p>
                      <a:r>
                        <a:rPr lang="en-NP" sz="2400" b="1" dirty="0">
                          <a:highlight>
                            <a:srgbClr val="00FF00"/>
                          </a:highlight>
                        </a:rPr>
                        <a:t>d.</a:t>
                      </a:r>
                      <a:r>
                        <a:rPr lang="en-US" sz="2400" b="1" dirty="0" err="1">
                          <a:highlight>
                            <a:srgbClr val="00FF00"/>
                          </a:highlight>
                        </a:rPr>
                        <a:t>i</a:t>
                      </a:r>
                      <a:r>
                        <a:rPr lang="en-NP" sz="2400" b="1" dirty="0">
                          <a:highlight>
                            <a:srgbClr val="00FF00"/>
                          </a:highlight>
                        </a:rPr>
                        <a:t>nch</a:t>
                      </a:r>
                    </a:p>
                    <a:p>
                      <a:endParaRPr lang="en-NP" sz="2400" b="1" dirty="0">
                        <a:highlight>
                          <a:srgbClr val="00FF00"/>
                        </a:highlight>
                      </a:endParaRPr>
                    </a:p>
                    <a:p>
                      <a:r>
                        <a:rPr lang="en-NP" sz="2400" b="1" dirty="0">
                          <a:highlight>
                            <a:srgbClr val="00FF00"/>
                          </a:highlight>
                        </a:rPr>
                        <a:t>=4</a:t>
                      </a:r>
                    </a:p>
                  </a:txBody>
                  <a:tcPr/>
                </a:tc>
                <a:tc>
                  <a:txBody>
                    <a:bodyPr/>
                    <a:lstStyle/>
                    <a:p>
                      <a:r>
                        <a:rPr lang="en-US" b="1" dirty="0"/>
                        <a:t>            </a:t>
                      </a:r>
                      <a:r>
                        <a:rPr lang="en-US" b="1" dirty="0">
                          <a:highlight>
                            <a:srgbClr val="00FF00"/>
                          </a:highlight>
                        </a:rPr>
                        <a:t>(d</a:t>
                      </a:r>
                      <a:r>
                        <a:rPr lang="en-NP" b="1" dirty="0">
                          <a:highlight>
                            <a:srgbClr val="00FF00"/>
                          </a:highlight>
                        </a:rPr>
                        <a:t>1.inch      +   </a:t>
                      </a:r>
                      <a:r>
                        <a:rPr lang="en-US" b="1" dirty="0">
                          <a:highlight>
                            <a:srgbClr val="00FF00"/>
                          </a:highlight>
                        </a:rPr>
                        <a:t>d</a:t>
                      </a:r>
                      <a:r>
                        <a:rPr lang="en-NP" b="1" dirty="0">
                          <a:highlight>
                            <a:srgbClr val="00FF00"/>
                          </a:highlight>
                        </a:rPr>
                        <a:t>2.inch)%12</a:t>
                      </a:r>
                    </a:p>
                  </a:txBody>
                  <a:tcPr/>
                </a:tc>
                <a:extLst>
                  <a:ext uri="{0D108BD9-81ED-4DB2-BD59-A6C34878D82A}">
                    <a16:rowId xmlns:a16="http://schemas.microsoft.com/office/drawing/2014/main" val="1474635891"/>
                  </a:ext>
                </a:extLst>
              </a:tr>
              <a:tr h="323056">
                <a:tc vMerge="1">
                  <a:txBody>
                    <a:bodyPr/>
                    <a:lstStyle/>
                    <a:p>
                      <a:endParaRPr lang="en-NP" dirty="0"/>
                    </a:p>
                  </a:txBody>
                  <a:tcPr/>
                </a:tc>
                <a:tc>
                  <a:txBody>
                    <a:bodyPr/>
                    <a:lstStyle/>
                    <a:p>
                      <a:r>
                        <a:rPr lang="en-NP" b="1" dirty="0"/>
                        <a:t>                      </a:t>
                      </a:r>
                      <a:r>
                        <a:rPr lang="en-NP" b="1" dirty="0">
                          <a:highlight>
                            <a:srgbClr val="00FF00"/>
                          </a:highlight>
                        </a:rPr>
                        <a:t> (15        +   13)%12</a:t>
                      </a:r>
                    </a:p>
                  </a:txBody>
                  <a:tcPr/>
                </a:tc>
                <a:extLst>
                  <a:ext uri="{0D108BD9-81ED-4DB2-BD59-A6C34878D82A}">
                    <a16:rowId xmlns:a16="http://schemas.microsoft.com/office/drawing/2014/main" val="1064891932"/>
                  </a:ext>
                </a:extLst>
              </a:tr>
              <a:tr h="359666">
                <a:tc vMerge="1">
                  <a:txBody>
                    <a:bodyPr/>
                    <a:lstStyle/>
                    <a:p>
                      <a:endParaRPr lang="en-NP" b="1" dirty="0">
                        <a:highlight>
                          <a:srgbClr val="FFFF00"/>
                        </a:highlight>
                      </a:endParaRPr>
                    </a:p>
                  </a:txBody>
                  <a:tcPr/>
                </a:tc>
                <a:tc>
                  <a:txBody>
                    <a:bodyPr/>
                    <a:lstStyle/>
                    <a:p>
                      <a:r>
                        <a:rPr lang="en-NP" b="1" dirty="0"/>
                        <a:t>                                =   </a:t>
                      </a:r>
                      <a:r>
                        <a:rPr lang="en-NP" b="1" dirty="0">
                          <a:highlight>
                            <a:srgbClr val="00FF00"/>
                          </a:highlight>
                        </a:rPr>
                        <a:t>28%12 </a:t>
                      </a:r>
                    </a:p>
                  </a:txBody>
                  <a:tcPr/>
                </a:tc>
                <a:extLst>
                  <a:ext uri="{0D108BD9-81ED-4DB2-BD59-A6C34878D82A}">
                    <a16:rowId xmlns:a16="http://schemas.microsoft.com/office/drawing/2014/main" val="1364420245"/>
                  </a:ext>
                </a:extLst>
              </a:tr>
              <a:tr h="565348">
                <a:tc rowSpan="3">
                  <a:txBody>
                    <a:bodyPr/>
                    <a:lstStyle/>
                    <a:p>
                      <a:r>
                        <a:rPr lang="en-NP" sz="2400" b="1" dirty="0">
                          <a:highlight>
                            <a:srgbClr val="FFFF00"/>
                          </a:highlight>
                        </a:rPr>
                        <a:t>d.</a:t>
                      </a:r>
                      <a:r>
                        <a:rPr lang="en-US" sz="2400" b="1" dirty="0">
                          <a:highlight>
                            <a:srgbClr val="FFFF00"/>
                          </a:highlight>
                        </a:rPr>
                        <a:t>F</a:t>
                      </a:r>
                      <a:r>
                        <a:rPr lang="en-NP" sz="2400" b="1" dirty="0">
                          <a:highlight>
                            <a:srgbClr val="FFFF00"/>
                          </a:highlight>
                        </a:rPr>
                        <a:t>eet</a:t>
                      </a:r>
                    </a:p>
                    <a:p>
                      <a:endParaRPr lang="en-NP" sz="2400" b="1" dirty="0">
                        <a:highlight>
                          <a:srgbClr val="FFFF00"/>
                        </a:highlight>
                      </a:endParaRPr>
                    </a:p>
                    <a:p>
                      <a:r>
                        <a:rPr lang="en-NP" sz="2400" b="1" dirty="0">
                          <a:highlight>
                            <a:srgbClr val="FFFF00"/>
                          </a:highlight>
                        </a:rPr>
                        <a:t>=25</a:t>
                      </a:r>
                    </a:p>
                  </a:txBody>
                  <a:tcPr/>
                </a:tc>
                <a:tc>
                  <a:txBody>
                    <a:bodyPr/>
                    <a:lstStyle/>
                    <a:p>
                      <a:r>
                        <a:rPr lang="en-US" b="1" dirty="0"/>
                        <a:t>        </a:t>
                      </a:r>
                      <a:r>
                        <a:rPr lang="en-US" b="1" dirty="0">
                          <a:highlight>
                            <a:srgbClr val="FFFF00"/>
                          </a:highlight>
                        </a:rPr>
                        <a:t>d</a:t>
                      </a:r>
                      <a:r>
                        <a:rPr lang="en-NP" b="1" dirty="0">
                          <a:highlight>
                            <a:srgbClr val="FFFF00"/>
                          </a:highlight>
                        </a:rPr>
                        <a:t>1.feet    +</a:t>
                      </a:r>
                      <a:r>
                        <a:rPr lang="en-US" b="1" dirty="0">
                          <a:highlight>
                            <a:srgbClr val="FFFF00"/>
                          </a:highlight>
                        </a:rPr>
                        <a:t>         d</a:t>
                      </a:r>
                      <a:r>
                        <a:rPr lang="en-NP" b="1" dirty="0">
                          <a:highlight>
                            <a:srgbClr val="FFFF00"/>
                          </a:highlight>
                        </a:rPr>
                        <a:t>2.feet </a:t>
                      </a:r>
                      <a:r>
                        <a:rPr lang="en-NP" b="1" dirty="0"/>
                        <a:t>          </a:t>
                      </a:r>
                      <a:r>
                        <a:rPr lang="en-NP" sz="2800" b="1" dirty="0"/>
                        <a:t>+   </a:t>
                      </a:r>
                      <a:r>
                        <a:rPr lang="en-NP" b="1" dirty="0"/>
                        <a:t>               </a:t>
                      </a:r>
                      <a:r>
                        <a:rPr lang="en-NP" b="1" dirty="0">
                          <a:highlight>
                            <a:srgbClr val="FFFF00"/>
                          </a:highlight>
                        </a:rPr>
                        <a:t>Remaining feet</a:t>
                      </a:r>
                    </a:p>
                    <a:p>
                      <a:r>
                        <a:rPr lang="en-NP" b="1" dirty="0"/>
                        <a:t>       </a:t>
                      </a:r>
                      <a:r>
                        <a:rPr lang="en-NP" b="1" dirty="0">
                          <a:highlight>
                            <a:srgbClr val="FFFF00"/>
                          </a:highlight>
                        </a:rPr>
                        <a:t>                                                  </a:t>
                      </a:r>
                      <a:r>
                        <a:rPr lang="en-NP" b="1" dirty="0"/>
                        <a:t>                          </a:t>
                      </a:r>
                      <a:r>
                        <a:rPr lang="en-NP" b="1" dirty="0">
                          <a:highlight>
                            <a:srgbClr val="FFFF00"/>
                          </a:highlight>
                        </a:rPr>
                        <a:t> (d1.inch+d2.inch)/12</a:t>
                      </a:r>
                    </a:p>
                  </a:txBody>
                  <a:tcPr/>
                </a:tc>
                <a:extLst>
                  <a:ext uri="{0D108BD9-81ED-4DB2-BD59-A6C34878D82A}">
                    <a16:rowId xmlns:a16="http://schemas.microsoft.com/office/drawing/2014/main" val="3113127469"/>
                  </a:ext>
                </a:extLst>
              </a:tr>
              <a:tr h="359666">
                <a:tc vMerge="1">
                  <a:txBody>
                    <a:bodyPr/>
                    <a:lstStyle/>
                    <a:p>
                      <a:endParaRPr lang="en-NP" dirty="0"/>
                    </a:p>
                  </a:txBody>
                  <a:tcPr/>
                </a:tc>
                <a:tc>
                  <a:txBody>
                    <a:bodyPr/>
                    <a:lstStyle/>
                    <a:p>
                      <a:r>
                        <a:rPr lang="en-NP" b="1" dirty="0"/>
                        <a:t>         </a:t>
                      </a:r>
                      <a:r>
                        <a:rPr lang="en-NP" b="1" dirty="0">
                          <a:highlight>
                            <a:srgbClr val="FFFF00"/>
                          </a:highlight>
                        </a:rPr>
                        <a:t>   12           +            11</a:t>
                      </a:r>
                      <a:r>
                        <a:rPr lang="en-NP" b="1" dirty="0"/>
                        <a:t>                  +                    =       </a:t>
                      </a:r>
                      <a:r>
                        <a:rPr lang="en-NP" b="1" dirty="0">
                          <a:highlight>
                            <a:srgbClr val="FFFF00"/>
                          </a:highlight>
                        </a:rPr>
                        <a:t>( 28/ 12)</a:t>
                      </a:r>
                    </a:p>
                  </a:txBody>
                  <a:tcPr/>
                </a:tc>
                <a:extLst>
                  <a:ext uri="{0D108BD9-81ED-4DB2-BD59-A6C34878D82A}">
                    <a16:rowId xmlns:a16="http://schemas.microsoft.com/office/drawing/2014/main" val="927498676"/>
                  </a:ext>
                </a:extLst>
              </a:tr>
              <a:tr h="359666">
                <a:tc vMerge="1">
                  <a:txBody>
                    <a:bodyPr/>
                    <a:lstStyle/>
                    <a:p>
                      <a:endParaRPr lang="en-NP" b="1" dirty="0">
                        <a:highlight>
                          <a:srgbClr val="FFFF00"/>
                        </a:highlight>
                      </a:endParaRPr>
                    </a:p>
                  </a:txBody>
                  <a:tcPr/>
                </a:tc>
                <a:tc>
                  <a:txBody>
                    <a:bodyPr/>
                    <a:lstStyle/>
                    <a:p>
                      <a:r>
                        <a:rPr lang="en-NP" b="1" dirty="0"/>
                        <a:t>                  =     </a:t>
                      </a:r>
                      <a:r>
                        <a:rPr lang="en-NP" b="1" dirty="0">
                          <a:highlight>
                            <a:srgbClr val="FFFF00"/>
                          </a:highlight>
                        </a:rPr>
                        <a:t>     23              </a:t>
                      </a:r>
                      <a:r>
                        <a:rPr lang="en-NP" b="1" dirty="0"/>
                        <a:t>                 +                      =       </a:t>
                      </a:r>
                      <a:r>
                        <a:rPr lang="en-NP" b="1" dirty="0">
                          <a:highlight>
                            <a:srgbClr val="FFFF00"/>
                          </a:highlight>
                        </a:rPr>
                        <a:t>   2</a:t>
                      </a:r>
                    </a:p>
                  </a:txBody>
                  <a:tcPr/>
                </a:tc>
                <a:extLst>
                  <a:ext uri="{0D108BD9-81ED-4DB2-BD59-A6C34878D82A}">
                    <a16:rowId xmlns:a16="http://schemas.microsoft.com/office/drawing/2014/main" val="4155399413"/>
                  </a:ext>
                </a:extLst>
              </a:tr>
            </a:tbl>
          </a:graphicData>
        </a:graphic>
      </p:graphicFrame>
      <p:pic>
        <p:nvPicPr>
          <p:cNvPr id="20" name="Picture 19">
            <a:extLst>
              <a:ext uri="{FF2B5EF4-FFF2-40B4-BE49-F238E27FC236}">
                <a16:creationId xmlns:a16="http://schemas.microsoft.com/office/drawing/2014/main" id="{8CF212BF-6EBA-B68E-3720-853EBD76FD42}"/>
              </a:ext>
            </a:extLst>
          </p:cNvPr>
          <p:cNvPicPr>
            <a:picLocks noChangeAspect="1"/>
          </p:cNvPicPr>
          <p:nvPr/>
        </p:nvPicPr>
        <p:blipFill>
          <a:blip r:embed="rId3"/>
          <a:stretch>
            <a:fillRect/>
          </a:stretch>
        </p:blipFill>
        <p:spPr>
          <a:xfrm>
            <a:off x="7515921" y="3356517"/>
            <a:ext cx="4549697" cy="1326996"/>
          </a:xfrm>
          <a:prstGeom prst="rect">
            <a:avLst/>
          </a:prstGeom>
        </p:spPr>
      </p:pic>
    </p:spTree>
    <p:extLst>
      <p:ext uri="{BB962C8B-B14F-4D97-AF65-F5344CB8AC3E}">
        <p14:creationId xmlns:p14="http://schemas.microsoft.com/office/powerpoint/2010/main" val="3284390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9E2882-1522-06FC-0935-532DA3FED663}"/>
              </a:ext>
            </a:extLst>
          </p:cNvPr>
          <p:cNvSpPr>
            <a:spLocks noGrp="1"/>
          </p:cNvSpPr>
          <p:nvPr>
            <p:ph type="title"/>
          </p:nvPr>
        </p:nvSpPr>
        <p:spPr>
          <a:xfrm>
            <a:off x="238539" y="0"/>
            <a:ext cx="11648661" cy="483014"/>
          </a:xfrm>
        </p:spPr>
        <p:txBody>
          <a:bodyPr>
            <a:normAutofit fontScale="90000"/>
          </a:bodyPr>
          <a:lstStyle/>
          <a:p>
            <a:r>
              <a:rPr lang="en-NP" sz="1800" b="1" i="1" dirty="0">
                <a:solidFill>
                  <a:srgbClr val="FF0000"/>
                </a:solidFill>
              </a:rPr>
              <a:t>7. Write a program that takes roll_no,fname,lname and date of birth and output the information on screen using  nested structure</a:t>
            </a:r>
          </a:p>
        </p:txBody>
      </p:sp>
      <p:sp>
        <p:nvSpPr>
          <p:cNvPr id="5" name="Content Placeholder 4">
            <a:extLst>
              <a:ext uri="{FF2B5EF4-FFF2-40B4-BE49-F238E27FC236}">
                <a16:creationId xmlns:a16="http://schemas.microsoft.com/office/drawing/2014/main" id="{72E1140C-D118-577E-D144-D96F4B4057DD}"/>
              </a:ext>
            </a:extLst>
          </p:cNvPr>
          <p:cNvSpPr>
            <a:spLocks noGrp="1"/>
          </p:cNvSpPr>
          <p:nvPr>
            <p:ph sz="half" idx="1"/>
          </p:nvPr>
        </p:nvSpPr>
        <p:spPr>
          <a:xfrm>
            <a:off x="410820" y="483014"/>
            <a:ext cx="2623928" cy="6006410"/>
          </a:xfrm>
        </p:spPr>
        <p:txBody>
          <a:bodyPr>
            <a:noAutofit/>
          </a:bodyPr>
          <a:lstStyle/>
          <a:p>
            <a:pPr marL="0" indent="0">
              <a:lnSpc>
                <a:spcPct val="110000"/>
              </a:lnSpc>
              <a:spcBef>
                <a:spcPts val="0"/>
              </a:spcBef>
              <a:buNone/>
            </a:pPr>
            <a:r>
              <a:rPr lang="en-US" sz="2000" b="1" dirty="0"/>
              <a:t>#include &lt;</a:t>
            </a:r>
            <a:r>
              <a:rPr lang="en-US" sz="2000" b="1" dirty="0" err="1"/>
              <a:t>stdio.h</a:t>
            </a:r>
            <a:r>
              <a:rPr lang="en-US" sz="2000" b="1" dirty="0"/>
              <a:t>&gt;</a:t>
            </a:r>
            <a:br>
              <a:rPr lang="en-US" sz="2000" b="1" dirty="0"/>
            </a:br>
            <a:r>
              <a:rPr lang="en-US" sz="2000" b="1" dirty="0"/>
              <a:t>struct date {</a:t>
            </a:r>
          </a:p>
          <a:p>
            <a:pPr marL="0" indent="0">
              <a:lnSpc>
                <a:spcPct val="110000"/>
              </a:lnSpc>
              <a:spcBef>
                <a:spcPts val="0"/>
              </a:spcBef>
              <a:buNone/>
            </a:pPr>
            <a:r>
              <a:rPr lang="en-US" sz="2000" b="1" dirty="0"/>
              <a:t>int year;</a:t>
            </a:r>
          </a:p>
          <a:p>
            <a:pPr marL="0" indent="0">
              <a:lnSpc>
                <a:spcPct val="110000"/>
              </a:lnSpc>
              <a:spcBef>
                <a:spcPts val="0"/>
              </a:spcBef>
              <a:buNone/>
            </a:pPr>
            <a:r>
              <a:rPr lang="en-US" sz="2000" b="1" dirty="0"/>
              <a:t>int month;</a:t>
            </a:r>
          </a:p>
          <a:p>
            <a:pPr marL="0" indent="0">
              <a:lnSpc>
                <a:spcPct val="110000"/>
              </a:lnSpc>
              <a:spcBef>
                <a:spcPts val="0"/>
              </a:spcBef>
              <a:buNone/>
            </a:pPr>
            <a:r>
              <a:rPr lang="en-US" sz="2000" b="1" dirty="0"/>
              <a:t>int day;</a:t>
            </a:r>
          </a:p>
          <a:p>
            <a:pPr marL="0" indent="0">
              <a:lnSpc>
                <a:spcPct val="110000"/>
              </a:lnSpc>
              <a:spcBef>
                <a:spcPts val="0"/>
              </a:spcBef>
              <a:buNone/>
            </a:pPr>
            <a:r>
              <a:rPr lang="en-US" sz="2000" b="1" dirty="0"/>
              <a:t>};</a:t>
            </a:r>
            <a:br>
              <a:rPr lang="en-US" sz="2000" b="1" dirty="0"/>
            </a:br>
            <a:r>
              <a:rPr lang="en-US" sz="2000" b="1" dirty="0"/>
              <a:t>struct student {</a:t>
            </a:r>
          </a:p>
          <a:p>
            <a:pPr marL="0" indent="0">
              <a:lnSpc>
                <a:spcPct val="110000"/>
              </a:lnSpc>
              <a:spcBef>
                <a:spcPts val="0"/>
              </a:spcBef>
              <a:buNone/>
            </a:pPr>
            <a:r>
              <a:rPr lang="en-US" sz="2000" b="1" dirty="0"/>
              <a:t>int </a:t>
            </a:r>
            <a:r>
              <a:rPr lang="en-US" sz="2000" b="1" dirty="0" err="1"/>
              <a:t>roll_no</a:t>
            </a:r>
            <a:r>
              <a:rPr lang="en-US" sz="2000" b="1" dirty="0"/>
              <a:t>;</a:t>
            </a:r>
          </a:p>
          <a:p>
            <a:pPr marL="0" indent="0">
              <a:lnSpc>
                <a:spcPct val="110000"/>
              </a:lnSpc>
              <a:spcBef>
                <a:spcPts val="0"/>
              </a:spcBef>
              <a:buNone/>
            </a:pPr>
            <a:r>
              <a:rPr lang="en-US" sz="2000" b="1" dirty="0"/>
              <a:t>char </a:t>
            </a:r>
            <a:r>
              <a:rPr lang="en-US" sz="2000" b="1" dirty="0" err="1"/>
              <a:t>fname</a:t>
            </a:r>
            <a:r>
              <a:rPr lang="en-US" sz="2000" b="1" dirty="0"/>
              <a:t>[30];</a:t>
            </a:r>
          </a:p>
          <a:p>
            <a:pPr marL="0" indent="0">
              <a:lnSpc>
                <a:spcPct val="110000"/>
              </a:lnSpc>
              <a:spcBef>
                <a:spcPts val="0"/>
              </a:spcBef>
              <a:buNone/>
            </a:pPr>
            <a:r>
              <a:rPr lang="en-US" sz="2000" b="1" dirty="0"/>
              <a:t>char </a:t>
            </a:r>
            <a:r>
              <a:rPr lang="en-US" sz="2000" b="1" dirty="0" err="1"/>
              <a:t>lname</a:t>
            </a:r>
            <a:r>
              <a:rPr lang="en-US" sz="2000" b="1" dirty="0"/>
              <a:t>[30];</a:t>
            </a:r>
          </a:p>
          <a:p>
            <a:pPr marL="0" indent="0">
              <a:lnSpc>
                <a:spcPct val="110000"/>
              </a:lnSpc>
              <a:spcBef>
                <a:spcPts val="0"/>
              </a:spcBef>
              <a:buNone/>
            </a:pPr>
            <a:r>
              <a:rPr lang="en-US" sz="2000" b="1" dirty="0"/>
              <a:t>struct date d;</a:t>
            </a:r>
          </a:p>
          <a:p>
            <a:pPr marL="0" indent="0">
              <a:lnSpc>
                <a:spcPct val="110000"/>
              </a:lnSpc>
              <a:spcBef>
                <a:spcPts val="0"/>
              </a:spcBef>
              <a:buNone/>
            </a:pPr>
            <a:r>
              <a:rPr lang="en-US" sz="2000" b="1" dirty="0"/>
              <a:t>};</a:t>
            </a:r>
            <a:br>
              <a:rPr lang="en-US" sz="2400" b="1" dirty="0"/>
            </a:br>
            <a:endParaRPr lang="en-US" sz="2400" b="1" dirty="0"/>
          </a:p>
          <a:p>
            <a:pPr marL="0" indent="0">
              <a:lnSpc>
                <a:spcPct val="110000"/>
              </a:lnSpc>
              <a:spcBef>
                <a:spcPts val="0"/>
              </a:spcBef>
              <a:buNone/>
            </a:pPr>
            <a:r>
              <a:rPr lang="en-US" sz="2400" b="1" dirty="0"/>
              <a:t>         	              </a:t>
            </a:r>
            <a:r>
              <a:rPr lang="en-US" sz="2400" b="1" dirty="0">
                <a:highlight>
                  <a:srgbClr val="FFFF00"/>
                </a:highlight>
              </a:rPr>
              <a:t>date</a:t>
            </a:r>
            <a:endParaRPr lang="en-NP" sz="2400" b="1" dirty="0">
              <a:highlight>
                <a:srgbClr val="FFFF00"/>
              </a:highlight>
            </a:endParaRPr>
          </a:p>
        </p:txBody>
      </p:sp>
      <p:sp>
        <p:nvSpPr>
          <p:cNvPr id="6" name="Content Placeholder 5">
            <a:extLst>
              <a:ext uri="{FF2B5EF4-FFF2-40B4-BE49-F238E27FC236}">
                <a16:creationId xmlns:a16="http://schemas.microsoft.com/office/drawing/2014/main" id="{6266DD37-82A1-8A9E-258C-E06080BD8208}"/>
              </a:ext>
            </a:extLst>
          </p:cNvPr>
          <p:cNvSpPr>
            <a:spLocks noGrp="1"/>
          </p:cNvSpPr>
          <p:nvPr>
            <p:ph sz="half" idx="2"/>
          </p:nvPr>
        </p:nvSpPr>
        <p:spPr>
          <a:xfrm>
            <a:off x="2763078" y="483014"/>
            <a:ext cx="9428922" cy="6374986"/>
          </a:xfrm>
        </p:spPr>
        <p:txBody>
          <a:bodyPr>
            <a:normAutofit/>
          </a:bodyPr>
          <a:lstStyle/>
          <a:p>
            <a:pPr marL="0" indent="0">
              <a:lnSpc>
                <a:spcPct val="110000"/>
              </a:lnSpc>
              <a:spcBef>
                <a:spcPts val="0"/>
              </a:spcBef>
              <a:buNone/>
            </a:pPr>
            <a:r>
              <a:rPr lang="en-US" sz="1800" b="1" dirty="0"/>
              <a:t>int main() {</a:t>
            </a:r>
          </a:p>
          <a:p>
            <a:pPr marL="0" indent="0">
              <a:lnSpc>
                <a:spcPct val="110000"/>
              </a:lnSpc>
              <a:spcBef>
                <a:spcPts val="0"/>
              </a:spcBef>
              <a:buNone/>
            </a:pPr>
            <a:r>
              <a:rPr lang="en-US" sz="1800" b="1" dirty="0"/>
              <a:t>struct student s;</a:t>
            </a:r>
            <a:br>
              <a:rPr lang="en-US" sz="1800" b="1" dirty="0"/>
            </a:br>
            <a:r>
              <a:rPr lang="en-US" sz="1800" b="1" dirty="0" err="1"/>
              <a:t>printf</a:t>
            </a:r>
            <a:r>
              <a:rPr lang="en-US" sz="1800" b="1" dirty="0"/>
              <a:t>("\</a:t>
            </a:r>
            <a:r>
              <a:rPr lang="en-US" sz="1800" b="1" dirty="0" err="1"/>
              <a:t>nEnter</a:t>
            </a:r>
            <a:r>
              <a:rPr lang="en-US" sz="1800" b="1" dirty="0"/>
              <a:t> roll no = ");</a:t>
            </a:r>
          </a:p>
          <a:p>
            <a:pPr marL="0" indent="0">
              <a:lnSpc>
                <a:spcPct val="110000"/>
              </a:lnSpc>
              <a:spcBef>
                <a:spcPts val="0"/>
              </a:spcBef>
              <a:buNone/>
            </a:pPr>
            <a:r>
              <a:rPr lang="en-US" sz="1800" b="1" dirty="0" err="1"/>
              <a:t>scanf</a:t>
            </a:r>
            <a:r>
              <a:rPr lang="en-US" sz="1800" b="1" dirty="0"/>
              <a:t>("%d", &amp;</a:t>
            </a:r>
            <a:r>
              <a:rPr lang="en-US" sz="1800" b="1" dirty="0" err="1"/>
              <a:t>s.roll_no</a:t>
            </a:r>
            <a:r>
              <a:rPr lang="en-US" sz="1800" b="1" dirty="0"/>
              <a:t>);</a:t>
            </a:r>
            <a:br>
              <a:rPr lang="en-US" sz="1800" b="1" dirty="0"/>
            </a:br>
            <a:r>
              <a:rPr lang="en-US" sz="1800" b="1" dirty="0" err="1"/>
              <a:t>printf</a:t>
            </a:r>
            <a:r>
              <a:rPr lang="en-US" sz="1800" b="1" dirty="0"/>
              <a:t>("\</a:t>
            </a:r>
            <a:r>
              <a:rPr lang="en-US" sz="1800" b="1" dirty="0" err="1"/>
              <a:t>nEnter</a:t>
            </a:r>
            <a:r>
              <a:rPr lang="en-US" sz="1800" b="1" dirty="0"/>
              <a:t> First Name = ");</a:t>
            </a:r>
          </a:p>
          <a:p>
            <a:pPr marL="0" indent="0">
              <a:lnSpc>
                <a:spcPct val="110000"/>
              </a:lnSpc>
              <a:spcBef>
                <a:spcPts val="0"/>
              </a:spcBef>
              <a:buNone/>
            </a:pPr>
            <a:r>
              <a:rPr lang="en-US" sz="1800" b="1" dirty="0" err="1"/>
              <a:t>scanf</a:t>
            </a:r>
            <a:r>
              <a:rPr lang="en-US" sz="1800" b="1" dirty="0"/>
              <a:t>("%s", </a:t>
            </a:r>
            <a:r>
              <a:rPr lang="en-US" sz="1800" b="1" dirty="0" err="1"/>
              <a:t>s.fname</a:t>
            </a:r>
            <a:r>
              <a:rPr lang="en-US" sz="1800" b="1" dirty="0"/>
              <a:t>);</a:t>
            </a:r>
            <a:br>
              <a:rPr lang="en-US" sz="1800" b="1" dirty="0"/>
            </a:br>
            <a:r>
              <a:rPr lang="en-US" sz="1800" b="1" dirty="0" err="1"/>
              <a:t>printf</a:t>
            </a:r>
            <a:r>
              <a:rPr lang="en-US" sz="1800" b="1" dirty="0"/>
              <a:t>("\</a:t>
            </a:r>
            <a:r>
              <a:rPr lang="en-US" sz="1800" b="1" dirty="0" err="1"/>
              <a:t>nEnter</a:t>
            </a:r>
            <a:r>
              <a:rPr lang="en-US" sz="1800" b="1" dirty="0"/>
              <a:t> Last Name = ");</a:t>
            </a:r>
          </a:p>
          <a:p>
            <a:pPr marL="0" indent="0">
              <a:lnSpc>
                <a:spcPct val="110000"/>
              </a:lnSpc>
              <a:spcBef>
                <a:spcPts val="0"/>
              </a:spcBef>
              <a:buNone/>
            </a:pPr>
            <a:r>
              <a:rPr lang="en-US" sz="1800" b="1" dirty="0" err="1"/>
              <a:t>scanf</a:t>
            </a:r>
            <a:r>
              <a:rPr lang="en-US" sz="1800" b="1" dirty="0"/>
              <a:t>("%s", </a:t>
            </a:r>
            <a:r>
              <a:rPr lang="en-US" sz="1800" b="1" dirty="0" err="1"/>
              <a:t>s.lname</a:t>
            </a:r>
            <a:r>
              <a:rPr lang="en-US" sz="1800" b="1" dirty="0"/>
              <a:t>);</a:t>
            </a:r>
            <a:br>
              <a:rPr lang="en-US" sz="1800" b="1" dirty="0"/>
            </a:br>
            <a:r>
              <a:rPr lang="en-US" sz="1800" b="1" dirty="0" err="1"/>
              <a:t>printf</a:t>
            </a:r>
            <a:r>
              <a:rPr lang="en-US" sz="1800" b="1" dirty="0"/>
              <a:t>("Enter date of birth in YYYY MM DD Format = ");</a:t>
            </a:r>
          </a:p>
          <a:p>
            <a:pPr marL="0" indent="0">
              <a:lnSpc>
                <a:spcPct val="110000"/>
              </a:lnSpc>
              <a:spcBef>
                <a:spcPts val="0"/>
              </a:spcBef>
              <a:buNone/>
            </a:pPr>
            <a:r>
              <a:rPr lang="en-US" sz="1800" b="1" dirty="0" err="1"/>
              <a:t>scanf</a:t>
            </a:r>
            <a:r>
              <a:rPr lang="en-US" sz="1800" b="1" dirty="0"/>
              <a:t>("%</a:t>
            </a:r>
            <a:r>
              <a:rPr lang="en-US" sz="1800" b="1" dirty="0" err="1"/>
              <a:t>d%d%d</a:t>
            </a:r>
            <a:r>
              <a:rPr lang="en-US" sz="1800" b="1" dirty="0"/>
              <a:t>", &amp;</a:t>
            </a:r>
            <a:r>
              <a:rPr lang="en-US" sz="1800" b="1" dirty="0" err="1"/>
              <a:t>s.d.year</a:t>
            </a:r>
            <a:r>
              <a:rPr lang="en-US" sz="1800" b="1" dirty="0"/>
              <a:t>, &amp;</a:t>
            </a:r>
            <a:r>
              <a:rPr lang="en-US" sz="1800" b="1" dirty="0" err="1"/>
              <a:t>s.d.month</a:t>
            </a:r>
            <a:r>
              <a:rPr lang="en-US" sz="1800" b="1" dirty="0"/>
              <a:t>, &amp;</a:t>
            </a:r>
            <a:r>
              <a:rPr lang="en-US" sz="1800" b="1" dirty="0" err="1"/>
              <a:t>s.d.day</a:t>
            </a:r>
            <a:r>
              <a:rPr lang="en-US" sz="1800" b="1" dirty="0"/>
              <a:t>);</a:t>
            </a:r>
            <a:br>
              <a:rPr lang="en-US" sz="1800" b="1" dirty="0"/>
            </a:br>
            <a:r>
              <a:rPr lang="en-US" sz="1800" b="1" dirty="0" err="1"/>
              <a:t>printf</a:t>
            </a:r>
            <a:r>
              <a:rPr lang="en-US" sz="1800" b="1" dirty="0"/>
              <a:t>("Roll No = %d\</a:t>
            </a:r>
            <a:r>
              <a:rPr lang="en-US" sz="1800" b="1" dirty="0" err="1"/>
              <a:t>nFirst</a:t>
            </a:r>
            <a:r>
              <a:rPr lang="en-US" sz="1800" b="1" dirty="0"/>
              <a:t> Name = %s\</a:t>
            </a:r>
            <a:r>
              <a:rPr lang="en-US" sz="1800" b="1" dirty="0" err="1"/>
              <a:t>nLast</a:t>
            </a:r>
            <a:r>
              <a:rPr lang="en-US" sz="1800" b="1" dirty="0"/>
              <a:t> Name = %s\</a:t>
            </a:r>
            <a:r>
              <a:rPr lang="en-US" sz="1800" b="1" dirty="0" err="1"/>
              <a:t>nDate</a:t>
            </a:r>
            <a:r>
              <a:rPr lang="en-US" sz="1800" b="1" dirty="0"/>
              <a:t> of Birth =%d/%d/%d",</a:t>
            </a:r>
          </a:p>
          <a:p>
            <a:pPr marL="0" indent="0">
              <a:lnSpc>
                <a:spcPct val="110000"/>
              </a:lnSpc>
              <a:spcBef>
                <a:spcPts val="0"/>
              </a:spcBef>
              <a:buNone/>
            </a:pPr>
            <a:r>
              <a:rPr lang="en-US" sz="1800" b="1" dirty="0"/>
              <a:t>                                     </a:t>
            </a:r>
            <a:r>
              <a:rPr lang="en-US" sz="1800" b="1" dirty="0" err="1"/>
              <a:t>s.roll_no</a:t>
            </a:r>
            <a:r>
              <a:rPr lang="en-US" sz="1800" b="1" dirty="0"/>
              <a:t>,              </a:t>
            </a:r>
            <a:r>
              <a:rPr lang="en-US" sz="1800" b="1" dirty="0" err="1"/>
              <a:t>s.fname</a:t>
            </a:r>
            <a:r>
              <a:rPr lang="en-US" sz="1800" b="1" dirty="0"/>
              <a:t>,            </a:t>
            </a:r>
            <a:r>
              <a:rPr lang="en-US" sz="1800" b="1" dirty="0" err="1"/>
              <a:t>s.lname</a:t>
            </a:r>
            <a:r>
              <a:rPr lang="en-US" sz="1800" b="1" dirty="0"/>
              <a:t>,           </a:t>
            </a:r>
            <a:r>
              <a:rPr lang="en-US" sz="1800" b="1" dirty="0" err="1"/>
              <a:t>s.d.year</a:t>
            </a:r>
            <a:r>
              <a:rPr lang="en-US" sz="1800" b="1" dirty="0"/>
              <a:t>, </a:t>
            </a:r>
            <a:r>
              <a:rPr lang="en-US" sz="1800" b="1" dirty="0" err="1"/>
              <a:t>s.d.month</a:t>
            </a:r>
            <a:r>
              <a:rPr lang="en-US" sz="1800" b="1" dirty="0"/>
              <a:t>, </a:t>
            </a:r>
            <a:r>
              <a:rPr lang="en-US" sz="1800" b="1" dirty="0" err="1"/>
              <a:t>s.d.day</a:t>
            </a:r>
            <a:r>
              <a:rPr lang="en-US" sz="1800" b="1" dirty="0"/>
              <a:t>);</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buNone/>
            </a:pPr>
            <a:r>
              <a:rPr lang="en-NP" b="1" dirty="0"/>
              <a:t>                     			 </a:t>
            </a:r>
            <a:r>
              <a:rPr lang="en-NP" b="1" dirty="0">
                <a:highlight>
                  <a:srgbClr val="FFFF00"/>
                </a:highlight>
              </a:rPr>
              <a:t> student</a:t>
            </a:r>
          </a:p>
          <a:p>
            <a:pPr marL="0" indent="0">
              <a:buNone/>
            </a:pPr>
            <a:endParaRPr lang="en-NP" b="1" dirty="0"/>
          </a:p>
          <a:p>
            <a:pPr marL="0" indent="0">
              <a:buNone/>
            </a:pPr>
            <a:endParaRPr lang="en-NP" sz="2400" b="1" dirty="0">
              <a:highlight>
                <a:srgbClr val="FFFF00"/>
              </a:highlight>
            </a:endParaRPr>
          </a:p>
        </p:txBody>
      </p:sp>
      <p:pic>
        <p:nvPicPr>
          <p:cNvPr id="7" name="Picture 6">
            <a:extLst>
              <a:ext uri="{FF2B5EF4-FFF2-40B4-BE49-F238E27FC236}">
                <a16:creationId xmlns:a16="http://schemas.microsoft.com/office/drawing/2014/main" id="{A85DDCC2-2673-AD2D-F082-9B8186CFFF9F}"/>
              </a:ext>
            </a:extLst>
          </p:cNvPr>
          <p:cNvPicPr>
            <a:picLocks noChangeAspect="1"/>
          </p:cNvPicPr>
          <p:nvPr/>
        </p:nvPicPr>
        <p:blipFill>
          <a:blip r:embed="rId3"/>
          <a:stretch>
            <a:fillRect/>
          </a:stretch>
        </p:blipFill>
        <p:spPr>
          <a:xfrm>
            <a:off x="6543675" y="483014"/>
            <a:ext cx="5076825" cy="2320512"/>
          </a:xfrm>
          <a:prstGeom prst="rect">
            <a:avLst/>
          </a:prstGeom>
        </p:spPr>
      </p:pic>
      <p:cxnSp>
        <p:nvCxnSpPr>
          <p:cNvPr id="9" name="Straight Arrow Connector 8">
            <a:extLst>
              <a:ext uri="{FF2B5EF4-FFF2-40B4-BE49-F238E27FC236}">
                <a16:creationId xmlns:a16="http://schemas.microsoft.com/office/drawing/2014/main" id="{620B140F-70E1-9010-360E-393500F8F2E4}"/>
              </a:ext>
            </a:extLst>
          </p:cNvPr>
          <p:cNvCxnSpPr>
            <a:cxnSpLocks/>
          </p:cNvCxnSpPr>
          <p:nvPr/>
        </p:nvCxnSpPr>
        <p:spPr>
          <a:xfrm flipV="1">
            <a:off x="2763078" y="368576"/>
            <a:ext cx="0" cy="41605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aphicFrame>
        <p:nvGraphicFramePr>
          <p:cNvPr id="12" name="Table 11">
            <a:extLst>
              <a:ext uri="{FF2B5EF4-FFF2-40B4-BE49-F238E27FC236}">
                <a16:creationId xmlns:a16="http://schemas.microsoft.com/office/drawing/2014/main" id="{2F6EEE66-5A45-B216-1B64-4417165A02EE}"/>
              </a:ext>
            </a:extLst>
          </p:cNvPr>
          <p:cNvGraphicFramePr>
            <a:graphicFrameLocks noGrp="1"/>
          </p:cNvGraphicFramePr>
          <p:nvPr>
            <p:extLst>
              <p:ext uri="{D42A27DB-BD31-4B8C-83A1-F6EECF244321}">
                <p14:modId xmlns:p14="http://schemas.microsoft.com/office/powerpoint/2010/main" val="3580032987"/>
              </p:ext>
            </p:extLst>
          </p:nvPr>
        </p:nvGraphicFramePr>
        <p:xfrm>
          <a:off x="4043939" y="4896540"/>
          <a:ext cx="8148061" cy="1871156"/>
        </p:xfrm>
        <a:graphic>
          <a:graphicData uri="http://schemas.openxmlformats.org/drawingml/2006/table">
            <a:tbl>
              <a:tblPr firstRow="1" bandRow="1">
                <a:tableStyleId>{5940675A-B579-460E-94D1-54222C63F5DA}</a:tableStyleId>
              </a:tblPr>
              <a:tblGrid>
                <a:gridCol w="2114061">
                  <a:extLst>
                    <a:ext uri="{9D8B030D-6E8A-4147-A177-3AD203B41FA5}">
                      <a16:colId xmlns:a16="http://schemas.microsoft.com/office/drawing/2014/main" val="572344113"/>
                    </a:ext>
                  </a:extLst>
                </a:gridCol>
                <a:gridCol w="557476">
                  <a:extLst>
                    <a:ext uri="{9D8B030D-6E8A-4147-A177-3AD203B41FA5}">
                      <a16:colId xmlns:a16="http://schemas.microsoft.com/office/drawing/2014/main" val="3431798763"/>
                    </a:ext>
                  </a:extLst>
                </a:gridCol>
                <a:gridCol w="707312">
                  <a:extLst>
                    <a:ext uri="{9D8B030D-6E8A-4147-A177-3AD203B41FA5}">
                      <a16:colId xmlns:a16="http://schemas.microsoft.com/office/drawing/2014/main" val="2587928260"/>
                    </a:ext>
                  </a:extLst>
                </a:gridCol>
                <a:gridCol w="764664">
                  <a:extLst>
                    <a:ext uri="{9D8B030D-6E8A-4147-A177-3AD203B41FA5}">
                      <a16:colId xmlns:a16="http://schemas.microsoft.com/office/drawing/2014/main" val="1108368050"/>
                    </a:ext>
                  </a:extLst>
                </a:gridCol>
                <a:gridCol w="745547">
                  <a:extLst>
                    <a:ext uri="{9D8B030D-6E8A-4147-A177-3AD203B41FA5}">
                      <a16:colId xmlns:a16="http://schemas.microsoft.com/office/drawing/2014/main" val="2506898600"/>
                    </a:ext>
                  </a:extLst>
                </a:gridCol>
                <a:gridCol w="707312">
                  <a:extLst>
                    <a:ext uri="{9D8B030D-6E8A-4147-A177-3AD203B41FA5}">
                      <a16:colId xmlns:a16="http://schemas.microsoft.com/office/drawing/2014/main" val="1566616541"/>
                    </a:ext>
                  </a:extLst>
                </a:gridCol>
                <a:gridCol w="745547">
                  <a:extLst>
                    <a:ext uri="{9D8B030D-6E8A-4147-A177-3AD203B41FA5}">
                      <a16:colId xmlns:a16="http://schemas.microsoft.com/office/drawing/2014/main" val="643360668"/>
                    </a:ext>
                  </a:extLst>
                </a:gridCol>
                <a:gridCol w="630845">
                  <a:extLst>
                    <a:ext uri="{9D8B030D-6E8A-4147-A177-3AD203B41FA5}">
                      <a16:colId xmlns:a16="http://schemas.microsoft.com/office/drawing/2014/main" val="562860999"/>
                    </a:ext>
                  </a:extLst>
                </a:gridCol>
                <a:gridCol w="630845">
                  <a:extLst>
                    <a:ext uri="{9D8B030D-6E8A-4147-A177-3AD203B41FA5}">
                      <a16:colId xmlns:a16="http://schemas.microsoft.com/office/drawing/2014/main" val="2603453691"/>
                    </a:ext>
                  </a:extLst>
                </a:gridCol>
                <a:gridCol w="544452">
                  <a:extLst>
                    <a:ext uri="{9D8B030D-6E8A-4147-A177-3AD203B41FA5}">
                      <a16:colId xmlns:a16="http://schemas.microsoft.com/office/drawing/2014/main" val="1404394936"/>
                    </a:ext>
                  </a:extLst>
                </a:gridCol>
              </a:tblGrid>
              <a:tr h="425438">
                <a:tc>
                  <a:txBody>
                    <a:bodyPr/>
                    <a:lstStyle/>
                    <a:p>
                      <a:r>
                        <a:rPr lang="en-US" sz="2000" b="1" dirty="0">
                          <a:highlight>
                            <a:srgbClr val="FF00FF"/>
                          </a:highlight>
                        </a:rPr>
                        <a:t>s</a:t>
                      </a:r>
                      <a:r>
                        <a:rPr lang="en-NP" sz="2000" b="1" dirty="0">
                          <a:highlight>
                            <a:srgbClr val="FF00FF"/>
                          </a:highlight>
                        </a:rPr>
                        <a:t>.roll_no</a:t>
                      </a:r>
                    </a:p>
                  </a:txBody>
                  <a:tcPr/>
                </a:tc>
                <a:tc gridSpan="9">
                  <a:txBody>
                    <a:bodyPr/>
                    <a:lstStyle/>
                    <a:p>
                      <a:r>
                        <a:rPr lang="en-NP" sz="1600" b="1" dirty="0">
                          <a:highlight>
                            <a:srgbClr val="FF00FF"/>
                          </a:highlight>
                        </a:rPr>
                        <a:t>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59986">
                <a:tc rowSpan="2">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b="1" dirty="0">
                          <a:highlight>
                            <a:srgbClr val="00FF00"/>
                          </a:highlight>
                        </a:rPr>
                        <a:t>s</a:t>
                      </a:r>
                      <a:r>
                        <a:rPr lang="en-NP" sz="2000" b="1" dirty="0">
                          <a:highlight>
                            <a:srgbClr val="00FF00"/>
                          </a:highlight>
                        </a:rPr>
                        <a:t>.fname[30]</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t>        </a:t>
                      </a:r>
                      <a:r>
                        <a:rPr lang="en-NP" sz="1600" b="1" dirty="0">
                          <a:highlight>
                            <a:srgbClr val="00FF00"/>
                          </a:highlight>
                        </a:rPr>
                        <a:t>6--------29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59986">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9986">
                <a:tc rowSpan="2">
                  <a:txBody>
                    <a:bodyPr/>
                    <a:lstStyle/>
                    <a:p>
                      <a:pPr>
                        <a:lnSpc>
                          <a:spcPct val="150000"/>
                        </a:lnSpc>
                      </a:pPr>
                      <a:r>
                        <a:rPr lang="en-US" sz="2000" b="1" dirty="0" err="1">
                          <a:highlight>
                            <a:srgbClr val="00FFFF"/>
                          </a:highlight>
                        </a:rPr>
                        <a:t>s.lname</a:t>
                      </a:r>
                      <a:r>
                        <a:rPr lang="en-US" sz="2000" b="1" dirty="0">
                          <a:highlight>
                            <a:srgbClr val="00FFFF"/>
                          </a:highlight>
                        </a:rPr>
                        <a:t>[30</a:t>
                      </a:r>
                      <a:endParaRPr lang="en-NP" sz="2000" b="1" dirty="0">
                        <a:highlight>
                          <a:srgbClr val="00FFFF"/>
                        </a:highlight>
                      </a:endParaRP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t>       </a:t>
                      </a:r>
                      <a:r>
                        <a:rPr lang="en-NP" sz="1600" b="1" dirty="0">
                          <a:highlight>
                            <a:srgbClr val="00FFFF"/>
                          </a:highlight>
                        </a:rPr>
                        <a:t>6--------29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59986">
                <a:tc vMerge="1">
                  <a:txBody>
                    <a:bodyPr/>
                    <a:lstStyle/>
                    <a:p>
                      <a:endParaRPr lang="en-NP" b="1" dirty="0">
                        <a:highlight>
                          <a:srgbClr val="00FFFF"/>
                        </a:highlight>
                      </a:endParaRPr>
                    </a:p>
                  </a:txBody>
                  <a:tcPr/>
                </a:tc>
                <a:tc>
                  <a:txBody>
                    <a:bodyPr/>
                    <a:lstStyle/>
                    <a:p>
                      <a:r>
                        <a:rPr lang="en-NP" sz="1600" b="1" dirty="0">
                          <a:highlight>
                            <a:srgbClr val="00FF00"/>
                          </a:highlight>
                        </a:rPr>
                        <a:t>k</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k</a:t>
                      </a:r>
                    </a:p>
                  </a:txBody>
                  <a:tcPr/>
                </a:tc>
                <a:tc>
                  <a:txBody>
                    <a:bodyPr/>
                    <a:lstStyle/>
                    <a:p>
                      <a:r>
                        <a:rPr lang="en-NP" sz="1600" b="1" dirty="0">
                          <a:highlight>
                            <a:srgbClr val="00FF00"/>
                          </a:highlight>
                        </a:rPr>
                        <a:t>i</a:t>
                      </a: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092514564"/>
                  </a:ext>
                </a:extLst>
              </a:tr>
            </a:tbl>
          </a:graphicData>
        </a:graphic>
      </p:graphicFrame>
      <p:graphicFrame>
        <p:nvGraphicFramePr>
          <p:cNvPr id="13" name="Table 12">
            <a:extLst>
              <a:ext uri="{FF2B5EF4-FFF2-40B4-BE49-F238E27FC236}">
                <a16:creationId xmlns:a16="http://schemas.microsoft.com/office/drawing/2014/main" id="{E15FFC67-3BC6-9B68-AF30-74EA4111B19B}"/>
              </a:ext>
            </a:extLst>
          </p:cNvPr>
          <p:cNvGraphicFramePr>
            <a:graphicFrameLocks noGrp="1"/>
          </p:cNvGraphicFramePr>
          <p:nvPr>
            <p:extLst>
              <p:ext uri="{D42A27DB-BD31-4B8C-83A1-F6EECF244321}">
                <p14:modId xmlns:p14="http://schemas.microsoft.com/office/powerpoint/2010/main" val="2354367659"/>
              </p:ext>
            </p:extLst>
          </p:nvPr>
        </p:nvGraphicFramePr>
        <p:xfrm>
          <a:off x="1660225" y="5415142"/>
          <a:ext cx="2205704" cy="1188720"/>
        </p:xfrm>
        <a:graphic>
          <a:graphicData uri="http://schemas.openxmlformats.org/drawingml/2006/table">
            <a:tbl>
              <a:tblPr firstRow="1" bandRow="1">
                <a:tableStyleId>{5940675A-B579-460E-94D1-54222C63F5DA}</a:tableStyleId>
              </a:tblPr>
              <a:tblGrid>
                <a:gridCol w="1561523">
                  <a:extLst>
                    <a:ext uri="{9D8B030D-6E8A-4147-A177-3AD203B41FA5}">
                      <a16:colId xmlns:a16="http://schemas.microsoft.com/office/drawing/2014/main" val="572344113"/>
                    </a:ext>
                  </a:extLst>
                </a:gridCol>
                <a:gridCol w="644181">
                  <a:extLst>
                    <a:ext uri="{9D8B030D-6E8A-4147-A177-3AD203B41FA5}">
                      <a16:colId xmlns:a16="http://schemas.microsoft.com/office/drawing/2014/main" val="3431798763"/>
                    </a:ext>
                  </a:extLst>
                </a:gridCol>
              </a:tblGrid>
              <a:tr h="357723">
                <a:tc>
                  <a:txBody>
                    <a:bodyPr/>
                    <a:lstStyle/>
                    <a:p>
                      <a:r>
                        <a:rPr lang="en-US" sz="2000" b="1" dirty="0">
                          <a:highlight>
                            <a:srgbClr val="FF00FF"/>
                          </a:highlight>
                        </a:rPr>
                        <a:t>s.</a:t>
                      </a:r>
                      <a:r>
                        <a:rPr lang="en-NP" sz="2000" b="1" dirty="0">
                          <a:highlight>
                            <a:srgbClr val="FF00FF"/>
                          </a:highlight>
                        </a:rPr>
                        <a:t>d.year</a:t>
                      </a:r>
                    </a:p>
                  </a:txBody>
                  <a:tcPr/>
                </a:tc>
                <a:tc>
                  <a:txBody>
                    <a:bodyPr/>
                    <a:lstStyle/>
                    <a:p>
                      <a:r>
                        <a:rPr lang="en-NP" sz="1600" b="1" dirty="0">
                          <a:highlight>
                            <a:srgbClr val="FF00FF"/>
                          </a:highlight>
                        </a:rPr>
                        <a:t>1993</a:t>
                      </a:r>
                    </a:p>
                  </a:txBody>
                  <a:tcPr/>
                </a:tc>
                <a:extLst>
                  <a:ext uri="{0D108BD9-81ED-4DB2-BD59-A6C34878D82A}">
                    <a16:rowId xmlns:a16="http://schemas.microsoft.com/office/drawing/2014/main" val="360701773"/>
                  </a:ext>
                </a:extLst>
              </a:tr>
              <a:tr h="357723">
                <a:tc>
                  <a:txBody>
                    <a:bodyPr/>
                    <a:lstStyle/>
                    <a:p>
                      <a:r>
                        <a:rPr lang="en-US" sz="2000" b="1" dirty="0">
                          <a:highlight>
                            <a:srgbClr val="00FF00"/>
                          </a:highlight>
                        </a:rPr>
                        <a:t>s.</a:t>
                      </a:r>
                      <a:r>
                        <a:rPr lang="en-NP" sz="2000" b="1" dirty="0">
                          <a:highlight>
                            <a:srgbClr val="00FF00"/>
                          </a:highlight>
                        </a:rPr>
                        <a:t>d.month</a:t>
                      </a:r>
                    </a:p>
                  </a:txBody>
                  <a:tcPr/>
                </a:tc>
                <a:tc>
                  <a:txBody>
                    <a:bodyPr/>
                    <a:lstStyle/>
                    <a:p>
                      <a:r>
                        <a:rPr lang="en-NP" sz="1600" b="1" dirty="0">
                          <a:highlight>
                            <a:srgbClr val="00FF00"/>
                          </a:highlight>
                        </a:rPr>
                        <a:t>10</a:t>
                      </a:r>
                    </a:p>
                  </a:txBody>
                  <a:tcPr/>
                </a:tc>
                <a:extLst>
                  <a:ext uri="{0D108BD9-81ED-4DB2-BD59-A6C34878D82A}">
                    <a16:rowId xmlns:a16="http://schemas.microsoft.com/office/drawing/2014/main" val="1726587961"/>
                  </a:ext>
                </a:extLst>
              </a:tr>
              <a:tr h="383247">
                <a:tc>
                  <a:txBody>
                    <a:bodyPr/>
                    <a:lstStyle/>
                    <a:p>
                      <a:r>
                        <a:rPr lang="en-US" sz="2000" b="1" dirty="0">
                          <a:highlight>
                            <a:srgbClr val="00FFFF"/>
                          </a:highlight>
                        </a:rPr>
                        <a:t>s.</a:t>
                      </a:r>
                      <a:r>
                        <a:rPr lang="en-NP" sz="2000" b="1" dirty="0">
                          <a:highlight>
                            <a:srgbClr val="00FFFF"/>
                          </a:highlight>
                        </a:rPr>
                        <a:t>d.day</a:t>
                      </a:r>
                    </a:p>
                  </a:txBody>
                  <a:tcPr/>
                </a:tc>
                <a:tc>
                  <a:txBody>
                    <a:bodyPr/>
                    <a:lstStyle/>
                    <a:p>
                      <a:r>
                        <a:rPr lang="en-NP" sz="1600" b="1" dirty="0">
                          <a:highlight>
                            <a:srgbClr val="00FFFF"/>
                          </a:highlight>
                        </a:rPr>
                        <a:t>16</a:t>
                      </a:r>
                    </a:p>
                  </a:txBody>
                  <a:tcPr/>
                </a:tc>
                <a:extLst>
                  <a:ext uri="{0D108BD9-81ED-4DB2-BD59-A6C34878D82A}">
                    <a16:rowId xmlns:a16="http://schemas.microsoft.com/office/drawing/2014/main" val="1421847098"/>
                  </a:ext>
                </a:extLst>
              </a:tr>
            </a:tbl>
          </a:graphicData>
        </a:graphic>
      </p:graphicFrame>
      <p:cxnSp>
        <p:nvCxnSpPr>
          <p:cNvPr id="17" name="Straight Arrow Connector 16">
            <a:extLst>
              <a:ext uri="{FF2B5EF4-FFF2-40B4-BE49-F238E27FC236}">
                <a16:creationId xmlns:a16="http://schemas.microsoft.com/office/drawing/2014/main" id="{DD0F67BF-D1A8-44C1-4EED-61DD51B04375}"/>
              </a:ext>
            </a:extLst>
          </p:cNvPr>
          <p:cNvCxnSpPr/>
          <p:nvPr/>
        </p:nvCxnSpPr>
        <p:spPr>
          <a:xfrm>
            <a:off x="119269" y="4764270"/>
            <a:ext cx="1195346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2625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38E3-F3DA-1D81-787B-C787C9DDB283}"/>
              </a:ext>
            </a:extLst>
          </p:cNvPr>
          <p:cNvSpPr>
            <a:spLocks noGrp="1"/>
          </p:cNvSpPr>
          <p:nvPr>
            <p:ph type="title"/>
          </p:nvPr>
        </p:nvSpPr>
        <p:spPr>
          <a:xfrm>
            <a:off x="440635" y="0"/>
            <a:ext cx="11340548" cy="509518"/>
          </a:xfrm>
        </p:spPr>
        <p:txBody>
          <a:bodyPr>
            <a:noAutofit/>
          </a:bodyPr>
          <a:lstStyle/>
          <a:p>
            <a:br>
              <a:rPr lang="en-NP" sz="2000" b="1" i="1" dirty="0">
                <a:solidFill>
                  <a:srgbClr val="FF0000"/>
                </a:solidFill>
              </a:rPr>
            </a:br>
            <a:r>
              <a:rPr lang="en-NP" sz="2000" b="1" i="1" dirty="0">
                <a:solidFill>
                  <a:srgbClr val="FF0000"/>
                </a:solidFill>
              </a:rPr>
              <a:t>8.WAP to input n students id, name, address and age. Then search record on the basis of id.</a:t>
            </a:r>
            <a:br>
              <a:rPr lang="en-NP" sz="2000" b="1" dirty="0">
                <a:solidFill>
                  <a:srgbClr val="FF0000"/>
                </a:solidFill>
              </a:rPr>
            </a:br>
            <a:endParaRPr lang="en-NP" sz="2000" b="1" dirty="0">
              <a:solidFill>
                <a:srgbClr val="FF0000"/>
              </a:solidFill>
            </a:endParaRPr>
          </a:p>
        </p:txBody>
      </p:sp>
      <p:sp>
        <p:nvSpPr>
          <p:cNvPr id="3" name="Content Placeholder 2">
            <a:extLst>
              <a:ext uri="{FF2B5EF4-FFF2-40B4-BE49-F238E27FC236}">
                <a16:creationId xmlns:a16="http://schemas.microsoft.com/office/drawing/2014/main" id="{69BE64F2-C0C5-6603-38A3-FFF0D29B39F6}"/>
              </a:ext>
            </a:extLst>
          </p:cNvPr>
          <p:cNvSpPr>
            <a:spLocks noGrp="1"/>
          </p:cNvSpPr>
          <p:nvPr>
            <p:ph sz="half" idx="1"/>
          </p:nvPr>
        </p:nvSpPr>
        <p:spPr>
          <a:xfrm>
            <a:off x="291547" y="509518"/>
            <a:ext cx="8016763" cy="6196082"/>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struct student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id; </a:t>
            </a:r>
          </a:p>
          <a:p>
            <a:pPr marL="0" indent="0">
              <a:lnSpc>
                <a:spcPct val="100000"/>
              </a:lnSpc>
              <a:spcBef>
                <a:spcPts val="0"/>
              </a:spcBef>
              <a:buNone/>
            </a:pPr>
            <a:r>
              <a:rPr lang="en-US" sz="2000" b="1" dirty="0"/>
              <a:t>char name[30]; </a:t>
            </a:r>
          </a:p>
          <a:p>
            <a:pPr marL="0" indent="0">
              <a:lnSpc>
                <a:spcPct val="100000"/>
              </a:lnSpc>
              <a:spcBef>
                <a:spcPts val="0"/>
              </a:spcBef>
              <a:buNone/>
            </a:pPr>
            <a:r>
              <a:rPr lang="en-US" sz="2000" b="1" dirty="0"/>
              <a:t>char address[30]; </a:t>
            </a:r>
          </a:p>
          <a:p>
            <a:pPr marL="0" indent="0">
              <a:lnSpc>
                <a:spcPct val="100000"/>
              </a:lnSpc>
              <a:spcBef>
                <a:spcPts val="0"/>
              </a:spcBef>
              <a:buNone/>
            </a:pPr>
            <a:r>
              <a:rPr lang="en-US" sz="2000" b="1" dirty="0"/>
              <a:t>int age; </a:t>
            </a:r>
          </a:p>
          <a:p>
            <a:pPr marL="0" indent="0">
              <a:lnSpc>
                <a:spcPct val="100000"/>
              </a:lnSpc>
              <a:spcBef>
                <a:spcPts val="0"/>
              </a:spcBef>
              <a:buNone/>
            </a:pPr>
            <a:r>
              <a:rPr lang="en-US" sz="2000" b="1" dirty="0"/>
              <a:t>}s[20]; </a:t>
            </a:r>
          </a:p>
          <a:p>
            <a:pPr marL="0" indent="0">
              <a:lnSpc>
                <a:spcPct val="100000"/>
              </a:lnSpc>
              <a:spcBef>
                <a:spcPts val="0"/>
              </a:spcBef>
              <a:buNone/>
            </a:pPr>
            <a:r>
              <a:rPr lang="en-US" sz="2000" b="1" dirty="0"/>
              <a:t>int main()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a:t>
            </a:r>
            <a:r>
              <a:rPr lang="en-US" sz="2000" b="1" dirty="0" err="1"/>
              <a:t>i</a:t>
            </a:r>
            <a:r>
              <a:rPr lang="en-US" sz="2000" b="1" dirty="0"/>
              <a:t>, n, search; </a:t>
            </a:r>
          </a:p>
          <a:p>
            <a:pPr marL="0" indent="0">
              <a:lnSpc>
                <a:spcPct val="100000"/>
              </a:lnSpc>
              <a:spcBef>
                <a:spcPts val="0"/>
              </a:spcBef>
              <a:buNone/>
            </a:pPr>
            <a:r>
              <a:rPr lang="en-US" sz="2000" b="1" dirty="0" err="1"/>
              <a:t>printf</a:t>
            </a:r>
            <a:r>
              <a:rPr lang="en-US" sz="2000" b="1" dirty="0"/>
              <a:t>("How many record would you like to store? \n"); </a:t>
            </a:r>
          </a:p>
          <a:p>
            <a:pPr marL="0" indent="0">
              <a:lnSpc>
                <a:spcPct val="100000"/>
              </a:lnSpc>
              <a:spcBef>
                <a:spcPts val="0"/>
              </a:spcBef>
              <a:buNone/>
            </a:pPr>
            <a:r>
              <a:rPr lang="en-US" sz="2000" b="1" dirty="0" err="1"/>
              <a:t>scanf</a:t>
            </a:r>
            <a:r>
              <a:rPr lang="en-US" sz="2000" b="1" dirty="0"/>
              <a:t>("%d", &amp;n); </a:t>
            </a:r>
          </a:p>
          <a:p>
            <a:pPr marL="0" indent="0">
              <a:lnSpc>
                <a:spcPct val="100000"/>
              </a:lnSpc>
              <a:spcBef>
                <a:spcPts val="0"/>
              </a:spcBef>
              <a:buNone/>
            </a:pPr>
            <a:r>
              <a:rPr lang="en-US" sz="2000" b="1" dirty="0" err="1"/>
              <a:t>printf</a:t>
            </a:r>
            <a:r>
              <a:rPr lang="en-US" sz="2000" b="1" dirty="0"/>
              <a:t>("Enter id, name, address and age %d students\n", n); </a:t>
            </a:r>
          </a:p>
          <a:p>
            <a:pPr marL="0" indent="0">
              <a:lnSpc>
                <a:spcPct val="10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err="1"/>
              <a:t>scanf</a:t>
            </a:r>
            <a:r>
              <a:rPr lang="en-US" sz="2000" b="1" dirty="0"/>
              <a:t>("%</a:t>
            </a:r>
            <a:r>
              <a:rPr lang="en-US" sz="2000" b="1" dirty="0" err="1"/>
              <a:t>d%s%s%d</a:t>
            </a:r>
            <a:r>
              <a:rPr lang="en-US" sz="2000" b="1" dirty="0"/>
              <a:t>", &amp;s[</a:t>
            </a:r>
            <a:r>
              <a:rPr lang="en-US" sz="2000" b="1" dirty="0" err="1"/>
              <a:t>i</a:t>
            </a:r>
            <a:r>
              <a:rPr lang="en-US" sz="2000" b="1" dirty="0"/>
              <a:t>].id, s[</a:t>
            </a:r>
            <a:r>
              <a:rPr lang="en-US" sz="2000" b="1" dirty="0" err="1"/>
              <a:t>i</a:t>
            </a:r>
            <a:r>
              <a:rPr lang="en-US" sz="2000" b="1" dirty="0"/>
              <a:t>].name, s[</a:t>
            </a:r>
            <a:r>
              <a:rPr lang="en-US" sz="2000" b="1" dirty="0" err="1"/>
              <a:t>i</a:t>
            </a:r>
            <a:r>
              <a:rPr lang="en-US" sz="2000" b="1" dirty="0"/>
              <a:t>].address, &amp;s[</a:t>
            </a:r>
            <a:r>
              <a:rPr lang="en-US" sz="2000" b="1" dirty="0" err="1"/>
              <a:t>i</a:t>
            </a:r>
            <a:r>
              <a:rPr lang="en-US" sz="2000" b="1" dirty="0"/>
              <a:t>].age); </a:t>
            </a:r>
          </a:p>
          <a:p>
            <a:pPr marL="0" indent="0">
              <a:lnSpc>
                <a:spcPct val="100000"/>
              </a:lnSpc>
              <a:spcBef>
                <a:spcPts val="0"/>
              </a:spcBef>
              <a:buNone/>
            </a:pPr>
            <a:r>
              <a:rPr lang="en-US" sz="2000" b="1" dirty="0"/>
              <a:t>} </a:t>
            </a:r>
          </a:p>
        </p:txBody>
      </p:sp>
      <p:sp>
        <p:nvSpPr>
          <p:cNvPr id="4" name="Content Placeholder 3">
            <a:extLst>
              <a:ext uri="{FF2B5EF4-FFF2-40B4-BE49-F238E27FC236}">
                <a16:creationId xmlns:a16="http://schemas.microsoft.com/office/drawing/2014/main" id="{2B0DDA94-CE98-FD29-627B-91DE660A9959}"/>
              </a:ext>
            </a:extLst>
          </p:cNvPr>
          <p:cNvSpPr>
            <a:spLocks noGrp="1"/>
          </p:cNvSpPr>
          <p:nvPr>
            <p:ph sz="half" idx="2"/>
          </p:nvPr>
        </p:nvSpPr>
        <p:spPr>
          <a:xfrm>
            <a:off x="4832130" y="417436"/>
            <a:ext cx="8016766" cy="6196082"/>
          </a:xfrm>
        </p:spPr>
        <p:txBody>
          <a:bodyPr>
            <a:noAutofit/>
          </a:bodyPr>
          <a:lstStyle/>
          <a:p>
            <a:pPr marL="0" indent="0">
              <a:lnSpc>
                <a:spcPct val="110000"/>
              </a:lnSpc>
              <a:spcBef>
                <a:spcPts val="0"/>
              </a:spcBef>
              <a:buNone/>
            </a:pPr>
            <a:r>
              <a:rPr lang="en-US" sz="1800" b="1" dirty="0" err="1"/>
              <a:t>printf</a:t>
            </a:r>
            <a:r>
              <a:rPr lang="en-US" sz="1800" b="1" dirty="0"/>
              <a:t>("Enter id to search: "); </a:t>
            </a:r>
          </a:p>
          <a:p>
            <a:pPr marL="0" indent="0">
              <a:lnSpc>
                <a:spcPct val="110000"/>
              </a:lnSpc>
              <a:spcBef>
                <a:spcPts val="0"/>
              </a:spcBef>
              <a:buNone/>
            </a:pPr>
            <a:r>
              <a:rPr lang="en-US" sz="1800" b="1" dirty="0" err="1"/>
              <a:t>scanf</a:t>
            </a:r>
            <a:r>
              <a:rPr lang="en-US" sz="1800" b="1" dirty="0"/>
              <a:t>("%d", &amp;search); </a:t>
            </a:r>
          </a:p>
          <a:p>
            <a:pPr marL="0" indent="0">
              <a:lnSpc>
                <a:spcPct val="110000"/>
              </a:lnSpc>
              <a:spcBef>
                <a:spcPts val="0"/>
              </a:spcBef>
              <a:buNone/>
            </a:pPr>
            <a:r>
              <a:rPr lang="en-US" sz="1800" b="1" dirty="0" err="1"/>
              <a:t>printf</a:t>
            </a:r>
            <a:r>
              <a:rPr lang="en-US" sz="1800" b="1"/>
              <a:t>("\n Id \</a:t>
            </a:r>
            <a:r>
              <a:rPr lang="en-US" sz="1800" b="1" dirty="0"/>
              <a:t>t Name\t Address\t Age\n"); </a:t>
            </a:r>
          </a:p>
          <a:p>
            <a:pPr marL="0" indent="0">
              <a:lnSpc>
                <a:spcPct val="11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if(s[</a:t>
            </a:r>
            <a:r>
              <a:rPr lang="en-US" sz="1800" b="1" dirty="0" err="1"/>
              <a:t>i</a:t>
            </a:r>
            <a:r>
              <a:rPr lang="en-US" sz="1800" b="1" dirty="0"/>
              <a:t>].id == search) </a:t>
            </a:r>
          </a:p>
          <a:p>
            <a:pPr marL="0" indent="0">
              <a:lnSpc>
                <a:spcPct val="110000"/>
              </a:lnSpc>
              <a:spcBef>
                <a:spcPts val="0"/>
              </a:spcBef>
              <a:buNone/>
            </a:pPr>
            <a:r>
              <a:rPr lang="en-US" sz="1800" b="1" dirty="0" err="1"/>
              <a:t>printf</a:t>
            </a:r>
            <a:r>
              <a:rPr lang="en-US" sz="1800" b="1" dirty="0"/>
              <a:t>("%d %s\t %s\t %d\n", s[</a:t>
            </a:r>
            <a:r>
              <a:rPr lang="en-US" sz="1800" b="1" dirty="0" err="1"/>
              <a:t>i</a:t>
            </a:r>
            <a:r>
              <a:rPr lang="en-US" sz="1800" b="1" dirty="0"/>
              <a:t>].id, s[</a:t>
            </a:r>
            <a:r>
              <a:rPr lang="en-US" sz="1800" b="1" dirty="0" err="1"/>
              <a:t>i</a:t>
            </a:r>
            <a:r>
              <a:rPr lang="en-US" sz="1800" b="1" dirty="0"/>
              <a:t>].name, s[</a:t>
            </a:r>
            <a:r>
              <a:rPr lang="en-US" sz="1800" b="1" dirty="0" err="1"/>
              <a:t>i</a:t>
            </a:r>
            <a:r>
              <a:rPr lang="en-US" sz="1800" b="1" dirty="0"/>
              <a:t>].address, s[</a:t>
            </a:r>
            <a:r>
              <a:rPr lang="en-US" sz="1800" b="1" dirty="0" err="1"/>
              <a:t>i</a:t>
            </a:r>
            <a:r>
              <a:rPr lang="en-US" sz="1800" b="1" dirty="0"/>
              <a:t>].age);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lnSpc>
                <a:spcPct val="110000"/>
              </a:lnSpc>
              <a:spcBef>
                <a:spcPts val="0"/>
              </a:spcBef>
              <a:buNone/>
            </a:pPr>
            <a:br>
              <a:rPr lang="en-US" sz="1800" dirty="0"/>
            </a:br>
            <a:endParaRPr lang="en-US" sz="1800" dirty="0"/>
          </a:p>
          <a:p>
            <a:pPr marL="0" indent="0">
              <a:buNone/>
            </a:pPr>
            <a:endParaRPr lang="en-NP" sz="1800" dirty="0"/>
          </a:p>
        </p:txBody>
      </p:sp>
      <p:cxnSp>
        <p:nvCxnSpPr>
          <p:cNvPr id="6" name="Straight Arrow Connector 5">
            <a:extLst>
              <a:ext uri="{FF2B5EF4-FFF2-40B4-BE49-F238E27FC236}">
                <a16:creationId xmlns:a16="http://schemas.microsoft.com/office/drawing/2014/main" id="{DCA13723-CF1C-379D-7124-CA8607D75AE9}"/>
              </a:ext>
            </a:extLst>
          </p:cNvPr>
          <p:cNvCxnSpPr>
            <a:cxnSpLocks/>
          </p:cNvCxnSpPr>
          <p:nvPr/>
        </p:nvCxnSpPr>
        <p:spPr>
          <a:xfrm flipV="1">
            <a:off x="4832130" y="509518"/>
            <a:ext cx="0" cy="30980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977545B2-3A2F-729F-EA7A-D2ED78572827}"/>
              </a:ext>
            </a:extLst>
          </p:cNvPr>
          <p:cNvCxnSpPr>
            <a:cxnSpLocks/>
          </p:cNvCxnSpPr>
          <p:nvPr/>
        </p:nvCxnSpPr>
        <p:spPr>
          <a:xfrm>
            <a:off x="4832130" y="3607559"/>
            <a:ext cx="2883262"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2A05DCE-B20D-56E5-FBDE-E1C83F56A00E}"/>
              </a:ext>
            </a:extLst>
          </p:cNvPr>
          <p:cNvCxnSpPr>
            <a:cxnSpLocks/>
          </p:cNvCxnSpPr>
          <p:nvPr/>
        </p:nvCxnSpPr>
        <p:spPr>
          <a:xfrm flipH="1" flipV="1">
            <a:off x="7769031" y="3561518"/>
            <a:ext cx="36414" cy="323616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0096C97E-29B1-1A31-DCB8-2E1AFB2632A1}"/>
              </a:ext>
            </a:extLst>
          </p:cNvPr>
          <p:cNvPicPr>
            <a:picLocks noChangeAspect="1"/>
          </p:cNvPicPr>
          <p:nvPr/>
        </p:nvPicPr>
        <p:blipFill>
          <a:blip r:embed="rId3"/>
          <a:stretch>
            <a:fillRect/>
          </a:stretch>
        </p:blipFill>
        <p:spPr>
          <a:xfrm>
            <a:off x="7961587" y="3607558"/>
            <a:ext cx="4230410" cy="3098041"/>
          </a:xfrm>
          <a:prstGeom prst="rect">
            <a:avLst/>
          </a:prstGeom>
        </p:spPr>
      </p:pic>
    </p:spTree>
    <p:extLst>
      <p:ext uri="{BB962C8B-B14F-4D97-AF65-F5344CB8AC3E}">
        <p14:creationId xmlns:p14="http://schemas.microsoft.com/office/powerpoint/2010/main" val="2120490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0BEDE-59D5-7472-AD70-CA5A045DA6DE}"/>
            </a:ext>
          </a:extLst>
        </p:cNvPr>
        <p:cNvGrpSpPr/>
        <p:nvPr/>
      </p:nvGrpSpPr>
      <p:grpSpPr>
        <a:xfrm>
          <a:off x="0" y="0"/>
          <a:ext cx="0" cy="0"/>
          <a:chOff x="0" y="0"/>
          <a:chExt cx="0" cy="0"/>
        </a:xfrm>
      </p:grpSpPr>
      <p:graphicFrame>
        <p:nvGraphicFramePr>
          <p:cNvPr id="8" name="Content Placeholder 8">
            <a:extLst>
              <a:ext uri="{FF2B5EF4-FFF2-40B4-BE49-F238E27FC236}">
                <a16:creationId xmlns:a16="http://schemas.microsoft.com/office/drawing/2014/main" id="{802D6931-6848-E6F9-F1B3-AAB6DAE02FA8}"/>
              </a:ext>
            </a:extLst>
          </p:cNvPr>
          <p:cNvGraphicFramePr>
            <a:graphicFrameLocks/>
          </p:cNvGraphicFramePr>
          <p:nvPr>
            <p:extLst>
              <p:ext uri="{D42A27DB-BD31-4B8C-83A1-F6EECF244321}">
                <p14:modId xmlns:p14="http://schemas.microsoft.com/office/powerpoint/2010/main" val="3147083575"/>
              </p:ext>
            </p:extLst>
          </p:nvPr>
        </p:nvGraphicFramePr>
        <p:xfrm>
          <a:off x="1692069" y="11635"/>
          <a:ext cx="6752434" cy="6909562"/>
        </p:xfrm>
        <a:graphic>
          <a:graphicData uri="http://schemas.openxmlformats.org/drawingml/2006/table">
            <a:tbl>
              <a:tblPr firstRow="1" bandRow="1">
                <a:tableStyleId>{5940675A-B579-460E-94D1-54222C63F5DA}</a:tableStyleId>
              </a:tblPr>
              <a:tblGrid>
                <a:gridCol w="1957593">
                  <a:extLst>
                    <a:ext uri="{9D8B030D-6E8A-4147-A177-3AD203B41FA5}">
                      <a16:colId xmlns:a16="http://schemas.microsoft.com/office/drawing/2014/main" val="572344113"/>
                    </a:ext>
                  </a:extLst>
                </a:gridCol>
                <a:gridCol w="448581">
                  <a:extLst>
                    <a:ext uri="{9D8B030D-6E8A-4147-A177-3AD203B41FA5}">
                      <a16:colId xmlns:a16="http://schemas.microsoft.com/office/drawing/2014/main" val="3431798763"/>
                    </a:ext>
                  </a:extLst>
                </a:gridCol>
                <a:gridCol w="553251">
                  <a:extLst>
                    <a:ext uri="{9D8B030D-6E8A-4147-A177-3AD203B41FA5}">
                      <a16:colId xmlns:a16="http://schemas.microsoft.com/office/drawing/2014/main" val="2587928260"/>
                    </a:ext>
                  </a:extLst>
                </a:gridCol>
                <a:gridCol w="474372">
                  <a:extLst>
                    <a:ext uri="{9D8B030D-6E8A-4147-A177-3AD203B41FA5}">
                      <a16:colId xmlns:a16="http://schemas.microsoft.com/office/drawing/2014/main" val="1108368050"/>
                    </a:ext>
                  </a:extLst>
                </a:gridCol>
                <a:gridCol w="617846">
                  <a:extLst>
                    <a:ext uri="{9D8B030D-6E8A-4147-A177-3AD203B41FA5}">
                      <a16:colId xmlns:a16="http://schemas.microsoft.com/office/drawing/2014/main" val="2506898600"/>
                    </a:ext>
                  </a:extLst>
                </a:gridCol>
                <a:gridCol w="586160">
                  <a:extLst>
                    <a:ext uri="{9D8B030D-6E8A-4147-A177-3AD203B41FA5}">
                      <a16:colId xmlns:a16="http://schemas.microsoft.com/office/drawing/2014/main" val="1566616541"/>
                    </a:ext>
                  </a:extLst>
                </a:gridCol>
                <a:gridCol w="617846">
                  <a:extLst>
                    <a:ext uri="{9D8B030D-6E8A-4147-A177-3AD203B41FA5}">
                      <a16:colId xmlns:a16="http://schemas.microsoft.com/office/drawing/2014/main" val="643360668"/>
                    </a:ext>
                  </a:extLst>
                </a:gridCol>
                <a:gridCol w="522794">
                  <a:extLst>
                    <a:ext uri="{9D8B030D-6E8A-4147-A177-3AD203B41FA5}">
                      <a16:colId xmlns:a16="http://schemas.microsoft.com/office/drawing/2014/main" val="562860999"/>
                    </a:ext>
                  </a:extLst>
                </a:gridCol>
                <a:gridCol w="522794">
                  <a:extLst>
                    <a:ext uri="{9D8B030D-6E8A-4147-A177-3AD203B41FA5}">
                      <a16:colId xmlns:a16="http://schemas.microsoft.com/office/drawing/2014/main" val="2603453691"/>
                    </a:ext>
                  </a:extLst>
                </a:gridCol>
                <a:gridCol w="451197">
                  <a:extLst>
                    <a:ext uri="{9D8B030D-6E8A-4147-A177-3AD203B41FA5}">
                      <a16:colId xmlns:a16="http://schemas.microsoft.com/office/drawing/2014/main" val="1404394936"/>
                    </a:ext>
                  </a:extLst>
                </a:gridCol>
              </a:tblGrid>
              <a:tr h="332213">
                <a:tc>
                  <a:txBody>
                    <a:bodyPr/>
                    <a:lstStyle/>
                    <a:p>
                      <a:r>
                        <a:rPr lang="en-US" sz="1500" b="1" dirty="0">
                          <a:highlight>
                            <a:srgbClr val="FFFF00"/>
                          </a:highlight>
                        </a:rPr>
                        <a:t>s</a:t>
                      </a:r>
                      <a:r>
                        <a:rPr lang="en-NP" sz="1500" b="1" dirty="0">
                          <a:highlight>
                            <a:srgbClr val="FFFF00"/>
                          </a:highlight>
                        </a:rPr>
                        <a:t>t[i].id</a:t>
                      </a:r>
                    </a:p>
                  </a:txBody>
                  <a:tcPr/>
                </a:tc>
                <a:tc gridSpan="9">
                  <a:txBody>
                    <a:bodyPr/>
                    <a:lstStyle/>
                    <a:p>
                      <a:endParaRPr lang="en-NP" sz="1600" b="1" dirty="0">
                        <a:highlight>
                          <a:srgbClr val="FFFF00"/>
                        </a:highlight>
                      </a:endParaRP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360701773"/>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t[0].id</a:t>
                      </a:r>
                    </a:p>
                  </a:txBody>
                  <a:tcPr/>
                </a:tc>
                <a:tc gridSpan="9">
                  <a:txBody>
                    <a:bodyPr/>
                    <a:lstStyle/>
                    <a:p>
                      <a:r>
                        <a:rPr lang="en-NP" sz="1600" b="1" dirty="0">
                          <a:highlight>
                            <a:srgbClr val="FFFF00"/>
                          </a:highlight>
                        </a:rPr>
                        <a:t>1</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4087884654"/>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t[1].id</a:t>
                      </a:r>
                    </a:p>
                  </a:txBody>
                  <a:tcPr/>
                </a:tc>
                <a:tc gridSpan="9">
                  <a:txBody>
                    <a:bodyPr/>
                    <a:lstStyle/>
                    <a:p>
                      <a:r>
                        <a:rPr lang="en-NP" sz="1600" b="1" dirty="0">
                          <a:highlight>
                            <a:srgbClr val="FFFF00"/>
                          </a:highlight>
                        </a:rPr>
                        <a:t>2</a:t>
                      </a: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705287984"/>
                  </a:ext>
                </a:extLst>
              </a:tr>
              <a:tr h="54362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1"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500" b="1" dirty="0">
                          <a:highlight>
                            <a:srgbClr val="FFFF00"/>
                          </a:highlight>
                        </a:rPr>
                        <a:t>s</a:t>
                      </a:r>
                      <a:r>
                        <a:rPr lang="en-NP" sz="1500" b="1" dirty="0">
                          <a:highlight>
                            <a:srgbClr val="FFFF00"/>
                          </a:highlight>
                        </a:rPr>
                        <a:t>t[19].id</a:t>
                      </a:r>
                    </a:p>
                  </a:txBody>
                  <a:tcPr/>
                </a:tc>
                <a:tc gridSpan="9">
                  <a:txBody>
                    <a:bodyPr/>
                    <a:lstStyle/>
                    <a:p>
                      <a:endParaRPr lang="en-NP" sz="1600" b="1" dirty="0">
                        <a:highlight>
                          <a:srgbClr val="FFFF00"/>
                        </a:highlight>
                      </a:endParaRPr>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tc hMerge="1">
                  <a:txBody>
                    <a:bodyPr/>
                    <a:lstStyle/>
                    <a:p>
                      <a:endParaRPr lang="en-NP"/>
                    </a:p>
                  </a:txBody>
                  <a:tcPr/>
                </a:tc>
                <a:extLst>
                  <a:ext uri="{0D108BD9-81ED-4DB2-BD59-A6C34878D82A}">
                    <a16:rowId xmlns:a16="http://schemas.microsoft.com/office/drawing/2014/main" val="1593471314"/>
                  </a:ext>
                </a:extLst>
              </a:tr>
              <a:tr h="332213">
                <a:tc rowSpan="4">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600" b="1" dirty="0">
                          <a:highlight>
                            <a:srgbClr val="00FF00"/>
                          </a:highlight>
                        </a:rPr>
                        <a:t>s</a:t>
                      </a:r>
                      <a:r>
                        <a:rPr lang="en-NP" sz="1600" b="1" dirty="0">
                          <a:highlight>
                            <a:srgbClr val="00FF00"/>
                          </a:highlight>
                        </a:rPr>
                        <a:t>t[i].name[30]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00"/>
                          </a:highlight>
                        </a:rPr>
                        <a:t>st[19].name</a:t>
                      </a:r>
                    </a:p>
                  </a:txBody>
                  <a:tcPr/>
                </a:tc>
                <a:tc>
                  <a:txBody>
                    <a:bodyPr/>
                    <a:lstStyle/>
                    <a:p>
                      <a:r>
                        <a:rPr lang="en-NP" sz="1600" b="1" dirty="0">
                          <a:highlight>
                            <a:srgbClr val="00FF00"/>
                          </a:highlight>
                        </a:rPr>
                        <a:t>0</a:t>
                      </a:r>
                    </a:p>
                  </a:txBody>
                  <a:tcPr/>
                </a:tc>
                <a:tc>
                  <a:txBody>
                    <a:bodyPr/>
                    <a:lstStyle/>
                    <a:p>
                      <a:r>
                        <a:rPr lang="en-NP" sz="1600" b="1" dirty="0">
                          <a:highlight>
                            <a:srgbClr val="00FF00"/>
                          </a:highlight>
                        </a:rPr>
                        <a:t>1</a:t>
                      </a:r>
                    </a:p>
                  </a:txBody>
                  <a:tcPr/>
                </a:tc>
                <a:tc>
                  <a:txBody>
                    <a:bodyPr/>
                    <a:lstStyle/>
                    <a:p>
                      <a:r>
                        <a:rPr lang="en-NP" sz="1600" b="1" dirty="0">
                          <a:highlight>
                            <a:srgbClr val="00FF00"/>
                          </a:highlight>
                        </a:rPr>
                        <a:t>2</a:t>
                      </a:r>
                    </a:p>
                  </a:txBody>
                  <a:tcPr/>
                </a:tc>
                <a:tc>
                  <a:txBody>
                    <a:bodyPr/>
                    <a:lstStyle/>
                    <a:p>
                      <a:r>
                        <a:rPr lang="en-NP" sz="1600" b="1" dirty="0">
                          <a:highlight>
                            <a:srgbClr val="00FF00"/>
                          </a:highlight>
                        </a:rPr>
                        <a:t>3</a:t>
                      </a:r>
                    </a:p>
                  </a:txBody>
                  <a:tcPr/>
                </a:tc>
                <a:tc>
                  <a:txBody>
                    <a:bodyPr/>
                    <a:lstStyle/>
                    <a:p>
                      <a:r>
                        <a:rPr lang="en-NP" sz="1600" b="1" dirty="0">
                          <a:highlight>
                            <a:srgbClr val="00FF00"/>
                          </a:highlight>
                        </a:rPr>
                        <a:t>4</a:t>
                      </a:r>
                    </a:p>
                  </a:txBody>
                  <a:tcPr/>
                </a:tc>
                <a:tc>
                  <a:txBody>
                    <a:bodyPr/>
                    <a:lstStyle/>
                    <a:p>
                      <a:r>
                        <a:rPr lang="en-NP" sz="1600" b="1" dirty="0">
                          <a:highlight>
                            <a:srgbClr val="00FF00"/>
                          </a:highlight>
                        </a:rPr>
                        <a:t>5</a:t>
                      </a:r>
                    </a:p>
                  </a:txBody>
                  <a:tcPr/>
                </a:tc>
                <a:tc gridSpan="3">
                  <a:txBody>
                    <a:bodyPr/>
                    <a:lstStyle/>
                    <a:p>
                      <a:r>
                        <a:rPr lang="en-NP" sz="1600" b="1" dirty="0">
                          <a:highlight>
                            <a:srgbClr val="00FF00"/>
                          </a:highlight>
                        </a:rPr>
                        <a:t>6             7----29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726587961"/>
                  </a:ext>
                </a:extLst>
              </a:tr>
              <a:tr h="332213">
                <a:tc vMerge="1">
                  <a:txBody>
                    <a:bodyPr/>
                    <a:lstStyle/>
                    <a:p>
                      <a:endParaRPr dirty="0"/>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m</a:t>
                      </a: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939781137"/>
                  </a:ext>
                </a:extLst>
              </a:tr>
              <a:tr h="33221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600" b="1" dirty="0">
                          <a:highlight>
                            <a:srgbClr val="00FF00"/>
                          </a:highlight>
                        </a:rPr>
                        <a:t>h</a:t>
                      </a:r>
                    </a:p>
                  </a:txBody>
                  <a:tcPr/>
                </a:tc>
                <a:tc>
                  <a:txBody>
                    <a:bodyPr/>
                    <a:lstStyle/>
                    <a:p>
                      <a:r>
                        <a:rPr lang="en-NP" sz="1600" b="1" dirty="0">
                          <a:highlight>
                            <a:srgbClr val="00FF00"/>
                          </a:highlight>
                        </a:rPr>
                        <a:t>a</a:t>
                      </a:r>
                    </a:p>
                  </a:txBody>
                  <a:tcPr/>
                </a:tc>
                <a:tc>
                  <a:txBody>
                    <a:bodyPr/>
                    <a:lstStyle/>
                    <a:p>
                      <a:r>
                        <a:rPr lang="en-NP" sz="1600" b="1" dirty="0">
                          <a:highlight>
                            <a:srgbClr val="00FF00"/>
                          </a:highlight>
                        </a:rPr>
                        <a:t>r</a:t>
                      </a:r>
                    </a:p>
                  </a:txBody>
                  <a:tcPr/>
                </a:tc>
                <a:tc>
                  <a:txBody>
                    <a:bodyPr/>
                    <a:lstStyle/>
                    <a:p>
                      <a:r>
                        <a:rPr lang="en-NP" sz="1600" b="1" dirty="0">
                          <a:highlight>
                            <a:srgbClr val="00FF00"/>
                          </a:highlight>
                        </a:rPr>
                        <a:t>i</a:t>
                      </a: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637305035"/>
                  </a:ext>
                </a:extLst>
              </a:tr>
              <a:tr h="871179">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32213">
                <a:tc rowSpan="4">
                  <a:txBody>
                    <a:bodyPr/>
                    <a:lstStyle/>
                    <a:p>
                      <a:pPr>
                        <a:lnSpc>
                          <a:spcPct val="150000"/>
                        </a:lnSpc>
                      </a:pPr>
                      <a:r>
                        <a:rPr lang="en-NP" sz="1600" b="1" dirty="0">
                          <a:highlight>
                            <a:srgbClr val="00FFFF"/>
                          </a:highlight>
                        </a:rPr>
                        <a:t>st[i].</a:t>
                      </a:r>
                      <a:r>
                        <a:rPr lang="en-US" sz="1600" b="1" dirty="0">
                          <a:highlight>
                            <a:srgbClr val="00FFFF"/>
                          </a:highlight>
                        </a:rPr>
                        <a:t>a</a:t>
                      </a:r>
                      <a:r>
                        <a:rPr lang="en-NP" sz="1600" b="1" dirty="0">
                          <a:highlight>
                            <a:srgbClr val="00FFFF"/>
                          </a:highlight>
                        </a:rPr>
                        <a:t>dr[30]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st[0].</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a:t>
                      </a:r>
                      <a:r>
                        <a:rPr lang="en-US" sz="1600" b="1" dirty="0">
                          <a:highlight>
                            <a:srgbClr val="00FFFF"/>
                          </a:highlight>
                        </a:rPr>
                        <a:t>a</a:t>
                      </a:r>
                      <a:r>
                        <a:rPr lang="en-NP" sz="1600" b="1" dirty="0">
                          <a:highlight>
                            <a:srgbClr val="00FFFF"/>
                          </a:highlight>
                        </a:rPr>
                        <a:t>dr</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st[19].</a:t>
                      </a:r>
                      <a:r>
                        <a:rPr lang="en-US" sz="1600" b="1" dirty="0">
                          <a:highlight>
                            <a:srgbClr val="00FFFF"/>
                          </a:highlight>
                        </a:rPr>
                        <a:t>a</a:t>
                      </a:r>
                      <a:r>
                        <a:rPr lang="en-NP" sz="1600" b="1" dirty="0">
                          <a:highlight>
                            <a:srgbClr val="00FFFF"/>
                          </a:highlight>
                        </a:rPr>
                        <a:t>dr</a:t>
                      </a:r>
                    </a:p>
                  </a:txBody>
                  <a:tcPr/>
                </a:tc>
                <a:tc>
                  <a:txBody>
                    <a:bodyPr/>
                    <a:lstStyle/>
                    <a:p>
                      <a:r>
                        <a:rPr lang="en-NP" sz="1600" b="1" dirty="0">
                          <a:highlight>
                            <a:srgbClr val="00FFFF"/>
                          </a:highlight>
                        </a:rPr>
                        <a:t>0</a:t>
                      </a:r>
                    </a:p>
                  </a:txBody>
                  <a:tcPr/>
                </a:tc>
                <a:tc>
                  <a:txBody>
                    <a:bodyPr/>
                    <a:lstStyle/>
                    <a:p>
                      <a:r>
                        <a:rPr lang="en-NP" sz="1600" b="1" dirty="0">
                          <a:highlight>
                            <a:srgbClr val="00FFFF"/>
                          </a:highlight>
                        </a:rPr>
                        <a:t>1</a:t>
                      </a:r>
                    </a:p>
                  </a:txBody>
                  <a:tcPr/>
                </a:tc>
                <a:tc>
                  <a:txBody>
                    <a:bodyPr/>
                    <a:lstStyle/>
                    <a:p>
                      <a:r>
                        <a:rPr lang="en-NP" sz="1600" b="1" dirty="0">
                          <a:highlight>
                            <a:srgbClr val="00FFFF"/>
                          </a:highlight>
                        </a:rPr>
                        <a:t>2</a:t>
                      </a:r>
                    </a:p>
                  </a:txBody>
                  <a:tcPr/>
                </a:tc>
                <a:tc>
                  <a:txBody>
                    <a:bodyPr/>
                    <a:lstStyle/>
                    <a:p>
                      <a:r>
                        <a:rPr lang="en-NP" sz="1600" b="1" dirty="0">
                          <a:highlight>
                            <a:srgbClr val="00FFFF"/>
                          </a:highlight>
                        </a:rPr>
                        <a:t>3</a:t>
                      </a:r>
                    </a:p>
                  </a:txBody>
                  <a:tcPr/>
                </a:tc>
                <a:tc>
                  <a:txBody>
                    <a:bodyPr/>
                    <a:lstStyle/>
                    <a:p>
                      <a:r>
                        <a:rPr lang="en-NP" sz="1600" b="1" dirty="0">
                          <a:highlight>
                            <a:srgbClr val="00FFFF"/>
                          </a:highlight>
                        </a:rPr>
                        <a:t>4</a:t>
                      </a:r>
                    </a:p>
                  </a:txBody>
                  <a:tcPr/>
                </a:tc>
                <a:tc>
                  <a:txBody>
                    <a:bodyPr/>
                    <a:lstStyle/>
                    <a:p>
                      <a:r>
                        <a:rPr lang="en-NP" sz="1600" b="1" dirty="0">
                          <a:highlight>
                            <a:srgbClr val="00FFFF"/>
                          </a:highlight>
                        </a:rPr>
                        <a:t>5</a:t>
                      </a:r>
                    </a:p>
                  </a:txBody>
                  <a:tcPr/>
                </a:tc>
                <a:tc gridSpan="3">
                  <a:txBody>
                    <a:bodyPr/>
                    <a:lstStyle/>
                    <a:p>
                      <a:r>
                        <a:rPr lang="en-NP" sz="1600" b="1" dirty="0">
                          <a:highlight>
                            <a:srgbClr val="00FFFF"/>
                          </a:highlight>
                        </a:rPr>
                        <a:t>  6        7-----29</a:t>
                      </a:r>
                    </a:p>
                  </a:txBody>
                  <a:tcPr/>
                </a:tc>
                <a:tc hMerge="1">
                  <a:txBody>
                    <a:bodyPr/>
                    <a:lstStyle/>
                    <a:p>
                      <a:endParaRPr lang="en-NP"/>
                    </a:p>
                  </a:txBody>
                  <a:tcPr/>
                </a:tc>
                <a:tc hMerge="1">
                  <a:txBody>
                    <a:bodyPr/>
                    <a:lstStyle/>
                    <a:p>
                      <a:endParaRPr lang="en-NP" dirty="0"/>
                    </a:p>
                  </a:txBody>
                  <a:tcPr/>
                </a:tc>
                <a:extLst>
                  <a:ext uri="{0D108BD9-81ED-4DB2-BD59-A6C34878D82A}">
                    <a16:rowId xmlns:a16="http://schemas.microsoft.com/office/drawing/2014/main" val="1421847098"/>
                  </a:ext>
                </a:extLst>
              </a:tr>
              <a:tr h="332213">
                <a:tc vMerge="1">
                  <a:txBody>
                    <a:bodyPr/>
                    <a:lstStyle/>
                    <a:p>
                      <a:endParaRPr lang="en-NP" dirty="0"/>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r>
                        <a:rPr lang="en-NP" sz="1600" b="1" dirty="0">
                          <a:highlight>
                            <a:srgbClr val="00FFFF"/>
                          </a:highlight>
                        </a:rPr>
                        <a:t>m</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670417921"/>
                  </a:ext>
                </a:extLst>
              </a:tr>
              <a:tr h="332213">
                <a:tc vMerge="1">
                  <a:txBody>
                    <a:bodyPr/>
                    <a:lstStyle/>
                    <a:p>
                      <a:endParaRPr lang="en-NP" b="1" dirty="0">
                        <a:highlight>
                          <a:srgbClr val="00FFFF"/>
                        </a:highlight>
                      </a:endParaRPr>
                    </a:p>
                  </a:txBody>
                  <a:tcPr/>
                </a:tc>
                <a:tc>
                  <a:txBody>
                    <a:bodyPr/>
                    <a:lstStyle/>
                    <a:p>
                      <a:r>
                        <a:rPr lang="en-NP" sz="1600" b="1" dirty="0">
                          <a:highlight>
                            <a:srgbClr val="00FFFF"/>
                          </a:highlight>
                        </a:rPr>
                        <a:t>b</a:t>
                      </a:r>
                    </a:p>
                  </a:txBody>
                  <a:tcPr/>
                </a:tc>
                <a:tc>
                  <a:txBody>
                    <a:bodyPr/>
                    <a:lstStyle/>
                    <a:p>
                      <a:r>
                        <a:rPr lang="en-NP" sz="1600" b="1" dirty="0">
                          <a:highlight>
                            <a:srgbClr val="00FFFF"/>
                          </a:highlight>
                        </a:rPr>
                        <a:t>k</a:t>
                      </a:r>
                    </a:p>
                  </a:txBody>
                  <a:tcPr/>
                </a:tc>
                <a:tc>
                  <a:txBody>
                    <a:bodyPr/>
                    <a:lstStyle/>
                    <a:p>
                      <a:r>
                        <a:rPr lang="en-NP" sz="1600" b="1" dirty="0">
                          <a:highlight>
                            <a:srgbClr val="00FFFF"/>
                          </a:highlight>
                        </a:rPr>
                        <a:t>t</a:t>
                      </a: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2286473001"/>
                  </a:ext>
                </a:extLst>
              </a:tr>
              <a:tr h="871179">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332213">
                <a:tc>
                  <a:txBody>
                    <a:bodyPr/>
                    <a:lstStyle/>
                    <a:p>
                      <a:r>
                        <a:rPr lang="en-US" sz="1600" b="1" dirty="0">
                          <a:highlight>
                            <a:srgbClr val="FF00FF"/>
                          </a:highlight>
                        </a:rPr>
                        <a:t>s</a:t>
                      </a:r>
                      <a:r>
                        <a:rPr lang="en-NP" sz="1600" b="1" dirty="0">
                          <a:highlight>
                            <a:srgbClr val="FF00FF"/>
                          </a:highlight>
                        </a:rPr>
                        <a:t>t[i].age</a:t>
                      </a:r>
                    </a:p>
                  </a:txBody>
                  <a:tcPr/>
                </a:tc>
                <a:tc gridSpan="9">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933846048"/>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t[0].age</a:t>
                      </a:r>
                    </a:p>
                  </a:txBody>
                  <a:tcPr/>
                </a:tc>
                <a:tc gridSpan="9">
                  <a:txBody>
                    <a:bodyPr/>
                    <a:lstStyle/>
                    <a:p>
                      <a:r>
                        <a:rPr lang="en-NP" sz="1600" b="1" dirty="0">
                          <a:highlight>
                            <a:srgbClr val="FF00FF"/>
                          </a:highlight>
                        </a:rPr>
                        <a:t>16</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857219218"/>
                  </a:ext>
                </a:extLst>
              </a:tr>
              <a:tr h="3322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t[1].age</a:t>
                      </a:r>
                    </a:p>
                  </a:txBody>
                  <a:tcPr/>
                </a:tc>
                <a:tc gridSpan="9">
                  <a:txBody>
                    <a:bodyPr/>
                    <a:lstStyle/>
                    <a:p>
                      <a:r>
                        <a:rPr lang="en-NP" sz="1600" b="1" dirty="0">
                          <a:highlight>
                            <a:srgbClr val="FF00FF"/>
                          </a:highlight>
                        </a:rPr>
                        <a:t>18</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316307094"/>
                  </a:ext>
                </a:extLst>
              </a:tr>
              <a:tr h="5738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00FF"/>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00FF"/>
                          </a:highlight>
                        </a:rPr>
                        <a:t>s</a:t>
                      </a:r>
                      <a:r>
                        <a:rPr lang="en-NP" sz="1600" b="1" dirty="0">
                          <a:highlight>
                            <a:srgbClr val="FF00FF"/>
                          </a:highlight>
                        </a:rPr>
                        <a:t>t[19].address</a:t>
                      </a:r>
                    </a:p>
                  </a:txBody>
                  <a:tcPr/>
                </a:tc>
                <a:tc gridSpan="9">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261117778"/>
                  </a:ext>
                </a:extLst>
              </a:tr>
            </a:tbl>
          </a:graphicData>
        </a:graphic>
      </p:graphicFrame>
      <p:sp>
        <p:nvSpPr>
          <p:cNvPr id="10" name="TextBox 9">
            <a:extLst>
              <a:ext uri="{FF2B5EF4-FFF2-40B4-BE49-F238E27FC236}">
                <a16:creationId xmlns:a16="http://schemas.microsoft.com/office/drawing/2014/main" id="{A5EBB5E7-4642-F9FF-159B-CFA38FC84EC2}"/>
              </a:ext>
            </a:extLst>
          </p:cNvPr>
          <p:cNvSpPr txBox="1"/>
          <p:nvPr/>
        </p:nvSpPr>
        <p:spPr>
          <a:xfrm rot="16200000">
            <a:off x="739475" y="3028797"/>
            <a:ext cx="1271239" cy="369332"/>
          </a:xfrm>
          <a:prstGeom prst="rect">
            <a:avLst/>
          </a:prstGeom>
          <a:noFill/>
        </p:spPr>
        <p:txBody>
          <a:bodyPr wrap="square" rtlCol="0">
            <a:spAutoFit/>
          </a:bodyPr>
          <a:lstStyle/>
          <a:p>
            <a:r>
              <a:rPr lang="en-NP" b="1" dirty="0">
                <a:highlight>
                  <a:srgbClr val="FFFF00"/>
                </a:highlight>
              </a:rPr>
              <a:t>student</a:t>
            </a:r>
          </a:p>
        </p:txBody>
      </p:sp>
      <p:cxnSp>
        <p:nvCxnSpPr>
          <p:cNvPr id="5" name="Straight Arrow Connector 4">
            <a:extLst>
              <a:ext uri="{FF2B5EF4-FFF2-40B4-BE49-F238E27FC236}">
                <a16:creationId xmlns:a16="http://schemas.microsoft.com/office/drawing/2014/main" id="{D33808E4-B87A-77FF-A018-5609E6E5B047}"/>
              </a:ext>
            </a:extLst>
          </p:cNvPr>
          <p:cNvCxnSpPr>
            <a:cxnSpLocks/>
          </p:cNvCxnSpPr>
          <p:nvPr/>
        </p:nvCxnSpPr>
        <p:spPr>
          <a:xfrm>
            <a:off x="2082608" y="901269"/>
            <a:ext cx="16218" cy="360798"/>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690BD45-1B28-2FB8-740E-7EE099BA2164}"/>
              </a:ext>
            </a:extLst>
          </p:cNvPr>
          <p:cNvCxnSpPr>
            <a:cxnSpLocks/>
          </p:cNvCxnSpPr>
          <p:nvPr/>
        </p:nvCxnSpPr>
        <p:spPr>
          <a:xfrm>
            <a:off x="2098826" y="2751827"/>
            <a:ext cx="16218" cy="461636"/>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CCDACA0-9F6D-BF78-8E66-06B18F7AC00F}"/>
              </a:ext>
            </a:extLst>
          </p:cNvPr>
          <p:cNvCxnSpPr>
            <a:cxnSpLocks/>
          </p:cNvCxnSpPr>
          <p:nvPr/>
        </p:nvCxnSpPr>
        <p:spPr>
          <a:xfrm>
            <a:off x="2082608" y="4583151"/>
            <a:ext cx="0" cy="44413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273FB63-8FE8-5385-AEE8-4C8A1D3DAE27}"/>
              </a:ext>
            </a:extLst>
          </p:cNvPr>
          <p:cNvCxnSpPr>
            <a:cxnSpLocks/>
          </p:cNvCxnSpPr>
          <p:nvPr/>
        </p:nvCxnSpPr>
        <p:spPr>
          <a:xfrm>
            <a:off x="2074539" y="6313795"/>
            <a:ext cx="0" cy="357502"/>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graphicFrame>
        <p:nvGraphicFramePr>
          <p:cNvPr id="44" name="Table 43">
            <a:extLst>
              <a:ext uri="{FF2B5EF4-FFF2-40B4-BE49-F238E27FC236}">
                <a16:creationId xmlns:a16="http://schemas.microsoft.com/office/drawing/2014/main" id="{34EFE2B3-2DF9-E7E1-B52F-B855E5E0B84D}"/>
              </a:ext>
            </a:extLst>
          </p:cNvPr>
          <p:cNvGraphicFramePr>
            <a:graphicFrameLocks noGrp="1"/>
          </p:cNvGraphicFramePr>
          <p:nvPr>
            <p:extLst>
              <p:ext uri="{D42A27DB-BD31-4B8C-83A1-F6EECF244321}">
                <p14:modId xmlns:p14="http://schemas.microsoft.com/office/powerpoint/2010/main" val="286039095"/>
              </p:ext>
            </p:extLst>
          </p:nvPr>
        </p:nvGraphicFramePr>
        <p:xfrm>
          <a:off x="8879238" y="154262"/>
          <a:ext cx="1558693" cy="1048866"/>
        </p:xfrm>
        <a:graphic>
          <a:graphicData uri="http://schemas.openxmlformats.org/drawingml/2006/table">
            <a:tbl>
              <a:tblPr firstRow="1" bandRow="1">
                <a:tableStyleId>{5940675A-B579-460E-94D1-54222C63F5DA}</a:tableStyleId>
              </a:tblPr>
              <a:tblGrid>
                <a:gridCol w="1558693">
                  <a:extLst>
                    <a:ext uri="{9D8B030D-6E8A-4147-A177-3AD203B41FA5}">
                      <a16:colId xmlns:a16="http://schemas.microsoft.com/office/drawing/2014/main" val="625264051"/>
                    </a:ext>
                  </a:extLst>
                </a:gridCol>
              </a:tblGrid>
              <a:tr h="591666">
                <a:tc>
                  <a:txBody>
                    <a:bodyPr/>
                    <a:lstStyle/>
                    <a:p>
                      <a:pPr algn="ctr"/>
                      <a:r>
                        <a:rPr lang="en-NP" sz="1800" b="1" dirty="0">
                          <a:solidFill>
                            <a:srgbClr val="FF0000"/>
                          </a:solidFill>
                          <a:highlight>
                            <a:srgbClr val="FFFF00"/>
                          </a:highlight>
                        </a:rPr>
                        <a:t>search</a:t>
                      </a:r>
                    </a:p>
                  </a:txBody>
                  <a:tcPr/>
                </a:tc>
                <a:extLst>
                  <a:ext uri="{0D108BD9-81ED-4DB2-BD59-A6C34878D82A}">
                    <a16:rowId xmlns:a16="http://schemas.microsoft.com/office/drawing/2014/main" val="1776657522"/>
                  </a:ext>
                </a:extLst>
              </a:tr>
              <a:tr h="355000">
                <a:tc>
                  <a:txBody>
                    <a:bodyPr/>
                    <a:lstStyle/>
                    <a:p>
                      <a:r>
                        <a:rPr lang="en-NP" sz="2400" b="1" dirty="0">
                          <a:solidFill>
                            <a:srgbClr val="FF0000"/>
                          </a:solidFill>
                        </a:rPr>
                        <a:t>          1</a:t>
                      </a:r>
                    </a:p>
                  </a:txBody>
                  <a:tcPr/>
                </a:tc>
                <a:extLst>
                  <a:ext uri="{0D108BD9-81ED-4DB2-BD59-A6C34878D82A}">
                    <a16:rowId xmlns:a16="http://schemas.microsoft.com/office/drawing/2014/main" val="1811444428"/>
                  </a:ext>
                </a:extLst>
              </a:tr>
            </a:tbl>
          </a:graphicData>
        </a:graphic>
      </p:graphicFrame>
      <p:sp>
        <p:nvSpPr>
          <p:cNvPr id="45" name="TextBox 44">
            <a:extLst>
              <a:ext uri="{FF2B5EF4-FFF2-40B4-BE49-F238E27FC236}">
                <a16:creationId xmlns:a16="http://schemas.microsoft.com/office/drawing/2014/main" id="{91A2718A-E4B0-3A68-799F-5BCCF1012CDA}"/>
              </a:ext>
            </a:extLst>
          </p:cNvPr>
          <p:cNvSpPr txBox="1"/>
          <p:nvPr/>
        </p:nvSpPr>
        <p:spPr>
          <a:xfrm>
            <a:off x="436275" y="426796"/>
            <a:ext cx="821059" cy="369332"/>
          </a:xfrm>
          <a:prstGeom prst="rect">
            <a:avLst/>
          </a:prstGeom>
          <a:noFill/>
        </p:spPr>
        <p:txBody>
          <a:bodyPr wrap="none" rtlCol="0">
            <a:spAutoFit/>
          </a:bodyPr>
          <a:lstStyle/>
          <a:p>
            <a:r>
              <a:rPr lang="en-NP" dirty="0"/>
              <a:t>QN (8)</a:t>
            </a:r>
          </a:p>
        </p:txBody>
      </p:sp>
    </p:spTree>
    <p:extLst>
      <p:ext uri="{BB962C8B-B14F-4D97-AF65-F5344CB8AC3E}">
        <p14:creationId xmlns:p14="http://schemas.microsoft.com/office/powerpoint/2010/main" val="747685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46CD-1887-02BF-C931-23A35F74D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4667F-E66F-2B5A-56F4-095A9A38EEDB}"/>
              </a:ext>
            </a:extLst>
          </p:cNvPr>
          <p:cNvSpPr>
            <a:spLocks noGrp="1"/>
          </p:cNvSpPr>
          <p:nvPr>
            <p:ph type="title"/>
          </p:nvPr>
        </p:nvSpPr>
        <p:spPr>
          <a:xfrm>
            <a:off x="440635" y="0"/>
            <a:ext cx="11340548" cy="509518"/>
          </a:xfrm>
        </p:spPr>
        <p:txBody>
          <a:bodyPr>
            <a:noAutofit/>
          </a:bodyPr>
          <a:lstStyle/>
          <a:p>
            <a:br>
              <a:rPr lang="en-NP" sz="2000" b="1" i="1" dirty="0">
                <a:solidFill>
                  <a:srgbClr val="FF0000"/>
                </a:solidFill>
              </a:rPr>
            </a:br>
            <a:r>
              <a:rPr lang="en-NP" sz="2000" b="1" i="1" dirty="0">
                <a:solidFill>
                  <a:srgbClr val="FF0000"/>
                </a:solidFill>
              </a:rPr>
              <a:t>9.WAP to input n students id, name, address and age. Then search record on the basis of name.</a:t>
            </a:r>
            <a:br>
              <a:rPr lang="en-NP" sz="2000" b="1" dirty="0">
                <a:solidFill>
                  <a:srgbClr val="FF0000"/>
                </a:solidFill>
              </a:rPr>
            </a:br>
            <a:endParaRPr lang="en-NP" sz="2000" b="1" dirty="0">
              <a:solidFill>
                <a:srgbClr val="FF0000"/>
              </a:solidFill>
            </a:endParaRPr>
          </a:p>
        </p:txBody>
      </p:sp>
      <p:sp>
        <p:nvSpPr>
          <p:cNvPr id="3" name="Content Placeholder 2">
            <a:extLst>
              <a:ext uri="{FF2B5EF4-FFF2-40B4-BE49-F238E27FC236}">
                <a16:creationId xmlns:a16="http://schemas.microsoft.com/office/drawing/2014/main" id="{145A3021-54C9-A69C-D960-3B496027B5C1}"/>
              </a:ext>
            </a:extLst>
          </p:cNvPr>
          <p:cNvSpPr>
            <a:spLocks noGrp="1"/>
          </p:cNvSpPr>
          <p:nvPr>
            <p:ph sz="half" idx="1"/>
          </p:nvPr>
        </p:nvSpPr>
        <p:spPr>
          <a:xfrm>
            <a:off x="291547" y="509518"/>
            <a:ext cx="8016763" cy="6196082"/>
          </a:xfrm>
        </p:spPr>
        <p:txBody>
          <a:bodyPr>
            <a:noAutofit/>
          </a:bodyPr>
          <a:lstStyle/>
          <a:p>
            <a:pPr marL="0" indent="0">
              <a:lnSpc>
                <a:spcPct val="100000"/>
              </a:lnSpc>
              <a:spcBef>
                <a:spcPts val="0"/>
              </a:spcBef>
              <a:buNone/>
            </a:pPr>
            <a:r>
              <a:rPr lang="en-US" sz="2000" b="1" dirty="0"/>
              <a:t>#include&lt;</a:t>
            </a:r>
            <a:r>
              <a:rPr lang="en-US" sz="2000" b="1" dirty="0" err="1"/>
              <a:t>stdio.h</a:t>
            </a:r>
            <a:r>
              <a:rPr lang="en-US" sz="2000" b="1" dirty="0"/>
              <a:t>&gt; </a:t>
            </a:r>
          </a:p>
          <a:p>
            <a:pPr marL="0" indent="0">
              <a:lnSpc>
                <a:spcPct val="100000"/>
              </a:lnSpc>
              <a:spcBef>
                <a:spcPts val="0"/>
              </a:spcBef>
              <a:buNone/>
            </a:pPr>
            <a:r>
              <a:rPr lang="en-US" sz="2000" b="1" dirty="0"/>
              <a:t>#include&lt;</a:t>
            </a:r>
            <a:r>
              <a:rPr lang="en-US" sz="2000" b="1" dirty="0" err="1"/>
              <a:t>string.h</a:t>
            </a:r>
            <a:r>
              <a:rPr lang="en-US" sz="2000" b="1" dirty="0"/>
              <a:t>&gt; </a:t>
            </a:r>
          </a:p>
          <a:p>
            <a:pPr marL="0" indent="0">
              <a:lnSpc>
                <a:spcPct val="100000"/>
              </a:lnSpc>
              <a:spcBef>
                <a:spcPts val="0"/>
              </a:spcBef>
              <a:buNone/>
            </a:pPr>
            <a:r>
              <a:rPr lang="en-US" sz="2000" b="1" dirty="0"/>
              <a:t>struct employee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char name[30]; </a:t>
            </a:r>
          </a:p>
          <a:p>
            <a:pPr marL="0" indent="0">
              <a:lnSpc>
                <a:spcPct val="100000"/>
              </a:lnSpc>
              <a:spcBef>
                <a:spcPts val="0"/>
              </a:spcBef>
              <a:buNone/>
            </a:pPr>
            <a:r>
              <a:rPr lang="en-US" sz="2000" b="1" dirty="0"/>
              <a:t>char post[30]; </a:t>
            </a:r>
          </a:p>
          <a:p>
            <a:pPr marL="0" indent="0">
              <a:lnSpc>
                <a:spcPct val="100000"/>
              </a:lnSpc>
              <a:spcBef>
                <a:spcPts val="0"/>
              </a:spcBef>
              <a:buNone/>
            </a:pPr>
            <a:r>
              <a:rPr lang="en-US" sz="2000" b="1" dirty="0"/>
              <a:t>int salary; </a:t>
            </a:r>
          </a:p>
          <a:p>
            <a:pPr marL="0" indent="0">
              <a:lnSpc>
                <a:spcPct val="100000"/>
              </a:lnSpc>
              <a:spcBef>
                <a:spcPts val="0"/>
              </a:spcBef>
              <a:buNone/>
            </a:pPr>
            <a:r>
              <a:rPr lang="en-US" sz="2000" b="1" dirty="0"/>
              <a:t>}emp[20]; </a:t>
            </a:r>
          </a:p>
          <a:p>
            <a:pPr marL="0" indent="0">
              <a:lnSpc>
                <a:spcPct val="100000"/>
              </a:lnSpc>
              <a:spcBef>
                <a:spcPts val="0"/>
              </a:spcBef>
              <a:buNone/>
            </a:pPr>
            <a:r>
              <a:rPr lang="en-US" sz="2000" b="1" dirty="0"/>
              <a:t>int main()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a:t>int </a:t>
            </a:r>
            <a:r>
              <a:rPr lang="en-US" sz="2000" b="1" dirty="0" err="1"/>
              <a:t>i</a:t>
            </a:r>
            <a:r>
              <a:rPr lang="en-US" sz="2000" b="1" dirty="0"/>
              <a:t>, n; </a:t>
            </a:r>
          </a:p>
          <a:p>
            <a:pPr marL="0" indent="0">
              <a:lnSpc>
                <a:spcPct val="100000"/>
              </a:lnSpc>
              <a:spcBef>
                <a:spcPts val="0"/>
              </a:spcBef>
              <a:buNone/>
            </a:pPr>
            <a:r>
              <a:rPr lang="en-US" sz="2000" b="1" dirty="0"/>
              <a:t>char search[30]; </a:t>
            </a:r>
          </a:p>
          <a:p>
            <a:pPr marL="0" indent="0">
              <a:lnSpc>
                <a:spcPct val="100000"/>
              </a:lnSpc>
              <a:spcBef>
                <a:spcPts val="0"/>
              </a:spcBef>
              <a:buNone/>
            </a:pPr>
            <a:r>
              <a:rPr lang="en-US" sz="2000" b="1" dirty="0" err="1"/>
              <a:t>printf</a:t>
            </a:r>
            <a:r>
              <a:rPr lang="en-US" sz="2000" b="1" dirty="0"/>
              <a:t>("How many record would you like to store?\n "); </a:t>
            </a:r>
          </a:p>
          <a:p>
            <a:pPr marL="0" indent="0">
              <a:lnSpc>
                <a:spcPct val="100000"/>
              </a:lnSpc>
              <a:spcBef>
                <a:spcPts val="0"/>
              </a:spcBef>
              <a:buNone/>
            </a:pPr>
            <a:r>
              <a:rPr lang="en-US" sz="2000" b="1" dirty="0" err="1"/>
              <a:t>scanf</a:t>
            </a:r>
            <a:r>
              <a:rPr lang="en-US" sz="2000" b="1" dirty="0"/>
              <a:t>("%d", &amp;n); </a:t>
            </a:r>
          </a:p>
          <a:p>
            <a:pPr marL="0" indent="0">
              <a:lnSpc>
                <a:spcPct val="100000"/>
              </a:lnSpc>
              <a:spcBef>
                <a:spcPts val="0"/>
              </a:spcBef>
              <a:buNone/>
            </a:pPr>
            <a:r>
              <a:rPr lang="en-US" sz="2000" b="1" dirty="0" err="1"/>
              <a:t>printf</a:t>
            </a:r>
            <a:r>
              <a:rPr lang="en-US" sz="2000" b="1" dirty="0"/>
              <a:t>("Enter </a:t>
            </a:r>
            <a:r>
              <a:rPr lang="en-US" sz="2000" b="1" dirty="0" err="1"/>
              <a:t>name,post</a:t>
            </a:r>
            <a:r>
              <a:rPr lang="en-US" sz="2000" b="1" dirty="0"/>
              <a:t> and salary of %d employee:\n ", n); </a:t>
            </a:r>
          </a:p>
          <a:p>
            <a:pPr marL="0" indent="0">
              <a:lnSpc>
                <a:spcPct val="100000"/>
              </a:lnSpc>
              <a:spcBef>
                <a:spcPts val="0"/>
              </a:spcBef>
              <a:buNone/>
            </a:pPr>
            <a:r>
              <a:rPr lang="en-US" sz="2000" b="1" dirty="0"/>
              <a:t>for(</a:t>
            </a:r>
            <a:r>
              <a:rPr lang="en-US" sz="2000" b="1" dirty="0" err="1"/>
              <a:t>i</a:t>
            </a:r>
            <a:r>
              <a:rPr lang="en-US" sz="2000" b="1" dirty="0"/>
              <a:t>=0; </a:t>
            </a:r>
            <a:r>
              <a:rPr lang="en-US" sz="2000" b="1" dirty="0" err="1"/>
              <a:t>i</a:t>
            </a:r>
            <a:r>
              <a:rPr lang="en-US" sz="2000" b="1" dirty="0"/>
              <a:t>&lt;n; </a:t>
            </a:r>
            <a:r>
              <a:rPr lang="en-US" sz="2000" b="1" dirty="0" err="1"/>
              <a:t>i</a:t>
            </a:r>
            <a:r>
              <a:rPr lang="en-US" sz="2000" b="1" dirty="0"/>
              <a:t>++) </a:t>
            </a:r>
          </a:p>
          <a:p>
            <a:pPr marL="0" indent="0">
              <a:lnSpc>
                <a:spcPct val="100000"/>
              </a:lnSpc>
              <a:spcBef>
                <a:spcPts val="0"/>
              </a:spcBef>
              <a:buNone/>
            </a:pPr>
            <a:r>
              <a:rPr lang="en-US" sz="2000" b="1" dirty="0"/>
              <a:t>{ </a:t>
            </a:r>
          </a:p>
          <a:p>
            <a:pPr marL="0" indent="0">
              <a:lnSpc>
                <a:spcPct val="100000"/>
              </a:lnSpc>
              <a:spcBef>
                <a:spcPts val="0"/>
              </a:spcBef>
              <a:buNone/>
            </a:pPr>
            <a:r>
              <a:rPr lang="en-US" sz="2000" b="1" dirty="0" err="1"/>
              <a:t>scanf</a:t>
            </a:r>
            <a:r>
              <a:rPr lang="en-US" sz="2000" b="1" dirty="0"/>
              <a:t>("%</a:t>
            </a:r>
            <a:r>
              <a:rPr lang="en-US" sz="2000" b="1" dirty="0" err="1"/>
              <a:t>s%s%d</a:t>
            </a:r>
            <a:r>
              <a:rPr lang="en-US" sz="2000" b="1" dirty="0"/>
              <a:t>", emp[</a:t>
            </a:r>
            <a:r>
              <a:rPr lang="en-US" sz="2000" b="1" dirty="0" err="1"/>
              <a:t>i</a:t>
            </a:r>
            <a:r>
              <a:rPr lang="en-US" sz="2000" b="1" dirty="0"/>
              <a:t>].name, emp[</a:t>
            </a:r>
            <a:r>
              <a:rPr lang="en-US" sz="2000" b="1" dirty="0" err="1"/>
              <a:t>i</a:t>
            </a:r>
            <a:r>
              <a:rPr lang="en-US" sz="2000" b="1" dirty="0"/>
              <a:t>].post, &amp;emp[</a:t>
            </a:r>
            <a:r>
              <a:rPr lang="en-US" sz="2000" b="1" dirty="0" err="1"/>
              <a:t>i</a:t>
            </a:r>
            <a:r>
              <a:rPr lang="en-US" sz="2000" b="1" dirty="0"/>
              <a:t>].salary); </a:t>
            </a:r>
          </a:p>
          <a:p>
            <a:pPr marL="0" indent="0">
              <a:lnSpc>
                <a:spcPct val="100000"/>
              </a:lnSpc>
              <a:spcBef>
                <a:spcPts val="0"/>
              </a:spcBef>
              <a:buNone/>
            </a:pPr>
            <a:r>
              <a:rPr lang="en-US" sz="2000" b="1" dirty="0"/>
              <a:t>} </a:t>
            </a:r>
          </a:p>
          <a:p>
            <a:pPr marL="0" indent="0">
              <a:lnSpc>
                <a:spcPct val="100000"/>
              </a:lnSpc>
              <a:spcBef>
                <a:spcPts val="0"/>
              </a:spcBef>
              <a:buNone/>
            </a:pPr>
            <a:endParaRPr lang="en-US" sz="2000" b="1" dirty="0"/>
          </a:p>
        </p:txBody>
      </p:sp>
      <p:sp>
        <p:nvSpPr>
          <p:cNvPr id="4" name="Content Placeholder 3">
            <a:extLst>
              <a:ext uri="{FF2B5EF4-FFF2-40B4-BE49-F238E27FC236}">
                <a16:creationId xmlns:a16="http://schemas.microsoft.com/office/drawing/2014/main" id="{3A546806-EECB-17C4-8C52-BE1A343E953C}"/>
              </a:ext>
            </a:extLst>
          </p:cNvPr>
          <p:cNvSpPr>
            <a:spLocks noGrp="1"/>
          </p:cNvSpPr>
          <p:nvPr>
            <p:ph sz="half" idx="2"/>
          </p:nvPr>
        </p:nvSpPr>
        <p:spPr>
          <a:xfrm>
            <a:off x="4832130" y="417436"/>
            <a:ext cx="8016766" cy="6196082"/>
          </a:xfrm>
        </p:spPr>
        <p:txBody>
          <a:bodyPr>
            <a:noAutofit/>
          </a:bodyPr>
          <a:lstStyle/>
          <a:p>
            <a:pPr marL="0" indent="0">
              <a:lnSpc>
                <a:spcPct val="110000"/>
              </a:lnSpc>
              <a:spcBef>
                <a:spcPts val="0"/>
              </a:spcBef>
              <a:buNone/>
            </a:pPr>
            <a:r>
              <a:rPr lang="en-US" sz="1800" b="1" dirty="0" err="1"/>
              <a:t>printf</a:t>
            </a:r>
            <a:r>
              <a:rPr lang="en-US" sz="1800" b="1" dirty="0"/>
              <a:t>("Enter name to search: "); </a:t>
            </a:r>
          </a:p>
          <a:p>
            <a:pPr marL="0" indent="0">
              <a:lnSpc>
                <a:spcPct val="110000"/>
              </a:lnSpc>
              <a:spcBef>
                <a:spcPts val="0"/>
              </a:spcBef>
              <a:buNone/>
            </a:pPr>
            <a:r>
              <a:rPr lang="en-US" sz="1800" b="1" dirty="0" err="1"/>
              <a:t>scanf</a:t>
            </a:r>
            <a:r>
              <a:rPr lang="en-US" sz="1800" b="1" dirty="0"/>
              <a:t>("%s", search); </a:t>
            </a:r>
          </a:p>
          <a:p>
            <a:pPr marL="0" indent="0">
              <a:lnSpc>
                <a:spcPct val="110000"/>
              </a:lnSpc>
              <a:spcBef>
                <a:spcPts val="0"/>
              </a:spcBef>
              <a:buNone/>
            </a:pPr>
            <a:r>
              <a:rPr lang="en-US" sz="1800" b="1" dirty="0" err="1"/>
              <a:t>printf</a:t>
            </a:r>
            <a:r>
              <a:rPr lang="en-US" sz="1800" b="1" dirty="0"/>
              <a:t>("\</a:t>
            </a:r>
            <a:r>
              <a:rPr lang="en-US" sz="1800" b="1" dirty="0" err="1"/>
              <a:t>nName</a:t>
            </a:r>
            <a:r>
              <a:rPr lang="en-US" sz="1800" b="1" dirty="0"/>
              <a:t>\t Post\t Salary\n"); </a:t>
            </a:r>
          </a:p>
          <a:p>
            <a:pPr marL="0" indent="0">
              <a:lnSpc>
                <a:spcPct val="110000"/>
              </a:lnSpc>
              <a:spcBef>
                <a:spcPts val="0"/>
              </a:spcBef>
              <a:buNone/>
            </a:pPr>
            <a:r>
              <a:rPr lang="en-US" sz="1800" b="1" dirty="0"/>
              <a:t>for(</a:t>
            </a:r>
            <a:r>
              <a:rPr lang="en-US" sz="1800" b="1" dirty="0" err="1"/>
              <a:t>i</a:t>
            </a:r>
            <a:r>
              <a:rPr lang="en-US" sz="1800" b="1" dirty="0"/>
              <a:t>=0; </a:t>
            </a:r>
            <a:r>
              <a:rPr lang="en-US" sz="1800" b="1" dirty="0" err="1"/>
              <a:t>i</a:t>
            </a:r>
            <a:r>
              <a:rPr lang="en-US" sz="1800" b="1" dirty="0"/>
              <a:t>&lt;n; </a:t>
            </a:r>
            <a:r>
              <a:rPr lang="en-US" sz="1800" b="1" dirty="0" err="1"/>
              <a:t>i</a:t>
            </a:r>
            <a:r>
              <a:rPr lang="en-US" sz="1800" b="1" dirty="0"/>
              <a:t>++)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if(</a:t>
            </a:r>
            <a:r>
              <a:rPr lang="en-US" sz="1800" b="1" dirty="0" err="1"/>
              <a:t>strcmp</a:t>
            </a:r>
            <a:r>
              <a:rPr lang="en-US" sz="1800" b="1" dirty="0"/>
              <a:t>(emp[</a:t>
            </a:r>
            <a:r>
              <a:rPr lang="en-US" sz="1800" b="1" dirty="0" err="1"/>
              <a:t>i</a:t>
            </a:r>
            <a:r>
              <a:rPr lang="en-US" sz="1800" b="1" dirty="0"/>
              <a:t>].</a:t>
            </a:r>
            <a:r>
              <a:rPr lang="en-US" sz="1800" b="1" dirty="0" err="1"/>
              <a:t>name,search</a:t>
            </a:r>
            <a:r>
              <a:rPr lang="en-US" sz="1800" b="1" dirty="0"/>
              <a:t>)==0)    </a:t>
            </a:r>
            <a:r>
              <a:rPr lang="en-US" sz="1800" b="1" dirty="0">
                <a:highlight>
                  <a:srgbClr val="FFFF00"/>
                </a:highlight>
              </a:rPr>
              <a:t> </a:t>
            </a:r>
            <a:r>
              <a:rPr lang="en-US" sz="1600" b="1" dirty="0">
                <a:highlight>
                  <a:srgbClr val="FFFF00"/>
                </a:highlight>
              </a:rPr>
              <a:t>// </a:t>
            </a:r>
            <a:r>
              <a:rPr lang="en-US" sz="1600" b="1" i="1" dirty="0">
                <a:highlight>
                  <a:srgbClr val="FFFF00"/>
                </a:highlight>
              </a:rPr>
              <a:t>this means if both string are same</a:t>
            </a:r>
          </a:p>
          <a:p>
            <a:pPr marL="0" indent="0">
              <a:lnSpc>
                <a:spcPct val="110000"/>
              </a:lnSpc>
              <a:spcBef>
                <a:spcPts val="0"/>
              </a:spcBef>
              <a:buNone/>
            </a:pPr>
            <a:r>
              <a:rPr lang="en-US" sz="1800" b="1" dirty="0" err="1"/>
              <a:t>printf</a:t>
            </a:r>
            <a:r>
              <a:rPr lang="en-US" sz="1800" b="1" dirty="0"/>
              <a:t>("%s\t %s\t %d\</a:t>
            </a:r>
            <a:r>
              <a:rPr lang="en-US" sz="1800" b="1" dirty="0" err="1"/>
              <a:t>n",emp</a:t>
            </a:r>
            <a:r>
              <a:rPr lang="en-US" sz="1800" b="1" dirty="0"/>
              <a:t>[</a:t>
            </a:r>
            <a:r>
              <a:rPr lang="en-US" sz="1800" b="1" dirty="0" err="1"/>
              <a:t>i</a:t>
            </a:r>
            <a:r>
              <a:rPr lang="en-US" sz="1800" b="1" dirty="0"/>
              <a:t>].</a:t>
            </a:r>
            <a:r>
              <a:rPr lang="en-US" sz="1800" b="1" dirty="0" err="1"/>
              <a:t>name,emp</a:t>
            </a:r>
            <a:r>
              <a:rPr lang="en-US" sz="1800" b="1" dirty="0"/>
              <a:t>[</a:t>
            </a:r>
            <a:r>
              <a:rPr lang="en-US" sz="1800" b="1" dirty="0" err="1"/>
              <a:t>i</a:t>
            </a:r>
            <a:r>
              <a:rPr lang="en-US" sz="1800" b="1" dirty="0"/>
              <a:t>].</a:t>
            </a:r>
            <a:r>
              <a:rPr lang="en-US" sz="1800" b="1" dirty="0" err="1"/>
              <a:t>post,emp</a:t>
            </a:r>
            <a:r>
              <a:rPr lang="en-US" sz="1800" b="1" dirty="0"/>
              <a:t>[</a:t>
            </a:r>
            <a:r>
              <a:rPr lang="en-US" sz="1800" b="1" dirty="0" err="1"/>
              <a:t>i</a:t>
            </a:r>
            <a:r>
              <a:rPr lang="en-US" sz="1800" b="1" dirty="0"/>
              <a:t>].salary); </a:t>
            </a:r>
          </a:p>
          <a:p>
            <a:pPr marL="0" indent="0">
              <a:lnSpc>
                <a:spcPct val="110000"/>
              </a:lnSpc>
              <a:spcBef>
                <a:spcPts val="0"/>
              </a:spcBef>
              <a:buNone/>
            </a:pPr>
            <a:r>
              <a:rPr lang="en-US" sz="1800" b="1" dirty="0"/>
              <a:t>} </a:t>
            </a:r>
          </a:p>
          <a:p>
            <a:pPr marL="0" indent="0">
              <a:lnSpc>
                <a:spcPct val="110000"/>
              </a:lnSpc>
              <a:spcBef>
                <a:spcPts val="0"/>
              </a:spcBef>
              <a:buNone/>
            </a:pPr>
            <a:r>
              <a:rPr lang="en-US" sz="1800" b="1" dirty="0"/>
              <a:t>return 0;</a:t>
            </a:r>
          </a:p>
          <a:p>
            <a:pPr marL="0" indent="0">
              <a:lnSpc>
                <a:spcPct val="110000"/>
              </a:lnSpc>
              <a:spcBef>
                <a:spcPts val="0"/>
              </a:spcBef>
              <a:buNone/>
            </a:pPr>
            <a:r>
              <a:rPr lang="en-US" sz="1800" b="1" dirty="0"/>
              <a:t>}</a:t>
            </a:r>
          </a:p>
          <a:p>
            <a:pPr marL="0" indent="0">
              <a:lnSpc>
                <a:spcPct val="110000"/>
              </a:lnSpc>
              <a:spcBef>
                <a:spcPts val="0"/>
              </a:spcBef>
              <a:buNone/>
            </a:pPr>
            <a:br>
              <a:rPr lang="en-US" sz="1800" b="1" dirty="0"/>
            </a:br>
            <a:endParaRPr lang="en-US" sz="1800" b="1" dirty="0"/>
          </a:p>
          <a:p>
            <a:pPr marL="0" indent="0">
              <a:lnSpc>
                <a:spcPct val="110000"/>
              </a:lnSpc>
              <a:spcBef>
                <a:spcPts val="0"/>
              </a:spcBef>
              <a:buNone/>
            </a:pPr>
            <a:br>
              <a:rPr lang="en-US" sz="1800" dirty="0"/>
            </a:br>
            <a:endParaRPr lang="en-US" sz="1800" dirty="0"/>
          </a:p>
          <a:p>
            <a:pPr marL="0" indent="0">
              <a:buNone/>
            </a:pPr>
            <a:endParaRPr lang="en-NP" sz="1800" dirty="0"/>
          </a:p>
        </p:txBody>
      </p:sp>
      <p:cxnSp>
        <p:nvCxnSpPr>
          <p:cNvPr id="6" name="Straight Arrow Connector 5">
            <a:extLst>
              <a:ext uri="{FF2B5EF4-FFF2-40B4-BE49-F238E27FC236}">
                <a16:creationId xmlns:a16="http://schemas.microsoft.com/office/drawing/2014/main" id="{F138DD09-22E8-661C-5CF0-7E28DA7D3E41}"/>
              </a:ext>
            </a:extLst>
          </p:cNvPr>
          <p:cNvCxnSpPr>
            <a:cxnSpLocks/>
          </p:cNvCxnSpPr>
          <p:nvPr/>
        </p:nvCxnSpPr>
        <p:spPr>
          <a:xfrm flipV="1">
            <a:off x="4832130" y="509518"/>
            <a:ext cx="0" cy="3098041"/>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435FF144-D95A-A50F-2EE2-855FC9D975A4}"/>
              </a:ext>
            </a:extLst>
          </p:cNvPr>
          <p:cNvCxnSpPr>
            <a:cxnSpLocks/>
          </p:cNvCxnSpPr>
          <p:nvPr/>
        </p:nvCxnSpPr>
        <p:spPr>
          <a:xfrm flipV="1">
            <a:off x="4832130" y="3515477"/>
            <a:ext cx="2688016" cy="86646"/>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1E55C27-E59C-D959-8DC5-7101E6A9C389}"/>
              </a:ext>
            </a:extLst>
          </p:cNvPr>
          <p:cNvCxnSpPr>
            <a:cxnSpLocks/>
          </p:cNvCxnSpPr>
          <p:nvPr/>
        </p:nvCxnSpPr>
        <p:spPr>
          <a:xfrm flipH="1" flipV="1">
            <a:off x="7520146" y="3429000"/>
            <a:ext cx="36414" cy="342900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97D49E92-E15E-4B21-5655-86D1BFEDFB6B}"/>
              </a:ext>
            </a:extLst>
          </p:cNvPr>
          <p:cNvPicPr>
            <a:picLocks noChangeAspect="1"/>
          </p:cNvPicPr>
          <p:nvPr/>
        </p:nvPicPr>
        <p:blipFill>
          <a:blip r:embed="rId3"/>
          <a:stretch>
            <a:fillRect/>
          </a:stretch>
        </p:blipFill>
        <p:spPr>
          <a:xfrm>
            <a:off x="7672038" y="2991394"/>
            <a:ext cx="4447131" cy="3622124"/>
          </a:xfrm>
          <a:prstGeom prst="rect">
            <a:avLst/>
          </a:prstGeom>
        </p:spPr>
      </p:pic>
    </p:spTree>
    <p:extLst>
      <p:ext uri="{BB962C8B-B14F-4D97-AF65-F5344CB8AC3E}">
        <p14:creationId xmlns:p14="http://schemas.microsoft.com/office/powerpoint/2010/main" val="2068739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C91A-28C4-3E78-3B2E-5CE6FB8A6337}"/>
            </a:ext>
          </a:extLst>
        </p:cNvPr>
        <p:cNvGrpSpPr/>
        <p:nvPr/>
      </p:nvGrpSpPr>
      <p:grpSpPr>
        <a:xfrm>
          <a:off x="0" y="0"/>
          <a:ext cx="0" cy="0"/>
          <a:chOff x="0" y="0"/>
          <a:chExt cx="0" cy="0"/>
        </a:xfrm>
      </p:grpSpPr>
      <p:graphicFrame>
        <p:nvGraphicFramePr>
          <p:cNvPr id="8" name="Content Placeholder 8">
            <a:extLst>
              <a:ext uri="{FF2B5EF4-FFF2-40B4-BE49-F238E27FC236}">
                <a16:creationId xmlns:a16="http://schemas.microsoft.com/office/drawing/2014/main" id="{959176AF-6C54-EAAA-AC15-0CFBF452F809}"/>
              </a:ext>
            </a:extLst>
          </p:cNvPr>
          <p:cNvGraphicFramePr>
            <a:graphicFrameLocks/>
          </p:cNvGraphicFramePr>
          <p:nvPr>
            <p:extLst>
              <p:ext uri="{D42A27DB-BD31-4B8C-83A1-F6EECF244321}">
                <p14:modId xmlns:p14="http://schemas.microsoft.com/office/powerpoint/2010/main" val="4293354602"/>
              </p:ext>
            </p:extLst>
          </p:nvPr>
        </p:nvGraphicFramePr>
        <p:xfrm>
          <a:off x="1016663" y="119808"/>
          <a:ext cx="9346307" cy="6682711"/>
        </p:xfrm>
        <a:graphic>
          <a:graphicData uri="http://schemas.openxmlformats.org/drawingml/2006/table">
            <a:tbl>
              <a:tblPr firstRow="1" bandRow="1">
                <a:tableStyleId>{5940675A-B579-460E-94D1-54222C63F5DA}</a:tableStyleId>
              </a:tblPr>
              <a:tblGrid>
                <a:gridCol w="2018078">
                  <a:extLst>
                    <a:ext uri="{9D8B030D-6E8A-4147-A177-3AD203B41FA5}">
                      <a16:colId xmlns:a16="http://schemas.microsoft.com/office/drawing/2014/main" val="572344113"/>
                    </a:ext>
                  </a:extLst>
                </a:gridCol>
                <a:gridCol w="534657">
                  <a:extLst>
                    <a:ext uri="{9D8B030D-6E8A-4147-A177-3AD203B41FA5}">
                      <a16:colId xmlns:a16="http://schemas.microsoft.com/office/drawing/2014/main" val="3431798763"/>
                    </a:ext>
                  </a:extLst>
                </a:gridCol>
                <a:gridCol w="659411">
                  <a:extLst>
                    <a:ext uri="{9D8B030D-6E8A-4147-A177-3AD203B41FA5}">
                      <a16:colId xmlns:a16="http://schemas.microsoft.com/office/drawing/2014/main" val="2587928260"/>
                    </a:ext>
                  </a:extLst>
                </a:gridCol>
                <a:gridCol w="565396">
                  <a:extLst>
                    <a:ext uri="{9D8B030D-6E8A-4147-A177-3AD203B41FA5}">
                      <a16:colId xmlns:a16="http://schemas.microsoft.com/office/drawing/2014/main" val="1108368050"/>
                    </a:ext>
                  </a:extLst>
                </a:gridCol>
                <a:gridCol w="736402">
                  <a:extLst>
                    <a:ext uri="{9D8B030D-6E8A-4147-A177-3AD203B41FA5}">
                      <a16:colId xmlns:a16="http://schemas.microsoft.com/office/drawing/2014/main" val="2506898600"/>
                    </a:ext>
                  </a:extLst>
                </a:gridCol>
                <a:gridCol w="698635">
                  <a:extLst>
                    <a:ext uri="{9D8B030D-6E8A-4147-A177-3AD203B41FA5}">
                      <a16:colId xmlns:a16="http://schemas.microsoft.com/office/drawing/2014/main" val="1566616541"/>
                    </a:ext>
                  </a:extLst>
                </a:gridCol>
                <a:gridCol w="736402">
                  <a:extLst>
                    <a:ext uri="{9D8B030D-6E8A-4147-A177-3AD203B41FA5}">
                      <a16:colId xmlns:a16="http://schemas.microsoft.com/office/drawing/2014/main" val="643360668"/>
                    </a:ext>
                  </a:extLst>
                </a:gridCol>
                <a:gridCol w="623111">
                  <a:extLst>
                    <a:ext uri="{9D8B030D-6E8A-4147-A177-3AD203B41FA5}">
                      <a16:colId xmlns:a16="http://schemas.microsoft.com/office/drawing/2014/main" val="562860999"/>
                    </a:ext>
                  </a:extLst>
                </a:gridCol>
                <a:gridCol w="623111">
                  <a:extLst>
                    <a:ext uri="{9D8B030D-6E8A-4147-A177-3AD203B41FA5}">
                      <a16:colId xmlns:a16="http://schemas.microsoft.com/office/drawing/2014/main" val="2603453691"/>
                    </a:ext>
                  </a:extLst>
                </a:gridCol>
                <a:gridCol w="537776">
                  <a:extLst>
                    <a:ext uri="{9D8B030D-6E8A-4147-A177-3AD203B41FA5}">
                      <a16:colId xmlns:a16="http://schemas.microsoft.com/office/drawing/2014/main" val="1404394936"/>
                    </a:ext>
                  </a:extLst>
                </a:gridCol>
                <a:gridCol w="537776">
                  <a:extLst>
                    <a:ext uri="{9D8B030D-6E8A-4147-A177-3AD203B41FA5}">
                      <a16:colId xmlns:a16="http://schemas.microsoft.com/office/drawing/2014/main" val="1704006120"/>
                    </a:ext>
                  </a:extLst>
                </a:gridCol>
                <a:gridCol w="537776">
                  <a:extLst>
                    <a:ext uri="{9D8B030D-6E8A-4147-A177-3AD203B41FA5}">
                      <a16:colId xmlns:a16="http://schemas.microsoft.com/office/drawing/2014/main" val="3931072465"/>
                    </a:ext>
                  </a:extLst>
                </a:gridCol>
                <a:gridCol w="537776">
                  <a:extLst>
                    <a:ext uri="{9D8B030D-6E8A-4147-A177-3AD203B41FA5}">
                      <a16:colId xmlns:a16="http://schemas.microsoft.com/office/drawing/2014/main" val="290200920"/>
                    </a:ext>
                  </a:extLst>
                </a:gridCol>
              </a:tblGrid>
              <a:tr h="353867">
                <a:tc rowSpan="5">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700" b="1" dirty="0">
                          <a:highlight>
                            <a:srgbClr val="00FF00"/>
                          </a:highlight>
                        </a:rPr>
                        <a:t>emp</a:t>
                      </a:r>
                      <a:r>
                        <a:rPr lang="en-NP" sz="1700" b="1" dirty="0">
                          <a:highlight>
                            <a:srgbClr val="00FF00"/>
                          </a:highlight>
                        </a:rPr>
                        <a:t>[i].name[30]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emp[0].name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emp[1].name</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emp[2].name</a:t>
                      </a: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700" b="1" dirty="0">
                        <a:highlight>
                          <a:srgbClr val="00FF00"/>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700" b="1" dirty="0">
                          <a:highlight>
                            <a:srgbClr val="00FF00"/>
                          </a:highlight>
                        </a:rPr>
                        <a:t>emp[19].name</a:t>
                      </a:r>
                    </a:p>
                  </a:txBody>
                  <a:tcPr/>
                </a:tc>
                <a:tc>
                  <a:txBody>
                    <a:bodyPr/>
                    <a:lstStyle/>
                    <a:p>
                      <a:r>
                        <a:rPr lang="en-NP" sz="1800" b="1" dirty="0">
                          <a:highlight>
                            <a:srgbClr val="00FF00"/>
                          </a:highlight>
                        </a:rPr>
                        <a:t>0</a:t>
                      </a:r>
                    </a:p>
                  </a:txBody>
                  <a:tcPr/>
                </a:tc>
                <a:tc>
                  <a:txBody>
                    <a:bodyPr/>
                    <a:lstStyle/>
                    <a:p>
                      <a:r>
                        <a:rPr lang="en-NP" sz="1800" b="1" dirty="0">
                          <a:highlight>
                            <a:srgbClr val="00FF00"/>
                          </a:highlight>
                        </a:rPr>
                        <a:t>1</a:t>
                      </a:r>
                    </a:p>
                  </a:txBody>
                  <a:tcPr/>
                </a:tc>
                <a:tc>
                  <a:txBody>
                    <a:bodyPr/>
                    <a:lstStyle/>
                    <a:p>
                      <a:r>
                        <a:rPr lang="en-NP" sz="1800" b="1" dirty="0">
                          <a:highlight>
                            <a:srgbClr val="00FF00"/>
                          </a:highlight>
                        </a:rPr>
                        <a:t>2</a:t>
                      </a:r>
                    </a:p>
                  </a:txBody>
                  <a:tcPr/>
                </a:tc>
                <a:tc>
                  <a:txBody>
                    <a:bodyPr/>
                    <a:lstStyle/>
                    <a:p>
                      <a:r>
                        <a:rPr lang="en-NP" sz="1800" b="1" dirty="0">
                          <a:highlight>
                            <a:srgbClr val="00FF00"/>
                          </a:highlight>
                        </a:rPr>
                        <a:t>3</a:t>
                      </a:r>
                    </a:p>
                  </a:txBody>
                  <a:tcPr/>
                </a:tc>
                <a:tc>
                  <a:txBody>
                    <a:bodyPr/>
                    <a:lstStyle/>
                    <a:p>
                      <a:r>
                        <a:rPr lang="en-NP" sz="1800" b="1" dirty="0">
                          <a:highlight>
                            <a:srgbClr val="00FF00"/>
                          </a:highlight>
                        </a:rPr>
                        <a:t>4</a:t>
                      </a:r>
                    </a:p>
                  </a:txBody>
                  <a:tcPr/>
                </a:tc>
                <a:tc>
                  <a:txBody>
                    <a:bodyPr/>
                    <a:lstStyle/>
                    <a:p>
                      <a:r>
                        <a:rPr lang="en-NP" sz="1800" b="1" dirty="0">
                          <a:highlight>
                            <a:srgbClr val="00FF00"/>
                          </a:highlight>
                        </a:rPr>
                        <a:t>5</a:t>
                      </a:r>
                    </a:p>
                  </a:txBody>
                  <a:tcPr/>
                </a:tc>
                <a:tc>
                  <a:txBody>
                    <a:bodyPr/>
                    <a:lstStyle/>
                    <a:p>
                      <a:r>
                        <a:rPr lang="en-NP" sz="1800" b="1" dirty="0">
                          <a:highlight>
                            <a:srgbClr val="00FF00"/>
                          </a:highlight>
                        </a:rPr>
                        <a:t>6</a:t>
                      </a:r>
                    </a:p>
                  </a:txBody>
                  <a:tcPr/>
                </a:tc>
                <a:tc>
                  <a:txBody>
                    <a:bodyPr/>
                    <a:lstStyle/>
                    <a:p>
                      <a:r>
                        <a:rPr lang="en-NP" sz="1800" b="1" dirty="0">
                          <a:highlight>
                            <a:srgbClr val="00FF00"/>
                          </a:highlight>
                        </a:rPr>
                        <a:t>7</a:t>
                      </a:r>
                    </a:p>
                  </a:txBody>
                  <a:tcPr/>
                </a:tc>
                <a:tc>
                  <a:txBody>
                    <a:bodyPr/>
                    <a:lstStyle/>
                    <a:p>
                      <a:r>
                        <a:rPr lang="en-NP" sz="1800" b="1" dirty="0">
                          <a:highlight>
                            <a:srgbClr val="00FF00"/>
                          </a:highlight>
                        </a:rPr>
                        <a:t>8</a:t>
                      </a:r>
                    </a:p>
                  </a:txBody>
                  <a:tcPr/>
                </a:tc>
                <a:tc>
                  <a:txBody>
                    <a:bodyPr/>
                    <a:lstStyle/>
                    <a:p>
                      <a:r>
                        <a:rPr lang="en-NP" sz="1800" b="1" dirty="0">
                          <a:highlight>
                            <a:srgbClr val="00FF00"/>
                          </a:highlight>
                        </a:rPr>
                        <a:t>9</a:t>
                      </a:r>
                    </a:p>
                  </a:txBody>
                  <a:tcPr/>
                </a:tc>
                <a:tc gridSpan="2">
                  <a:txBody>
                    <a:bodyPr/>
                    <a:lstStyle/>
                    <a:p>
                      <a:r>
                        <a:rPr lang="en-NP" sz="1800" b="1" dirty="0">
                          <a:highlight>
                            <a:srgbClr val="00FF00"/>
                          </a:highlight>
                        </a:rPr>
                        <a:t>10….29</a:t>
                      </a:r>
                    </a:p>
                  </a:txBody>
                  <a:tcPr/>
                </a:tc>
                <a:tc hMerge="1">
                  <a:txBody>
                    <a:bodyPr/>
                    <a:lstStyle/>
                    <a:p>
                      <a:endParaRPr lang="en-NP" sz="1600" b="1" dirty="0">
                        <a:highlight>
                          <a:srgbClr val="00FFFF"/>
                        </a:highlight>
                      </a:endParaRPr>
                    </a:p>
                  </a:txBody>
                  <a:tcPr/>
                </a:tc>
                <a:extLst>
                  <a:ext uri="{0D108BD9-81ED-4DB2-BD59-A6C34878D82A}">
                    <a16:rowId xmlns:a16="http://schemas.microsoft.com/office/drawing/2014/main" val="1726587961"/>
                  </a:ext>
                </a:extLst>
              </a:tr>
              <a:tr h="442795">
                <a:tc vMerge="1">
                  <a:txBody>
                    <a:bodyPr/>
                    <a:lstStyle/>
                    <a:p>
                      <a:endParaRPr dirty="0"/>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m</a:t>
                      </a: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939781137"/>
                  </a:ext>
                </a:extLst>
              </a:tr>
              <a:tr h="42964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NP" b="1" dirty="0">
                        <a:highlight>
                          <a:srgbClr val="00FF00"/>
                        </a:highlight>
                      </a:endParaRPr>
                    </a:p>
                  </a:txBody>
                  <a:tcPr/>
                </a:tc>
                <a:tc>
                  <a:txBody>
                    <a:bodyPr/>
                    <a:lstStyle/>
                    <a:p>
                      <a:r>
                        <a:rPr lang="en-NP" sz="1800" b="1" dirty="0">
                          <a:highlight>
                            <a:srgbClr val="00FF00"/>
                          </a:highlight>
                        </a:rPr>
                        <a:t>h</a:t>
                      </a:r>
                    </a:p>
                  </a:txBody>
                  <a:tcPr/>
                </a:tc>
                <a:tc>
                  <a:txBody>
                    <a:bodyPr/>
                    <a:lstStyle/>
                    <a:p>
                      <a:r>
                        <a:rPr lang="en-NP" sz="1800" b="1" dirty="0">
                          <a:highlight>
                            <a:srgbClr val="00FF00"/>
                          </a:highlight>
                        </a:rPr>
                        <a:t>a</a:t>
                      </a:r>
                    </a:p>
                  </a:txBody>
                  <a:tcPr/>
                </a:tc>
                <a:tc>
                  <a:txBody>
                    <a:bodyPr/>
                    <a:lstStyle/>
                    <a:p>
                      <a:r>
                        <a:rPr lang="en-NP" sz="1800" b="1" dirty="0">
                          <a:highlight>
                            <a:srgbClr val="00FF00"/>
                          </a:highlight>
                        </a:rPr>
                        <a:t>r</a:t>
                      </a:r>
                    </a:p>
                  </a:txBody>
                  <a:tcPr/>
                </a:tc>
                <a:tc>
                  <a:txBody>
                    <a:bodyPr/>
                    <a:lstStyle/>
                    <a:p>
                      <a:r>
                        <a:rPr lang="en-NP" sz="1800" b="1" dirty="0">
                          <a:highlight>
                            <a:srgbClr val="00FF00"/>
                          </a:highlight>
                        </a:rPr>
                        <a:t>i</a:t>
                      </a: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1637305035"/>
                  </a:ext>
                </a:extLst>
              </a:tr>
              <a:tr h="356737">
                <a:tc vMerge="1">
                  <a:txBody>
                    <a:bodyPr/>
                    <a:lstStyle/>
                    <a:p>
                      <a:endParaRPr lang="en-NP"/>
                    </a:p>
                  </a:txBody>
                  <a:tcPr/>
                </a:tc>
                <a:tc>
                  <a:txBody>
                    <a:bodyPr/>
                    <a:lstStyle/>
                    <a:p>
                      <a:r>
                        <a:rPr lang="en-NP" sz="1800" b="1" dirty="0">
                          <a:highlight>
                            <a:srgbClr val="00FF00"/>
                          </a:highlight>
                        </a:rPr>
                        <a:t>s</a:t>
                      </a:r>
                    </a:p>
                  </a:txBody>
                  <a:tcPr/>
                </a:tc>
                <a:tc>
                  <a:txBody>
                    <a:bodyPr/>
                    <a:lstStyle/>
                    <a:p>
                      <a:r>
                        <a:rPr lang="en-NP" sz="1800" b="1" dirty="0">
                          <a:highlight>
                            <a:srgbClr val="00FF00"/>
                          </a:highlight>
                        </a:rPr>
                        <a:t>i</a:t>
                      </a:r>
                    </a:p>
                  </a:txBody>
                  <a:tcPr/>
                </a:tc>
                <a:tc>
                  <a:txBody>
                    <a:bodyPr/>
                    <a:lstStyle/>
                    <a:p>
                      <a:r>
                        <a:rPr lang="en-NP" sz="1800" b="1" dirty="0">
                          <a:highlight>
                            <a:srgbClr val="00FF00"/>
                          </a:highlight>
                        </a:rPr>
                        <a:t>t</a:t>
                      </a:r>
                    </a:p>
                  </a:txBody>
                  <a:tcPr/>
                </a:tc>
                <a:tc>
                  <a:txBody>
                    <a:bodyPr/>
                    <a:lstStyle/>
                    <a:p>
                      <a:r>
                        <a:rPr lang="en-NP" sz="1800" b="1" dirty="0">
                          <a:highlight>
                            <a:srgbClr val="00FF00"/>
                          </a:highlight>
                        </a:rPr>
                        <a:t>a</a:t>
                      </a:r>
                    </a:p>
                  </a:txBody>
                  <a:tcPr/>
                </a:tc>
                <a:tc>
                  <a:txBody>
                    <a:bodyPr/>
                    <a:lstStyle/>
                    <a:p>
                      <a:endParaRPr lang="en-NP" sz="1800" b="1">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tc>
                  <a:txBody>
                    <a:bodyPr/>
                    <a:lstStyle/>
                    <a:p>
                      <a:endParaRPr lang="en-NP" sz="1800" b="1" dirty="0">
                        <a:highlight>
                          <a:srgbClr val="00FF00"/>
                        </a:highlight>
                      </a:endParaRPr>
                    </a:p>
                  </a:txBody>
                  <a:tcPr/>
                </a:tc>
                <a:extLst>
                  <a:ext uri="{0D108BD9-81ED-4DB2-BD59-A6C34878D82A}">
                    <a16:rowId xmlns:a16="http://schemas.microsoft.com/office/drawing/2014/main" val="3003640565"/>
                  </a:ext>
                </a:extLst>
              </a:tr>
              <a:tr h="843940">
                <a:tc vMerge="1">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lang="en-NP"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tc>
                  <a:txBody>
                    <a:bodyPr/>
                    <a:lstStyle/>
                    <a:p>
                      <a:endParaRPr lang="en-NP" sz="1600" b="1" dirty="0">
                        <a:highlight>
                          <a:srgbClr val="00FF00"/>
                        </a:highlight>
                      </a:endParaRPr>
                    </a:p>
                  </a:txBody>
                  <a:tcPr/>
                </a:tc>
                <a:extLst>
                  <a:ext uri="{0D108BD9-81ED-4DB2-BD59-A6C34878D82A}">
                    <a16:rowId xmlns:a16="http://schemas.microsoft.com/office/drawing/2014/main" val="1424640484"/>
                  </a:ext>
                </a:extLst>
              </a:tr>
              <a:tr h="353867">
                <a:tc rowSpan="5">
                  <a:txBody>
                    <a:bodyPr/>
                    <a:lstStyle/>
                    <a:p>
                      <a:pPr>
                        <a:lnSpc>
                          <a:spcPct val="150000"/>
                        </a:lnSpc>
                      </a:pPr>
                      <a:r>
                        <a:rPr lang="en-NP" sz="1600" b="1" dirty="0">
                          <a:highlight>
                            <a:srgbClr val="00FFFF"/>
                          </a:highlight>
                        </a:rPr>
                        <a:t>emp[i].</a:t>
                      </a:r>
                      <a:r>
                        <a:rPr lang="en-US" sz="1600" b="1" dirty="0">
                          <a:highlight>
                            <a:srgbClr val="00FFFF"/>
                          </a:highlight>
                        </a:rPr>
                        <a:t>post</a:t>
                      </a:r>
                      <a:r>
                        <a:rPr lang="en-NP" sz="1600" b="1" dirty="0">
                          <a:highlight>
                            <a:srgbClr val="00FFFF"/>
                          </a:highlight>
                        </a:rPr>
                        <a:t>[30]</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emp[0].</a:t>
                      </a:r>
                      <a:r>
                        <a:rPr lang="en-US" sz="1600" b="1" dirty="0">
                          <a:highlight>
                            <a:srgbClr val="00FFFF"/>
                          </a:highlight>
                        </a:rPr>
                        <a:t>post</a:t>
                      </a: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emp[1].</a:t>
                      </a:r>
                      <a:r>
                        <a:rPr lang="en-US" sz="1600" b="1" dirty="0">
                          <a:highlight>
                            <a:srgbClr val="00FFFF"/>
                          </a:highlight>
                        </a:rPr>
                        <a:t>post</a:t>
                      </a: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emp[2].</a:t>
                      </a:r>
                      <a:r>
                        <a:rPr lang="en-US" sz="1600" b="1" dirty="0">
                          <a:highlight>
                            <a:srgbClr val="00FFFF"/>
                          </a:highlight>
                        </a:rPr>
                        <a:t>post</a:t>
                      </a: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NP" sz="1600" b="1" dirty="0">
                        <a:highlight>
                          <a:srgbClr val="00FFFF"/>
                        </a:highlight>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NP" sz="1600" b="1" dirty="0">
                          <a:highlight>
                            <a:srgbClr val="00FFFF"/>
                          </a:highlight>
                        </a:rPr>
                        <a:t>emp[19].</a:t>
                      </a:r>
                      <a:r>
                        <a:rPr lang="en-US" sz="1600" b="1" dirty="0">
                          <a:highlight>
                            <a:srgbClr val="00FFFF"/>
                          </a:highlight>
                        </a:rPr>
                        <a:t>post</a:t>
                      </a:r>
                      <a:endParaRPr lang="en-NP" sz="1600" b="1" dirty="0">
                        <a:highlight>
                          <a:srgbClr val="00FFFF"/>
                        </a:highlight>
                      </a:endParaRPr>
                    </a:p>
                  </a:txBody>
                  <a:tcPr/>
                </a:tc>
                <a:tc>
                  <a:txBody>
                    <a:bodyPr/>
                    <a:lstStyle/>
                    <a:p>
                      <a:r>
                        <a:rPr lang="en-NP" sz="1800" b="1" dirty="0">
                          <a:highlight>
                            <a:srgbClr val="00FFFF"/>
                          </a:highlight>
                        </a:rPr>
                        <a:t>0</a:t>
                      </a:r>
                    </a:p>
                  </a:txBody>
                  <a:tcPr/>
                </a:tc>
                <a:tc>
                  <a:txBody>
                    <a:bodyPr/>
                    <a:lstStyle/>
                    <a:p>
                      <a:r>
                        <a:rPr lang="en-NP" sz="1800" b="1" dirty="0">
                          <a:highlight>
                            <a:srgbClr val="00FFFF"/>
                          </a:highlight>
                        </a:rPr>
                        <a:t>1</a:t>
                      </a:r>
                    </a:p>
                  </a:txBody>
                  <a:tcPr/>
                </a:tc>
                <a:tc>
                  <a:txBody>
                    <a:bodyPr/>
                    <a:lstStyle/>
                    <a:p>
                      <a:r>
                        <a:rPr lang="en-NP" sz="1800" b="1" dirty="0">
                          <a:highlight>
                            <a:srgbClr val="00FFFF"/>
                          </a:highlight>
                        </a:rPr>
                        <a:t>2</a:t>
                      </a:r>
                    </a:p>
                  </a:txBody>
                  <a:tcPr/>
                </a:tc>
                <a:tc>
                  <a:txBody>
                    <a:bodyPr/>
                    <a:lstStyle/>
                    <a:p>
                      <a:r>
                        <a:rPr lang="en-NP" sz="1800" b="1" dirty="0">
                          <a:highlight>
                            <a:srgbClr val="00FFFF"/>
                          </a:highlight>
                        </a:rPr>
                        <a:t>3</a:t>
                      </a:r>
                    </a:p>
                  </a:txBody>
                  <a:tcPr/>
                </a:tc>
                <a:tc>
                  <a:txBody>
                    <a:bodyPr/>
                    <a:lstStyle/>
                    <a:p>
                      <a:r>
                        <a:rPr lang="en-NP" sz="1800" b="1" dirty="0">
                          <a:highlight>
                            <a:srgbClr val="00FFFF"/>
                          </a:highlight>
                        </a:rPr>
                        <a:t>4</a:t>
                      </a:r>
                    </a:p>
                  </a:txBody>
                  <a:tcPr/>
                </a:tc>
                <a:tc>
                  <a:txBody>
                    <a:bodyPr/>
                    <a:lstStyle/>
                    <a:p>
                      <a:r>
                        <a:rPr lang="en-NP" sz="1800" b="1" dirty="0">
                          <a:highlight>
                            <a:srgbClr val="00FFFF"/>
                          </a:highlight>
                        </a:rPr>
                        <a:t>5</a:t>
                      </a:r>
                    </a:p>
                  </a:txBody>
                  <a:tcPr/>
                </a:tc>
                <a:tc>
                  <a:txBody>
                    <a:bodyPr/>
                    <a:lstStyle/>
                    <a:p>
                      <a:r>
                        <a:rPr lang="en-NP" sz="1800" b="1" dirty="0">
                          <a:highlight>
                            <a:srgbClr val="00FF00"/>
                          </a:highlight>
                        </a:rPr>
                        <a:t>6</a:t>
                      </a:r>
                    </a:p>
                  </a:txBody>
                  <a:tcPr/>
                </a:tc>
                <a:tc>
                  <a:txBody>
                    <a:bodyPr/>
                    <a:lstStyle/>
                    <a:p>
                      <a:r>
                        <a:rPr lang="en-NP" sz="1800" b="1" dirty="0">
                          <a:highlight>
                            <a:srgbClr val="00FF00"/>
                          </a:highlight>
                        </a:rPr>
                        <a:t>7</a:t>
                      </a:r>
                    </a:p>
                  </a:txBody>
                  <a:tcPr/>
                </a:tc>
                <a:tc>
                  <a:txBody>
                    <a:bodyPr/>
                    <a:lstStyle/>
                    <a:p>
                      <a:r>
                        <a:rPr lang="en-NP" sz="1800" b="1" dirty="0">
                          <a:highlight>
                            <a:srgbClr val="00FF00"/>
                          </a:highlight>
                        </a:rPr>
                        <a:t>8</a:t>
                      </a:r>
                    </a:p>
                  </a:txBody>
                  <a:tcPr/>
                </a:tc>
                <a:tc>
                  <a:txBody>
                    <a:bodyPr/>
                    <a:lstStyle/>
                    <a:p>
                      <a:r>
                        <a:rPr lang="en-NP" sz="1800" b="1" dirty="0">
                          <a:highlight>
                            <a:srgbClr val="00FFFF"/>
                          </a:highlight>
                        </a:rPr>
                        <a:t>9</a:t>
                      </a:r>
                    </a:p>
                  </a:txBody>
                  <a:tcPr/>
                </a:tc>
                <a:tc gridSpan="2">
                  <a:txBody>
                    <a:bodyPr/>
                    <a:lstStyle/>
                    <a:p>
                      <a:r>
                        <a:rPr lang="en-NP" sz="1800" b="1" dirty="0">
                          <a:highlight>
                            <a:srgbClr val="00FFFF"/>
                          </a:highlight>
                        </a:rPr>
                        <a:t>10…..29</a:t>
                      </a:r>
                    </a:p>
                  </a:txBody>
                  <a:tcPr/>
                </a:tc>
                <a:tc hMerge="1">
                  <a:txBody>
                    <a:bodyPr/>
                    <a:lstStyle/>
                    <a:p>
                      <a:endParaRPr lang="en-NP" sz="1600" b="1" dirty="0">
                        <a:highlight>
                          <a:srgbClr val="00FFFF"/>
                        </a:highlight>
                      </a:endParaRPr>
                    </a:p>
                  </a:txBody>
                  <a:tcPr/>
                </a:tc>
                <a:extLst>
                  <a:ext uri="{0D108BD9-81ED-4DB2-BD59-A6C34878D82A}">
                    <a16:rowId xmlns:a16="http://schemas.microsoft.com/office/drawing/2014/main" val="1421847098"/>
                  </a:ext>
                </a:extLst>
              </a:tr>
              <a:tr h="353867">
                <a:tc vMerge="1">
                  <a:txBody>
                    <a:bodyPr/>
                    <a:lstStyle/>
                    <a:p>
                      <a:endParaRPr lang="en-NP" dirty="0"/>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e</a:t>
                      </a:r>
                    </a:p>
                  </a:txBody>
                  <a:tcPr/>
                </a:tc>
                <a:tc>
                  <a:txBody>
                    <a:bodyPr/>
                    <a:lstStyle/>
                    <a:p>
                      <a:r>
                        <a:rPr lang="en-NP" sz="1800" b="1" dirty="0">
                          <a:highlight>
                            <a:srgbClr val="00FFFF"/>
                          </a:highlight>
                        </a:rPr>
                        <a:t>o</a:t>
                      </a:r>
                    </a:p>
                  </a:txBody>
                  <a:tcPr/>
                </a:tc>
                <a:tc>
                  <a:txBody>
                    <a:bodyPr/>
                    <a:lstStyle/>
                    <a:p>
                      <a:endParaRPr lang="en-NP" sz="1800" b="1" dirty="0">
                        <a:highlight>
                          <a:srgbClr val="00FFFF"/>
                        </a:highlight>
                      </a:endParaRP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a:highlight>
                          <a:srgbClr val="00FFFF"/>
                        </a:highlight>
                      </a:endParaRP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1670417921"/>
                  </a:ext>
                </a:extLst>
              </a:tr>
              <a:tr h="353867">
                <a:tc vMerge="1">
                  <a:txBody>
                    <a:bodyPr/>
                    <a:lstStyle/>
                    <a:p>
                      <a:endParaRPr lang="en-NP"/>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c</a:t>
                      </a:r>
                    </a:p>
                  </a:txBody>
                  <a:tcPr/>
                </a:tc>
                <a:tc>
                  <a:txBody>
                    <a:bodyPr/>
                    <a:lstStyle/>
                    <a:p>
                      <a:r>
                        <a:rPr lang="en-NP" sz="1800" b="1" dirty="0">
                          <a:highlight>
                            <a:srgbClr val="00FFFF"/>
                          </a:highlight>
                        </a:rPr>
                        <a:t>o</a:t>
                      </a:r>
                    </a:p>
                  </a:txBody>
                  <a:tcPr/>
                </a:tc>
                <a:tc>
                  <a:txBody>
                    <a:bodyPr/>
                    <a:lstStyle/>
                    <a:p>
                      <a:r>
                        <a:rPr lang="en-NP" sz="1800" b="1" dirty="0">
                          <a:highlight>
                            <a:srgbClr val="00FFFF"/>
                          </a:highlight>
                        </a:rPr>
                        <a:t>u</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t</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t</a:t>
                      </a: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4176707418"/>
                  </a:ext>
                </a:extLst>
              </a:tr>
              <a:tr h="353867">
                <a:tc vMerge="1">
                  <a:txBody>
                    <a:bodyPr/>
                    <a:lstStyle/>
                    <a:p>
                      <a:endParaRPr lang="en-NP" b="1" dirty="0">
                        <a:highlight>
                          <a:srgbClr val="00FFFF"/>
                        </a:highlight>
                      </a:endParaRPr>
                    </a:p>
                  </a:txBody>
                  <a:tcPr/>
                </a:tc>
                <a:tc>
                  <a:txBody>
                    <a:bodyPr/>
                    <a:lstStyle/>
                    <a:p>
                      <a:r>
                        <a:rPr lang="en-NP" sz="1800" b="1" dirty="0">
                          <a:highlight>
                            <a:srgbClr val="00FFFF"/>
                          </a:highlight>
                        </a:rPr>
                        <a:t>m</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n</a:t>
                      </a:r>
                    </a:p>
                  </a:txBody>
                  <a:tcPr/>
                </a:tc>
                <a:tc>
                  <a:txBody>
                    <a:bodyPr/>
                    <a:lstStyle/>
                    <a:p>
                      <a:r>
                        <a:rPr lang="en-NP" sz="1800" b="1" dirty="0">
                          <a:highlight>
                            <a:srgbClr val="00FFFF"/>
                          </a:highlight>
                        </a:rPr>
                        <a:t>a</a:t>
                      </a:r>
                    </a:p>
                  </a:txBody>
                  <a:tcPr/>
                </a:tc>
                <a:tc>
                  <a:txBody>
                    <a:bodyPr/>
                    <a:lstStyle/>
                    <a:p>
                      <a:r>
                        <a:rPr lang="en-NP" sz="1800" b="1" dirty="0">
                          <a:highlight>
                            <a:srgbClr val="00FFFF"/>
                          </a:highlight>
                        </a:rPr>
                        <a:t>g</a:t>
                      </a:r>
                    </a:p>
                  </a:txBody>
                  <a:tcPr/>
                </a:tc>
                <a:tc>
                  <a:txBody>
                    <a:bodyPr/>
                    <a:lstStyle/>
                    <a:p>
                      <a:r>
                        <a:rPr lang="en-NP" sz="1800" b="1" dirty="0">
                          <a:highlight>
                            <a:srgbClr val="00FFFF"/>
                          </a:highlight>
                        </a:rPr>
                        <a:t>e</a:t>
                      </a:r>
                    </a:p>
                  </a:txBody>
                  <a:tcPr/>
                </a:tc>
                <a:tc>
                  <a:txBody>
                    <a:bodyPr/>
                    <a:lstStyle/>
                    <a:p>
                      <a:r>
                        <a:rPr lang="en-NP" sz="1800" b="1" dirty="0">
                          <a:highlight>
                            <a:srgbClr val="00FFFF"/>
                          </a:highlight>
                        </a:rPr>
                        <a:t>r</a:t>
                      </a:r>
                    </a:p>
                  </a:txBody>
                  <a:tcPr/>
                </a:tc>
                <a:tc>
                  <a:txBody>
                    <a:bodyPr/>
                    <a:lstStyle/>
                    <a:p>
                      <a:endParaRPr lang="en-NP" sz="1800" b="1">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tc>
                  <a:txBody>
                    <a:bodyPr/>
                    <a:lstStyle/>
                    <a:p>
                      <a:endParaRPr lang="en-NP" sz="1800" b="1" dirty="0">
                        <a:highlight>
                          <a:srgbClr val="00FFFF"/>
                        </a:highlight>
                      </a:endParaRPr>
                    </a:p>
                  </a:txBody>
                  <a:tcPr/>
                </a:tc>
                <a:extLst>
                  <a:ext uri="{0D108BD9-81ED-4DB2-BD59-A6C34878D82A}">
                    <a16:rowId xmlns:a16="http://schemas.microsoft.com/office/drawing/2014/main" val="2286473001"/>
                  </a:ext>
                </a:extLst>
              </a:tr>
              <a:tr h="828617">
                <a:tc vMerge="1">
                  <a:txBody>
                    <a:bodyPr/>
                    <a:lstStyle/>
                    <a:p>
                      <a:endParaRPr lang="en-NP"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a:highlight>
                          <a:srgbClr val="00FFFF"/>
                        </a:highlight>
                      </a:endParaRPr>
                    </a:p>
                  </a:txBody>
                  <a:tcPr/>
                </a:tc>
                <a:tc>
                  <a:txBody>
                    <a:bodyPr/>
                    <a:lstStyle/>
                    <a:p>
                      <a:endParaRPr lang="en-NP" sz="1600" b="1">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tc>
                  <a:txBody>
                    <a:bodyPr/>
                    <a:lstStyle/>
                    <a:p>
                      <a:endParaRPr lang="en-NP" sz="1600" b="1" dirty="0">
                        <a:highlight>
                          <a:srgbClr val="00FFFF"/>
                        </a:highlight>
                      </a:endParaRPr>
                    </a:p>
                  </a:txBody>
                  <a:tcPr/>
                </a:tc>
                <a:extLst>
                  <a:ext uri="{0D108BD9-81ED-4DB2-BD59-A6C34878D82A}">
                    <a16:rowId xmlns:a16="http://schemas.microsoft.com/office/drawing/2014/main" val="1092514564"/>
                  </a:ext>
                </a:extLst>
              </a:tr>
              <a:tr h="324378">
                <a:tc gridSpan="13">
                  <a:txBody>
                    <a:bodyPr/>
                    <a:lstStyle/>
                    <a:p>
                      <a:r>
                        <a:rPr lang="en-US" sz="1600" b="1" dirty="0">
                          <a:highlight>
                            <a:srgbClr val="FFFF00"/>
                          </a:highlight>
                        </a:rPr>
                        <a:t>emp</a:t>
                      </a:r>
                      <a:r>
                        <a:rPr lang="en-NP" sz="1600" b="1" dirty="0">
                          <a:highlight>
                            <a:srgbClr val="FFFF00"/>
                          </a:highlight>
                        </a:rPr>
                        <a:t>[i].salary</a:t>
                      </a:r>
                    </a:p>
                  </a:txBody>
                  <a:tcPr/>
                </a:tc>
                <a:tc hMerge="1">
                  <a:txBody>
                    <a:bodyPr/>
                    <a:lstStyle/>
                    <a:p>
                      <a:endParaRPr lang="en-NP" sz="1600" b="1" dirty="0">
                        <a:highlight>
                          <a:srgbClr val="FFFF00"/>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933846048"/>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[0].salary</a:t>
                      </a:r>
                    </a:p>
                  </a:txBody>
                  <a:tcPr/>
                </a:tc>
                <a:tc gridSpan="12">
                  <a:txBody>
                    <a:bodyPr/>
                    <a:lstStyle/>
                    <a:p>
                      <a:r>
                        <a:rPr lang="en-NP" sz="1600" b="1" dirty="0">
                          <a:highlight>
                            <a:srgbClr val="FFFF00"/>
                          </a:highlight>
                        </a:rPr>
                        <a:t>120000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857219218"/>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[1].salary</a:t>
                      </a:r>
                    </a:p>
                  </a:txBody>
                  <a:tcPr/>
                </a:tc>
                <a:tc gridSpan="12">
                  <a:txBody>
                    <a:bodyPr/>
                    <a:lstStyle/>
                    <a:p>
                      <a:r>
                        <a:rPr lang="en-NP" sz="1600" b="1" dirty="0">
                          <a:highlight>
                            <a:srgbClr val="FFFF00"/>
                          </a:highlight>
                        </a:rPr>
                        <a:t>40000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3316307094"/>
                  </a:ext>
                </a:extLst>
              </a:tr>
              <a:tr h="3243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[2].salary</a:t>
                      </a:r>
                    </a:p>
                  </a:txBody>
                  <a:tcPr/>
                </a:tc>
                <a:tc gridSpan="12">
                  <a:txBody>
                    <a:bodyPr/>
                    <a:lstStyle/>
                    <a:p>
                      <a:r>
                        <a:rPr lang="en-NP" sz="1600" b="1" dirty="0">
                          <a:highlight>
                            <a:srgbClr val="FFFF00"/>
                          </a:highlight>
                        </a:rPr>
                        <a:t>70000</a:t>
                      </a: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166712658"/>
                  </a:ext>
                </a:extLst>
              </a:tr>
              <a:tr h="602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highlight>
                          <a:srgbClr val="FFFF00"/>
                        </a:highligh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highlight>
                            <a:srgbClr val="FFFF00"/>
                          </a:highlight>
                        </a:rPr>
                        <a:t>emp</a:t>
                      </a:r>
                      <a:r>
                        <a:rPr lang="en-NP" sz="1600" b="1" dirty="0">
                          <a:highlight>
                            <a:srgbClr val="FFFF00"/>
                          </a:highlight>
                        </a:rPr>
                        <a:t>[19].salary</a:t>
                      </a:r>
                    </a:p>
                  </a:txBody>
                  <a:tcPr/>
                </a:tc>
                <a:tc gridSpan="12">
                  <a:txBody>
                    <a:bodyPr/>
                    <a:lstStyle/>
                    <a:p>
                      <a:endParaRPr lang="en-NP" sz="1600" b="1" dirty="0">
                        <a:highlight>
                          <a:srgbClr val="FFFF00"/>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tc hMerge="1">
                  <a:txBody>
                    <a:bodyPr/>
                    <a:lstStyle/>
                    <a:p>
                      <a:endParaRPr lang="en-NP" sz="1600" b="1" dirty="0">
                        <a:highlight>
                          <a:srgbClr val="FF00FF"/>
                        </a:highlight>
                      </a:endParaRPr>
                    </a:p>
                  </a:txBody>
                  <a:tcPr/>
                </a:tc>
                <a:extLst>
                  <a:ext uri="{0D108BD9-81ED-4DB2-BD59-A6C34878D82A}">
                    <a16:rowId xmlns:a16="http://schemas.microsoft.com/office/drawing/2014/main" val="4261117778"/>
                  </a:ext>
                </a:extLst>
              </a:tr>
            </a:tbl>
          </a:graphicData>
        </a:graphic>
      </p:graphicFrame>
      <p:sp>
        <p:nvSpPr>
          <p:cNvPr id="10" name="TextBox 9">
            <a:extLst>
              <a:ext uri="{FF2B5EF4-FFF2-40B4-BE49-F238E27FC236}">
                <a16:creationId xmlns:a16="http://schemas.microsoft.com/office/drawing/2014/main" id="{C0B777A6-523A-2AFB-CA45-B06B3F072C25}"/>
              </a:ext>
            </a:extLst>
          </p:cNvPr>
          <p:cNvSpPr txBox="1"/>
          <p:nvPr/>
        </p:nvSpPr>
        <p:spPr>
          <a:xfrm rot="16200000">
            <a:off x="87574" y="2614050"/>
            <a:ext cx="1260568" cy="369332"/>
          </a:xfrm>
          <a:prstGeom prst="rect">
            <a:avLst/>
          </a:prstGeom>
          <a:noFill/>
        </p:spPr>
        <p:txBody>
          <a:bodyPr wrap="square" rtlCol="0">
            <a:spAutoFit/>
          </a:bodyPr>
          <a:lstStyle/>
          <a:p>
            <a:r>
              <a:rPr lang="en-NP" b="1" dirty="0">
                <a:solidFill>
                  <a:srgbClr val="FF0000"/>
                </a:solidFill>
              </a:rPr>
              <a:t>student</a:t>
            </a:r>
          </a:p>
        </p:txBody>
      </p:sp>
      <p:cxnSp>
        <p:nvCxnSpPr>
          <p:cNvPr id="5" name="Straight Arrow Connector 4">
            <a:extLst>
              <a:ext uri="{FF2B5EF4-FFF2-40B4-BE49-F238E27FC236}">
                <a16:creationId xmlns:a16="http://schemas.microsoft.com/office/drawing/2014/main" id="{5E48F4E9-8834-6D1B-80E1-5B38E76DFF6F}"/>
              </a:ext>
            </a:extLst>
          </p:cNvPr>
          <p:cNvCxnSpPr>
            <a:cxnSpLocks/>
          </p:cNvCxnSpPr>
          <p:nvPr/>
        </p:nvCxnSpPr>
        <p:spPr>
          <a:xfrm>
            <a:off x="1679739" y="1734175"/>
            <a:ext cx="0" cy="434257"/>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5C5154B0-7B80-4D1C-BB71-5BADB47C80BE}"/>
              </a:ext>
            </a:extLst>
          </p:cNvPr>
          <p:cNvCxnSpPr>
            <a:cxnSpLocks/>
          </p:cNvCxnSpPr>
          <p:nvPr/>
        </p:nvCxnSpPr>
        <p:spPr>
          <a:xfrm>
            <a:off x="1648187" y="6158951"/>
            <a:ext cx="0" cy="357502"/>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graphicFrame>
        <p:nvGraphicFramePr>
          <p:cNvPr id="44" name="Table 43">
            <a:extLst>
              <a:ext uri="{FF2B5EF4-FFF2-40B4-BE49-F238E27FC236}">
                <a16:creationId xmlns:a16="http://schemas.microsoft.com/office/drawing/2014/main" id="{69F355AC-E00F-3EDC-AFBE-ADBEC8D280B8}"/>
              </a:ext>
            </a:extLst>
          </p:cNvPr>
          <p:cNvGraphicFramePr>
            <a:graphicFrameLocks noGrp="1"/>
          </p:cNvGraphicFramePr>
          <p:nvPr>
            <p:extLst>
              <p:ext uri="{D42A27DB-BD31-4B8C-83A1-F6EECF244321}">
                <p14:modId xmlns:p14="http://schemas.microsoft.com/office/powerpoint/2010/main" val="3154235088"/>
              </p:ext>
            </p:extLst>
          </p:nvPr>
        </p:nvGraphicFramePr>
        <p:xfrm>
          <a:off x="10760927" y="119808"/>
          <a:ext cx="1285965" cy="1341002"/>
        </p:xfrm>
        <a:graphic>
          <a:graphicData uri="http://schemas.openxmlformats.org/drawingml/2006/table">
            <a:tbl>
              <a:tblPr firstRow="1" bandRow="1">
                <a:tableStyleId>{5940675A-B579-460E-94D1-54222C63F5DA}</a:tableStyleId>
              </a:tblPr>
              <a:tblGrid>
                <a:gridCol w="1285965">
                  <a:extLst>
                    <a:ext uri="{9D8B030D-6E8A-4147-A177-3AD203B41FA5}">
                      <a16:colId xmlns:a16="http://schemas.microsoft.com/office/drawing/2014/main" val="625264051"/>
                    </a:ext>
                  </a:extLst>
                </a:gridCol>
              </a:tblGrid>
              <a:tr h="670501">
                <a:tc>
                  <a:txBody>
                    <a:bodyPr/>
                    <a:lstStyle/>
                    <a:p>
                      <a:r>
                        <a:rPr lang="en-NP" b="1" dirty="0">
                          <a:solidFill>
                            <a:srgbClr val="FF0000"/>
                          </a:solidFill>
                        </a:rPr>
                        <a:t>          </a:t>
                      </a:r>
                      <a:r>
                        <a:rPr lang="en-NP" b="1" dirty="0">
                          <a:solidFill>
                            <a:srgbClr val="FF0000"/>
                          </a:solidFill>
                          <a:highlight>
                            <a:srgbClr val="FFFF00"/>
                          </a:highlight>
                        </a:rPr>
                        <a:t>search</a:t>
                      </a:r>
                    </a:p>
                  </a:txBody>
                  <a:tcPr/>
                </a:tc>
                <a:extLst>
                  <a:ext uri="{0D108BD9-81ED-4DB2-BD59-A6C34878D82A}">
                    <a16:rowId xmlns:a16="http://schemas.microsoft.com/office/drawing/2014/main" val="1776657522"/>
                  </a:ext>
                </a:extLst>
              </a:tr>
              <a:tr h="670501">
                <a:tc>
                  <a:txBody>
                    <a:bodyPr/>
                    <a:lstStyle/>
                    <a:p>
                      <a:r>
                        <a:rPr lang="en-NP" b="1" dirty="0">
                          <a:solidFill>
                            <a:srgbClr val="FF0000"/>
                          </a:solidFill>
                        </a:rPr>
                        <a:t>sita</a:t>
                      </a:r>
                    </a:p>
                  </a:txBody>
                  <a:tcPr/>
                </a:tc>
                <a:extLst>
                  <a:ext uri="{0D108BD9-81ED-4DB2-BD59-A6C34878D82A}">
                    <a16:rowId xmlns:a16="http://schemas.microsoft.com/office/drawing/2014/main" val="1811444428"/>
                  </a:ext>
                </a:extLst>
              </a:tr>
            </a:tbl>
          </a:graphicData>
        </a:graphic>
      </p:graphicFrame>
      <p:cxnSp>
        <p:nvCxnSpPr>
          <p:cNvPr id="4" name="Straight Arrow Connector 3">
            <a:extLst>
              <a:ext uri="{FF2B5EF4-FFF2-40B4-BE49-F238E27FC236}">
                <a16:creationId xmlns:a16="http://schemas.microsoft.com/office/drawing/2014/main" id="{F38DF851-11C2-CFA6-9459-E674A32BCFA4}"/>
              </a:ext>
            </a:extLst>
          </p:cNvPr>
          <p:cNvCxnSpPr>
            <a:cxnSpLocks/>
          </p:cNvCxnSpPr>
          <p:nvPr/>
        </p:nvCxnSpPr>
        <p:spPr>
          <a:xfrm>
            <a:off x="1679739" y="4118414"/>
            <a:ext cx="0" cy="399423"/>
          </a:xfrm>
          <a:prstGeom prst="straightConnector1">
            <a:avLst/>
          </a:prstGeom>
          <a:ln w="50800">
            <a:solidFill>
              <a:schemeClr val="accent1"/>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778A50CF-53BC-FB86-E8B8-51DF7D1374D7}"/>
              </a:ext>
            </a:extLst>
          </p:cNvPr>
          <p:cNvSpPr txBox="1"/>
          <p:nvPr/>
        </p:nvSpPr>
        <p:spPr>
          <a:xfrm>
            <a:off x="122663" y="1650380"/>
            <a:ext cx="821059" cy="369332"/>
          </a:xfrm>
          <a:prstGeom prst="rect">
            <a:avLst/>
          </a:prstGeom>
          <a:noFill/>
        </p:spPr>
        <p:txBody>
          <a:bodyPr wrap="none" rtlCol="0">
            <a:spAutoFit/>
          </a:bodyPr>
          <a:lstStyle/>
          <a:p>
            <a:r>
              <a:rPr lang="en-NP" b="1" dirty="0"/>
              <a:t>QN (9)</a:t>
            </a:r>
          </a:p>
        </p:txBody>
      </p:sp>
    </p:spTree>
    <p:extLst>
      <p:ext uri="{BB962C8B-B14F-4D97-AF65-F5344CB8AC3E}">
        <p14:creationId xmlns:p14="http://schemas.microsoft.com/office/powerpoint/2010/main" val="3564606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0655F-7337-7E31-BA40-CABEAC8B869B}"/>
            </a:ext>
          </a:extLst>
        </p:cNvPr>
        <p:cNvGrpSpPr/>
        <p:nvPr/>
      </p:nvGrpSpPr>
      <p:grpSpPr>
        <a:xfrm>
          <a:off x="0" y="0"/>
          <a:ext cx="0" cy="0"/>
          <a:chOff x="0" y="0"/>
          <a:chExt cx="0" cy="0"/>
        </a:xfrm>
      </p:grpSpPr>
      <p:pic>
        <p:nvPicPr>
          <p:cNvPr id="4" name="Picture 3" descr="A paper with text and images&#10;&#10;AI-generated content may be incorrect.">
            <a:extLst>
              <a:ext uri="{FF2B5EF4-FFF2-40B4-BE49-F238E27FC236}">
                <a16:creationId xmlns:a16="http://schemas.microsoft.com/office/drawing/2014/main" id="{D7084CB2-004E-1FC7-E446-9431E0EA7476}"/>
              </a:ext>
            </a:extLst>
          </p:cNvPr>
          <p:cNvPicPr>
            <a:picLocks noChangeAspect="1"/>
          </p:cNvPicPr>
          <p:nvPr/>
        </p:nvPicPr>
        <p:blipFill>
          <a:blip r:embed="rId2"/>
          <a:stretch>
            <a:fillRect/>
          </a:stretch>
        </p:blipFill>
        <p:spPr>
          <a:xfrm>
            <a:off x="3082834" y="71712"/>
            <a:ext cx="6090693" cy="6616471"/>
          </a:xfrm>
          <a:prstGeom prst="rect">
            <a:avLst/>
          </a:prstGeom>
        </p:spPr>
      </p:pic>
    </p:spTree>
    <p:extLst>
      <p:ext uri="{BB962C8B-B14F-4D97-AF65-F5344CB8AC3E}">
        <p14:creationId xmlns:p14="http://schemas.microsoft.com/office/powerpoint/2010/main" val="2978820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4A1E3-D546-6B62-5277-F30D04655A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331123-DC14-8387-7C97-C9C8BA816297}"/>
              </a:ext>
            </a:extLst>
          </p:cNvPr>
          <p:cNvSpPr txBox="1"/>
          <p:nvPr/>
        </p:nvSpPr>
        <p:spPr>
          <a:xfrm>
            <a:off x="2377440" y="182880"/>
            <a:ext cx="6339475" cy="369332"/>
          </a:xfrm>
          <a:prstGeom prst="rect">
            <a:avLst/>
          </a:prstGeom>
          <a:noFill/>
        </p:spPr>
        <p:txBody>
          <a:bodyPr wrap="square" rtlCol="0">
            <a:spAutoFit/>
          </a:bodyPr>
          <a:lstStyle/>
          <a:p>
            <a:r>
              <a:rPr lang="en-NP" dirty="0"/>
              <a:t>Differentiate </a:t>
            </a:r>
            <a:r>
              <a:rPr lang="en-US" dirty="0"/>
              <a:t>b</a:t>
            </a:r>
            <a:r>
              <a:rPr lang="en-NP" dirty="0"/>
              <a:t>etween Library and User Defined Function </a:t>
            </a:r>
          </a:p>
        </p:txBody>
      </p:sp>
      <p:graphicFrame>
        <p:nvGraphicFramePr>
          <p:cNvPr id="5" name="Table 4">
            <a:extLst>
              <a:ext uri="{FF2B5EF4-FFF2-40B4-BE49-F238E27FC236}">
                <a16:creationId xmlns:a16="http://schemas.microsoft.com/office/drawing/2014/main" id="{1B86D0BF-654F-834A-FBAB-56A50E59D673}"/>
              </a:ext>
            </a:extLst>
          </p:cNvPr>
          <p:cNvGraphicFramePr>
            <a:graphicFrameLocks noGrp="1"/>
          </p:cNvGraphicFramePr>
          <p:nvPr>
            <p:extLst>
              <p:ext uri="{D42A27DB-BD31-4B8C-83A1-F6EECF244321}">
                <p14:modId xmlns:p14="http://schemas.microsoft.com/office/powerpoint/2010/main" val="2032281082"/>
              </p:ext>
            </p:extLst>
          </p:nvPr>
        </p:nvGraphicFramePr>
        <p:xfrm>
          <a:off x="2377440" y="552212"/>
          <a:ext cx="7015500" cy="6018408"/>
        </p:xfrm>
        <a:graphic>
          <a:graphicData uri="http://schemas.openxmlformats.org/drawingml/2006/table">
            <a:tbl>
              <a:tblPr/>
              <a:tblGrid>
                <a:gridCol w="721112">
                  <a:extLst>
                    <a:ext uri="{9D8B030D-6E8A-4147-A177-3AD203B41FA5}">
                      <a16:colId xmlns:a16="http://schemas.microsoft.com/office/drawing/2014/main" val="2220793472"/>
                    </a:ext>
                  </a:extLst>
                </a:gridCol>
                <a:gridCol w="3147194">
                  <a:extLst>
                    <a:ext uri="{9D8B030D-6E8A-4147-A177-3AD203B41FA5}">
                      <a16:colId xmlns:a16="http://schemas.microsoft.com/office/drawing/2014/main" val="2026870176"/>
                    </a:ext>
                  </a:extLst>
                </a:gridCol>
                <a:gridCol w="3147194">
                  <a:extLst>
                    <a:ext uri="{9D8B030D-6E8A-4147-A177-3AD203B41FA5}">
                      <a16:colId xmlns:a16="http://schemas.microsoft.com/office/drawing/2014/main" val="4263539385"/>
                    </a:ext>
                  </a:extLst>
                </a:gridCol>
              </a:tblGrid>
              <a:tr h="454220">
                <a:tc>
                  <a:txBody>
                    <a:bodyPr/>
                    <a:lstStyle/>
                    <a:p>
                      <a:r>
                        <a:rPr lang="en-US" sz="1600"/>
                        <a:t>SN</a:t>
                      </a:r>
                    </a:p>
                  </a:txBody>
                  <a:tcPr marL="82101" marR="82101" marT="41050" marB="41050" anchor="ctr">
                    <a:lnL>
                      <a:noFill/>
                    </a:lnL>
                    <a:lnR>
                      <a:noFill/>
                    </a:lnR>
                    <a:lnT>
                      <a:noFill/>
                    </a:lnT>
                    <a:lnB>
                      <a:noFill/>
                    </a:lnB>
                    <a:noFill/>
                  </a:tcPr>
                </a:tc>
                <a:tc>
                  <a:txBody>
                    <a:bodyPr/>
                    <a:lstStyle/>
                    <a:p>
                      <a:r>
                        <a:rPr lang="en-US" sz="1600"/>
                        <a:t>Library Function</a:t>
                      </a:r>
                    </a:p>
                  </a:txBody>
                  <a:tcPr marL="82101" marR="82101" marT="41050" marB="41050" anchor="ctr">
                    <a:lnL>
                      <a:noFill/>
                    </a:lnL>
                    <a:lnR>
                      <a:noFill/>
                    </a:lnR>
                    <a:lnT>
                      <a:noFill/>
                    </a:lnT>
                    <a:lnB>
                      <a:noFill/>
                    </a:lnB>
                    <a:noFill/>
                  </a:tcPr>
                </a:tc>
                <a:tc>
                  <a:txBody>
                    <a:bodyPr/>
                    <a:lstStyle/>
                    <a:p>
                      <a:r>
                        <a:rPr lang="en-US" sz="1600"/>
                        <a:t>User-defined Function</a:t>
                      </a:r>
                    </a:p>
                  </a:txBody>
                  <a:tcPr marL="82101" marR="82101" marT="41050" marB="41050" anchor="ctr">
                    <a:lnL>
                      <a:noFill/>
                    </a:lnL>
                    <a:lnR>
                      <a:noFill/>
                    </a:lnR>
                    <a:lnT>
                      <a:noFill/>
                    </a:lnT>
                    <a:lnB>
                      <a:noFill/>
                    </a:lnB>
                    <a:noFill/>
                  </a:tcPr>
                </a:tc>
                <a:extLst>
                  <a:ext uri="{0D108BD9-81ED-4DB2-BD59-A6C34878D82A}">
                    <a16:rowId xmlns:a16="http://schemas.microsoft.com/office/drawing/2014/main" val="1093596273"/>
                  </a:ext>
                </a:extLst>
              </a:tr>
              <a:tr h="1135548">
                <a:tc>
                  <a:txBody>
                    <a:bodyPr/>
                    <a:lstStyle/>
                    <a:p>
                      <a:r>
                        <a:rPr lang="en-NP" sz="1600"/>
                        <a:t>1</a:t>
                      </a:r>
                    </a:p>
                  </a:txBody>
                  <a:tcPr marL="82101" marR="82101" marT="41050" marB="41050" anchor="ctr">
                    <a:lnL>
                      <a:noFill/>
                    </a:lnL>
                    <a:lnR>
                      <a:noFill/>
                    </a:lnR>
                    <a:lnT>
                      <a:noFill/>
                    </a:lnT>
                    <a:lnB>
                      <a:noFill/>
                    </a:lnB>
                    <a:noFill/>
                  </a:tcPr>
                </a:tc>
                <a:tc>
                  <a:txBody>
                    <a:bodyPr/>
                    <a:lstStyle/>
                    <a:p>
                      <a:r>
                        <a:rPr lang="en-US" sz="1600"/>
                        <a:t>Library functions are pre-defined functions.</a:t>
                      </a:r>
                    </a:p>
                  </a:txBody>
                  <a:tcPr marL="82101" marR="82101" marT="41050" marB="41050" anchor="ctr">
                    <a:lnL>
                      <a:noFill/>
                    </a:lnL>
                    <a:lnR>
                      <a:noFill/>
                    </a:lnR>
                    <a:lnT>
                      <a:noFill/>
                    </a:lnT>
                    <a:lnB>
                      <a:noFill/>
                    </a:lnB>
                    <a:noFill/>
                  </a:tcPr>
                </a:tc>
                <a:tc>
                  <a:txBody>
                    <a:bodyPr/>
                    <a:lstStyle/>
                    <a:p>
                      <a:r>
                        <a:rPr lang="en-US" sz="1600"/>
                        <a:t>User-defined functions are created by the programmer according to the need.</a:t>
                      </a:r>
                    </a:p>
                  </a:txBody>
                  <a:tcPr marL="82101" marR="82101" marT="41050" marB="41050" anchor="ctr">
                    <a:lnL>
                      <a:noFill/>
                    </a:lnL>
                    <a:lnR>
                      <a:noFill/>
                    </a:lnR>
                    <a:lnT>
                      <a:noFill/>
                    </a:lnT>
                    <a:lnB>
                      <a:noFill/>
                    </a:lnB>
                    <a:noFill/>
                  </a:tcPr>
                </a:tc>
                <a:extLst>
                  <a:ext uri="{0D108BD9-81ED-4DB2-BD59-A6C34878D82A}">
                    <a16:rowId xmlns:a16="http://schemas.microsoft.com/office/drawing/2014/main" val="3616782246"/>
                  </a:ext>
                </a:extLst>
              </a:tr>
              <a:tr h="794884">
                <a:tc>
                  <a:txBody>
                    <a:bodyPr/>
                    <a:lstStyle/>
                    <a:p>
                      <a:r>
                        <a:rPr lang="en-NP" sz="1600"/>
                        <a:t>2</a:t>
                      </a:r>
                    </a:p>
                  </a:txBody>
                  <a:tcPr marL="82101" marR="82101" marT="41050" marB="41050" anchor="ctr">
                    <a:lnL>
                      <a:noFill/>
                    </a:lnL>
                    <a:lnR>
                      <a:noFill/>
                    </a:lnR>
                    <a:lnT>
                      <a:noFill/>
                    </a:lnT>
                    <a:lnB>
                      <a:noFill/>
                    </a:lnB>
                    <a:noFill/>
                  </a:tcPr>
                </a:tc>
                <a:tc>
                  <a:txBody>
                    <a:bodyPr/>
                    <a:lstStyle/>
                    <a:p>
                      <a:r>
                        <a:rPr lang="en-US" sz="1600"/>
                        <a:t>Requires </a:t>
                      </a:r>
                      <a:r>
                        <a:rPr lang="en-US" sz="1600" b="1"/>
                        <a:t>header file</a:t>
                      </a:r>
                      <a:r>
                        <a:rPr lang="en-US" sz="1600"/>
                        <a:t> to use.</a:t>
                      </a:r>
                    </a:p>
                  </a:txBody>
                  <a:tcPr marL="82101" marR="82101" marT="41050" marB="41050" anchor="ctr">
                    <a:lnL>
                      <a:noFill/>
                    </a:lnL>
                    <a:lnR>
                      <a:noFill/>
                    </a:lnR>
                    <a:lnT>
                      <a:noFill/>
                    </a:lnT>
                    <a:lnB>
                      <a:noFill/>
                    </a:lnB>
                    <a:noFill/>
                  </a:tcPr>
                </a:tc>
                <a:tc>
                  <a:txBody>
                    <a:bodyPr/>
                    <a:lstStyle/>
                    <a:p>
                      <a:r>
                        <a:rPr lang="en-US" sz="1600"/>
                        <a:t>Requires </a:t>
                      </a:r>
                      <a:r>
                        <a:rPr lang="en-US" sz="1600" b="1"/>
                        <a:t>function prototype</a:t>
                      </a:r>
                      <a:r>
                        <a:rPr lang="en-US" sz="1600"/>
                        <a:t> to use.</a:t>
                      </a:r>
                    </a:p>
                  </a:txBody>
                  <a:tcPr marL="82101" marR="82101" marT="41050" marB="41050" anchor="ctr">
                    <a:lnL>
                      <a:noFill/>
                    </a:lnL>
                    <a:lnR>
                      <a:noFill/>
                    </a:lnR>
                    <a:lnT>
                      <a:noFill/>
                    </a:lnT>
                    <a:lnB>
                      <a:noFill/>
                    </a:lnB>
                    <a:noFill/>
                  </a:tcPr>
                </a:tc>
                <a:extLst>
                  <a:ext uri="{0D108BD9-81ED-4DB2-BD59-A6C34878D82A}">
                    <a16:rowId xmlns:a16="http://schemas.microsoft.com/office/drawing/2014/main" val="331151892"/>
                  </a:ext>
                </a:extLst>
              </a:tr>
              <a:tr h="794884">
                <a:tc>
                  <a:txBody>
                    <a:bodyPr/>
                    <a:lstStyle/>
                    <a:p>
                      <a:r>
                        <a:rPr lang="en-NP" sz="1600"/>
                        <a:t>3</a:t>
                      </a:r>
                    </a:p>
                  </a:txBody>
                  <a:tcPr marL="82101" marR="82101" marT="41050" marB="41050" anchor="ctr">
                    <a:lnL>
                      <a:noFill/>
                    </a:lnL>
                    <a:lnR>
                      <a:noFill/>
                    </a:lnR>
                    <a:lnT>
                      <a:noFill/>
                    </a:lnT>
                    <a:lnB>
                      <a:noFill/>
                    </a:lnB>
                    <a:noFill/>
                  </a:tcPr>
                </a:tc>
                <a:tc>
                  <a:txBody>
                    <a:bodyPr/>
                    <a:lstStyle/>
                    <a:p>
                      <a:r>
                        <a:rPr lang="en-US" sz="1600"/>
                        <a:t>Program development time is </a:t>
                      </a:r>
                      <a:r>
                        <a:rPr lang="en-US" sz="1600" b="1"/>
                        <a:t>faster</a:t>
                      </a:r>
                      <a:r>
                        <a:rPr lang="en-US" sz="1600"/>
                        <a:t>.</a:t>
                      </a:r>
                    </a:p>
                  </a:txBody>
                  <a:tcPr marL="82101" marR="82101" marT="41050" marB="41050" anchor="ctr">
                    <a:lnL>
                      <a:noFill/>
                    </a:lnL>
                    <a:lnR>
                      <a:noFill/>
                    </a:lnR>
                    <a:lnT>
                      <a:noFill/>
                    </a:lnT>
                    <a:lnB>
                      <a:noFill/>
                    </a:lnB>
                    <a:noFill/>
                  </a:tcPr>
                </a:tc>
                <a:tc>
                  <a:txBody>
                    <a:bodyPr/>
                    <a:lstStyle/>
                    <a:p>
                      <a:r>
                        <a:rPr lang="en-US" sz="1600"/>
                        <a:t>Program development time is </a:t>
                      </a:r>
                      <a:r>
                        <a:rPr lang="en-US" sz="1600" b="1"/>
                        <a:t>slower</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3739228978"/>
                  </a:ext>
                </a:extLst>
              </a:tr>
              <a:tr h="454220">
                <a:tc>
                  <a:txBody>
                    <a:bodyPr/>
                    <a:lstStyle/>
                    <a:p>
                      <a:r>
                        <a:rPr lang="en-NP" sz="1600"/>
                        <a:t>4</a:t>
                      </a:r>
                    </a:p>
                  </a:txBody>
                  <a:tcPr marL="82101" marR="82101" marT="41050" marB="41050" anchor="ctr">
                    <a:lnL>
                      <a:noFill/>
                    </a:lnL>
                    <a:lnR>
                      <a:noFill/>
                    </a:lnR>
                    <a:lnT>
                      <a:noFill/>
                    </a:lnT>
                    <a:lnB>
                      <a:noFill/>
                    </a:lnB>
                    <a:noFill/>
                  </a:tcPr>
                </a:tc>
                <a:tc>
                  <a:txBody>
                    <a:bodyPr/>
                    <a:lstStyle/>
                    <a:p>
                      <a:r>
                        <a:rPr lang="en-US" sz="1600"/>
                        <a:t>Called at </a:t>
                      </a:r>
                      <a:r>
                        <a:rPr lang="en-US" sz="1600" b="1"/>
                        <a:t>run time</a:t>
                      </a:r>
                      <a:r>
                        <a:rPr lang="en-US" sz="1600"/>
                        <a:t>.</a:t>
                      </a:r>
                    </a:p>
                  </a:txBody>
                  <a:tcPr marL="82101" marR="82101" marT="41050" marB="41050" anchor="ctr">
                    <a:lnL>
                      <a:noFill/>
                    </a:lnL>
                    <a:lnR>
                      <a:noFill/>
                    </a:lnR>
                    <a:lnT>
                      <a:noFill/>
                    </a:lnT>
                    <a:lnB>
                      <a:noFill/>
                    </a:lnB>
                    <a:noFill/>
                  </a:tcPr>
                </a:tc>
                <a:tc>
                  <a:txBody>
                    <a:bodyPr/>
                    <a:lstStyle/>
                    <a:p>
                      <a:r>
                        <a:rPr lang="en-US" sz="1600"/>
                        <a:t>Called at </a:t>
                      </a:r>
                      <a:r>
                        <a:rPr lang="en-US" sz="1600" b="1"/>
                        <a:t>compile time</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3610270464"/>
                  </a:ext>
                </a:extLst>
              </a:tr>
              <a:tr h="794884">
                <a:tc>
                  <a:txBody>
                    <a:bodyPr/>
                    <a:lstStyle/>
                    <a:p>
                      <a:r>
                        <a:rPr lang="en-NP" sz="1600"/>
                        <a:t>5</a:t>
                      </a:r>
                    </a:p>
                  </a:txBody>
                  <a:tcPr marL="82101" marR="82101" marT="41050" marB="41050" anchor="ctr">
                    <a:lnL>
                      <a:noFill/>
                    </a:lnL>
                    <a:lnR>
                      <a:noFill/>
                    </a:lnR>
                    <a:lnT>
                      <a:noFill/>
                    </a:lnT>
                    <a:lnB>
                      <a:noFill/>
                    </a:lnB>
                    <a:noFill/>
                  </a:tcPr>
                </a:tc>
                <a:tc>
                  <a:txBody>
                    <a:bodyPr/>
                    <a:lstStyle/>
                    <a:p>
                      <a:r>
                        <a:rPr lang="en-US" sz="1600"/>
                        <a:t>The name of library functions </a:t>
                      </a:r>
                      <a:r>
                        <a:rPr lang="en-US" sz="1600" b="1"/>
                        <a:t>can’t be changed</a:t>
                      </a:r>
                      <a:r>
                        <a:rPr lang="en-US" sz="1600"/>
                        <a:t>.</a:t>
                      </a:r>
                    </a:p>
                  </a:txBody>
                  <a:tcPr marL="82101" marR="82101" marT="41050" marB="41050" anchor="ctr">
                    <a:lnL>
                      <a:noFill/>
                    </a:lnL>
                    <a:lnR>
                      <a:noFill/>
                    </a:lnR>
                    <a:lnT>
                      <a:noFill/>
                    </a:lnT>
                    <a:lnB>
                      <a:noFill/>
                    </a:lnB>
                    <a:noFill/>
                  </a:tcPr>
                </a:tc>
                <a:tc>
                  <a:txBody>
                    <a:bodyPr/>
                    <a:lstStyle/>
                    <a:p>
                      <a:r>
                        <a:rPr lang="en-US" sz="1600"/>
                        <a:t>The name of user-defined functions </a:t>
                      </a:r>
                      <a:r>
                        <a:rPr lang="en-US" sz="1600" b="1"/>
                        <a:t>can be changed</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2485102598"/>
                  </a:ext>
                </a:extLst>
              </a:tr>
              <a:tr h="794884">
                <a:tc>
                  <a:txBody>
                    <a:bodyPr/>
                    <a:lstStyle/>
                    <a:p>
                      <a:r>
                        <a:rPr lang="en-NP" sz="1600"/>
                        <a:t>6</a:t>
                      </a:r>
                    </a:p>
                  </a:txBody>
                  <a:tcPr marL="82101" marR="82101" marT="41050" marB="41050" anchor="ctr">
                    <a:lnL>
                      <a:noFill/>
                    </a:lnL>
                    <a:lnR>
                      <a:noFill/>
                    </a:lnR>
                    <a:lnT>
                      <a:noFill/>
                    </a:lnT>
                    <a:lnB>
                      <a:noFill/>
                    </a:lnB>
                    <a:noFill/>
                  </a:tcPr>
                </a:tc>
                <a:tc>
                  <a:txBody>
                    <a:bodyPr/>
                    <a:lstStyle/>
                    <a:p>
                      <a:r>
                        <a:rPr lang="en-US" sz="1600"/>
                        <a:t>Programs using library functions are usually </a:t>
                      </a:r>
                      <a:r>
                        <a:rPr lang="en-US" sz="1600" b="1"/>
                        <a:t>short</a:t>
                      </a:r>
                      <a:r>
                        <a:rPr lang="en-US" sz="1600"/>
                        <a:t>.</a:t>
                      </a:r>
                    </a:p>
                  </a:txBody>
                  <a:tcPr marL="82101" marR="82101" marT="41050" marB="41050" anchor="ctr">
                    <a:lnL>
                      <a:noFill/>
                    </a:lnL>
                    <a:lnR>
                      <a:noFill/>
                    </a:lnR>
                    <a:lnT>
                      <a:noFill/>
                    </a:lnT>
                    <a:lnB>
                      <a:noFill/>
                    </a:lnB>
                    <a:noFill/>
                  </a:tcPr>
                </a:tc>
                <a:tc>
                  <a:txBody>
                    <a:bodyPr/>
                    <a:lstStyle/>
                    <a:p>
                      <a:r>
                        <a:rPr lang="en-US" sz="1600"/>
                        <a:t>Programs using user-defined functions are usually </a:t>
                      </a:r>
                      <a:r>
                        <a:rPr lang="en-US" sz="1600" b="1"/>
                        <a:t>lengthy</a:t>
                      </a:r>
                      <a:r>
                        <a:rPr lang="en-US" sz="1600"/>
                        <a:t>.</a:t>
                      </a:r>
                    </a:p>
                  </a:txBody>
                  <a:tcPr marL="82101" marR="82101" marT="41050" marB="41050" anchor="ctr">
                    <a:lnL>
                      <a:noFill/>
                    </a:lnL>
                    <a:lnR>
                      <a:noFill/>
                    </a:lnR>
                    <a:lnT>
                      <a:noFill/>
                    </a:lnT>
                    <a:lnB>
                      <a:noFill/>
                    </a:lnB>
                    <a:noFill/>
                  </a:tcPr>
                </a:tc>
                <a:extLst>
                  <a:ext uri="{0D108BD9-81ED-4DB2-BD59-A6C34878D82A}">
                    <a16:rowId xmlns:a16="http://schemas.microsoft.com/office/drawing/2014/main" val="1565714634"/>
                  </a:ext>
                </a:extLst>
              </a:tr>
              <a:tr h="794884">
                <a:tc>
                  <a:txBody>
                    <a:bodyPr/>
                    <a:lstStyle/>
                    <a:p>
                      <a:r>
                        <a:rPr lang="en-NP" sz="1600"/>
                        <a:t>7</a:t>
                      </a:r>
                    </a:p>
                  </a:txBody>
                  <a:tcPr marL="82101" marR="82101" marT="41050" marB="41050" anchor="ctr">
                    <a:lnL>
                      <a:noFill/>
                    </a:lnL>
                    <a:lnR>
                      <a:noFill/>
                    </a:lnR>
                    <a:lnT>
                      <a:noFill/>
                    </a:lnT>
                    <a:lnB>
                      <a:noFill/>
                    </a:lnB>
                    <a:noFill/>
                  </a:tcPr>
                </a:tc>
                <a:tc>
                  <a:txBody>
                    <a:bodyPr/>
                    <a:lstStyle/>
                    <a:p>
                      <a:r>
                        <a:rPr lang="en-US" sz="1600" b="1"/>
                        <a:t>Examples:</a:t>
                      </a:r>
                      <a:r>
                        <a:rPr lang="en-US" sz="1600"/>
                        <a:t> printf(), scanf(), strupr(), strlen() etc.</a:t>
                      </a:r>
                    </a:p>
                  </a:txBody>
                  <a:tcPr marL="82101" marR="82101" marT="41050" marB="41050" anchor="ctr">
                    <a:lnL>
                      <a:noFill/>
                    </a:lnL>
                    <a:lnR>
                      <a:noFill/>
                    </a:lnR>
                    <a:lnT>
                      <a:noFill/>
                    </a:lnT>
                    <a:lnB>
                      <a:noFill/>
                    </a:lnB>
                    <a:noFill/>
                  </a:tcPr>
                </a:tc>
                <a:tc>
                  <a:txBody>
                    <a:bodyPr/>
                    <a:lstStyle/>
                    <a:p>
                      <a:r>
                        <a:rPr lang="en-US" sz="1600" b="1" dirty="0"/>
                        <a:t>Examples:</a:t>
                      </a:r>
                      <a:r>
                        <a:rPr lang="en-US" sz="1600" dirty="0"/>
                        <a:t> day(), product(), sum(), diff() etc.</a:t>
                      </a:r>
                    </a:p>
                  </a:txBody>
                  <a:tcPr marL="82101" marR="82101" marT="41050" marB="41050" anchor="ctr">
                    <a:lnL>
                      <a:noFill/>
                    </a:lnL>
                    <a:lnR>
                      <a:noFill/>
                    </a:lnR>
                    <a:lnT>
                      <a:noFill/>
                    </a:lnT>
                    <a:lnB>
                      <a:noFill/>
                    </a:lnB>
                    <a:noFill/>
                  </a:tcPr>
                </a:tc>
                <a:extLst>
                  <a:ext uri="{0D108BD9-81ED-4DB2-BD59-A6C34878D82A}">
                    <a16:rowId xmlns:a16="http://schemas.microsoft.com/office/drawing/2014/main" val="886216557"/>
                  </a:ext>
                </a:extLst>
              </a:tr>
            </a:tbl>
          </a:graphicData>
        </a:graphic>
      </p:graphicFrame>
    </p:spTree>
    <p:extLst>
      <p:ext uri="{BB962C8B-B14F-4D97-AF65-F5344CB8AC3E}">
        <p14:creationId xmlns:p14="http://schemas.microsoft.com/office/powerpoint/2010/main" val="3980650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004CC5-7636-9417-3C25-B4E58EB390D1}"/>
              </a:ext>
            </a:extLst>
          </p:cNvPr>
          <p:cNvSpPr>
            <a:spLocks noGrp="1"/>
          </p:cNvSpPr>
          <p:nvPr>
            <p:ph sz="half" idx="1"/>
          </p:nvPr>
        </p:nvSpPr>
        <p:spPr>
          <a:xfrm>
            <a:off x="907166" y="636608"/>
            <a:ext cx="10377668" cy="5945469"/>
          </a:xfrm>
        </p:spPr>
        <p:txBody>
          <a:bodyPr>
            <a:normAutofit fontScale="92500" lnSpcReduction="10000"/>
          </a:bodyPr>
          <a:lstStyle/>
          <a:p>
            <a:pPr marL="0" indent="0" algn="just">
              <a:buNone/>
            </a:pPr>
            <a:r>
              <a:rPr lang="en-US" b="1" dirty="0"/>
              <a:t>4)  Pointers</a:t>
            </a:r>
            <a:endParaRPr lang="en-US" dirty="0"/>
          </a:p>
          <a:p>
            <a:pPr algn="just">
              <a:buFont typeface="Wingdings" pitchFamily="2" charset="2"/>
              <a:buChar char="Ø"/>
            </a:pPr>
            <a:r>
              <a:rPr lang="en-NP" dirty="0"/>
              <a:t>Pointer is a variable that points to another variable which means it contains the memory  address of another variable and is declared as the pointer type. It contains only the  memory location of the variable rather than its contents. </a:t>
            </a:r>
          </a:p>
          <a:p>
            <a:pPr algn="just">
              <a:buFont typeface="Wingdings" pitchFamily="2" charset="2"/>
              <a:buChar char="Ø"/>
            </a:pPr>
            <a:r>
              <a:rPr lang="en-NP" b="1" i="1" dirty="0"/>
              <a:t>A pointer is a special type of variable that represent memory address of a variable rather  than its value. </a:t>
            </a:r>
          </a:p>
          <a:p>
            <a:pPr>
              <a:buFont typeface="Wingdings" pitchFamily="2" charset="2"/>
              <a:buChar char="Ø"/>
            </a:pPr>
            <a:r>
              <a:rPr lang="en-NP" b="1" u="sng" dirty="0"/>
              <a:t>Features of Pointer</a:t>
            </a:r>
            <a:r>
              <a:rPr lang="en-NP" b="1" dirty="0"/>
              <a:t> </a:t>
            </a:r>
            <a:endParaRPr lang="en-NP" dirty="0"/>
          </a:p>
          <a:p>
            <a:r>
              <a:rPr lang="en-NP" dirty="0"/>
              <a:t>Pointer saves memory space. </a:t>
            </a:r>
          </a:p>
          <a:p>
            <a:r>
              <a:rPr lang="en-NP" dirty="0"/>
              <a:t>Pointer assigns the memory space and also releases it which makes the best use of  the available memory. </a:t>
            </a:r>
          </a:p>
          <a:p>
            <a:r>
              <a:rPr lang="en-NP" dirty="0"/>
              <a:t>The execution time is faster because data manipulation is done directly inside  memory. </a:t>
            </a:r>
          </a:p>
          <a:p>
            <a:r>
              <a:rPr lang="en-NP" dirty="0"/>
              <a:t>Manipulation of data at different memory locations is easier. </a:t>
            </a:r>
          </a:p>
          <a:p>
            <a:r>
              <a:rPr lang="en-NP" dirty="0"/>
              <a:t>Dynamic memory allocation. </a:t>
            </a:r>
          </a:p>
          <a:p>
            <a:pPr marL="0" indent="0" algn="just">
              <a:buNone/>
            </a:pPr>
            <a:endParaRPr lang="en-NP" b="1" i="1" dirty="0"/>
          </a:p>
          <a:p>
            <a:pPr marL="0" indent="0" algn="just">
              <a:buNone/>
            </a:pPr>
            <a:endParaRPr lang="en-NP" dirty="0"/>
          </a:p>
        </p:txBody>
      </p:sp>
    </p:spTree>
    <p:extLst>
      <p:ext uri="{BB962C8B-B14F-4D97-AF65-F5344CB8AC3E}">
        <p14:creationId xmlns:p14="http://schemas.microsoft.com/office/powerpoint/2010/main" val="360866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3AF99C-3AD4-0F5F-F089-2AC92382F571}"/>
              </a:ext>
            </a:extLst>
          </p:cNvPr>
          <p:cNvSpPr>
            <a:spLocks noGrp="1"/>
          </p:cNvSpPr>
          <p:nvPr>
            <p:ph sz="half" idx="1"/>
          </p:nvPr>
        </p:nvSpPr>
        <p:spPr>
          <a:xfrm>
            <a:off x="838199" y="326571"/>
            <a:ext cx="10738758" cy="6531429"/>
          </a:xfrm>
        </p:spPr>
        <p:txBody>
          <a:bodyPr>
            <a:normAutofit fontScale="92500" lnSpcReduction="20000"/>
          </a:bodyPr>
          <a:lstStyle/>
          <a:p>
            <a:pPr marL="0" indent="0">
              <a:buNone/>
            </a:pPr>
            <a:r>
              <a:rPr lang="en-NP" b="1" u="sng" dirty="0"/>
              <a:t>Declaring a pointer variable</a:t>
            </a:r>
            <a:r>
              <a:rPr lang="en-NP" b="1" dirty="0"/>
              <a:t> </a:t>
            </a:r>
            <a:endParaRPr lang="en-NP" dirty="0"/>
          </a:p>
          <a:p>
            <a:pPr>
              <a:buFont typeface="Wingdings" pitchFamily="2" charset="2"/>
              <a:buChar char="Ø"/>
            </a:pPr>
            <a:r>
              <a:rPr lang="en-NP" dirty="0"/>
              <a:t>To declare and refer a pointer variable, provides two special operators  </a:t>
            </a:r>
            <a:r>
              <a:rPr lang="en-NP" b="1" dirty="0"/>
              <a:t>&amp; </a:t>
            </a:r>
            <a:r>
              <a:rPr lang="en-NP" dirty="0"/>
              <a:t>and </a:t>
            </a:r>
            <a:r>
              <a:rPr lang="en-NP" b="1" dirty="0"/>
              <a:t>* . </a:t>
            </a:r>
            <a:r>
              <a:rPr lang="en-NP" dirty="0"/>
              <a:t>Address operator(ampersand): &amp; This operator gives the memory address of the variable. </a:t>
            </a:r>
          </a:p>
          <a:p>
            <a:pPr>
              <a:buFont typeface="Wingdings" pitchFamily="2" charset="2"/>
              <a:buChar char="Ø"/>
            </a:pPr>
            <a:r>
              <a:rPr lang="en-NP" dirty="0"/>
              <a:t> Indirection operator: * </a:t>
            </a:r>
          </a:p>
          <a:p>
            <a:pPr marL="0" indent="0">
              <a:buNone/>
            </a:pPr>
            <a:r>
              <a:rPr lang="en-NP" dirty="0"/>
              <a:t>     This operator gives the value of the variable at the specified address. </a:t>
            </a:r>
            <a:r>
              <a:rPr lang="en-NP" b="1" u="sng" dirty="0"/>
              <a:t>Example:</a:t>
            </a:r>
            <a:r>
              <a:rPr lang="en-NP" b="1" dirty="0"/>
              <a:t> </a:t>
            </a:r>
            <a:endParaRPr lang="en-NP" dirty="0"/>
          </a:p>
          <a:p>
            <a:r>
              <a:rPr lang="en-NP" dirty="0"/>
              <a:t>i = 100                    </a:t>
            </a:r>
          </a:p>
          <a:p>
            <a:r>
              <a:rPr lang="en-NP" dirty="0"/>
              <a:t>i Memory  address </a:t>
            </a:r>
          </a:p>
          <a:p>
            <a:pPr marL="0" indent="0">
              <a:buNone/>
            </a:pPr>
            <a:r>
              <a:rPr lang="en-NP" dirty="0"/>
              <a:t>                  i=100                memory address of i=1004</a:t>
            </a:r>
          </a:p>
          <a:p>
            <a:pPr marL="0" indent="0">
              <a:buNone/>
            </a:pPr>
            <a:endParaRPr lang="en-NP" dirty="0"/>
          </a:p>
          <a:p>
            <a:r>
              <a:rPr lang="en-NP" dirty="0"/>
              <a:t>&amp;i -&gt; it points the memory address i.e., 1004 </a:t>
            </a:r>
          </a:p>
          <a:p>
            <a:r>
              <a:rPr lang="en-NP" dirty="0"/>
              <a:t>*i -&gt; it points value of the variable i i.e., 100 </a:t>
            </a:r>
          </a:p>
          <a:p>
            <a:pPr marL="0" indent="0">
              <a:buNone/>
            </a:pPr>
            <a:r>
              <a:rPr lang="en-NP" b="1" u="sng" dirty="0"/>
              <a:t>Types of pointer variable declaration:</a:t>
            </a:r>
            <a:r>
              <a:rPr lang="en-NP" b="1" dirty="0"/>
              <a:t> </a:t>
            </a:r>
            <a:endParaRPr lang="en-NP" dirty="0"/>
          </a:p>
          <a:p>
            <a:pPr>
              <a:buFont typeface="Wingdings" pitchFamily="2" charset="2"/>
              <a:buChar char="Ø"/>
            </a:pPr>
            <a:r>
              <a:rPr lang="en-NP" dirty="0"/>
              <a:t>char *ptr, *name; pointer to character type variable int *ptr, *num; pointer to integer type variable float *ptr, *marks; pointer to float type variable char *address[50]; pointer to character array. </a:t>
            </a:r>
            <a:r>
              <a:rPr lang="en-NP" b="1" dirty="0"/>
              <a:t>Example:</a:t>
            </a:r>
            <a:endParaRPr lang="en-NP" dirty="0"/>
          </a:p>
          <a:p>
            <a:pPr marL="0" indent="0">
              <a:buNone/>
            </a:pPr>
            <a:endParaRPr lang="en-NP" dirty="0"/>
          </a:p>
        </p:txBody>
      </p:sp>
      <p:sp>
        <p:nvSpPr>
          <p:cNvPr id="11" name="Rectangle 10">
            <a:extLst>
              <a:ext uri="{FF2B5EF4-FFF2-40B4-BE49-F238E27FC236}">
                <a16:creationId xmlns:a16="http://schemas.microsoft.com/office/drawing/2014/main" id="{FEA24685-F265-F5C8-E7DF-0CBD1F24A6DF}"/>
              </a:ext>
            </a:extLst>
          </p:cNvPr>
          <p:cNvSpPr/>
          <p:nvPr/>
        </p:nvSpPr>
        <p:spPr>
          <a:xfrm>
            <a:off x="1822358" y="3854791"/>
            <a:ext cx="1678329" cy="406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NP" dirty="0"/>
              <a:t>100</a:t>
            </a:r>
          </a:p>
        </p:txBody>
      </p:sp>
      <p:sp>
        <p:nvSpPr>
          <p:cNvPr id="12" name="Rectangle 11">
            <a:extLst>
              <a:ext uri="{FF2B5EF4-FFF2-40B4-BE49-F238E27FC236}">
                <a16:creationId xmlns:a16="http://schemas.microsoft.com/office/drawing/2014/main" id="{7E10F387-2343-A86C-DDFC-3A4880D3435A}"/>
              </a:ext>
            </a:extLst>
          </p:cNvPr>
          <p:cNvSpPr/>
          <p:nvPr/>
        </p:nvSpPr>
        <p:spPr>
          <a:xfrm>
            <a:off x="4027645" y="3854791"/>
            <a:ext cx="2552769" cy="4069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NP" dirty="0"/>
              <a:t>1004</a:t>
            </a:r>
          </a:p>
        </p:txBody>
      </p:sp>
    </p:spTree>
    <p:extLst>
      <p:ext uri="{BB962C8B-B14F-4D97-AF65-F5344CB8AC3E}">
        <p14:creationId xmlns:p14="http://schemas.microsoft.com/office/powerpoint/2010/main" val="12315385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198B9-9B36-0A44-CBA3-6827B08F959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F6A79A3A-B46C-6E0E-5BBB-D1E2D19B7757}"/>
              </a:ext>
            </a:extLst>
          </p:cNvPr>
          <p:cNvSpPr>
            <a:spLocks noChangeArrowheads="1"/>
          </p:cNvSpPr>
          <p:nvPr/>
        </p:nvSpPr>
        <p:spPr bwMode="auto">
          <a:xfrm>
            <a:off x="838199" y="294427"/>
            <a:ext cx="88664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P" altLang="en-NP" sz="2000" b="1" i="0" u="none" strike="noStrike" cap="none" normalizeH="0" baseline="0" dirty="0">
                <a:ln>
                  <a:noFill/>
                </a:ln>
                <a:effectLst/>
                <a:highlight>
                  <a:srgbClr val="FFFF00"/>
                </a:highlight>
                <a:latin typeface="Arial" panose="020B0604020202020204" pitchFamily="34" charset="0"/>
                <a:ea typeface="Cambria" panose="02040503050406030204" pitchFamily="18" charset="0"/>
                <a:cs typeface="Cambria" panose="02040503050406030204" pitchFamily="18" charset="0"/>
              </a:rPr>
              <a:t>A sample program to demonstrate address and value. </a:t>
            </a:r>
            <a:endParaRPr kumimoji="0" lang="en-NP" altLang="en-NP" sz="2000" b="0" i="0" u="none" strike="noStrike" cap="none" normalizeH="0" baseline="0" dirty="0">
              <a:ln>
                <a:noFill/>
              </a:ln>
              <a:effectLst/>
              <a:highlight>
                <a:srgbClr val="FFFF00"/>
              </a:highlight>
              <a:latin typeface="Arial" panose="020B0604020202020204" pitchFamily="34" charset="0"/>
            </a:endParaRPr>
          </a:p>
        </p:txBody>
      </p:sp>
      <p:sp>
        <p:nvSpPr>
          <p:cNvPr id="6" name="Content Placeholder 5">
            <a:extLst>
              <a:ext uri="{FF2B5EF4-FFF2-40B4-BE49-F238E27FC236}">
                <a16:creationId xmlns:a16="http://schemas.microsoft.com/office/drawing/2014/main" id="{6CCED98F-5EBF-02D4-01B8-E425DDC1C8B9}"/>
              </a:ext>
            </a:extLst>
          </p:cNvPr>
          <p:cNvSpPr>
            <a:spLocks noGrp="1"/>
          </p:cNvSpPr>
          <p:nvPr>
            <p:ph sz="half" idx="1"/>
          </p:nvPr>
        </p:nvSpPr>
        <p:spPr>
          <a:xfrm>
            <a:off x="838199" y="947056"/>
            <a:ext cx="10836730" cy="5570351"/>
          </a:xfrm>
        </p:spPr>
        <p:txBody>
          <a:bodyPr>
            <a:normAutofit fontScale="70000" lnSpcReduction="20000"/>
          </a:bodyPr>
          <a:lstStyle/>
          <a:p>
            <a:pPr marL="0" indent="0">
              <a:buNone/>
            </a:pPr>
            <a:r>
              <a:rPr lang="en-US" sz="3500" b="1" dirty="0"/>
              <a:t>#include&lt;</a:t>
            </a:r>
            <a:r>
              <a:rPr lang="en-US" sz="3500" b="1" dirty="0" err="1"/>
              <a:t>stdio.h</a:t>
            </a:r>
            <a:r>
              <a:rPr lang="en-US" sz="3500" b="1" dirty="0"/>
              <a:t>&gt; </a:t>
            </a:r>
          </a:p>
          <a:p>
            <a:pPr marL="0" indent="0">
              <a:buNone/>
            </a:pPr>
            <a:r>
              <a:rPr lang="en-US" sz="3500" b="1" dirty="0"/>
              <a:t>int main() </a:t>
            </a:r>
          </a:p>
          <a:p>
            <a:pPr marL="0" indent="0">
              <a:buNone/>
            </a:pPr>
            <a:r>
              <a:rPr lang="en-US" sz="3500" b="1" dirty="0"/>
              <a:t>{ </a:t>
            </a:r>
          </a:p>
          <a:p>
            <a:pPr marL="0" indent="0">
              <a:buNone/>
            </a:pPr>
            <a:r>
              <a:rPr lang="en-US" sz="3500" b="1" dirty="0"/>
              <a:t>int *p; </a:t>
            </a:r>
          </a:p>
          <a:p>
            <a:pPr marL="0" indent="0">
              <a:buNone/>
            </a:pPr>
            <a:r>
              <a:rPr lang="en-US" sz="3500" b="1" dirty="0"/>
              <a:t>int q=10; </a:t>
            </a:r>
          </a:p>
          <a:p>
            <a:pPr marL="0" indent="0">
              <a:buNone/>
            </a:pPr>
            <a:r>
              <a:rPr lang="en-US" sz="3500" b="1" dirty="0"/>
              <a:t>p = &amp;q; </a:t>
            </a:r>
          </a:p>
          <a:p>
            <a:pPr marL="0" indent="0">
              <a:buNone/>
            </a:pPr>
            <a:r>
              <a:rPr lang="en-US" sz="3500" b="1" dirty="0" err="1"/>
              <a:t>printf</a:t>
            </a:r>
            <a:r>
              <a:rPr lang="en-US" sz="3500" b="1" dirty="0"/>
              <a:t>("The value of q is: %d", *p); </a:t>
            </a:r>
          </a:p>
          <a:p>
            <a:pPr marL="0" indent="0">
              <a:buNone/>
            </a:pPr>
            <a:r>
              <a:rPr lang="en-US" sz="3500" b="1" dirty="0" err="1"/>
              <a:t>printf</a:t>
            </a:r>
            <a:r>
              <a:rPr lang="en-US" sz="3500" b="1" dirty="0"/>
              <a:t>("\</a:t>
            </a:r>
            <a:r>
              <a:rPr lang="en-US" sz="3500" b="1" dirty="0" err="1"/>
              <a:t>nThe</a:t>
            </a:r>
            <a:r>
              <a:rPr lang="en-US" sz="3500" b="1" dirty="0"/>
              <a:t> address of q is: %d", p); </a:t>
            </a:r>
          </a:p>
          <a:p>
            <a:pPr marL="0" indent="0">
              <a:buNone/>
            </a:pPr>
            <a:r>
              <a:rPr lang="en-US" sz="3500" b="1" dirty="0"/>
              <a:t>return 0; </a:t>
            </a:r>
          </a:p>
          <a:p>
            <a:pPr marL="0" indent="0">
              <a:buNone/>
            </a:pPr>
            <a:r>
              <a:rPr lang="en-US" sz="3500" b="1" dirty="0"/>
              <a:t>} </a:t>
            </a:r>
          </a:p>
          <a:p>
            <a:pPr marL="0" indent="0">
              <a:buNone/>
            </a:pPr>
            <a:endParaRPr lang="en-US" sz="3500" b="1" dirty="0"/>
          </a:p>
          <a:p>
            <a:pPr marL="0" indent="0">
              <a:buNone/>
            </a:pPr>
            <a:br>
              <a:rPr lang="en-US" dirty="0"/>
            </a:br>
            <a:endParaRPr lang="en-US" dirty="0"/>
          </a:p>
          <a:p>
            <a:pPr marL="0" indent="0">
              <a:buNone/>
            </a:pPr>
            <a:br>
              <a:rPr lang="en-US" dirty="0"/>
            </a:br>
            <a:endParaRPr lang="en-US" dirty="0"/>
          </a:p>
        </p:txBody>
      </p:sp>
      <p:pic>
        <p:nvPicPr>
          <p:cNvPr id="8" name="Picture 7">
            <a:extLst>
              <a:ext uri="{FF2B5EF4-FFF2-40B4-BE49-F238E27FC236}">
                <a16:creationId xmlns:a16="http://schemas.microsoft.com/office/drawing/2014/main" id="{673D474C-976A-B9C3-A548-E419A18849FF}"/>
              </a:ext>
            </a:extLst>
          </p:cNvPr>
          <p:cNvPicPr>
            <a:picLocks noChangeAspect="1"/>
          </p:cNvPicPr>
          <p:nvPr/>
        </p:nvPicPr>
        <p:blipFill>
          <a:blip r:embed="rId2"/>
          <a:stretch>
            <a:fillRect/>
          </a:stretch>
        </p:blipFill>
        <p:spPr>
          <a:xfrm>
            <a:off x="3842658" y="4613975"/>
            <a:ext cx="7198178" cy="1296969"/>
          </a:xfrm>
          <a:prstGeom prst="rect">
            <a:avLst/>
          </a:prstGeom>
        </p:spPr>
      </p:pic>
    </p:spTree>
    <p:extLst>
      <p:ext uri="{BB962C8B-B14F-4D97-AF65-F5344CB8AC3E}">
        <p14:creationId xmlns:p14="http://schemas.microsoft.com/office/powerpoint/2010/main" val="2672024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055995-9084-EC96-7E92-4AAF6A1A00AD}"/>
              </a:ext>
            </a:extLst>
          </p:cNvPr>
          <p:cNvSpPr>
            <a:spLocks noGrp="1"/>
          </p:cNvSpPr>
          <p:nvPr>
            <p:ph sz="half" idx="1"/>
          </p:nvPr>
        </p:nvSpPr>
        <p:spPr>
          <a:xfrm>
            <a:off x="538843" y="375557"/>
            <a:ext cx="11070771" cy="5801406"/>
          </a:xfrm>
        </p:spPr>
        <p:txBody>
          <a:bodyPr>
            <a:normAutofit fontScale="40000" lnSpcReduction="20000"/>
          </a:bodyPr>
          <a:lstStyle/>
          <a:p>
            <a:pPr marL="0" indent="0">
              <a:buNone/>
            </a:pPr>
            <a:endParaRPr lang="en-US" b="1" dirty="0"/>
          </a:p>
          <a:p>
            <a:pPr marL="0" indent="0">
              <a:buNone/>
            </a:pPr>
            <a:r>
              <a:rPr lang="en-NP" sz="5000" b="1" dirty="0">
                <a:highlight>
                  <a:srgbClr val="FFFF00"/>
                </a:highlight>
              </a:rPr>
              <a:t>1) WAP to sum two numbers 10 and 5 using pointers. </a:t>
            </a:r>
          </a:p>
          <a:p>
            <a:pPr marL="0" indent="0">
              <a:buNone/>
            </a:pPr>
            <a:endParaRPr lang="en-US" b="1" dirty="0"/>
          </a:p>
          <a:p>
            <a:pPr marL="0" indent="0">
              <a:buNone/>
            </a:pPr>
            <a:r>
              <a:rPr lang="en-US" sz="6700" b="1" dirty="0"/>
              <a:t>#include&lt;</a:t>
            </a:r>
            <a:r>
              <a:rPr lang="en-US" sz="6700" b="1" dirty="0" err="1"/>
              <a:t>stdio.h</a:t>
            </a:r>
            <a:r>
              <a:rPr lang="en-US" sz="6700" b="1" dirty="0"/>
              <a:t>&gt; </a:t>
            </a:r>
          </a:p>
          <a:p>
            <a:pPr marL="0" indent="0">
              <a:buNone/>
            </a:pPr>
            <a:r>
              <a:rPr lang="en-US" sz="6700" b="1" dirty="0"/>
              <a:t>int main() </a:t>
            </a:r>
          </a:p>
          <a:p>
            <a:pPr marL="0" indent="0">
              <a:buNone/>
            </a:pPr>
            <a:r>
              <a:rPr lang="en-US" sz="6700" b="1" dirty="0"/>
              <a:t>{ </a:t>
            </a:r>
          </a:p>
          <a:p>
            <a:pPr marL="0" indent="0">
              <a:buNone/>
            </a:pPr>
            <a:r>
              <a:rPr lang="en-US" sz="6700" b="1" dirty="0"/>
              <a:t>int *p, *q, a=10, b=5, sum; </a:t>
            </a:r>
          </a:p>
          <a:p>
            <a:pPr marL="0" indent="0">
              <a:buNone/>
            </a:pPr>
            <a:r>
              <a:rPr lang="en-US" sz="6700" b="1" dirty="0"/>
              <a:t>p = &amp;a; </a:t>
            </a:r>
          </a:p>
          <a:p>
            <a:pPr marL="0" indent="0">
              <a:buNone/>
            </a:pPr>
            <a:r>
              <a:rPr lang="en-US" sz="6700" b="1" dirty="0"/>
              <a:t>q = &amp;b; </a:t>
            </a:r>
          </a:p>
          <a:p>
            <a:pPr marL="0" indent="0">
              <a:buNone/>
            </a:pPr>
            <a:r>
              <a:rPr lang="en-US" sz="6700" b="1" dirty="0"/>
              <a:t>sum = *p + *q; </a:t>
            </a:r>
          </a:p>
          <a:p>
            <a:pPr marL="0" indent="0">
              <a:buNone/>
            </a:pPr>
            <a:r>
              <a:rPr lang="en-US" sz="6700" b="1" dirty="0" err="1"/>
              <a:t>printf</a:t>
            </a:r>
            <a:r>
              <a:rPr lang="en-US" sz="6700" b="1" dirty="0"/>
              <a:t>("Sum is: %d", sum); </a:t>
            </a:r>
          </a:p>
          <a:p>
            <a:pPr marL="0" indent="0">
              <a:buNone/>
            </a:pPr>
            <a:r>
              <a:rPr lang="en-US" sz="6700" b="1" dirty="0" err="1"/>
              <a:t>printf</a:t>
            </a:r>
            <a:r>
              <a:rPr lang="en-US" sz="6700" b="1" dirty="0"/>
              <a:t>("\</a:t>
            </a:r>
            <a:r>
              <a:rPr lang="en-US" sz="6700" b="1" dirty="0" err="1"/>
              <a:t>nSum</a:t>
            </a:r>
            <a:r>
              <a:rPr lang="en-US" sz="6700" b="1" dirty="0"/>
              <a:t> is: %d", *p + *q); </a:t>
            </a:r>
          </a:p>
          <a:p>
            <a:pPr marL="0" indent="0">
              <a:buNone/>
            </a:pPr>
            <a:r>
              <a:rPr lang="en-US" sz="6700" b="1" dirty="0"/>
              <a:t>return 0; </a:t>
            </a:r>
          </a:p>
          <a:p>
            <a:pPr marL="0" indent="0">
              <a:buNone/>
            </a:pPr>
            <a:r>
              <a:rPr lang="en-US" sz="6700" b="1" dirty="0"/>
              <a:t>}</a:t>
            </a:r>
          </a:p>
          <a:p>
            <a:pPr marL="0" indent="0">
              <a:buNone/>
            </a:pPr>
            <a:br>
              <a:rPr lang="en-US" dirty="0"/>
            </a:br>
            <a:endParaRPr lang="en-US" dirty="0"/>
          </a:p>
          <a:p>
            <a:pPr marL="0" indent="0">
              <a:buNone/>
            </a:pPr>
            <a:endParaRPr lang="en-NP" dirty="0"/>
          </a:p>
        </p:txBody>
      </p:sp>
      <p:pic>
        <p:nvPicPr>
          <p:cNvPr id="5" name="Picture 4">
            <a:extLst>
              <a:ext uri="{FF2B5EF4-FFF2-40B4-BE49-F238E27FC236}">
                <a16:creationId xmlns:a16="http://schemas.microsoft.com/office/drawing/2014/main" id="{A84D09E9-B9D5-FB34-206A-DAB25FCC0B34}"/>
              </a:ext>
            </a:extLst>
          </p:cNvPr>
          <p:cNvPicPr>
            <a:picLocks noChangeAspect="1"/>
          </p:cNvPicPr>
          <p:nvPr/>
        </p:nvPicPr>
        <p:blipFill>
          <a:blip r:embed="rId2"/>
          <a:stretch>
            <a:fillRect/>
          </a:stretch>
        </p:blipFill>
        <p:spPr>
          <a:xfrm>
            <a:off x="5842906" y="1534886"/>
            <a:ext cx="5472793" cy="914400"/>
          </a:xfrm>
          <a:prstGeom prst="rect">
            <a:avLst/>
          </a:prstGeom>
        </p:spPr>
      </p:pic>
    </p:spTree>
    <p:extLst>
      <p:ext uri="{BB962C8B-B14F-4D97-AF65-F5344CB8AC3E}">
        <p14:creationId xmlns:p14="http://schemas.microsoft.com/office/powerpoint/2010/main" val="3594252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1571420-C3D2-92E8-2613-D926C2D27C68}"/>
              </a:ext>
            </a:extLst>
          </p:cNvPr>
          <p:cNvSpPr>
            <a:spLocks noGrp="1"/>
          </p:cNvSpPr>
          <p:nvPr>
            <p:ph idx="1"/>
          </p:nvPr>
        </p:nvSpPr>
        <p:spPr>
          <a:xfrm>
            <a:off x="489858" y="130628"/>
            <a:ext cx="11462656" cy="6727372"/>
          </a:xfrm>
        </p:spPr>
        <p:txBody>
          <a:bodyPr>
            <a:noAutofit/>
          </a:bodyPr>
          <a:lstStyle/>
          <a:p>
            <a:pPr marL="0" indent="0">
              <a:lnSpc>
                <a:spcPct val="100000"/>
              </a:lnSpc>
              <a:spcBef>
                <a:spcPts val="0"/>
              </a:spcBef>
              <a:buNone/>
            </a:pPr>
            <a:r>
              <a:rPr lang="en-US" sz="2400" b="1" dirty="0">
                <a:highlight>
                  <a:srgbClr val="FFFF00"/>
                </a:highlight>
              </a:rPr>
              <a:t>2) WAP to perform arithmetic calculations (sum, difference, multiplication and  division) of two numbers using pointers.</a:t>
            </a:r>
          </a:p>
          <a:p>
            <a:pPr marL="0" indent="0">
              <a:lnSpc>
                <a:spcPct val="100000"/>
              </a:lnSpc>
              <a:spcBef>
                <a:spcPts val="0"/>
              </a:spcBef>
              <a:buNone/>
            </a:pPr>
            <a:endParaRPr lang="en-US" sz="2400" dirty="0"/>
          </a:p>
          <a:p>
            <a:pPr marL="0" indent="0">
              <a:lnSpc>
                <a:spcPct val="100000"/>
              </a:lnSpc>
              <a:spcBef>
                <a:spcPts val="0"/>
              </a:spcBef>
              <a:buNone/>
            </a:pPr>
            <a:r>
              <a:rPr lang="en-US" sz="2400" b="1" dirty="0"/>
              <a:t>#include&lt;</a:t>
            </a:r>
            <a:r>
              <a:rPr lang="en-US" sz="2400" b="1" dirty="0" err="1"/>
              <a:t>stdio.h</a:t>
            </a:r>
            <a:r>
              <a:rPr lang="en-US" sz="2400" b="1" dirty="0"/>
              <a:t>&gt;</a:t>
            </a:r>
          </a:p>
          <a:p>
            <a:pPr marL="0" indent="0">
              <a:lnSpc>
                <a:spcPct val="100000"/>
              </a:lnSpc>
              <a:spcBef>
                <a:spcPts val="0"/>
              </a:spcBef>
              <a:buNone/>
            </a:pPr>
            <a:r>
              <a:rPr lang="en-US" sz="2400" b="1" dirty="0"/>
              <a:t>int main() </a:t>
            </a:r>
          </a:p>
          <a:p>
            <a:pPr marL="0" indent="0">
              <a:lnSpc>
                <a:spcPct val="100000"/>
              </a:lnSpc>
              <a:spcBef>
                <a:spcPts val="0"/>
              </a:spcBef>
              <a:buNone/>
            </a:pPr>
            <a:r>
              <a:rPr lang="en-US" sz="2400" b="1" dirty="0"/>
              <a:t>{ </a:t>
            </a:r>
          </a:p>
          <a:p>
            <a:pPr marL="0" indent="0">
              <a:lnSpc>
                <a:spcPct val="100000"/>
              </a:lnSpc>
              <a:spcBef>
                <a:spcPts val="0"/>
              </a:spcBef>
              <a:buNone/>
            </a:pPr>
            <a:r>
              <a:rPr lang="en-US" sz="2400" b="1" dirty="0"/>
              <a:t>int n1, n2, *x, *y; </a:t>
            </a:r>
          </a:p>
          <a:p>
            <a:pPr marL="0" indent="0">
              <a:lnSpc>
                <a:spcPct val="100000"/>
              </a:lnSpc>
              <a:spcBef>
                <a:spcPts val="0"/>
              </a:spcBef>
              <a:buNone/>
            </a:pPr>
            <a:r>
              <a:rPr lang="en-US" sz="2400" b="1" dirty="0" err="1"/>
              <a:t>printf</a:t>
            </a:r>
            <a:r>
              <a:rPr lang="en-US" sz="2400" b="1" dirty="0"/>
              <a:t>("Enter two numbers :"); </a:t>
            </a:r>
          </a:p>
          <a:p>
            <a:pPr marL="0" indent="0">
              <a:lnSpc>
                <a:spcPct val="100000"/>
              </a:lnSpc>
              <a:spcBef>
                <a:spcPts val="0"/>
              </a:spcBef>
              <a:buNone/>
            </a:pPr>
            <a:r>
              <a:rPr lang="en-US" sz="2400" b="1" dirty="0" err="1"/>
              <a:t>scanf</a:t>
            </a:r>
            <a:r>
              <a:rPr lang="en-US" sz="2400" b="1" dirty="0"/>
              <a:t>("%d %d",&amp;n1,&amp;n2); </a:t>
            </a:r>
          </a:p>
          <a:p>
            <a:pPr marL="0" indent="0">
              <a:lnSpc>
                <a:spcPct val="100000"/>
              </a:lnSpc>
              <a:spcBef>
                <a:spcPts val="0"/>
              </a:spcBef>
              <a:buNone/>
            </a:pPr>
            <a:r>
              <a:rPr lang="en-US" sz="2400" b="1" dirty="0"/>
              <a:t>x=&amp;n1; </a:t>
            </a:r>
          </a:p>
          <a:p>
            <a:pPr marL="0" indent="0">
              <a:lnSpc>
                <a:spcPct val="100000"/>
              </a:lnSpc>
              <a:spcBef>
                <a:spcPts val="0"/>
              </a:spcBef>
              <a:buNone/>
            </a:pPr>
            <a:r>
              <a:rPr lang="en-US" sz="2400" b="1" dirty="0"/>
              <a:t>y=&amp;n2; </a:t>
            </a:r>
          </a:p>
          <a:p>
            <a:pPr marL="0" indent="0">
              <a:lnSpc>
                <a:spcPct val="100000"/>
              </a:lnSpc>
              <a:spcBef>
                <a:spcPts val="0"/>
              </a:spcBef>
              <a:buNone/>
            </a:pPr>
            <a:r>
              <a:rPr lang="en-US" sz="2400" b="1" dirty="0" err="1"/>
              <a:t>printf</a:t>
            </a:r>
            <a:r>
              <a:rPr lang="en-US" sz="2400" b="1" dirty="0"/>
              <a:t>("Sum=%d\n", *x + *y); </a:t>
            </a:r>
          </a:p>
          <a:p>
            <a:pPr marL="0" indent="0">
              <a:lnSpc>
                <a:spcPct val="100000"/>
              </a:lnSpc>
              <a:spcBef>
                <a:spcPts val="0"/>
              </a:spcBef>
              <a:buNone/>
            </a:pPr>
            <a:r>
              <a:rPr lang="en-US" sz="2400" b="1" dirty="0" err="1"/>
              <a:t>printf</a:t>
            </a:r>
            <a:r>
              <a:rPr lang="en-US" sz="2400" b="1" dirty="0"/>
              <a:t>("Difference=%d\n", *x - *y); </a:t>
            </a:r>
          </a:p>
          <a:p>
            <a:pPr marL="0" indent="0">
              <a:lnSpc>
                <a:spcPct val="100000"/>
              </a:lnSpc>
              <a:spcBef>
                <a:spcPts val="0"/>
              </a:spcBef>
              <a:buNone/>
            </a:pPr>
            <a:r>
              <a:rPr lang="en-US" sz="2400" b="1" dirty="0" err="1"/>
              <a:t>printf</a:t>
            </a:r>
            <a:r>
              <a:rPr lang="en-US" sz="2400" b="1" dirty="0"/>
              <a:t>("Multiplication=%d\n", *x   *   *y); </a:t>
            </a:r>
          </a:p>
          <a:p>
            <a:pPr marL="0" indent="0">
              <a:lnSpc>
                <a:spcPct val="100000"/>
              </a:lnSpc>
              <a:spcBef>
                <a:spcPts val="0"/>
              </a:spcBef>
              <a:buNone/>
            </a:pPr>
            <a:r>
              <a:rPr lang="en-US" sz="2400" b="1" dirty="0" err="1"/>
              <a:t>printf</a:t>
            </a:r>
            <a:r>
              <a:rPr lang="en-US" sz="2400" b="1" dirty="0"/>
              <a:t>("Division=%d\n", *x   /  *y); </a:t>
            </a:r>
          </a:p>
          <a:p>
            <a:pPr marL="0" indent="0">
              <a:lnSpc>
                <a:spcPct val="100000"/>
              </a:lnSpc>
              <a:spcBef>
                <a:spcPts val="0"/>
              </a:spcBef>
              <a:buNone/>
            </a:pPr>
            <a:r>
              <a:rPr lang="en-US" sz="2400" b="1" dirty="0" err="1"/>
              <a:t>printf</a:t>
            </a:r>
            <a:r>
              <a:rPr lang="en-US" sz="2400" b="1" dirty="0"/>
              <a:t>("Reminder=%d\n", *x    %   *y); </a:t>
            </a:r>
          </a:p>
          <a:p>
            <a:pPr marL="0" indent="0">
              <a:lnSpc>
                <a:spcPct val="100000"/>
              </a:lnSpc>
              <a:spcBef>
                <a:spcPts val="0"/>
              </a:spcBef>
              <a:buNone/>
            </a:pPr>
            <a:r>
              <a:rPr lang="en-US" sz="2400" b="1" dirty="0"/>
              <a:t>return 0; </a:t>
            </a:r>
          </a:p>
          <a:p>
            <a:pPr marL="0" indent="0">
              <a:lnSpc>
                <a:spcPct val="100000"/>
              </a:lnSpc>
              <a:spcBef>
                <a:spcPts val="0"/>
              </a:spcBef>
              <a:buNone/>
            </a:pPr>
            <a:r>
              <a:rPr lang="en-US" sz="2400" b="1" dirty="0"/>
              <a:t>}</a:t>
            </a:r>
          </a:p>
          <a:p>
            <a:pPr marL="0" indent="0">
              <a:lnSpc>
                <a:spcPct val="100000"/>
              </a:lnSpc>
              <a:spcBef>
                <a:spcPts val="0"/>
              </a:spcBef>
              <a:buNone/>
            </a:pPr>
            <a:br>
              <a:rPr lang="en-US" sz="2400" dirty="0"/>
            </a:br>
            <a:endParaRPr lang="en-US" sz="2400" dirty="0"/>
          </a:p>
          <a:p>
            <a:pPr marL="0" indent="0">
              <a:lnSpc>
                <a:spcPct val="100000"/>
              </a:lnSpc>
              <a:spcBef>
                <a:spcPts val="0"/>
              </a:spcBef>
              <a:buNone/>
            </a:pPr>
            <a:endParaRPr lang="en-NP" sz="2400" dirty="0"/>
          </a:p>
        </p:txBody>
      </p:sp>
      <p:pic>
        <p:nvPicPr>
          <p:cNvPr id="7" name="Picture 6">
            <a:extLst>
              <a:ext uri="{FF2B5EF4-FFF2-40B4-BE49-F238E27FC236}">
                <a16:creationId xmlns:a16="http://schemas.microsoft.com/office/drawing/2014/main" id="{CE3B76AB-D018-E00B-9C95-3772F4AB0AB0}"/>
              </a:ext>
            </a:extLst>
          </p:cNvPr>
          <p:cNvPicPr>
            <a:picLocks noChangeAspect="1"/>
          </p:cNvPicPr>
          <p:nvPr/>
        </p:nvPicPr>
        <p:blipFill>
          <a:blip r:embed="rId2"/>
          <a:stretch>
            <a:fillRect/>
          </a:stretch>
        </p:blipFill>
        <p:spPr>
          <a:xfrm>
            <a:off x="5957208" y="2110013"/>
            <a:ext cx="5244192" cy="2315029"/>
          </a:xfrm>
          <a:prstGeom prst="rect">
            <a:avLst/>
          </a:prstGeom>
        </p:spPr>
      </p:pic>
    </p:spTree>
    <p:extLst>
      <p:ext uri="{BB962C8B-B14F-4D97-AF65-F5344CB8AC3E}">
        <p14:creationId xmlns:p14="http://schemas.microsoft.com/office/powerpoint/2010/main" val="40390033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08A5-3AC1-D668-BED1-5F83556E2A5A}"/>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FBA4108-709F-074D-DDD7-597C6232A971}"/>
              </a:ext>
            </a:extLst>
          </p:cNvPr>
          <p:cNvSpPr>
            <a:spLocks noGrp="1"/>
          </p:cNvSpPr>
          <p:nvPr>
            <p:ph idx="1"/>
          </p:nvPr>
        </p:nvSpPr>
        <p:spPr>
          <a:xfrm>
            <a:off x="408215" y="161365"/>
            <a:ext cx="11462656" cy="6468035"/>
          </a:xfrm>
        </p:spPr>
        <p:txBody>
          <a:bodyPr>
            <a:normAutofit fontScale="77500" lnSpcReduction="20000"/>
          </a:bodyPr>
          <a:lstStyle/>
          <a:p>
            <a:pPr marL="0" indent="0">
              <a:buNone/>
            </a:pPr>
            <a:endParaRPr lang="en-US" dirty="0"/>
          </a:p>
          <a:p>
            <a:pPr marL="0" indent="0">
              <a:buNone/>
            </a:pPr>
            <a:r>
              <a:rPr lang="en-NP" b="1" dirty="0">
                <a:highlight>
                  <a:srgbClr val="FFFF00"/>
                </a:highlight>
              </a:rPr>
              <a:t>3)WAP to find odd or even number using pointers. </a:t>
            </a:r>
            <a:endParaRPr lang="en-US" dirty="0">
              <a:highlight>
                <a:srgbClr val="FFFF00"/>
              </a:highlight>
            </a:endParaRPr>
          </a:p>
          <a:p>
            <a:pPr marL="0" indent="0">
              <a:buNone/>
            </a:pPr>
            <a:r>
              <a:rPr lang="en-US" b="1" dirty="0"/>
              <a:t>#include&lt;</a:t>
            </a:r>
            <a:r>
              <a:rPr lang="en-US" b="1" dirty="0" err="1"/>
              <a:t>stdio.h</a:t>
            </a:r>
            <a:r>
              <a:rPr lang="en-US" b="1" dirty="0"/>
              <a:t>&gt; </a:t>
            </a:r>
          </a:p>
          <a:p>
            <a:pPr marL="0" indent="0">
              <a:buNone/>
            </a:pPr>
            <a:r>
              <a:rPr lang="en-US" b="1" dirty="0"/>
              <a:t>int main() </a:t>
            </a:r>
          </a:p>
          <a:p>
            <a:pPr marL="0" indent="0">
              <a:buNone/>
            </a:pPr>
            <a:r>
              <a:rPr lang="en-US" b="1" dirty="0"/>
              <a:t>{ </a:t>
            </a:r>
          </a:p>
          <a:p>
            <a:pPr marL="0" indent="0">
              <a:buNone/>
            </a:pPr>
            <a:r>
              <a:rPr lang="en-US" b="1" dirty="0"/>
              <a:t>int num, *n; </a:t>
            </a:r>
          </a:p>
          <a:p>
            <a:pPr marL="0" indent="0">
              <a:buNone/>
            </a:pPr>
            <a:br>
              <a:rPr lang="en-US" b="1" dirty="0"/>
            </a:br>
            <a:r>
              <a:rPr lang="en-US" b="1" dirty="0" err="1"/>
              <a:t>printf</a:t>
            </a:r>
            <a:r>
              <a:rPr lang="en-US" b="1" dirty="0"/>
              <a:t>("Enter any number: "); </a:t>
            </a:r>
          </a:p>
          <a:p>
            <a:pPr marL="0" indent="0">
              <a:buNone/>
            </a:pPr>
            <a:r>
              <a:rPr lang="en-US" b="1" dirty="0" err="1"/>
              <a:t>scanf</a:t>
            </a:r>
            <a:r>
              <a:rPr lang="en-US" b="1" dirty="0"/>
              <a:t>("%d", &amp;num); </a:t>
            </a:r>
          </a:p>
          <a:p>
            <a:pPr marL="0" indent="0">
              <a:buNone/>
            </a:pPr>
            <a:r>
              <a:rPr lang="en-US" b="1" dirty="0"/>
              <a:t>n=&amp;num; </a:t>
            </a:r>
          </a:p>
          <a:p>
            <a:pPr marL="0" indent="0">
              <a:buNone/>
            </a:pPr>
            <a:r>
              <a:rPr lang="en-US" b="1" dirty="0"/>
              <a:t>if(*n % 2==0) </a:t>
            </a:r>
          </a:p>
          <a:p>
            <a:pPr marL="0" indent="0">
              <a:buNone/>
            </a:pPr>
            <a:r>
              <a:rPr lang="en-US" b="1" dirty="0" err="1"/>
              <a:t>printf</a:t>
            </a:r>
            <a:r>
              <a:rPr lang="en-US" b="1" dirty="0"/>
              <a:t>("even"); </a:t>
            </a:r>
          </a:p>
          <a:p>
            <a:pPr marL="0" indent="0">
              <a:buNone/>
            </a:pPr>
            <a:r>
              <a:rPr lang="en-US" b="1" dirty="0"/>
              <a:t>else </a:t>
            </a:r>
          </a:p>
          <a:p>
            <a:pPr marL="0" indent="0">
              <a:buNone/>
            </a:pPr>
            <a:r>
              <a:rPr lang="en-US" b="1" dirty="0" err="1"/>
              <a:t>printf</a:t>
            </a:r>
            <a:r>
              <a:rPr lang="en-US" b="1" dirty="0"/>
              <a:t>("odd"); </a:t>
            </a:r>
          </a:p>
          <a:p>
            <a:pPr marL="0" indent="0">
              <a:buNone/>
            </a:pPr>
            <a:r>
              <a:rPr lang="en-US" b="1" dirty="0"/>
              <a:t>return 0;</a:t>
            </a:r>
          </a:p>
          <a:p>
            <a:pPr marL="0" indent="0">
              <a:buNone/>
            </a:pPr>
            <a:r>
              <a:rPr lang="en-US" b="1" dirty="0"/>
              <a:t>} </a:t>
            </a:r>
          </a:p>
          <a:p>
            <a:pPr marL="0" indent="0">
              <a:buNone/>
            </a:pPr>
            <a:br>
              <a:rPr lang="en-US" dirty="0"/>
            </a:br>
            <a:endParaRPr lang="en-US" dirty="0"/>
          </a:p>
        </p:txBody>
      </p:sp>
      <p:pic>
        <p:nvPicPr>
          <p:cNvPr id="2" name="Picture 1">
            <a:extLst>
              <a:ext uri="{FF2B5EF4-FFF2-40B4-BE49-F238E27FC236}">
                <a16:creationId xmlns:a16="http://schemas.microsoft.com/office/drawing/2014/main" id="{B3B2256D-0499-509B-360F-7FB4ABFC13C5}"/>
              </a:ext>
            </a:extLst>
          </p:cNvPr>
          <p:cNvPicPr>
            <a:picLocks noChangeAspect="1"/>
          </p:cNvPicPr>
          <p:nvPr/>
        </p:nvPicPr>
        <p:blipFill>
          <a:blip r:embed="rId2"/>
          <a:stretch>
            <a:fillRect/>
          </a:stretch>
        </p:blipFill>
        <p:spPr>
          <a:xfrm>
            <a:off x="3291842" y="3713019"/>
            <a:ext cx="5608315" cy="1274617"/>
          </a:xfrm>
          <a:prstGeom prst="rect">
            <a:avLst/>
          </a:prstGeom>
        </p:spPr>
      </p:pic>
    </p:spTree>
    <p:extLst>
      <p:ext uri="{BB962C8B-B14F-4D97-AF65-F5344CB8AC3E}">
        <p14:creationId xmlns:p14="http://schemas.microsoft.com/office/powerpoint/2010/main" val="2841322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B0F77-90D7-A6CB-FC49-726A95579E47}"/>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E8257F1-AFA6-E250-14A1-F7BACA68774C}"/>
              </a:ext>
            </a:extLst>
          </p:cNvPr>
          <p:cNvSpPr>
            <a:spLocks noGrp="1"/>
          </p:cNvSpPr>
          <p:nvPr>
            <p:ph idx="1"/>
          </p:nvPr>
        </p:nvSpPr>
        <p:spPr>
          <a:xfrm>
            <a:off x="408215" y="457200"/>
            <a:ext cx="11462656" cy="6172200"/>
          </a:xfrm>
        </p:spPr>
        <p:txBody>
          <a:bodyPr>
            <a:normAutofit fontScale="25000" lnSpcReduction="20000"/>
          </a:bodyPr>
          <a:lstStyle/>
          <a:p>
            <a:pPr marL="0" indent="0">
              <a:lnSpc>
                <a:spcPct val="110000"/>
              </a:lnSpc>
              <a:spcBef>
                <a:spcPts val="0"/>
              </a:spcBef>
              <a:buNone/>
            </a:pPr>
            <a:r>
              <a:rPr lang="en-NP" sz="4400" b="1" dirty="0">
                <a:highlight>
                  <a:srgbClr val="FFFF00"/>
                </a:highlight>
              </a:rPr>
              <a:t>4)Write C program to find sum and average of ‘n’ natural numbers using pointer.</a:t>
            </a:r>
          </a:p>
          <a:p>
            <a:pPr marL="0" indent="0">
              <a:lnSpc>
                <a:spcPct val="110000"/>
              </a:lnSpc>
              <a:spcBef>
                <a:spcPts val="0"/>
              </a:spcBef>
              <a:buNone/>
            </a:pPr>
            <a:endParaRPr lang="en-US" dirty="0"/>
          </a:p>
          <a:p>
            <a:pPr marL="0" indent="0">
              <a:lnSpc>
                <a:spcPct val="110000"/>
              </a:lnSpc>
              <a:spcBef>
                <a:spcPts val="0"/>
              </a:spcBef>
              <a:buNone/>
            </a:pPr>
            <a:r>
              <a:rPr lang="en-US" sz="8600" b="1" dirty="0"/>
              <a:t>#include&lt;</a:t>
            </a:r>
            <a:r>
              <a:rPr lang="en-US" sz="8600" b="1" dirty="0" err="1"/>
              <a:t>stdio.h</a:t>
            </a:r>
            <a:r>
              <a:rPr lang="en-US" sz="8600" b="1" dirty="0"/>
              <a:t>&gt; </a:t>
            </a:r>
            <a:br>
              <a:rPr lang="en-US" sz="8600" b="1" dirty="0"/>
            </a:br>
            <a:r>
              <a:rPr lang="en-US" sz="8600" b="1" dirty="0"/>
              <a:t>int main()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int *p; </a:t>
            </a:r>
          </a:p>
          <a:p>
            <a:pPr marL="0" indent="0">
              <a:lnSpc>
                <a:spcPct val="110000"/>
              </a:lnSpc>
              <a:spcBef>
                <a:spcPts val="0"/>
              </a:spcBef>
              <a:buNone/>
            </a:pPr>
            <a:r>
              <a:rPr lang="en-US" sz="8600" b="1" dirty="0"/>
              <a:t>int n, </a:t>
            </a:r>
            <a:r>
              <a:rPr lang="en-US" sz="8600" b="1" dirty="0" err="1"/>
              <a:t>i</a:t>
            </a:r>
            <a:r>
              <a:rPr lang="en-US" sz="8600" b="1" dirty="0"/>
              <a:t>, sum=0; </a:t>
            </a:r>
          </a:p>
          <a:p>
            <a:pPr marL="0" indent="0">
              <a:lnSpc>
                <a:spcPct val="110000"/>
              </a:lnSpc>
              <a:spcBef>
                <a:spcPts val="0"/>
              </a:spcBef>
              <a:buNone/>
            </a:pPr>
            <a:r>
              <a:rPr lang="en-US" sz="8600" b="1" dirty="0"/>
              <a:t>float avg=0; </a:t>
            </a:r>
          </a:p>
          <a:p>
            <a:pPr marL="0" indent="0">
              <a:lnSpc>
                <a:spcPct val="110000"/>
              </a:lnSpc>
              <a:spcBef>
                <a:spcPts val="0"/>
              </a:spcBef>
              <a:buNone/>
            </a:pPr>
            <a:r>
              <a:rPr lang="en-US" sz="8600" b="1" dirty="0" err="1"/>
              <a:t>printf</a:t>
            </a:r>
            <a:r>
              <a:rPr lang="en-US" sz="8600" b="1" dirty="0"/>
              <a:t>("Enter value of n: "); </a:t>
            </a:r>
          </a:p>
          <a:p>
            <a:pPr marL="0" indent="0">
              <a:lnSpc>
                <a:spcPct val="110000"/>
              </a:lnSpc>
              <a:spcBef>
                <a:spcPts val="0"/>
              </a:spcBef>
              <a:buNone/>
            </a:pPr>
            <a:r>
              <a:rPr lang="en-US" sz="8600" b="1" dirty="0" err="1"/>
              <a:t>scanf</a:t>
            </a:r>
            <a:r>
              <a:rPr lang="en-US" sz="8600" b="1" dirty="0"/>
              <a:t>("%d", &amp;n); </a:t>
            </a:r>
          </a:p>
          <a:p>
            <a:pPr marL="0" indent="0">
              <a:lnSpc>
                <a:spcPct val="110000"/>
              </a:lnSpc>
              <a:spcBef>
                <a:spcPts val="0"/>
              </a:spcBef>
              <a:buNone/>
            </a:pPr>
            <a:r>
              <a:rPr lang="en-US" sz="8600" b="1" dirty="0"/>
              <a:t>p=&amp;n; </a:t>
            </a:r>
          </a:p>
          <a:p>
            <a:pPr marL="0" indent="0">
              <a:lnSpc>
                <a:spcPct val="110000"/>
              </a:lnSpc>
              <a:spcBef>
                <a:spcPts val="0"/>
              </a:spcBef>
              <a:buNone/>
            </a:pPr>
            <a:r>
              <a:rPr lang="en-US" sz="8600" b="1" dirty="0"/>
              <a:t>for(</a:t>
            </a:r>
            <a:r>
              <a:rPr lang="en-US" sz="8600" b="1" dirty="0" err="1"/>
              <a:t>i</a:t>
            </a:r>
            <a:r>
              <a:rPr lang="en-US" sz="8600" b="1" dirty="0"/>
              <a:t>=1; </a:t>
            </a:r>
            <a:r>
              <a:rPr lang="en-US" sz="8600" b="1" dirty="0" err="1"/>
              <a:t>i</a:t>
            </a:r>
            <a:r>
              <a:rPr lang="en-US" sz="8600" b="1" dirty="0"/>
              <a:t>&lt;=*p; </a:t>
            </a:r>
            <a:r>
              <a:rPr lang="en-US" sz="8600" b="1" dirty="0" err="1"/>
              <a:t>i</a:t>
            </a:r>
            <a:r>
              <a:rPr lang="en-US" sz="8600" b="1" dirty="0"/>
              <a:t>++)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sum=</a:t>
            </a:r>
            <a:r>
              <a:rPr lang="en-US" sz="8600" b="1" dirty="0" err="1"/>
              <a:t>sum+i</a:t>
            </a:r>
            <a:r>
              <a:rPr lang="en-US" sz="8600" b="1" dirty="0"/>
              <a:t>; </a:t>
            </a:r>
          </a:p>
          <a:p>
            <a:pPr marL="0" indent="0">
              <a:lnSpc>
                <a:spcPct val="110000"/>
              </a:lnSpc>
              <a:spcBef>
                <a:spcPts val="0"/>
              </a:spcBef>
              <a:buNone/>
            </a:pPr>
            <a:r>
              <a:rPr lang="en-US" sz="8600" b="1" dirty="0"/>
              <a:t>} </a:t>
            </a:r>
          </a:p>
          <a:p>
            <a:pPr marL="0" indent="0">
              <a:lnSpc>
                <a:spcPct val="110000"/>
              </a:lnSpc>
              <a:spcBef>
                <a:spcPts val="0"/>
              </a:spcBef>
              <a:buNone/>
            </a:pPr>
            <a:r>
              <a:rPr lang="en-US" sz="8600" b="1" dirty="0"/>
              <a:t>avg=sum/(*p); </a:t>
            </a:r>
          </a:p>
          <a:p>
            <a:pPr marL="0" indent="0">
              <a:lnSpc>
                <a:spcPct val="110000"/>
              </a:lnSpc>
              <a:spcBef>
                <a:spcPts val="0"/>
              </a:spcBef>
              <a:buNone/>
            </a:pPr>
            <a:r>
              <a:rPr lang="en-US" sz="8600" b="1" dirty="0" err="1"/>
              <a:t>printf</a:t>
            </a:r>
            <a:r>
              <a:rPr lang="en-US" sz="8600" b="1" dirty="0"/>
              <a:t>("Sum=%d\n", sum); </a:t>
            </a:r>
          </a:p>
          <a:p>
            <a:pPr marL="0" indent="0">
              <a:lnSpc>
                <a:spcPct val="110000"/>
              </a:lnSpc>
              <a:spcBef>
                <a:spcPts val="0"/>
              </a:spcBef>
              <a:buNone/>
            </a:pPr>
            <a:r>
              <a:rPr lang="en-US" sz="8600" b="1" dirty="0" err="1"/>
              <a:t>printf</a:t>
            </a:r>
            <a:r>
              <a:rPr lang="en-US" sz="8600" b="1" dirty="0"/>
              <a:t>("Average=%f\n", avg); </a:t>
            </a:r>
          </a:p>
          <a:p>
            <a:pPr marL="0" indent="0">
              <a:lnSpc>
                <a:spcPct val="110000"/>
              </a:lnSpc>
              <a:spcBef>
                <a:spcPts val="0"/>
              </a:spcBef>
              <a:buNone/>
            </a:pPr>
            <a:r>
              <a:rPr lang="en-US" sz="8600" b="1" dirty="0"/>
              <a:t>return 0; </a:t>
            </a:r>
          </a:p>
          <a:p>
            <a:pPr marL="0" indent="0">
              <a:lnSpc>
                <a:spcPct val="110000"/>
              </a:lnSpc>
              <a:spcBef>
                <a:spcPts val="0"/>
              </a:spcBef>
              <a:buNone/>
            </a:pPr>
            <a:r>
              <a:rPr lang="en-US" sz="8600" b="1" dirty="0"/>
              <a:t>}</a:t>
            </a:r>
          </a:p>
          <a:p>
            <a:pPr marL="0" indent="0">
              <a:lnSpc>
                <a:spcPct val="110000"/>
              </a:lnSpc>
              <a:spcBef>
                <a:spcPts val="0"/>
              </a:spcBef>
              <a:buNone/>
            </a:pPr>
            <a:br>
              <a:rPr lang="en-US" dirty="0"/>
            </a:br>
            <a:endParaRPr lang="en-US" dirty="0"/>
          </a:p>
          <a:p>
            <a:pPr marL="0" indent="0">
              <a:lnSpc>
                <a:spcPct val="110000"/>
              </a:lnSpc>
              <a:spcBef>
                <a:spcPts val="0"/>
              </a:spcBef>
              <a:buNone/>
            </a:pPr>
            <a:endParaRPr lang="en-NP" dirty="0"/>
          </a:p>
        </p:txBody>
      </p:sp>
      <p:pic>
        <p:nvPicPr>
          <p:cNvPr id="3" name="Picture 2">
            <a:extLst>
              <a:ext uri="{FF2B5EF4-FFF2-40B4-BE49-F238E27FC236}">
                <a16:creationId xmlns:a16="http://schemas.microsoft.com/office/drawing/2014/main" id="{8BCBCD0E-36EC-A326-62CD-A7B47D7A6705}"/>
              </a:ext>
            </a:extLst>
          </p:cNvPr>
          <p:cNvPicPr>
            <a:picLocks noChangeAspect="1"/>
          </p:cNvPicPr>
          <p:nvPr/>
        </p:nvPicPr>
        <p:blipFill>
          <a:blip r:embed="rId2"/>
          <a:stretch>
            <a:fillRect/>
          </a:stretch>
        </p:blipFill>
        <p:spPr>
          <a:xfrm>
            <a:off x="4185803" y="3278909"/>
            <a:ext cx="6579177" cy="1498600"/>
          </a:xfrm>
          <a:prstGeom prst="rect">
            <a:avLst/>
          </a:prstGeom>
        </p:spPr>
      </p:pic>
    </p:spTree>
    <p:extLst>
      <p:ext uri="{BB962C8B-B14F-4D97-AF65-F5344CB8AC3E}">
        <p14:creationId xmlns:p14="http://schemas.microsoft.com/office/powerpoint/2010/main" val="36595169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0DCC4-9075-7740-2ABB-E69EA6BDBD9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D8487C-A16F-7F02-731F-FA66E044F235}"/>
              </a:ext>
            </a:extLst>
          </p:cNvPr>
          <p:cNvSpPr>
            <a:spLocks noGrp="1"/>
          </p:cNvSpPr>
          <p:nvPr>
            <p:ph idx="1"/>
          </p:nvPr>
        </p:nvSpPr>
        <p:spPr>
          <a:xfrm>
            <a:off x="408215" y="457200"/>
            <a:ext cx="11462656" cy="6172200"/>
          </a:xfrm>
        </p:spPr>
        <p:txBody>
          <a:bodyPr>
            <a:noAutofit/>
          </a:bodyPr>
          <a:lstStyle/>
          <a:p>
            <a:pPr marL="0" indent="0">
              <a:spcBef>
                <a:spcPts val="0"/>
              </a:spcBef>
              <a:buNone/>
            </a:pPr>
            <a:endParaRPr lang="en-US" sz="2400" b="1" dirty="0"/>
          </a:p>
          <a:p>
            <a:pPr marL="0" indent="0">
              <a:spcBef>
                <a:spcPts val="0"/>
              </a:spcBef>
              <a:buNone/>
            </a:pPr>
            <a:r>
              <a:rPr lang="en-NP" sz="2400" b="1" dirty="0">
                <a:highlight>
                  <a:srgbClr val="FFFF00"/>
                </a:highlight>
              </a:rPr>
              <a:t>5)Write C program to find factorial of a number using pointer.</a:t>
            </a:r>
            <a:endParaRPr lang="en-US" sz="2400" b="1" dirty="0">
              <a:highlight>
                <a:srgbClr val="FFFF00"/>
              </a:highlight>
            </a:endParaRPr>
          </a:p>
          <a:p>
            <a:pPr marL="0" indent="0">
              <a:spcBef>
                <a:spcPts val="0"/>
              </a:spcBef>
              <a:buNone/>
            </a:pPr>
            <a:endParaRPr lang="en-US" sz="2400" b="1" dirty="0"/>
          </a:p>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int *p, n, </a:t>
            </a:r>
            <a:r>
              <a:rPr lang="en-US" sz="2400" b="1" dirty="0" err="1"/>
              <a:t>i</a:t>
            </a:r>
            <a:r>
              <a:rPr lang="en-US" sz="2400" b="1" dirty="0"/>
              <a:t>, fact=1; </a:t>
            </a:r>
          </a:p>
          <a:p>
            <a:pPr marL="0" indent="0">
              <a:spcBef>
                <a:spcPts val="0"/>
              </a:spcBef>
              <a:buNone/>
            </a:pPr>
            <a:r>
              <a:rPr lang="en-US" sz="2400" b="1" dirty="0" err="1"/>
              <a:t>printf</a:t>
            </a:r>
            <a:r>
              <a:rPr lang="en-US" sz="2400" b="1" dirty="0"/>
              <a:t>("enter a number\n"); </a:t>
            </a:r>
          </a:p>
          <a:p>
            <a:pPr marL="0" indent="0">
              <a:spcBef>
                <a:spcPts val="0"/>
              </a:spcBef>
              <a:buNone/>
            </a:pPr>
            <a:r>
              <a:rPr lang="en-US" sz="2400" b="1" dirty="0" err="1"/>
              <a:t>scanf</a:t>
            </a:r>
            <a:r>
              <a:rPr lang="en-US" sz="2400" b="1" dirty="0"/>
              <a:t>("%d", &amp;n); </a:t>
            </a:r>
          </a:p>
          <a:p>
            <a:pPr marL="0" indent="0">
              <a:spcBef>
                <a:spcPts val="0"/>
              </a:spcBef>
              <a:buNone/>
            </a:pPr>
            <a:r>
              <a:rPr lang="en-US" sz="2400" b="1" dirty="0"/>
              <a:t>p=&amp;n; </a:t>
            </a:r>
          </a:p>
          <a:p>
            <a:pPr marL="0" indent="0">
              <a:spcBef>
                <a:spcPts val="0"/>
              </a:spcBef>
              <a:buNone/>
            </a:pPr>
            <a:r>
              <a:rPr lang="en-US" sz="2400" b="1" dirty="0"/>
              <a:t>for(</a:t>
            </a:r>
            <a:r>
              <a:rPr lang="en-US" sz="2400" b="1" dirty="0" err="1"/>
              <a:t>i</a:t>
            </a:r>
            <a:r>
              <a:rPr lang="en-US" sz="2400" b="1" dirty="0"/>
              <a:t>=1; </a:t>
            </a:r>
            <a:r>
              <a:rPr lang="en-US" sz="2400" b="1" dirty="0" err="1"/>
              <a:t>i</a:t>
            </a:r>
            <a:r>
              <a:rPr lang="en-US" sz="2400" b="1" dirty="0"/>
              <a:t>&lt;=*p; </a:t>
            </a:r>
            <a:r>
              <a:rPr lang="en-US" sz="2400" b="1" dirty="0" err="1"/>
              <a:t>i</a:t>
            </a:r>
            <a:r>
              <a:rPr lang="en-US" sz="2400" b="1" dirty="0"/>
              <a:t>++) </a:t>
            </a:r>
          </a:p>
          <a:p>
            <a:pPr marL="0" indent="0">
              <a:spcBef>
                <a:spcPts val="0"/>
              </a:spcBef>
              <a:buNone/>
            </a:pPr>
            <a:r>
              <a:rPr lang="en-US" sz="2400" b="1" dirty="0"/>
              <a:t>{ </a:t>
            </a:r>
          </a:p>
          <a:p>
            <a:pPr marL="0" indent="0">
              <a:spcBef>
                <a:spcPts val="0"/>
              </a:spcBef>
              <a:buNone/>
            </a:pPr>
            <a:r>
              <a:rPr lang="en-US" sz="2400" b="1" dirty="0"/>
              <a:t>fact= fact*</a:t>
            </a:r>
            <a:r>
              <a:rPr lang="en-US" sz="2400" b="1" dirty="0" err="1"/>
              <a:t>i</a:t>
            </a:r>
            <a:r>
              <a:rPr lang="en-US" sz="2400" b="1" dirty="0"/>
              <a:t>; </a:t>
            </a:r>
          </a:p>
          <a:p>
            <a:pPr marL="0" indent="0">
              <a:spcBef>
                <a:spcPts val="0"/>
              </a:spcBef>
              <a:buNone/>
            </a:pPr>
            <a:r>
              <a:rPr lang="en-US" sz="2400" b="1" dirty="0"/>
              <a:t>} </a:t>
            </a:r>
          </a:p>
          <a:p>
            <a:pPr marL="0" indent="0">
              <a:spcBef>
                <a:spcPts val="0"/>
              </a:spcBef>
              <a:buNone/>
            </a:pPr>
            <a:r>
              <a:rPr lang="en-US" sz="2400" b="1" dirty="0" err="1"/>
              <a:t>printf</a:t>
            </a:r>
            <a:r>
              <a:rPr lang="en-US" sz="2400" b="1" dirty="0"/>
              <a:t>("Factorial =%d", fact); </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br>
              <a:rPr lang="en-US" sz="2400" b="1" dirty="0"/>
            </a:br>
            <a:br>
              <a:rPr lang="en-US" sz="2400" b="1" dirty="0"/>
            </a:br>
            <a:endParaRPr lang="en-US" sz="2400" b="1" dirty="0"/>
          </a:p>
          <a:p>
            <a:pPr marL="0" indent="0">
              <a:spcBef>
                <a:spcPts val="0"/>
              </a:spcBef>
              <a:buNone/>
            </a:pPr>
            <a:endParaRPr lang="en-NP" sz="2400" b="1" dirty="0"/>
          </a:p>
        </p:txBody>
      </p:sp>
      <p:pic>
        <p:nvPicPr>
          <p:cNvPr id="2" name="Picture 1">
            <a:extLst>
              <a:ext uri="{FF2B5EF4-FFF2-40B4-BE49-F238E27FC236}">
                <a16:creationId xmlns:a16="http://schemas.microsoft.com/office/drawing/2014/main" id="{C0061F7B-29A9-B83D-4508-1D6C0BB32BC3}"/>
              </a:ext>
            </a:extLst>
          </p:cNvPr>
          <p:cNvPicPr>
            <a:picLocks noChangeAspect="1"/>
          </p:cNvPicPr>
          <p:nvPr/>
        </p:nvPicPr>
        <p:blipFill>
          <a:blip r:embed="rId2"/>
          <a:stretch>
            <a:fillRect/>
          </a:stretch>
        </p:blipFill>
        <p:spPr>
          <a:xfrm>
            <a:off x="5127913" y="3128818"/>
            <a:ext cx="5235286" cy="1457036"/>
          </a:xfrm>
          <a:prstGeom prst="rect">
            <a:avLst/>
          </a:prstGeom>
        </p:spPr>
      </p:pic>
    </p:spTree>
    <p:extLst>
      <p:ext uri="{BB962C8B-B14F-4D97-AF65-F5344CB8AC3E}">
        <p14:creationId xmlns:p14="http://schemas.microsoft.com/office/powerpoint/2010/main" val="6310950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B4DD4-4D5B-33EE-BDED-1AA47E1512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A6DF545-5037-0BAA-186F-74701168D119}"/>
              </a:ext>
            </a:extLst>
          </p:cNvPr>
          <p:cNvSpPr>
            <a:spLocks noGrp="1"/>
          </p:cNvSpPr>
          <p:nvPr>
            <p:ph idx="1"/>
          </p:nvPr>
        </p:nvSpPr>
        <p:spPr>
          <a:xfrm>
            <a:off x="408215" y="457200"/>
            <a:ext cx="11462656" cy="6172200"/>
          </a:xfrm>
        </p:spPr>
        <p:txBody>
          <a:bodyPr/>
          <a:lstStyle/>
          <a:p>
            <a:pPr marL="0" indent="0" algn="just">
              <a:buNone/>
            </a:pPr>
            <a:r>
              <a:rPr lang="en-NP" b="1" dirty="0"/>
              <a:t>Pointer and Function </a:t>
            </a:r>
            <a:endParaRPr lang="en-NP" dirty="0"/>
          </a:p>
          <a:p>
            <a:pPr algn="just">
              <a:buFont typeface="Wingdings" pitchFamily="2" charset="2"/>
              <a:buChar char="Ø"/>
            </a:pPr>
            <a:r>
              <a:rPr lang="en-NP" dirty="0"/>
              <a:t>As we have studied about the function's arguments and parameters passing in function.  They are passed in two ways:  </a:t>
            </a:r>
          </a:p>
          <a:p>
            <a:pPr marL="0" indent="0" algn="just">
              <a:buNone/>
            </a:pPr>
            <a:r>
              <a:rPr lang="en-NP" b="1" dirty="0"/>
              <a:t>1. Call by value </a:t>
            </a:r>
            <a:endParaRPr lang="en-NP" dirty="0"/>
          </a:p>
          <a:p>
            <a:pPr algn="just">
              <a:buFont typeface="Wingdings" pitchFamily="2" charset="2"/>
              <a:buChar char="Ø"/>
            </a:pPr>
            <a:r>
              <a:rPr lang="en-NP" dirty="0"/>
              <a:t>In this method values of the variables are passed. By using this method values of  variable are not affected by changing the values of </a:t>
            </a:r>
            <a:r>
              <a:rPr lang="en-NP" b="1" dirty="0"/>
              <a:t>formal parameter. </a:t>
            </a:r>
            <a:r>
              <a:rPr lang="en-NP" dirty="0"/>
              <a:t>When an  argument is passed by value the data item is copied to the function. So, any  alternation made to the data item within the function is not carried in to the calling  function. </a:t>
            </a:r>
          </a:p>
          <a:p>
            <a:pPr marL="0" indent="0" algn="just">
              <a:buNone/>
            </a:pPr>
            <a:endParaRPr lang="en-NP" dirty="0"/>
          </a:p>
        </p:txBody>
      </p:sp>
    </p:spTree>
    <p:extLst>
      <p:ext uri="{BB962C8B-B14F-4D97-AF65-F5344CB8AC3E}">
        <p14:creationId xmlns:p14="http://schemas.microsoft.com/office/powerpoint/2010/main" val="5432329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26CB-7B26-FDE2-2489-DE7C3CC30DD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52CEE83-2A09-AEC6-A1DD-FA3D60A756C9}"/>
              </a:ext>
            </a:extLst>
          </p:cNvPr>
          <p:cNvSpPr>
            <a:spLocks noGrp="1"/>
          </p:cNvSpPr>
          <p:nvPr>
            <p:ph idx="1"/>
          </p:nvPr>
        </p:nvSpPr>
        <p:spPr>
          <a:xfrm>
            <a:off x="364672" y="371201"/>
            <a:ext cx="11462656" cy="6435436"/>
          </a:xfrm>
        </p:spPr>
        <p:txBody>
          <a:bodyPr>
            <a:normAutofit fontScale="32500" lnSpcReduction="20000"/>
          </a:bodyPr>
          <a:lstStyle/>
          <a:p>
            <a:pPr marL="0" indent="0">
              <a:lnSpc>
                <a:spcPct val="110000"/>
              </a:lnSpc>
              <a:spcBef>
                <a:spcPts val="0"/>
              </a:spcBef>
              <a:buNone/>
            </a:pPr>
            <a:r>
              <a:rPr lang="en-NP" sz="7000" b="1" u="sng" dirty="0">
                <a:highlight>
                  <a:srgbClr val="FFFF00"/>
                </a:highlight>
              </a:rPr>
              <a:t>6)Program to swap any two integers using call by value(IMP)</a:t>
            </a:r>
            <a:endParaRPr lang="en-NP" sz="7000" dirty="0">
              <a:highlight>
                <a:srgbClr val="FFFF00"/>
              </a:highlight>
            </a:endParaRPr>
          </a:p>
          <a:p>
            <a:pPr marL="0" indent="0">
              <a:lnSpc>
                <a:spcPct val="110000"/>
              </a:lnSpc>
              <a:spcBef>
                <a:spcPts val="0"/>
              </a:spcBef>
              <a:buNone/>
            </a:pPr>
            <a:endParaRPr lang="en-US" sz="7000" b="1" dirty="0"/>
          </a:p>
          <a:p>
            <a:pPr marL="0" indent="0">
              <a:lnSpc>
                <a:spcPct val="110000"/>
              </a:lnSpc>
              <a:spcBef>
                <a:spcPts val="0"/>
              </a:spcBef>
              <a:buNone/>
            </a:pPr>
            <a:r>
              <a:rPr lang="en-US" sz="7000" b="1" dirty="0"/>
              <a:t>#include&lt;</a:t>
            </a:r>
            <a:r>
              <a:rPr lang="en-US" sz="7000" b="1" dirty="0" err="1"/>
              <a:t>stdio.h</a:t>
            </a:r>
            <a:r>
              <a:rPr lang="en-US" sz="7000" b="1" dirty="0"/>
              <a:t>&gt; </a:t>
            </a:r>
          </a:p>
          <a:p>
            <a:pPr marL="0" indent="0">
              <a:lnSpc>
                <a:spcPct val="110000"/>
              </a:lnSpc>
              <a:spcBef>
                <a:spcPts val="0"/>
              </a:spcBef>
              <a:buNone/>
            </a:pPr>
            <a:r>
              <a:rPr lang="en-US" sz="7000" b="1" dirty="0"/>
              <a:t>void swap(int a, int b); </a:t>
            </a:r>
          </a:p>
          <a:p>
            <a:pPr marL="0" indent="0">
              <a:lnSpc>
                <a:spcPct val="110000"/>
              </a:lnSpc>
              <a:spcBef>
                <a:spcPts val="0"/>
              </a:spcBef>
              <a:buNone/>
            </a:pPr>
            <a:r>
              <a:rPr lang="en-US" sz="7000" b="1" dirty="0"/>
              <a:t>int main() </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int a = 10, b= 20; </a:t>
            </a:r>
          </a:p>
          <a:p>
            <a:pPr marL="0" indent="0">
              <a:lnSpc>
                <a:spcPct val="110000"/>
              </a:lnSpc>
              <a:spcBef>
                <a:spcPts val="0"/>
              </a:spcBef>
              <a:buNone/>
            </a:pPr>
            <a:r>
              <a:rPr lang="en-US" sz="7000" b="1" dirty="0"/>
              <a:t>swap(</a:t>
            </a:r>
            <a:r>
              <a:rPr lang="en-US" sz="7000" b="1" dirty="0" err="1"/>
              <a:t>a,b</a:t>
            </a:r>
            <a:r>
              <a:rPr lang="en-US" sz="7000" b="1" dirty="0"/>
              <a:t>); </a:t>
            </a:r>
            <a:r>
              <a:rPr lang="en-US" sz="7000" b="1" dirty="0">
                <a:highlight>
                  <a:srgbClr val="FFFF00"/>
                </a:highlight>
              </a:rPr>
              <a:t>// Actual parameter </a:t>
            </a:r>
          </a:p>
          <a:p>
            <a:pPr marL="0" indent="0">
              <a:lnSpc>
                <a:spcPct val="110000"/>
              </a:lnSpc>
              <a:spcBef>
                <a:spcPts val="0"/>
              </a:spcBef>
              <a:buNone/>
            </a:pPr>
            <a:r>
              <a:rPr lang="en-US" sz="7000" b="1" dirty="0" err="1"/>
              <a:t>printf</a:t>
            </a:r>
            <a:r>
              <a:rPr lang="en-US" sz="7000" b="1" dirty="0"/>
              <a:t>("Call by value\n"); </a:t>
            </a:r>
          </a:p>
          <a:p>
            <a:pPr marL="0" indent="0">
              <a:lnSpc>
                <a:spcPct val="110000"/>
              </a:lnSpc>
              <a:spcBef>
                <a:spcPts val="0"/>
              </a:spcBef>
              <a:buNone/>
            </a:pPr>
            <a:r>
              <a:rPr lang="en-US" sz="7000" b="1" dirty="0" err="1"/>
              <a:t>printf</a:t>
            </a:r>
            <a:r>
              <a:rPr lang="en-US" sz="7000" b="1" dirty="0"/>
              <a:t>(" After swapping a = %d and b= %d ", a, b); </a:t>
            </a:r>
          </a:p>
          <a:p>
            <a:pPr marL="0" indent="0">
              <a:lnSpc>
                <a:spcPct val="110000"/>
              </a:lnSpc>
              <a:spcBef>
                <a:spcPts val="0"/>
              </a:spcBef>
              <a:buNone/>
            </a:pPr>
            <a:r>
              <a:rPr lang="en-US" sz="7000" b="1" dirty="0"/>
              <a:t>return 0;</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void swap(int a, int b) </a:t>
            </a:r>
            <a:r>
              <a:rPr lang="en-US" sz="7000" b="1" dirty="0">
                <a:highlight>
                  <a:srgbClr val="FFFF00"/>
                </a:highlight>
              </a:rPr>
              <a:t>//Formal parameter </a:t>
            </a:r>
          </a:p>
          <a:p>
            <a:pPr marL="0" indent="0">
              <a:lnSpc>
                <a:spcPct val="110000"/>
              </a:lnSpc>
              <a:spcBef>
                <a:spcPts val="0"/>
              </a:spcBef>
              <a:buNone/>
            </a:pPr>
            <a:r>
              <a:rPr lang="en-US" sz="7000" b="1" dirty="0"/>
              <a:t>{ </a:t>
            </a:r>
          </a:p>
          <a:p>
            <a:pPr marL="0" indent="0">
              <a:lnSpc>
                <a:spcPct val="110000"/>
              </a:lnSpc>
              <a:spcBef>
                <a:spcPts val="0"/>
              </a:spcBef>
              <a:buNone/>
            </a:pPr>
            <a:r>
              <a:rPr lang="en-US" sz="7000" b="1" dirty="0"/>
              <a:t>int t; </a:t>
            </a:r>
          </a:p>
          <a:p>
            <a:pPr marL="0" indent="0">
              <a:lnSpc>
                <a:spcPct val="110000"/>
              </a:lnSpc>
              <a:spcBef>
                <a:spcPts val="0"/>
              </a:spcBef>
              <a:buNone/>
            </a:pPr>
            <a:r>
              <a:rPr lang="en-US" sz="7000" b="1" dirty="0"/>
              <a:t>t = a; </a:t>
            </a:r>
          </a:p>
          <a:p>
            <a:pPr marL="0" indent="0">
              <a:lnSpc>
                <a:spcPct val="110000"/>
              </a:lnSpc>
              <a:spcBef>
                <a:spcPts val="0"/>
              </a:spcBef>
              <a:buNone/>
            </a:pPr>
            <a:r>
              <a:rPr lang="en-US" sz="7000" b="1" dirty="0"/>
              <a:t>a = b; </a:t>
            </a:r>
          </a:p>
          <a:p>
            <a:pPr marL="0" indent="0">
              <a:lnSpc>
                <a:spcPct val="110000"/>
              </a:lnSpc>
              <a:spcBef>
                <a:spcPts val="0"/>
              </a:spcBef>
              <a:buNone/>
            </a:pPr>
            <a:r>
              <a:rPr lang="en-US" sz="7000" b="1" dirty="0"/>
              <a:t>b = t; </a:t>
            </a:r>
          </a:p>
          <a:p>
            <a:pPr marL="0" indent="0">
              <a:lnSpc>
                <a:spcPct val="110000"/>
              </a:lnSpc>
              <a:spcBef>
                <a:spcPts val="0"/>
              </a:spcBef>
              <a:buNone/>
            </a:pPr>
            <a:r>
              <a:rPr lang="en-US" sz="7000" b="1" dirty="0"/>
              <a:t>} </a:t>
            </a:r>
          </a:p>
          <a:p>
            <a:pPr marL="0" indent="0">
              <a:buNone/>
            </a:pPr>
            <a:br>
              <a:rPr lang="en-US" b="1" dirty="0"/>
            </a:br>
            <a:endParaRPr lang="en-US" b="1" dirty="0"/>
          </a:p>
          <a:p>
            <a:pPr marL="0" indent="0">
              <a:buNone/>
            </a:pPr>
            <a:endParaRPr lang="en-NP" b="1" dirty="0"/>
          </a:p>
        </p:txBody>
      </p:sp>
      <p:pic>
        <p:nvPicPr>
          <p:cNvPr id="2" name="Picture 1">
            <a:extLst>
              <a:ext uri="{FF2B5EF4-FFF2-40B4-BE49-F238E27FC236}">
                <a16:creationId xmlns:a16="http://schemas.microsoft.com/office/drawing/2014/main" id="{20C23644-AE0A-3EF2-51E0-F2A77B9908FE}"/>
              </a:ext>
            </a:extLst>
          </p:cNvPr>
          <p:cNvPicPr>
            <a:picLocks noChangeAspect="1"/>
          </p:cNvPicPr>
          <p:nvPr/>
        </p:nvPicPr>
        <p:blipFill>
          <a:blip r:embed="rId2"/>
          <a:stretch>
            <a:fillRect/>
          </a:stretch>
        </p:blipFill>
        <p:spPr>
          <a:xfrm>
            <a:off x="1998616" y="5074909"/>
            <a:ext cx="7210698" cy="1342005"/>
          </a:xfrm>
          <a:prstGeom prst="rect">
            <a:avLst/>
          </a:prstGeom>
        </p:spPr>
      </p:pic>
      <p:sp>
        <p:nvSpPr>
          <p:cNvPr id="9" name="Freeform 8">
            <a:extLst>
              <a:ext uri="{FF2B5EF4-FFF2-40B4-BE49-F238E27FC236}">
                <a16:creationId xmlns:a16="http://schemas.microsoft.com/office/drawing/2014/main" id="{6B9420A0-E70F-0677-B9FC-F0EA662F8099}"/>
              </a:ext>
            </a:extLst>
          </p:cNvPr>
          <p:cNvSpPr/>
          <p:nvPr/>
        </p:nvSpPr>
        <p:spPr>
          <a:xfrm>
            <a:off x="1031966" y="1867989"/>
            <a:ext cx="5029200" cy="1449977"/>
          </a:xfrm>
          <a:custGeom>
            <a:avLst/>
            <a:gdLst>
              <a:gd name="connsiteX0" fmla="*/ 0 w 5029200"/>
              <a:gd name="connsiteY0" fmla="*/ 483325 h 1449977"/>
              <a:gd name="connsiteX1" fmla="*/ 104503 w 5029200"/>
              <a:gd name="connsiteY1" fmla="*/ 418011 h 1449977"/>
              <a:gd name="connsiteX2" fmla="*/ 143691 w 5029200"/>
              <a:gd name="connsiteY2" fmla="*/ 404948 h 1449977"/>
              <a:gd name="connsiteX3" fmla="*/ 209005 w 5029200"/>
              <a:gd name="connsiteY3" fmla="*/ 365760 h 1449977"/>
              <a:gd name="connsiteX4" fmla="*/ 248194 w 5029200"/>
              <a:gd name="connsiteY4" fmla="*/ 352697 h 1449977"/>
              <a:gd name="connsiteX5" fmla="*/ 287383 w 5029200"/>
              <a:gd name="connsiteY5" fmla="*/ 326571 h 1449977"/>
              <a:gd name="connsiteX6" fmla="*/ 365760 w 5029200"/>
              <a:gd name="connsiteY6" fmla="*/ 300445 h 1449977"/>
              <a:gd name="connsiteX7" fmla="*/ 404948 w 5029200"/>
              <a:gd name="connsiteY7" fmla="*/ 287382 h 1449977"/>
              <a:gd name="connsiteX8" fmla="*/ 457200 w 5029200"/>
              <a:gd name="connsiteY8" fmla="*/ 261257 h 1449977"/>
              <a:gd name="connsiteX9" fmla="*/ 548640 w 5029200"/>
              <a:gd name="connsiteY9" fmla="*/ 235131 h 1449977"/>
              <a:gd name="connsiteX10" fmla="*/ 627017 w 5029200"/>
              <a:gd name="connsiteY10" fmla="*/ 209005 h 1449977"/>
              <a:gd name="connsiteX11" fmla="*/ 705394 w 5029200"/>
              <a:gd name="connsiteY11" fmla="*/ 195942 h 1449977"/>
              <a:gd name="connsiteX12" fmla="*/ 757645 w 5029200"/>
              <a:gd name="connsiteY12" fmla="*/ 182880 h 1449977"/>
              <a:gd name="connsiteX13" fmla="*/ 836023 w 5029200"/>
              <a:gd name="connsiteY13" fmla="*/ 169817 h 1449977"/>
              <a:gd name="connsiteX14" fmla="*/ 875211 w 5029200"/>
              <a:gd name="connsiteY14" fmla="*/ 156754 h 1449977"/>
              <a:gd name="connsiteX15" fmla="*/ 979714 w 5029200"/>
              <a:gd name="connsiteY15" fmla="*/ 130628 h 1449977"/>
              <a:gd name="connsiteX16" fmla="*/ 1031965 w 5029200"/>
              <a:gd name="connsiteY16" fmla="*/ 104502 h 1449977"/>
              <a:gd name="connsiteX17" fmla="*/ 1149531 w 5029200"/>
              <a:gd name="connsiteY17" fmla="*/ 78377 h 1449977"/>
              <a:gd name="connsiteX18" fmla="*/ 1188720 w 5029200"/>
              <a:gd name="connsiteY18" fmla="*/ 65314 h 1449977"/>
              <a:gd name="connsiteX19" fmla="*/ 1319348 w 5029200"/>
              <a:gd name="connsiteY19" fmla="*/ 39188 h 1449977"/>
              <a:gd name="connsiteX20" fmla="*/ 1606731 w 5029200"/>
              <a:gd name="connsiteY20" fmla="*/ 0 h 1449977"/>
              <a:gd name="connsiteX21" fmla="*/ 2429691 w 5029200"/>
              <a:gd name="connsiteY21" fmla="*/ 13062 h 1449977"/>
              <a:gd name="connsiteX22" fmla="*/ 2560320 w 5029200"/>
              <a:gd name="connsiteY22" fmla="*/ 26125 h 1449977"/>
              <a:gd name="connsiteX23" fmla="*/ 2717074 w 5029200"/>
              <a:gd name="connsiteY23" fmla="*/ 65314 h 1449977"/>
              <a:gd name="connsiteX24" fmla="*/ 3108960 w 5029200"/>
              <a:gd name="connsiteY24" fmla="*/ 143691 h 1449977"/>
              <a:gd name="connsiteX25" fmla="*/ 3200400 w 5029200"/>
              <a:gd name="connsiteY25" fmla="*/ 169817 h 1449977"/>
              <a:gd name="connsiteX26" fmla="*/ 3357154 w 5029200"/>
              <a:gd name="connsiteY26" fmla="*/ 195942 h 1449977"/>
              <a:gd name="connsiteX27" fmla="*/ 3409405 w 5029200"/>
              <a:gd name="connsiteY27" fmla="*/ 222068 h 1449977"/>
              <a:gd name="connsiteX28" fmla="*/ 3540034 w 5029200"/>
              <a:gd name="connsiteY28" fmla="*/ 261257 h 1449977"/>
              <a:gd name="connsiteX29" fmla="*/ 3670663 w 5029200"/>
              <a:gd name="connsiteY29" fmla="*/ 339634 h 1449977"/>
              <a:gd name="connsiteX30" fmla="*/ 3709851 w 5029200"/>
              <a:gd name="connsiteY30" fmla="*/ 365760 h 1449977"/>
              <a:gd name="connsiteX31" fmla="*/ 3762103 w 5029200"/>
              <a:gd name="connsiteY31" fmla="*/ 378822 h 1449977"/>
              <a:gd name="connsiteX32" fmla="*/ 3866605 w 5029200"/>
              <a:gd name="connsiteY32" fmla="*/ 431074 h 1449977"/>
              <a:gd name="connsiteX33" fmla="*/ 3971108 w 5029200"/>
              <a:gd name="connsiteY33" fmla="*/ 470262 h 1449977"/>
              <a:gd name="connsiteX34" fmla="*/ 4062548 w 5029200"/>
              <a:gd name="connsiteY34" fmla="*/ 509451 h 1449977"/>
              <a:gd name="connsiteX35" fmla="*/ 4167051 w 5029200"/>
              <a:gd name="connsiteY35" fmla="*/ 561702 h 1449977"/>
              <a:gd name="connsiteX36" fmla="*/ 4219303 w 5029200"/>
              <a:gd name="connsiteY36" fmla="*/ 587828 h 1449977"/>
              <a:gd name="connsiteX37" fmla="*/ 4258491 w 5029200"/>
              <a:gd name="connsiteY37" fmla="*/ 613954 h 1449977"/>
              <a:gd name="connsiteX38" fmla="*/ 4323805 w 5029200"/>
              <a:gd name="connsiteY38" fmla="*/ 666205 h 1449977"/>
              <a:gd name="connsiteX39" fmla="*/ 4376057 w 5029200"/>
              <a:gd name="connsiteY39" fmla="*/ 692331 h 1449977"/>
              <a:gd name="connsiteX40" fmla="*/ 4415245 w 5029200"/>
              <a:gd name="connsiteY40" fmla="*/ 718457 h 1449977"/>
              <a:gd name="connsiteX41" fmla="*/ 4480560 w 5029200"/>
              <a:gd name="connsiteY41" fmla="*/ 744582 h 1449977"/>
              <a:gd name="connsiteX42" fmla="*/ 4558937 w 5029200"/>
              <a:gd name="connsiteY42" fmla="*/ 796834 h 1449977"/>
              <a:gd name="connsiteX43" fmla="*/ 4637314 w 5029200"/>
              <a:gd name="connsiteY43" fmla="*/ 836022 h 1449977"/>
              <a:gd name="connsiteX44" fmla="*/ 4767943 w 5029200"/>
              <a:gd name="connsiteY44" fmla="*/ 927462 h 1449977"/>
              <a:gd name="connsiteX45" fmla="*/ 4872445 w 5029200"/>
              <a:gd name="connsiteY45" fmla="*/ 979714 h 1449977"/>
              <a:gd name="connsiteX46" fmla="*/ 4898571 w 5029200"/>
              <a:gd name="connsiteY46" fmla="*/ 1018902 h 1449977"/>
              <a:gd name="connsiteX47" fmla="*/ 4937760 w 5029200"/>
              <a:gd name="connsiteY47" fmla="*/ 1045028 h 1449977"/>
              <a:gd name="connsiteX48" fmla="*/ 4950823 w 5029200"/>
              <a:gd name="connsiteY48" fmla="*/ 1084217 h 1449977"/>
              <a:gd name="connsiteX49" fmla="*/ 4976948 w 5029200"/>
              <a:gd name="connsiteY49" fmla="*/ 1293222 h 1449977"/>
              <a:gd name="connsiteX50" fmla="*/ 5016137 w 5029200"/>
              <a:gd name="connsiteY50" fmla="*/ 1410788 h 1449977"/>
              <a:gd name="connsiteX51" fmla="*/ 5029200 w 5029200"/>
              <a:gd name="connsiteY51" fmla="*/ 1449977 h 144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029200" h="1449977">
                <a:moveTo>
                  <a:pt x="0" y="483325"/>
                </a:moveTo>
                <a:cubicBezTo>
                  <a:pt x="34834" y="461554"/>
                  <a:pt x="68441" y="437681"/>
                  <a:pt x="104503" y="418011"/>
                </a:cubicBezTo>
                <a:cubicBezTo>
                  <a:pt x="116591" y="411418"/>
                  <a:pt x="131375" y="411106"/>
                  <a:pt x="143691" y="404948"/>
                </a:cubicBezTo>
                <a:cubicBezTo>
                  <a:pt x="166400" y="393593"/>
                  <a:pt x="186296" y="377114"/>
                  <a:pt x="209005" y="365760"/>
                </a:cubicBezTo>
                <a:cubicBezTo>
                  <a:pt x="221321" y="359602"/>
                  <a:pt x="235878" y="358855"/>
                  <a:pt x="248194" y="352697"/>
                </a:cubicBezTo>
                <a:cubicBezTo>
                  <a:pt x="262236" y="345676"/>
                  <a:pt x="273036" y="332947"/>
                  <a:pt x="287383" y="326571"/>
                </a:cubicBezTo>
                <a:cubicBezTo>
                  <a:pt x="312548" y="315386"/>
                  <a:pt x="339634" y="309154"/>
                  <a:pt x="365760" y="300445"/>
                </a:cubicBezTo>
                <a:cubicBezTo>
                  <a:pt x="378823" y="296091"/>
                  <a:pt x="392632" y="293540"/>
                  <a:pt x="404948" y="287382"/>
                </a:cubicBezTo>
                <a:cubicBezTo>
                  <a:pt x="422365" y="278674"/>
                  <a:pt x="439301" y="268928"/>
                  <a:pt x="457200" y="261257"/>
                </a:cubicBezTo>
                <a:cubicBezTo>
                  <a:pt x="491350" y="246621"/>
                  <a:pt x="511806" y="246181"/>
                  <a:pt x="548640" y="235131"/>
                </a:cubicBezTo>
                <a:cubicBezTo>
                  <a:pt x="575017" y="227218"/>
                  <a:pt x="599853" y="213532"/>
                  <a:pt x="627017" y="209005"/>
                </a:cubicBezTo>
                <a:cubicBezTo>
                  <a:pt x="653143" y="204651"/>
                  <a:pt x="679422" y="201136"/>
                  <a:pt x="705394" y="195942"/>
                </a:cubicBezTo>
                <a:cubicBezTo>
                  <a:pt x="722998" y="192421"/>
                  <a:pt x="740041" y="186401"/>
                  <a:pt x="757645" y="182880"/>
                </a:cubicBezTo>
                <a:cubicBezTo>
                  <a:pt x="783617" y="177686"/>
                  <a:pt x="809897" y="174171"/>
                  <a:pt x="836023" y="169817"/>
                </a:cubicBezTo>
                <a:cubicBezTo>
                  <a:pt x="849086" y="165463"/>
                  <a:pt x="861927" y="160377"/>
                  <a:pt x="875211" y="156754"/>
                </a:cubicBezTo>
                <a:cubicBezTo>
                  <a:pt x="909852" y="147306"/>
                  <a:pt x="947598" y="146686"/>
                  <a:pt x="979714" y="130628"/>
                </a:cubicBezTo>
                <a:cubicBezTo>
                  <a:pt x="997131" y="121919"/>
                  <a:pt x="1013732" y="111339"/>
                  <a:pt x="1031965" y="104502"/>
                </a:cubicBezTo>
                <a:cubicBezTo>
                  <a:pt x="1058773" y="94449"/>
                  <a:pt x="1124716" y="84581"/>
                  <a:pt x="1149531" y="78377"/>
                </a:cubicBezTo>
                <a:cubicBezTo>
                  <a:pt x="1162889" y="75037"/>
                  <a:pt x="1175303" y="68410"/>
                  <a:pt x="1188720" y="65314"/>
                </a:cubicBezTo>
                <a:cubicBezTo>
                  <a:pt x="1231988" y="55329"/>
                  <a:pt x="1275389" y="45468"/>
                  <a:pt x="1319348" y="39188"/>
                </a:cubicBezTo>
                <a:cubicBezTo>
                  <a:pt x="1536981" y="8097"/>
                  <a:pt x="1441125" y="20699"/>
                  <a:pt x="1606731" y="0"/>
                </a:cubicBezTo>
                <a:lnTo>
                  <a:pt x="2429691" y="13062"/>
                </a:lnTo>
                <a:cubicBezTo>
                  <a:pt x="2473435" y="14260"/>
                  <a:pt x="2517266" y="18297"/>
                  <a:pt x="2560320" y="26125"/>
                </a:cubicBezTo>
                <a:cubicBezTo>
                  <a:pt x="2613311" y="35760"/>
                  <a:pt x="2664347" y="54329"/>
                  <a:pt x="2717074" y="65314"/>
                </a:cubicBezTo>
                <a:cubicBezTo>
                  <a:pt x="2924782" y="108587"/>
                  <a:pt x="2864924" y="73966"/>
                  <a:pt x="3108960" y="143691"/>
                </a:cubicBezTo>
                <a:cubicBezTo>
                  <a:pt x="3139440" y="152400"/>
                  <a:pt x="3169380" y="163287"/>
                  <a:pt x="3200400" y="169817"/>
                </a:cubicBezTo>
                <a:cubicBezTo>
                  <a:pt x="3252236" y="180730"/>
                  <a:pt x="3357154" y="195942"/>
                  <a:pt x="3357154" y="195942"/>
                </a:cubicBezTo>
                <a:cubicBezTo>
                  <a:pt x="3374571" y="204651"/>
                  <a:pt x="3391172" y="215231"/>
                  <a:pt x="3409405" y="222068"/>
                </a:cubicBezTo>
                <a:cubicBezTo>
                  <a:pt x="3484418" y="250198"/>
                  <a:pt x="3450693" y="216587"/>
                  <a:pt x="3540034" y="261257"/>
                </a:cubicBezTo>
                <a:cubicBezTo>
                  <a:pt x="3620368" y="301423"/>
                  <a:pt x="3576086" y="276582"/>
                  <a:pt x="3670663" y="339634"/>
                </a:cubicBezTo>
                <a:cubicBezTo>
                  <a:pt x="3683726" y="348343"/>
                  <a:pt x="3694620" y="361953"/>
                  <a:pt x="3709851" y="365760"/>
                </a:cubicBezTo>
                <a:lnTo>
                  <a:pt x="3762103" y="378822"/>
                </a:lnTo>
                <a:cubicBezTo>
                  <a:pt x="3796937" y="396239"/>
                  <a:pt x="3830445" y="416610"/>
                  <a:pt x="3866605" y="431074"/>
                </a:cubicBezTo>
                <a:cubicBezTo>
                  <a:pt x="3944704" y="462314"/>
                  <a:pt x="3909674" y="449785"/>
                  <a:pt x="3971108" y="470262"/>
                </a:cubicBezTo>
                <a:cubicBezTo>
                  <a:pt x="4064575" y="532573"/>
                  <a:pt x="3950080" y="462589"/>
                  <a:pt x="4062548" y="509451"/>
                </a:cubicBezTo>
                <a:cubicBezTo>
                  <a:pt x="4098498" y="524430"/>
                  <a:pt x="4132217" y="544285"/>
                  <a:pt x="4167051" y="561702"/>
                </a:cubicBezTo>
                <a:cubicBezTo>
                  <a:pt x="4184468" y="570411"/>
                  <a:pt x="4203100" y="577026"/>
                  <a:pt x="4219303" y="587828"/>
                </a:cubicBezTo>
                <a:cubicBezTo>
                  <a:pt x="4232366" y="596537"/>
                  <a:pt x="4245931" y="604534"/>
                  <a:pt x="4258491" y="613954"/>
                </a:cubicBezTo>
                <a:cubicBezTo>
                  <a:pt x="4280796" y="630683"/>
                  <a:pt x="4300607" y="650740"/>
                  <a:pt x="4323805" y="666205"/>
                </a:cubicBezTo>
                <a:cubicBezTo>
                  <a:pt x="4340008" y="677007"/>
                  <a:pt x="4359150" y="682670"/>
                  <a:pt x="4376057" y="692331"/>
                </a:cubicBezTo>
                <a:cubicBezTo>
                  <a:pt x="4389688" y="700120"/>
                  <a:pt x="4401203" y="711436"/>
                  <a:pt x="4415245" y="718457"/>
                </a:cubicBezTo>
                <a:cubicBezTo>
                  <a:pt x="4436218" y="728943"/>
                  <a:pt x="4459974" y="733354"/>
                  <a:pt x="4480560" y="744582"/>
                </a:cubicBezTo>
                <a:cubicBezTo>
                  <a:pt x="4508125" y="759618"/>
                  <a:pt x="4531815" y="781013"/>
                  <a:pt x="4558937" y="796834"/>
                </a:cubicBezTo>
                <a:cubicBezTo>
                  <a:pt x="4584167" y="811552"/>
                  <a:pt x="4612671" y="820340"/>
                  <a:pt x="4637314" y="836022"/>
                </a:cubicBezTo>
                <a:cubicBezTo>
                  <a:pt x="4803197" y="941584"/>
                  <a:pt x="4605192" y="839827"/>
                  <a:pt x="4767943" y="927462"/>
                </a:cubicBezTo>
                <a:cubicBezTo>
                  <a:pt x="4802234" y="945926"/>
                  <a:pt x="4872445" y="979714"/>
                  <a:pt x="4872445" y="979714"/>
                </a:cubicBezTo>
                <a:cubicBezTo>
                  <a:pt x="4881154" y="992777"/>
                  <a:pt x="4887470" y="1007801"/>
                  <a:pt x="4898571" y="1018902"/>
                </a:cubicBezTo>
                <a:cubicBezTo>
                  <a:pt x="4909673" y="1030003"/>
                  <a:pt x="4927952" y="1032769"/>
                  <a:pt x="4937760" y="1045028"/>
                </a:cubicBezTo>
                <a:cubicBezTo>
                  <a:pt x="4946362" y="1055780"/>
                  <a:pt x="4946469" y="1071154"/>
                  <a:pt x="4950823" y="1084217"/>
                </a:cubicBezTo>
                <a:cubicBezTo>
                  <a:pt x="4959585" y="1189370"/>
                  <a:pt x="4953151" y="1213899"/>
                  <a:pt x="4976948" y="1293222"/>
                </a:cubicBezTo>
                <a:cubicBezTo>
                  <a:pt x="4976956" y="1293250"/>
                  <a:pt x="5009601" y="1391179"/>
                  <a:pt x="5016137" y="1410788"/>
                </a:cubicBezTo>
                <a:lnTo>
                  <a:pt x="5029200" y="1449977"/>
                </a:ln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NP"/>
          </a:p>
        </p:txBody>
      </p:sp>
      <p:sp>
        <p:nvSpPr>
          <p:cNvPr id="10" name="Freeform 9">
            <a:extLst>
              <a:ext uri="{FF2B5EF4-FFF2-40B4-BE49-F238E27FC236}">
                <a16:creationId xmlns:a16="http://schemas.microsoft.com/office/drawing/2014/main" id="{A5CEC44A-0E7A-789D-A869-BD7BA6508D31}"/>
              </a:ext>
            </a:extLst>
          </p:cNvPr>
          <p:cNvSpPr/>
          <p:nvPr/>
        </p:nvSpPr>
        <p:spPr>
          <a:xfrm>
            <a:off x="1828800" y="2103120"/>
            <a:ext cx="4637314" cy="1149531"/>
          </a:xfrm>
          <a:custGeom>
            <a:avLst/>
            <a:gdLst>
              <a:gd name="connsiteX0" fmla="*/ 4637314 w 4637314"/>
              <a:gd name="connsiteY0" fmla="*/ 1149531 h 1149531"/>
              <a:gd name="connsiteX1" fmla="*/ 4532811 w 4637314"/>
              <a:gd name="connsiteY1" fmla="*/ 1097280 h 1149531"/>
              <a:gd name="connsiteX2" fmla="*/ 4428309 w 4637314"/>
              <a:gd name="connsiteY2" fmla="*/ 992777 h 1149531"/>
              <a:gd name="connsiteX3" fmla="*/ 4323806 w 4637314"/>
              <a:gd name="connsiteY3" fmla="*/ 901337 h 1149531"/>
              <a:gd name="connsiteX4" fmla="*/ 4245429 w 4637314"/>
              <a:gd name="connsiteY4" fmla="*/ 862149 h 1149531"/>
              <a:gd name="connsiteX5" fmla="*/ 4140926 w 4637314"/>
              <a:gd name="connsiteY5" fmla="*/ 809897 h 1149531"/>
              <a:gd name="connsiteX6" fmla="*/ 4010297 w 4637314"/>
              <a:gd name="connsiteY6" fmla="*/ 757646 h 1149531"/>
              <a:gd name="connsiteX7" fmla="*/ 3918857 w 4637314"/>
              <a:gd name="connsiteY7" fmla="*/ 718457 h 1149531"/>
              <a:gd name="connsiteX8" fmla="*/ 3879669 w 4637314"/>
              <a:gd name="connsiteY8" fmla="*/ 692331 h 1149531"/>
              <a:gd name="connsiteX9" fmla="*/ 3749040 w 4637314"/>
              <a:gd name="connsiteY9" fmla="*/ 653143 h 1149531"/>
              <a:gd name="connsiteX10" fmla="*/ 3709851 w 4637314"/>
              <a:gd name="connsiteY10" fmla="*/ 627017 h 1149531"/>
              <a:gd name="connsiteX11" fmla="*/ 3670663 w 4637314"/>
              <a:gd name="connsiteY11" fmla="*/ 613954 h 1149531"/>
              <a:gd name="connsiteX12" fmla="*/ 3553097 w 4637314"/>
              <a:gd name="connsiteY12" fmla="*/ 574766 h 1149531"/>
              <a:gd name="connsiteX13" fmla="*/ 3448594 w 4637314"/>
              <a:gd name="connsiteY13" fmla="*/ 535577 h 1149531"/>
              <a:gd name="connsiteX14" fmla="*/ 3409406 w 4637314"/>
              <a:gd name="connsiteY14" fmla="*/ 522514 h 1149531"/>
              <a:gd name="connsiteX15" fmla="*/ 3331029 w 4637314"/>
              <a:gd name="connsiteY15" fmla="*/ 509451 h 1149531"/>
              <a:gd name="connsiteX16" fmla="*/ 3187337 w 4637314"/>
              <a:gd name="connsiteY16" fmla="*/ 483326 h 1149531"/>
              <a:gd name="connsiteX17" fmla="*/ 2913017 w 4637314"/>
              <a:gd name="connsiteY17" fmla="*/ 391886 h 1149531"/>
              <a:gd name="connsiteX18" fmla="*/ 2834640 w 4637314"/>
              <a:gd name="connsiteY18" fmla="*/ 365760 h 1149531"/>
              <a:gd name="connsiteX19" fmla="*/ 2756263 w 4637314"/>
              <a:gd name="connsiteY19" fmla="*/ 326571 h 1149531"/>
              <a:gd name="connsiteX20" fmla="*/ 2690949 w 4637314"/>
              <a:gd name="connsiteY20" fmla="*/ 300446 h 1149531"/>
              <a:gd name="connsiteX21" fmla="*/ 2625634 w 4637314"/>
              <a:gd name="connsiteY21" fmla="*/ 261257 h 1149531"/>
              <a:gd name="connsiteX22" fmla="*/ 2508069 w 4637314"/>
              <a:gd name="connsiteY22" fmla="*/ 222069 h 1149531"/>
              <a:gd name="connsiteX23" fmla="*/ 2416629 w 4637314"/>
              <a:gd name="connsiteY23" fmla="*/ 182880 h 1149531"/>
              <a:gd name="connsiteX24" fmla="*/ 2364377 w 4637314"/>
              <a:gd name="connsiteY24" fmla="*/ 156754 h 1149531"/>
              <a:gd name="connsiteX25" fmla="*/ 2312126 w 4637314"/>
              <a:gd name="connsiteY25" fmla="*/ 143691 h 1149531"/>
              <a:gd name="connsiteX26" fmla="*/ 2181497 w 4637314"/>
              <a:gd name="connsiteY26" fmla="*/ 91440 h 1149531"/>
              <a:gd name="connsiteX27" fmla="*/ 2116183 w 4637314"/>
              <a:gd name="connsiteY27" fmla="*/ 65314 h 1149531"/>
              <a:gd name="connsiteX28" fmla="*/ 1985554 w 4637314"/>
              <a:gd name="connsiteY28" fmla="*/ 39189 h 1149531"/>
              <a:gd name="connsiteX29" fmla="*/ 1828800 w 4637314"/>
              <a:gd name="connsiteY29" fmla="*/ 13063 h 1149531"/>
              <a:gd name="connsiteX30" fmla="*/ 1619794 w 4637314"/>
              <a:gd name="connsiteY30" fmla="*/ 0 h 1149531"/>
              <a:gd name="connsiteX31" fmla="*/ 535577 w 4637314"/>
              <a:gd name="connsiteY31" fmla="*/ 13063 h 1149531"/>
              <a:gd name="connsiteX32" fmla="*/ 404949 w 4637314"/>
              <a:gd name="connsiteY32" fmla="*/ 39189 h 1149531"/>
              <a:gd name="connsiteX33" fmla="*/ 274320 w 4637314"/>
              <a:gd name="connsiteY33" fmla="*/ 65314 h 1149531"/>
              <a:gd name="connsiteX34" fmla="*/ 169817 w 4637314"/>
              <a:gd name="connsiteY34" fmla="*/ 104503 h 1149531"/>
              <a:gd name="connsiteX35" fmla="*/ 52251 w 4637314"/>
              <a:gd name="connsiteY35" fmla="*/ 209006 h 1149531"/>
              <a:gd name="connsiteX36" fmla="*/ 0 w 4637314"/>
              <a:gd name="connsiteY36" fmla="*/ 287383 h 114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637314" h="1149531">
                <a:moveTo>
                  <a:pt x="4637314" y="1149531"/>
                </a:moveTo>
                <a:cubicBezTo>
                  <a:pt x="4602480" y="1132114"/>
                  <a:pt x="4563968" y="1120648"/>
                  <a:pt x="4532811" y="1097280"/>
                </a:cubicBezTo>
                <a:cubicBezTo>
                  <a:pt x="4493401" y="1067722"/>
                  <a:pt x="4467720" y="1022334"/>
                  <a:pt x="4428309" y="992777"/>
                </a:cubicBezTo>
                <a:cubicBezTo>
                  <a:pt x="4276646" y="879033"/>
                  <a:pt x="4481628" y="1036614"/>
                  <a:pt x="4323806" y="901337"/>
                </a:cubicBezTo>
                <a:cubicBezTo>
                  <a:pt x="4278554" y="862550"/>
                  <a:pt x="4294780" y="884581"/>
                  <a:pt x="4245429" y="862149"/>
                </a:cubicBezTo>
                <a:cubicBezTo>
                  <a:pt x="4209974" y="846033"/>
                  <a:pt x="4177087" y="824361"/>
                  <a:pt x="4140926" y="809897"/>
                </a:cubicBezTo>
                <a:cubicBezTo>
                  <a:pt x="4097383" y="792480"/>
                  <a:pt x="4052243" y="778619"/>
                  <a:pt x="4010297" y="757646"/>
                </a:cubicBezTo>
                <a:cubicBezTo>
                  <a:pt x="3945730" y="725362"/>
                  <a:pt x="3976520" y="737678"/>
                  <a:pt x="3918857" y="718457"/>
                </a:cubicBezTo>
                <a:cubicBezTo>
                  <a:pt x="3905794" y="709748"/>
                  <a:pt x="3894015" y="698707"/>
                  <a:pt x="3879669" y="692331"/>
                </a:cubicBezTo>
                <a:cubicBezTo>
                  <a:pt x="3838786" y="674161"/>
                  <a:pt x="3792461" y="663999"/>
                  <a:pt x="3749040" y="653143"/>
                </a:cubicBezTo>
                <a:cubicBezTo>
                  <a:pt x="3735977" y="644434"/>
                  <a:pt x="3723893" y="634038"/>
                  <a:pt x="3709851" y="627017"/>
                </a:cubicBezTo>
                <a:cubicBezTo>
                  <a:pt x="3697535" y="620859"/>
                  <a:pt x="3683556" y="618789"/>
                  <a:pt x="3670663" y="613954"/>
                </a:cubicBezTo>
                <a:cubicBezTo>
                  <a:pt x="3572287" y="577063"/>
                  <a:pt x="3640648" y="596654"/>
                  <a:pt x="3553097" y="574766"/>
                </a:cubicBezTo>
                <a:cubicBezTo>
                  <a:pt x="3488587" y="531758"/>
                  <a:pt x="3538989" y="558176"/>
                  <a:pt x="3448594" y="535577"/>
                </a:cubicBezTo>
                <a:cubicBezTo>
                  <a:pt x="3435236" y="532237"/>
                  <a:pt x="3422847" y="525501"/>
                  <a:pt x="3409406" y="522514"/>
                </a:cubicBezTo>
                <a:cubicBezTo>
                  <a:pt x="3383551" y="516768"/>
                  <a:pt x="3357001" y="514645"/>
                  <a:pt x="3331029" y="509451"/>
                </a:cubicBezTo>
                <a:cubicBezTo>
                  <a:pt x="3177059" y="478658"/>
                  <a:pt x="3419767" y="516531"/>
                  <a:pt x="3187337" y="483326"/>
                </a:cubicBezTo>
                <a:lnTo>
                  <a:pt x="2913017" y="391886"/>
                </a:lnTo>
                <a:cubicBezTo>
                  <a:pt x="2886891" y="383177"/>
                  <a:pt x="2859271" y="378076"/>
                  <a:pt x="2834640" y="365760"/>
                </a:cubicBezTo>
                <a:cubicBezTo>
                  <a:pt x="2808514" y="352697"/>
                  <a:pt x="2782854" y="338658"/>
                  <a:pt x="2756263" y="326571"/>
                </a:cubicBezTo>
                <a:cubicBezTo>
                  <a:pt x="2734916" y="316868"/>
                  <a:pt x="2711922" y="310932"/>
                  <a:pt x="2690949" y="300446"/>
                </a:cubicBezTo>
                <a:cubicBezTo>
                  <a:pt x="2668240" y="289091"/>
                  <a:pt x="2648343" y="272612"/>
                  <a:pt x="2625634" y="261257"/>
                </a:cubicBezTo>
                <a:cubicBezTo>
                  <a:pt x="2576441" y="236660"/>
                  <a:pt x="2557963" y="234542"/>
                  <a:pt x="2508069" y="222069"/>
                </a:cubicBezTo>
                <a:cubicBezTo>
                  <a:pt x="2428651" y="169124"/>
                  <a:pt x="2513032" y="219031"/>
                  <a:pt x="2416629" y="182880"/>
                </a:cubicBezTo>
                <a:cubicBezTo>
                  <a:pt x="2398396" y="176042"/>
                  <a:pt x="2382610" y="163592"/>
                  <a:pt x="2364377" y="156754"/>
                </a:cubicBezTo>
                <a:cubicBezTo>
                  <a:pt x="2347567" y="150450"/>
                  <a:pt x="2329033" y="149729"/>
                  <a:pt x="2312126" y="143691"/>
                </a:cubicBezTo>
                <a:cubicBezTo>
                  <a:pt x="2267961" y="127918"/>
                  <a:pt x="2225040" y="108857"/>
                  <a:pt x="2181497" y="91440"/>
                </a:cubicBezTo>
                <a:cubicBezTo>
                  <a:pt x="2159726" y="82731"/>
                  <a:pt x="2139176" y="69912"/>
                  <a:pt x="2116183" y="65314"/>
                </a:cubicBezTo>
                <a:lnTo>
                  <a:pt x="1985554" y="39189"/>
                </a:lnTo>
                <a:cubicBezTo>
                  <a:pt x="1930490" y="28176"/>
                  <a:pt x="1886137" y="18049"/>
                  <a:pt x="1828800" y="13063"/>
                </a:cubicBezTo>
                <a:cubicBezTo>
                  <a:pt x="1759258" y="7016"/>
                  <a:pt x="1689463" y="4354"/>
                  <a:pt x="1619794" y="0"/>
                </a:cubicBezTo>
                <a:lnTo>
                  <a:pt x="535577" y="13063"/>
                </a:lnTo>
                <a:cubicBezTo>
                  <a:pt x="408902" y="15878"/>
                  <a:pt x="483008" y="21843"/>
                  <a:pt x="404949" y="39189"/>
                </a:cubicBezTo>
                <a:cubicBezTo>
                  <a:pt x="368001" y="47399"/>
                  <a:pt x="312181" y="51116"/>
                  <a:pt x="274320" y="65314"/>
                </a:cubicBezTo>
                <a:cubicBezTo>
                  <a:pt x="137705" y="116546"/>
                  <a:pt x="303937" y="70973"/>
                  <a:pt x="169817" y="104503"/>
                </a:cubicBezTo>
                <a:cubicBezTo>
                  <a:pt x="80339" y="193981"/>
                  <a:pt x="122182" y="162385"/>
                  <a:pt x="52251" y="209006"/>
                </a:cubicBezTo>
                <a:lnTo>
                  <a:pt x="0" y="287383"/>
                </a:ln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29196915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D35C-4B09-5EE2-3459-82E033DBE33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9C374A5-3357-88C9-380C-CB9C1F5D1557}"/>
              </a:ext>
            </a:extLst>
          </p:cNvPr>
          <p:cNvSpPr>
            <a:spLocks noGrp="1"/>
          </p:cNvSpPr>
          <p:nvPr>
            <p:ph idx="1"/>
          </p:nvPr>
        </p:nvSpPr>
        <p:spPr>
          <a:xfrm>
            <a:off x="408215" y="457200"/>
            <a:ext cx="11462656" cy="6172200"/>
          </a:xfrm>
        </p:spPr>
        <p:txBody>
          <a:bodyPr/>
          <a:lstStyle/>
          <a:p>
            <a:pPr marL="0" indent="0" algn="just">
              <a:buNone/>
            </a:pPr>
            <a:r>
              <a:rPr lang="en-NP" b="1" dirty="0"/>
              <a:t>2. Call by reference  </a:t>
            </a:r>
            <a:endParaRPr lang="en-NP" dirty="0"/>
          </a:p>
          <a:p>
            <a:pPr algn="just">
              <a:buFont typeface="Wingdings" pitchFamily="2" charset="2"/>
              <a:buChar char="Ø"/>
            </a:pPr>
            <a:r>
              <a:rPr lang="en-NP" dirty="0"/>
              <a:t>In this method address of the variables are passed. The content of that address can  be accessed freely either within the function or within the calling function so, by  using this method values of variable are by changing the values of </a:t>
            </a:r>
            <a:r>
              <a:rPr lang="en-NP" b="1" dirty="0"/>
              <a:t>formal  parameter. </a:t>
            </a:r>
            <a:r>
              <a:rPr lang="en-NP" dirty="0"/>
              <a:t>Moreover, any changes that is made to the data items will be  recognized in both the function and calling routine.  </a:t>
            </a:r>
          </a:p>
          <a:p>
            <a:pPr marL="0" indent="0" algn="just">
              <a:buNone/>
            </a:pPr>
            <a:endParaRPr lang="en-NP" dirty="0"/>
          </a:p>
        </p:txBody>
      </p:sp>
    </p:spTree>
    <p:extLst>
      <p:ext uri="{BB962C8B-B14F-4D97-AF65-F5344CB8AC3E}">
        <p14:creationId xmlns:p14="http://schemas.microsoft.com/office/powerpoint/2010/main" val="33098569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EC8FE-D6CA-2B5C-1D3C-88112FE65C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0B407D-5CCE-3631-B4DE-93BEFABDEC91}"/>
              </a:ext>
            </a:extLst>
          </p:cNvPr>
          <p:cNvSpPr>
            <a:spLocks noGrp="1"/>
          </p:cNvSpPr>
          <p:nvPr>
            <p:ph idx="1"/>
          </p:nvPr>
        </p:nvSpPr>
        <p:spPr>
          <a:xfrm>
            <a:off x="408215" y="457200"/>
            <a:ext cx="11462656" cy="6172200"/>
          </a:xfrm>
        </p:spPr>
        <p:txBody>
          <a:bodyPr>
            <a:normAutofit fontScale="47500" lnSpcReduction="20000"/>
          </a:bodyPr>
          <a:lstStyle/>
          <a:p>
            <a:pPr marL="0" indent="0">
              <a:lnSpc>
                <a:spcPct val="110000"/>
              </a:lnSpc>
              <a:spcBef>
                <a:spcPts val="0"/>
              </a:spcBef>
              <a:buNone/>
            </a:pPr>
            <a:r>
              <a:rPr lang="en-US" sz="5100" b="1" dirty="0">
                <a:highlight>
                  <a:srgbClr val="FFFF00"/>
                </a:highlight>
              </a:rPr>
              <a:t>7 )Program to show call by reference IMP</a:t>
            </a:r>
          </a:p>
          <a:p>
            <a:pPr marL="0" indent="0">
              <a:lnSpc>
                <a:spcPct val="110000"/>
              </a:lnSpc>
              <a:spcBef>
                <a:spcPts val="0"/>
              </a:spcBef>
              <a:buNone/>
            </a:pPr>
            <a:endParaRPr lang="en-US" b="1" dirty="0"/>
          </a:p>
          <a:p>
            <a:pPr marL="0" indent="0">
              <a:lnSpc>
                <a:spcPct val="110000"/>
              </a:lnSpc>
              <a:spcBef>
                <a:spcPts val="0"/>
              </a:spcBef>
              <a:buNone/>
            </a:pPr>
            <a:r>
              <a:rPr lang="en-US" sz="4500" b="1" dirty="0"/>
              <a:t>#include&lt;</a:t>
            </a:r>
            <a:r>
              <a:rPr lang="en-US" sz="4500" b="1" dirty="0" err="1"/>
              <a:t>stdio.h</a:t>
            </a:r>
            <a:r>
              <a:rPr lang="en-US" sz="4500" b="1" dirty="0"/>
              <a:t>&gt; </a:t>
            </a:r>
          </a:p>
          <a:p>
            <a:pPr marL="0" indent="0">
              <a:lnSpc>
                <a:spcPct val="110000"/>
              </a:lnSpc>
              <a:spcBef>
                <a:spcPts val="0"/>
              </a:spcBef>
              <a:buNone/>
            </a:pPr>
            <a:r>
              <a:rPr lang="en-US" sz="4500" b="1" dirty="0"/>
              <a:t>void swap(int  *a, int  *b); </a:t>
            </a:r>
          </a:p>
          <a:p>
            <a:pPr marL="0" indent="0">
              <a:lnSpc>
                <a:spcPct val="110000"/>
              </a:lnSpc>
              <a:spcBef>
                <a:spcPts val="0"/>
              </a:spcBef>
              <a:buNone/>
            </a:pPr>
            <a:r>
              <a:rPr lang="en-US" sz="4500" b="1" dirty="0"/>
              <a:t>int main() </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int a = 10, b= 20; </a:t>
            </a:r>
          </a:p>
          <a:p>
            <a:pPr marL="0" indent="0">
              <a:lnSpc>
                <a:spcPct val="110000"/>
              </a:lnSpc>
              <a:spcBef>
                <a:spcPts val="0"/>
              </a:spcBef>
              <a:buNone/>
            </a:pPr>
            <a:r>
              <a:rPr lang="en-US" sz="4500" b="1" dirty="0"/>
              <a:t>swap(&amp;a, &amp;b); </a:t>
            </a:r>
          </a:p>
          <a:p>
            <a:pPr marL="0" indent="0">
              <a:lnSpc>
                <a:spcPct val="110000"/>
              </a:lnSpc>
              <a:spcBef>
                <a:spcPts val="0"/>
              </a:spcBef>
              <a:buNone/>
            </a:pPr>
            <a:r>
              <a:rPr lang="en-US" sz="4500" b="1" dirty="0" err="1"/>
              <a:t>printf</a:t>
            </a:r>
            <a:r>
              <a:rPr lang="en-US" sz="4500" b="1" dirty="0"/>
              <a:t>("Call by reference\n"); </a:t>
            </a:r>
          </a:p>
          <a:p>
            <a:pPr marL="0" indent="0">
              <a:lnSpc>
                <a:spcPct val="110000"/>
              </a:lnSpc>
              <a:spcBef>
                <a:spcPts val="0"/>
              </a:spcBef>
              <a:buNone/>
            </a:pPr>
            <a:r>
              <a:rPr lang="en-US" sz="4500" b="1" dirty="0" err="1"/>
              <a:t>printf</a:t>
            </a:r>
            <a:r>
              <a:rPr lang="en-US" sz="4500" b="1" dirty="0"/>
              <a:t>(" After swapping a = %d and b= %d ", a, b); </a:t>
            </a:r>
          </a:p>
          <a:p>
            <a:pPr marL="0" indent="0">
              <a:lnSpc>
                <a:spcPct val="110000"/>
              </a:lnSpc>
              <a:spcBef>
                <a:spcPts val="0"/>
              </a:spcBef>
              <a:buNone/>
            </a:pPr>
            <a:r>
              <a:rPr lang="en-US" sz="4500" b="1" dirty="0"/>
              <a:t>return 0;</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void swap(int *a, int *b) </a:t>
            </a:r>
          </a:p>
          <a:p>
            <a:pPr marL="0" indent="0">
              <a:lnSpc>
                <a:spcPct val="110000"/>
              </a:lnSpc>
              <a:spcBef>
                <a:spcPts val="0"/>
              </a:spcBef>
              <a:buNone/>
            </a:pPr>
            <a:r>
              <a:rPr lang="en-US" sz="4500" b="1" dirty="0"/>
              <a:t>{ </a:t>
            </a:r>
          </a:p>
          <a:p>
            <a:pPr marL="0" indent="0">
              <a:lnSpc>
                <a:spcPct val="110000"/>
              </a:lnSpc>
              <a:spcBef>
                <a:spcPts val="0"/>
              </a:spcBef>
              <a:buNone/>
            </a:pPr>
            <a:r>
              <a:rPr lang="en-US" sz="4500" b="1" dirty="0"/>
              <a:t>int t; </a:t>
            </a:r>
          </a:p>
          <a:p>
            <a:pPr marL="0" indent="0">
              <a:lnSpc>
                <a:spcPct val="110000"/>
              </a:lnSpc>
              <a:spcBef>
                <a:spcPts val="0"/>
              </a:spcBef>
              <a:buNone/>
            </a:pPr>
            <a:r>
              <a:rPr lang="en-US" sz="4500" b="1" dirty="0"/>
              <a:t>t = *a; </a:t>
            </a:r>
          </a:p>
          <a:p>
            <a:pPr marL="0" indent="0">
              <a:lnSpc>
                <a:spcPct val="110000"/>
              </a:lnSpc>
              <a:spcBef>
                <a:spcPts val="0"/>
              </a:spcBef>
              <a:buNone/>
            </a:pPr>
            <a:r>
              <a:rPr lang="en-US" sz="4500" b="1" dirty="0"/>
              <a:t>*a = *b; </a:t>
            </a:r>
          </a:p>
          <a:p>
            <a:pPr marL="0" indent="0">
              <a:lnSpc>
                <a:spcPct val="110000"/>
              </a:lnSpc>
              <a:spcBef>
                <a:spcPts val="0"/>
              </a:spcBef>
              <a:buNone/>
            </a:pPr>
            <a:r>
              <a:rPr lang="en-US" sz="4500" b="1" dirty="0"/>
              <a:t>*b = t; </a:t>
            </a:r>
          </a:p>
          <a:p>
            <a:pPr marL="0" indent="0">
              <a:lnSpc>
                <a:spcPct val="110000"/>
              </a:lnSpc>
              <a:spcBef>
                <a:spcPts val="0"/>
              </a:spcBef>
              <a:buNone/>
            </a:pPr>
            <a:r>
              <a:rPr lang="en-US" sz="4500" b="1" dirty="0"/>
              <a:t>}</a:t>
            </a:r>
          </a:p>
          <a:p>
            <a:pPr marL="0" indent="0">
              <a:lnSpc>
                <a:spcPct val="110000"/>
              </a:lnSpc>
              <a:spcBef>
                <a:spcPts val="0"/>
              </a:spcBef>
              <a:buNone/>
            </a:pPr>
            <a:br>
              <a:rPr lang="en-US" b="1" dirty="0"/>
            </a:br>
            <a:endParaRPr lang="en-US" b="1" dirty="0"/>
          </a:p>
          <a:p>
            <a:pPr marL="0" indent="0">
              <a:lnSpc>
                <a:spcPct val="110000"/>
              </a:lnSpc>
              <a:spcBef>
                <a:spcPts val="0"/>
              </a:spcBef>
              <a:buNone/>
            </a:pPr>
            <a:endParaRPr lang="en-NP" b="1" dirty="0"/>
          </a:p>
        </p:txBody>
      </p:sp>
      <p:pic>
        <p:nvPicPr>
          <p:cNvPr id="2" name="Picture 1">
            <a:extLst>
              <a:ext uri="{FF2B5EF4-FFF2-40B4-BE49-F238E27FC236}">
                <a16:creationId xmlns:a16="http://schemas.microsoft.com/office/drawing/2014/main" id="{FB43E04A-8BE9-B121-196C-D61501C4CDCE}"/>
              </a:ext>
            </a:extLst>
          </p:cNvPr>
          <p:cNvPicPr>
            <a:picLocks noChangeAspect="1"/>
          </p:cNvPicPr>
          <p:nvPr/>
        </p:nvPicPr>
        <p:blipFill>
          <a:blip r:embed="rId2"/>
          <a:stretch>
            <a:fillRect/>
          </a:stretch>
        </p:blipFill>
        <p:spPr>
          <a:xfrm>
            <a:off x="4227367" y="3990108"/>
            <a:ext cx="5304559" cy="1136073"/>
          </a:xfrm>
          <a:prstGeom prst="rect">
            <a:avLst/>
          </a:prstGeom>
        </p:spPr>
      </p:pic>
      <p:sp>
        <p:nvSpPr>
          <p:cNvPr id="4" name="Freeform 3">
            <a:extLst>
              <a:ext uri="{FF2B5EF4-FFF2-40B4-BE49-F238E27FC236}">
                <a16:creationId xmlns:a16="http://schemas.microsoft.com/office/drawing/2014/main" id="{2CBE97B8-540B-402D-BC78-3E42F35C4B34}"/>
              </a:ext>
            </a:extLst>
          </p:cNvPr>
          <p:cNvSpPr/>
          <p:nvPr/>
        </p:nvSpPr>
        <p:spPr>
          <a:xfrm>
            <a:off x="2312126" y="3304903"/>
            <a:ext cx="3304903" cy="666206"/>
          </a:xfrm>
          <a:custGeom>
            <a:avLst/>
            <a:gdLst>
              <a:gd name="connsiteX0" fmla="*/ 0 w 3304903"/>
              <a:gd name="connsiteY0" fmla="*/ 666206 h 666206"/>
              <a:gd name="connsiteX1" fmla="*/ 169817 w 3304903"/>
              <a:gd name="connsiteY1" fmla="*/ 561703 h 666206"/>
              <a:gd name="connsiteX2" fmla="*/ 209005 w 3304903"/>
              <a:gd name="connsiteY2" fmla="*/ 535577 h 666206"/>
              <a:gd name="connsiteX3" fmla="*/ 261257 w 3304903"/>
              <a:gd name="connsiteY3" fmla="*/ 496388 h 666206"/>
              <a:gd name="connsiteX4" fmla="*/ 391885 w 3304903"/>
              <a:gd name="connsiteY4" fmla="*/ 444137 h 666206"/>
              <a:gd name="connsiteX5" fmla="*/ 535577 w 3304903"/>
              <a:gd name="connsiteY5" fmla="*/ 378823 h 666206"/>
              <a:gd name="connsiteX6" fmla="*/ 613954 w 3304903"/>
              <a:gd name="connsiteY6" fmla="*/ 365760 h 666206"/>
              <a:gd name="connsiteX7" fmla="*/ 770708 w 3304903"/>
              <a:gd name="connsiteY7" fmla="*/ 313508 h 666206"/>
              <a:gd name="connsiteX8" fmla="*/ 849085 w 3304903"/>
              <a:gd name="connsiteY8" fmla="*/ 287383 h 666206"/>
              <a:gd name="connsiteX9" fmla="*/ 1058091 w 3304903"/>
              <a:gd name="connsiteY9" fmla="*/ 248194 h 666206"/>
              <a:gd name="connsiteX10" fmla="*/ 1110343 w 3304903"/>
              <a:gd name="connsiteY10" fmla="*/ 235131 h 666206"/>
              <a:gd name="connsiteX11" fmla="*/ 1410788 w 3304903"/>
              <a:gd name="connsiteY11" fmla="*/ 209006 h 666206"/>
              <a:gd name="connsiteX12" fmla="*/ 2286000 w 3304903"/>
              <a:gd name="connsiteY12" fmla="*/ 195943 h 666206"/>
              <a:gd name="connsiteX13" fmla="*/ 2495005 w 3304903"/>
              <a:gd name="connsiteY13" fmla="*/ 169817 h 666206"/>
              <a:gd name="connsiteX14" fmla="*/ 2560320 w 3304903"/>
              <a:gd name="connsiteY14" fmla="*/ 156754 h 666206"/>
              <a:gd name="connsiteX15" fmla="*/ 2730137 w 3304903"/>
              <a:gd name="connsiteY15" fmla="*/ 143691 h 666206"/>
              <a:gd name="connsiteX16" fmla="*/ 2926080 w 3304903"/>
              <a:gd name="connsiteY16" fmla="*/ 117566 h 666206"/>
              <a:gd name="connsiteX17" fmla="*/ 3030583 w 3304903"/>
              <a:gd name="connsiteY17" fmla="*/ 91440 h 666206"/>
              <a:gd name="connsiteX18" fmla="*/ 3108960 w 3304903"/>
              <a:gd name="connsiteY18" fmla="*/ 65314 h 666206"/>
              <a:gd name="connsiteX19" fmla="*/ 3200400 w 3304903"/>
              <a:gd name="connsiteY19" fmla="*/ 39188 h 666206"/>
              <a:gd name="connsiteX20" fmla="*/ 3291840 w 3304903"/>
              <a:gd name="connsiteY20" fmla="*/ 13063 h 666206"/>
              <a:gd name="connsiteX21" fmla="*/ 3304903 w 3304903"/>
              <a:gd name="connsiteY21" fmla="*/ 0 h 666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04903" h="666206">
                <a:moveTo>
                  <a:pt x="0" y="666206"/>
                </a:moveTo>
                <a:cubicBezTo>
                  <a:pt x="56606" y="631372"/>
                  <a:pt x="114515" y="598572"/>
                  <a:pt x="169817" y="561703"/>
                </a:cubicBezTo>
                <a:cubicBezTo>
                  <a:pt x="182880" y="552994"/>
                  <a:pt x="196230" y="544702"/>
                  <a:pt x="209005" y="535577"/>
                </a:cubicBezTo>
                <a:cubicBezTo>
                  <a:pt x="226721" y="522922"/>
                  <a:pt x="241784" y="506125"/>
                  <a:pt x="261257" y="496388"/>
                </a:cubicBezTo>
                <a:cubicBezTo>
                  <a:pt x="303203" y="475415"/>
                  <a:pt x="349939" y="465110"/>
                  <a:pt x="391885" y="444137"/>
                </a:cubicBezTo>
                <a:cubicBezTo>
                  <a:pt x="426758" y="426701"/>
                  <a:pt x="494903" y="389916"/>
                  <a:pt x="535577" y="378823"/>
                </a:cubicBezTo>
                <a:cubicBezTo>
                  <a:pt x="561130" y="371854"/>
                  <a:pt x="588434" y="372849"/>
                  <a:pt x="613954" y="365760"/>
                </a:cubicBezTo>
                <a:cubicBezTo>
                  <a:pt x="667022" y="351019"/>
                  <a:pt x="718457" y="330925"/>
                  <a:pt x="770708" y="313508"/>
                </a:cubicBezTo>
                <a:cubicBezTo>
                  <a:pt x="796834" y="304799"/>
                  <a:pt x="821921" y="291910"/>
                  <a:pt x="849085" y="287383"/>
                </a:cubicBezTo>
                <a:cubicBezTo>
                  <a:pt x="915223" y="276360"/>
                  <a:pt x="995445" y="263855"/>
                  <a:pt x="1058091" y="248194"/>
                </a:cubicBezTo>
                <a:cubicBezTo>
                  <a:pt x="1075508" y="243840"/>
                  <a:pt x="1092679" y="238343"/>
                  <a:pt x="1110343" y="235131"/>
                </a:cubicBezTo>
                <a:cubicBezTo>
                  <a:pt x="1205484" y="217833"/>
                  <a:pt x="1319329" y="211210"/>
                  <a:pt x="1410788" y="209006"/>
                </a:cubicBezTo>
                <a:lnTo>
                  <a:pt x="2286000" y="195943"/>
                </a:lnTo>
                <a:cubicBezTo>
                  <a:pt x="2502554" y="159850"/>
                  <a:pt x="2181044" y="211679"/>
                  <a:pt x="2495005" y="169817"/>
                </a:cubicBezTo>
                <a:cubicBezTo>
                  <a:pt x="2517013" y="166883"/>
                  <a:pt x="2538253" y="159206"/>
                  <a:pt x="2560320" y="156754"/>
                </a:cubicBezTo>
                <a:cubicBezTo>
                  <a:pt x="2616746" y="150484"/>
                  <a:pt x="2673597" y="148831"/>
                  <a:pt x="2730137" y="143691"/>
                </a:cubicBezTo>
                <a:cubicBezTo>
                  <a:pt x="2783070" y="138879"/>
                  <a:pt x="2869907" y="129603"/>
                  <a:pt x="2926080" y="117566"/>
                </a:cubicBezTo>
                <a:cubicBezTo>
                  <a:pt x="2961189" y="110043"/>
                  <a:pt x="2996519" y="102795"/>
                  <a:pt x="3030583" y="91440"/>
                </a:cubicBezTo>
                <a:cubicBezTo>
                  <a:pt x="3056709" y="82731"/>
                  <a:pt x="3082243" y="71993"/>
                  <a:pt x="3108960" y="65314"/>
                </a:cubicBezTo>
                <a:cubicBezTo>
                  <a:pt x="3272355" y="24464"/>
                  <a:pt x="3069179" y="76679"/>
                  <a:pt x="3200400" y="39188"/>
                </a:cubicBezTo>
                <a:cubicBezTo>
                  <a:pt x="3219936" y="33606"/>
                  <a:pt x="3270957" y="23505"/>
                  <a:pt x="3291840" y="13063"/>
                </a:cubicBezTo>
                <a:cubicBezTo>
                  <a:pt x="3297348" y="10309"/>
                  <a:pt x="3300549" y="4354"/>
                  <a:pt x="3304903" y="0"/>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NP"/>
          </a:p>
        </p:txBody>
      </p:sp>
      <p:sp>
        <p:nvSpPr>
          <p:cNvPr id="7" name="Freeform 6">
            <a:extLst>
              <a:ext uri="{FF2B5EF4-FFF2-40B4-BE49-F238E27FC236}">
                <a16:creationId xmlns:a16="http://schemas.microsoft.com/office/drawing/2014/main" id="{CF0312DB-012A-CB27-96DE-BD7CA5D01908}"/>
              </a:ext>
            </a:extLst>
          </p:cNvPr>
          <p:cNvSpPr/>
          <p:nvPr/>
        </p:nvSpPr>
        <p:spPr>
          <a:xfrm>
            <a:off x="3108960" y="3291840"/>
            <a:ext cx="2847703" cy="673011"/>
          </a:xfrm>
          <a:custGeom>
            <a:avLst/>
            <a:gdLst>
              <a:gd name="connsiteX0" fmla="*/ 0 w 2847703"/>
              <a:gd name="connsiteY0" fmla="*/ 653143 h 673011"/>
              <a:gd name="connsiteX1" fmla="*/ 640080 w 2847703"/>
              <a:gd name="connsiteY1" fmla="*/ 653143 h 673011"/>
              <a:gd name="connsiteX2" fmla="*/ 731520 w 2847703"/>
              <a:gd name="connsiteY2" fmla="*/ 627017 h 673011"/>
              <a:gd name="connsiteX3" fmla="*/ 796834 w 2847703"/>
              <a:gd name="connsiteY3" fmla="*/ 613954 h 673011"/>
              <a:gd name="connsiteX4" fmla="*/ 901337 w 2847703"/>
              <a:gd name="connsiteY4" fmla="*/ 574766 h 673011"/>
              <a:gd name="connsiteX5" fmla="*/ 1005840 w 2847703"/>
              <a:gd name="connsiteY5" fmla="*/ 548640 h 673011"/>
              <a:gd name="connsiteX6" fmla="*/ 1045029 w 2847703"/>
              <a:gd name="connsiteY6" fmla="*/ 535577 h 673011"/>
              <a:gd name="connsiteX7" fmla="*/ 1149531 w 2847703"/>
              <a:gd name="connsiteY7" fmla="*/ 522514 h 673011"/>
              <a:gd name="connsiteX8" fmla="*/ 1332411 w 2847703"/>
              <a:gd name="connsiteY8" fmla="*/ 496389 h 673011"/>
              <a:gd name="connsiteX9" fmla="*/ 1502229 w 2847703"/>
              <a:gd name="connsiteY9" fmla="*/ 470263 h 673011"/>
              <a:gd name="connsiteX10" fmla="*/ 1606731 w 2847703"/>
              <a:gd name="connsiteY10" fmla="*/ 444137 h 673011"/>
              <a:gd name="connsiteX11" fmla="*/ 1645920 w 2847703"/>
              <a:gd name="connsiteY11" fmla="*/ 431074 h 673011"/>
              <a:gd name="connsiteX12" fmla="*/ 1698171 w 2847703"/>
              <a:gd name="connsiteY12" fmla="*/ 418011 h 673011"/>
              <a:gd name="connsiteX13" fmla="*/ 1776549 w 2847703"/>
              <a:gd name="connsiteY13" fmla="*/ 391886 h 673011"/>
              <a:gd name="connsiteX14" fmla="*/ 1815737 w 2847703"/>
              <a:gd name="connsiteY14" fmla="*/ 378823 h 673011"/>
              <a:gd name="connsiteX15" fmla="*/ 2090057 w 2847703"/>
              <a:gd name="connsiteY15" fmla="*/ 339634 h 673011"/>
              <a:gd name="connsiteX16" fmla="*/ 2312126 w 2847703"/>
              <a:gd name="connsiteY16" fmla="*/ 300446 h 673011"/>
              <a:gd name="connsiteX17" fmla="*/ 2547257 w 2847703"/>
              <a:gd name="connsiteY17" fmla="*/ 261257 h 673011"/>
              <a:gd name="connsiteX18" fmla="*/ 2625634 w 2847703"/>
              <a:gd name="connsiteY18" fmla="*/ 222069 h 673011"/>
              <a:gd name="connsiteX19" fmla="*/ 2677886 w 2847703"/>
              <a:gd name="connsiteY19" fmla="*/ 195943 h 673011"/>
              <a:gd name="connsiteX20" fmla="*/ 2756263 w 2847703"/>
              <a:gd name="connsiteY20" fmla="*/ 156754 h 673011"/>
              <a:gd name="connsiteX21" fmla="*/ 2808514 w 2847703"/>
              <a:gd name="connsiteY21" fmla="*/ 78377 h 673011"/>
              <a:gd name="connsiteX22" fmla="*/ 2821577 w 2847703"/>
              <a:gd name="connsiteY22" fmla="*/ 39189 h 673011"/>
              <a:gd name="connsiteX23" fmla="*/ 2847703 w 2847703"/>
              <a:gd name="connsiteY23" fmla="*/ 0 h 673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47703" h="673011">
                <a:moveTo>
                  <a:pt x="0" y="653143"/>
                </a:moveTo>
                <a:cubicBezTo>
                  <a:pt x="274111" y="683600"/>
                  <a:pt x="151562" y="675349"/>
                  <a:pt x="640080" y="653143"/>
                </a:cubicBezTo>
                <a:cubicBezTo>
                  <a:pt x="669942" y="651786"/>
                  <a:pt x="702717" y="634218"/>
                  <a:pt x="731520" y="627017"/>
                </a:cubicBezTo>
                <a:cubicBezTo>
                  <a:pt x="753060" y="621632"/>
                  <a:pt x="775294" y="619339"/>
                  <a:pt x="796834" y="613954"/>
                </a:cubicBezTo>
                <a:cubicBezTo>
                  <a:pt x="842905" y="602436"/>
                  <a:pt x="849400" y="590746"/>
                  <a:pt x="901337" y="574766"/>
                </a:cubicBezTo>
                <a:cubicBezTo>
                  <a:pt x="935656" y="564206"/>
                  <a:pt x="971776" y="559995"/>
                  <a:pt x="1005840" y="548640"/>
                </a:cubicBezTo>
                <a:cubicBezTo>
                  <a:pt x="1018903" y="544286"/>
                  <a:pt x="1031482" y="538040"/>
                  <a:pt x="1045029" y="535577"/>
                </a:cubicBezTo>
                <a:cubicBezTo>
                  <a:pt x="1079568" y="529297"/>
                  <a:pt x="1114748" y="527257"/>
                  <a:pt x="1149531" y="522514"/>
                </a:cubicBezTo>
                <a:cubicBezTo>
                  <a:pt x="1210545" y="514194"/>
                  <a:pt x="1272028" y="508466"/>
                  <a:pt x="1332411" y="496389"/>
                </a:cubicBezTo>
                <a:cubicBezTo>
                  <a:pt x="1432150" y="476441"/>
                  <a:pt x="1375695" y="486080"/>
                  <a:pt x="1502229" y="470263"/>
                </a:cubicBezTo>
                <a:cubicBezTo>
                  <a:pt x="1537063" y="461554"/>
                  <a:pt x="1572667" y="455492"/>
                  <a:pt x="1606731" y="444137"/>
                </a:cubicBezTo>
                <a:cubicBezTo>
                  <a:pt x="1619794" y="439783"/>
                  <a:pt x="1632680" y="434857"/>
                  <a:pt x="1645920" y="431074"/>
                </a:cubicBezTo>
                <a:cubicBezTo>
                  <a:pt x="1663182" y="426142"/>
                  <a:pt x="1680975" y="423170"/>
                  <a:pt x="1698171" y="418011"/>
                </a:cubicBezTo>
                <a:cubicBezTo>
                  <a:pt x="1724549" y="410098"/>
                  <a:pt x="1750423" y="400594"/>
                  <a:pt x="1776549" y="391886"/>
                </a:cubicBezTo>
                <a:cubicBezTo>
                  <a:pt x="1789612" y="387532"/>
                  <a:pt x="1802235" y="381523"/>
                  <a:pt x="1815737" y="378823"/>
                </a:cubicBezTo>
                <a:cubicBezTo>
                  <a:pt x="1993527" y="343265"/>
                  <a:pt x="1902143" y="356717"/>
                  <a:pt x="2090057" y="339634"/>
                </a:cubicBezTo>
                <a:cubicBezTo>
                  <a:pt x="2176124" y="322420"/>
                  <a:pt x="2207887" y="315337"/>
                  <a:pt x="2312126" y="300446"/>
                </a:cubicBezTo>
                <a:cubicBezTo>
                  <a:pt x="2416752" y="285499"/>
                  <a:pt x="2463262" y="285256"/>
                  <a:pt x="2547257" y="261257"/>
                </a:cubicBezTo>
                <a:cubicBezTo>
                  <a:pt x="2607133" y="244149"/>
                  <a:pt x="2568384" y="254783"/>
                  <a:pt x="2625634" y="222069"/>
                </a:cubicBezTo>
                <a:cubicBezTo>
                  <a:pt x="2642541" y="212408"/>
                  <a:pt x="2660979" y="205604"/>
                  <a:pt x="2677886" y="195943"/>
                </a:cubicBezTo>
                <a:cubicBezTo>
                  <a:pt x="2748791" y="155426"/>
                  <a:pt x="2684411" y="180705"/>
                  <a:pt x="2756263" y="156754"/>
                </a:cubicBezTo>
                <a:cubicBezTo>
                  <a:pt x="2773680" y="130628"/>
                  <a:pt x="2798585" y="108165"/>
                  <a:pt x="2808514" y="78377"/>
                </a:cubicBezTo>
                <a:cubicBezTo>
                  <a:pt x="2812868" y="65314"/>
                  <a:pt x="2815419" y="51505"/>
                  <a:pt x="2821577" y="39189"/>
                </a:cubicBezTo>
                <a:cubicBezTo>
                  <a:pt x="2828598" y="25147"/>
                  <a:pt x="2847703" y="0"/>
                  <a:pt x="2847703" y="0"/>
                </a:cubicBezTo>
              </a:path>
            </a:pathLst>
          </a:cu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1239419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FA034D-3437-B699-B0F6-8F10544A1AC0}"/>
              </a:ext>
            </a:extLst>
          </p:cNvPr>
          <p:cNvSpPr>
            <a:spLocks noGrp="1"/>
          </p:cNvSpPr>
          <p:nvPr>
            <p:ph idx="1"/>
          </p:nvPr>
        </p:nvSpPr>
        <p:spPr>
          <a:xfrm>
            <a:off x="838200" y="263236"/>
            <a:ext cx="10515600" cy="5913727"/>
          </a:xfrm>
        </p:spPr>
        <p:txBody>
          <a:bodyPr/>
          <a:lstStyle/>
          <a:p>
            <a:pPr marL="0" indent="0">
              <a:buNone/>
            </a:pPr>
            <a:r>
              <a:rPr lang="en-NP" b="1" dirty="0">
                <a:solidFill>
                  <a:srgbClr val="FF0000"/>
                </a:solidFill>
                <a:highlight>
                  <a:srgbClr val="FFFF00"/>
                </a:highlight>
              </a:rPr>
              <a:t>POINTER LAB WORK</a:t>
            </a:r>
          </a:p>
          <a:p>
            <a:pPr marL="0" indent="0">
              <a:buNone/>
            </a:pPr>
            <a:endParaRPr lang="en-NP" dirty="0">
              <a:solidFill>
                <a:srgbClr val="FF0000"/>
              </a:solidFill>
              <a:highlight>
                <a:srgbClr val="FFFF00"/>
              </a:highlight>
            </a:endParaRPr>
          </a:p>
          <a:p>
            <a:pPr marL="514350" indent="-514350">
              <a:buAutoNum type="arabicParenR"/>
            </a:pPr>
            <a:r>
              <a:rPr lang="en-NP" b="1" dirty="0">
                <a:highlight>
                  <a:srgbClr val="FFFF00"/>
                </a:highlight>
              </a:rPr>
              <a:t>WAP to sum two numbers 10 and 5 using pointers. </a:t>
            </a:r>
          </a:p>
          <a:p>
            <a:pPr marL="514350" indent="-514350">
              <a:buAutoNum type="arabicParenR"/>
            </a:pPr>
            <a:r>
              <a:rPr lang="en-US" b="1" dirty="0">
                <a:highlight>
                  <a:srgbClr val="FFFF00"/>
                </a:highlight>
              </a:rPr>
              <a:t>WAP to perform arithmetic calculations (sum, difference, multiplication and  division) of two numbers using pointers.</a:t>
            </a:r>
          </a:p>
          <a:p>
            <a:pPr marL="514350" indent="-514350">
              <a:buFont typeface="Arial" panose="020B0604020202020204" pitchFamily="34" charset="0"/>
              <a:buAutoNum type="arabicParenR"/>
            </a:pPr>
            <a:r>
              <a:rPr lang="en-NP" b="1" dirty="0">
                <a:highlight>
                  <a:srgbClr val="FFFF00"/>
                </a:highlight>
              </a:rPr>
              <a:t>WAP to find odd or even number using pointers. </a:t>
            </a:r>
          </a:p>
          <a:p>
            <a:pPr marL="514350" indent="-514350">
              <a:buFont typeface="Arial" panose="020B0604020202020204" pitchFamily="34" charset="0"/>
              <a:buAutoNum type="arabicParenR"/>
            </a:pPr>
            <a:r>
              <a:rPr lang="en-NP" b="1" dirty="0">
                <a:highlight>
                  <a:srgbClr val="FFFF00"/>
                </a:highlight>
              </a:rPr>
              <a:t>Write C program to find sum and average of ‘n’ natural numbers using pointer.</a:t>
            </a:r>
          </a:p>
          <a:p>
            <a:pPr marL="514350" indent="-514350">
              <a:buFont typeface="Arial" panose="020B0604020202020204" pitchFamily="34" charset="0"/>
              <a:buAutoNum type="arabicParenR"/>
            </a:pPr>
            <a:r>
              <a:rPr lang="en-NP" b="1" dirty="0">
                <a:highlight>
                  <a:srgbClr val="FFFF00"/>
                </a:highlight>
              </a:rPr>
              <a:t>Write C program to find factorial of a number using pointer.</a:t>
            </a:r>
          </a:p>
          <a:p>
            <a:pPr marL="514350" indent="-514350">
              <a:buFont typeface="Arial" panose="020B0604020202020204" pitchFamily="34" charset="0"/>
              <a:buAutoNum type="arabicParenR"/>
            </a:pPr>
            <a:r>
              <a:rPr lang="en-NP" b="1" u="sng" dirty="0">
                <a:highlight>
                  <a:srgbClr val="FFFF00"/>
                </a:highlight>
              </a:rPr>
              <a:t>Program to swap any two integers using call by value</a:t>
            </a:r>
          </a:p>
          <a:p>
            <a:pPr marL="514350" indent="-514350">
              <a:buFont typeface="Arial" panose="020B0604020202020204" pitchFamily="34" charset="0"/>
              <a:buAutoNum type="arabicParenR"/>
            </a:pPr>
            <a:r>
              <a:rPr lang="en-US" b="1" dirty="0">
                <a:highlight>
                  <a:srgbClr val="FFFF00"/>
                </a:highlight>
              </a:rPr>
              <a:t>7 )Program to show call by reference </a:t>
            </a:r>
          </a:p>
          <a:p>
            <a:pPr marL="514350" indent="-514350">
              <a:buFont typeface="Arial" panose="020B0604020202020204" pitchFamily="34" charset="0"/>
              <a:buAutoNum type="arabicParenR"/>
            </a:pPr>
            <a:endParaRPr lang="en-NP" dirty="0">
              <a:highlight>
                <a:srgbClr val="FFFF00"/>
              </a:highlight>
            </a:endParaRPr>
          </a:p>
          <a:p>
            <a:pPr marL="514350" indent="-514350">
              <a:buFont typeface="Arial" panose="020B0604020202020204" pitchFamily="34" charset="0"/>
              <a:buAutoNum type="arabicParenR"/>
            </a:pPr>
            <a:endParaRPr lang="en-US" b="1" dirty="0">
              <a:highlight>
                <a:srgbClr val="FFFF00"/>
              </a:highlight>
            </a:endParaRPr>
          </a:p>
          <a:p>
            <a:pPr marL="514350" indent="-514350">
              <a:buFont typeface="Arial" panose="020B0604020202020204" pitchFamily="34" charset="0"/>
              <a:buAutoNum type="arabicParenR"/>
            </a:pPr>
            <a:endParaRPr lang="en-NP" b="1" dirty="0">
              <a:highlight>
                <a:srgbClr val="FFFF00"/>
              </a:highlight>
            </a:endParaRPr>
          </a:p>
          <a:p>
            <a:pPr marL="514350" indent="-514350">
              <a:buFont typeface="Arial" panose="020B0604020202020204" pitchFamily="34" charset="0"/>
              <a:buAutoNum type="arabicParenR"/>
            </a:pPr>
            <a:endParaRPr lang="en-US" dirty="0">
              <a:highlight>
                <a:srgbClr val="FFFF00"/>
              </a:highlight>
            </a:endParaRPr>
          </a:p>
          <a:p>
            <a:pPr marL="514350" indent="-514350">
              <a:buAutoNum type="arabicParenR"/>
            </a:pPr>
            <a:endParaRPr lang="en-US" b="1" dirty="0">
              <a:highlight>
                <a:srgbClr val="FFFF00"/>
              </a:highlight>
            </a:endParaRPr>
          </a:p>
          <a:p>
            <a:pPr marL="514350" indent="-514350">
              <a:buAutoNum type="arabicParenR"/>
            </a:pPr>
            <a:endParaRPr lang="en-US" b="1" dirty="0">
              <a:highlight>
                <a:srgbClr val="FFFF00"/>
              </a:highlight>
            </a:endParaRPr>
          </a:p>
          <a:p>
            <a:pPr marL="514350" indent="-514350">
              <a:buAutoNum type="arabicParenR"/>
            </a:pPr>
            <a:endParaRPr lang="en-NP" b="1" dirty="0">
              <a:highlight>
                <a:srgbClr val="FFFF00"/>
              </a:highlight>
            </a:endParaRPr>
          </a:p>
          <a:p>
            <a:pPr marL="0" indent="0">
              <a:buNone/>
            </a:pPr>
            <a:endParaRPr lang="en-NP" dirty="0"/>
          </a:p>
          <a:p>
            <a:pPr marL="514350" indent="-514350">
              <a:buFont typeface="+mj-lt"/>
              <a:buAutoNum type="arabicPeriod"/>
            </a:pPr>
            <a:endParaRPr lang="en-NP" dirty="0"/>
          </a:p>
        </p:txBody>
      </p:sp>
    </p:spTree>
    <p:extLst>
      <p:ext uri="{BB962C8B-B14F-4D97-AF65-F5344CB8AC3E}">
        <p14:creationId xmlns:p14="http://schemas.microsoft.com/office/powerpoint/2010/main" val="37107287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AFBA-4FB2-BA4B-FDD5-DE728B19353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AB81596-9FA6-9AA1-9133-2F6317694CED}"/>
              </a:ext>
            </a:extLst>
          </p:cNvPr>
          <p:cNvSpPr>
            <a:spLocks noGrp="1"/>
          </p:cNvSpPr>
          <p:nvPr>
            <p:ph idx="1"/>
          </p:nvPr>
        </p:nvSpPr>
        <p:spPr>
          <a:xfrm>
            <a:off x="408215" y="457200"/>
            <a:ext cx="11462656" cy="6172200"/>
          </a:xfrm>
        </p:spPr>
        <p:txBody>
          <a:bodyPr/>
          <a:lstStyle/>
          <a:p>
            <a:pPr marL="0" indent="0" algn="just">
              <a:buNone/>
            </a:pPr>
            <a:r>
              <a:rPr lang="en-NP" b="1" u="sng" dirty="0"/>
              <a:t>Concept of data file</a:t>
            </a:r>
            <a:r>
              <a:rPr lang="en-NP" b="1" dirty="0"/>
              <a:t> </a:t>
            </a:r>
            <a:endParaRPr lang="en-NP" dirty="0"/>
          </a:p>
          <a:p>
            <a:pPr algn="just">
              <a:buFont typeface="Wingdings" pitchFamily="2" charset="2"/>
              <a:buChar char="Ø"/>
            </a:pPr>
            <a:r>
              <a:rPr lang="en-NP" dirty="0"/>
              <a:t>In previous unit we use the function scanf( ) to take data from keyboard and  similarly the function printf( ) to display data on screen. In such programs, data is  temporarily stored in main memory during the program execution. When the  program is recompiled, the entire data have been lost. Therefore, in order to store  data permanently we need data file. A data file is simply a file in hard disk which is  used to store data permanently.  </a:t>
            </a:r>
          </a:p>
          <a:p>
            <a:pPr algn="just">
              <a:buFont typeface="Wingdings" pitchFamily="2" charset="2"/>
              <a:buChar char="Ø"/>
            </a:pPr>
            <a:r>
              <a:rPr lang="en-NP" i="1" dirty="0"/>
              <a:t>A data file is defined as a collection of data or information which is permanently  stored inside secondary memory as a single unit. We can read, write, append and  delete data in data file as per our requirement.  </a:t>
            </a:r>
            <a:endParaRPr lang="en-NP" dirty="0"/>
          </a:p>
          <a:p>
            <a:pPr marL="0" indent="0" algn="just">
              <a:buNone/>
            </a:pPr>
            <a:endParaRPr lang="en-NP" dirty="0"/>
          </a:p>
        </p:txBody>
      </p:sp>
    </p:spTree>
    <p:extLst>
      <p:ext uri="{BB962C8B-B14F-4D97-AF65-F5344CB8AC3E}">
        <p14:creationId xmlns:p14="http://schemas.microsoft.com/office/powerpoint/2010/main" val="40179275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A047-A8D3-06C5-2C2A-4C7ED903D4E9}"/>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6A308D-D0AF-1A53-9E40-87078B51AB72}"/>
              </a:ext>
            </a:extLst>
          </p:cNvPr>
          <p:cNvSpPr>
            <a:spLocks noGrp="1"/>
          </p:cNvSpPr>
          <p:nvPr>
            <p:ph idx="1"/>
          </p:nvPr>
        </p:nvSpPr>
        <p:spPr>
          <a:xfrm>
            <a:off x="408215" y="263236"/>
            <a:ext cx="11462656" cy="6366164"/>
          </a:xfrm>
        </p:spPr>
        <p:txBody>
          <a:bodyPr>
            <a:normAutofit fontScale="62500" lnSpcReduction="20000"/>
          </a:bodyPr>
          <a:lstStyle/>
          <a:p>
            <a:pPr>
              <a:buFont typeface="Wingdings" pitchFamily="2" charset="2"/>
              <a:buChar char="Ø"/>
            </a:pPr>
            <a:r>
              <a:rPr lang="en-NP" b="1" dirty="0">
                <a:highlight>
                  <a:srgbClr val="FFFF00"/>
                </a:highlight>
              </a:rPr>
              <a:t>C language support various functions to perform various operations such as:  defining file, opening file, writing file, reding file, appending file and closing file.  fopen( ): to create new data file. </a:t>
            </a:r>
          </a:p>
          <a:p>
            <a:pPr marL="514350" indent="-514350">
              <a:buFont typeface="+mj-lt"/>
              <a:buAutoNum type="arabicPeriod"/>
            </a:pPr>
            <a:r>
              <a:rPr lang="en-NP" dirty="0"/>
              <a:t>fclose( ): to close data file. </a:t>
            </a:r>
          </a:p>
          <a:p>
            <a:pPr marL="514350" indent="-514350">
              <a:buFont typeface="+mj-lt"/>
              <a:buAutoNum type="arabicPeriod"/>
            </a:pPr>
            <a:r>
              <a:rPr lang="en-NP" dirty="0"/>
              <a:t>getc( ): to read a character from data file. </a:t>
            </a:r>
          </a:p>
          <a:p>
            <a:pPr marL="514350" indent="-514350">
              <a:buFont typeface="+mj-lt"/>
              <a:buAutoNum type="arabicPeriod"/>
            </a:pPr>
            <a:r>
              <a:rPr lang="en-NP" dirty="0"/>
              <a:t>putc( ): to write a character to data file. </a:t>
            </a:r>
          </a:p>
          <a:p>
            <a:pPr marL="514350" indent="-514350">
              <a:buFont typeface="+mj-lt"/>
              <a:buAutoNum type="arabicPeriod"/>
            </a:pPr>
            <a:r>
              <a:rPr lang="en-NP" dirty="0"/>
              <a:t>getw( ): to read an integer from data file. </a:t>
            </a:r>
          </a:p>
          <a:p>
            <a:pPr marL="514350" indent="-514350">
              <a:buFont typeface="+mj-lt"/>
              <a:buAutoNum type="arabicPeriod"/>
            </a:pPr>
            <a:r>
              <a:rPr lang="en-NP" dirty="0"/>
              <a:t>putw( ): to write an integer to data file. </a:t>
            </a:r>
          </a:p>
          <a:p>
            <a:pPr marL="514350" indent="-514350">
              <a:buFont typeface="+mj-lt"/>
              <a:buAutoNum type="arabicPeriod"/>
            </a:pPr>
            <a:r>
              <a:rPr lang="en-NP" dirty="0"/>
              <a:t>fscanf( ): to read formatted data from data file. </a:t>
            </a:r>
          </a:p>
          <a:p>
            <a:pPr marL="514350" indent="-514350">
              <a:buFont typeface="+mj-lt"/>
              <a:buAutoNum type="arabicPeriod"/>
            </a:pPr>
            <a:r>
              <a:rPr lang="en-NP" dirty="0"/>
              <a:t>fprintf( ): to write formatted data to data file. </a:t>
            </a:r>
          </a:p>
          <a:p>
            <a:pPr marL="514350" indent="-514350">
              <a:buFont typeface="+mj-lt"/>
              <a:buAutoNum type="arabicPeriod"/>
            </a:pPr>
            <a:r>
              <a:rPr lang="en-NP" dirty="0"/>
              <a:t>fread( ): to read record from data file. </a:t>
            </a:r>
          </a:p>
          <a:p>
            <a:pPr marL="514350" indent="-514350">
              <a:buFont typeface="+mj-lt"/>
              <a:buAutoNum type="arabicPeriod"/>
            </a:pPr>
            <a:r>
              <a:rPr lang="en-NP" dirty="0"/>
              <a:t>fwrite( ): to write record to data file. </a:t>
            </a:r>
          </a:p>
          <a:p>
            <a:pPr marL="514350" indent="-514350">
              <a:buFont typeface="+mj-lt"/>
              <a:buAutoNum type="arabicPeriod"/>
            </a:pPr>
            <a:r>
              <a:rPr lang="en-NP" dirty="0"/>
              <a:t>scanf( ) : to input formatted data from the keyboard. </a:t>
            </a:r>
          </a:p>
          <a:p>
            <a:pPr marL="514350" indent="-514350">
              <a:buFont typeface="+mj-lt"/>
              <a:buAutoNum type="arabicPeriod"/>
            </a:pPr>
            <a:r>
              <a:rPr lang="en-NP" dirty="0"/>
              <a:t>printf( ) : to display formatted data on screen. </a:t>
            </a:r>
          </a:p>
          <a:p>
            <a:pPr marL="514350" indent="-514350">
              <a:buFont typeface="+mj-lt"/>
              <a:buAutoNum type="arabicPeriod"/>
            </a:pPr>
            <a:r>
              <a:rPr lang="en-NP" dirty="0"/>
              <a:t>getchar( ) : to input a single character from the keyboard. </a:t>
            </a:r>
          </a:p>
          <a:p>
            <a:pPr marL="514350" indent="-514350">
              <a:buFont typeface="+mj-lt"/>
              <a:buAutoNum type="arabicPeriod"/>
            </a:pPr>
            <a:r>
              <a:rPr lang="en-NP" dirty="0"/>
              <a:t>putchar( ) : to display a character on the screen. </a:t>
            </a:r>
          </a:p>
          <a:p>
            <a:pPr marL="514350" indent="-514350">
              <a:buFont typeface="+mj-lt"/>
              <a:buAutoNum type="arabicPeriod"/>
            </a:pPr>
            <a:r>
              <a:rPr lang="en-NP" dirty="0"/>
              <a:t>gets( ) : to input string from the keyboard. </a:t>
            </a:r>
          </a:p>
          <a:p>
            <a:pPr marL="514350" indent="-514350">
              <a:buFont typeface="+mj-lt"/>
              <a:buAutoNum type="arabicPeriod"/>
            </a:pPr>
            <a:r>
              <a:rPr lang="en-NP" dirty="0"/>
              <a:t>puts( ) : to display string on the screen. </a:t>
            </a:r>
          </a:p>
          <a:p>
            <a:pPr marL="0" indent="0">
              <a:buNone/>
            </a:pPr>
            <a:endParaRPr lang="en-NP" dirty="0"/>
          </a:p>
          <a:p>
            <a:pPr marL="0" indent="0">
              <a:buNone/>
            </a:pPr>
            <a:r>
              <a:rPr lang="en-NP" dirty="0"/>
              <a:t>           </a:t>
            </a:r>
            <a:r>
              <a:rPr lang="en-NP" i="1" dirty="0">
                <a:highlight>
                  <a:srgbClr val="FFFF00"/>
                </a:highlight>
              </a:rPr>
              <a:t>Note: Except scanf() printf() fscanf() fprintf() all other input output functions are informatted I/O functions.</a:t>
            </a:r>
          </a:p>
          <a:p>
            <a:pPr marL="0" indent="0" algn="just">
              <a:buNone/>
            </a:pPr>
            <a:endParaRPr lang="en-NP" dirty="0"/>
          </a:p>
        </p:txBody>
      </p:sp>
    </p:spTree>
    <p:extLst>
      <p:ext uri="{BB962C8B-B14F-4D97-AF65-F5344CB8AC3E}">
        <p14:creationId xmlns:p14="http://schemas.microsoft.com/office/powerpoint/2010/main" val="18065103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E30FC-8AE3-1A5B-8294-9F91F2696746}"/>
            </a:ext>
          </a:extLst>
        </p:cNvPr>
        <p:cNvGrpSpPr/>
        <p:nvPr/>
      </p:nvGrpSpPr>
      <p:grpSpPr>
        <a:xfrm>
          <a:off x="0" y="0"/>
          <a:ext cx="0" cy="0"/>
          <a:chOff x="0" y="0"/>
          <a:chExt cx="0" cy="0"/>
        </a:xfrm>
      </p:grpSpPr>
      <p:pic>
        <p:nvPicPr>
          <p:cNvPr id="2" name="image3.png">
            <a:extLst>
              <a:ext uri="{FF2B5EF4-FFF2-40B4-BE49-F238E27FC236}">
                <a16:creationId xmlns:a16="http://schemas.microsoft.com/office/drawing/2014/main" id="{8D53A837-8799-4380-CBF5-438D93CA59CD}"/>
              </a:ext>
            </a:extLst>
          </p:cNvPr>
          <p:cNvPicPr>
            <a:picLocks noGrp="1"/>
          </p:cNvPicPr>
          <p:nvPr>
            <p:ph idx="1"/>
          </p:nvPr>
        </p:nvPicPr>
        <p:blipFill>
          <a:blip r:embed="rId2"/>
          <a:srcRect/>
          <a:stretch>
            <a:fillRect/>
          </a:stretch>
        </p:blipFill>
        <p:spPr>
          <a:xfrm>
            <a:off x="748145" y="886691"/>
            <a:ext cx="10584873" cy="4627418"/>
          </a:xfrm>
          <a:prstGeom prst="rect">
            <a:avLst/>
          </a:prstGeom>
          <a:ln/>
        </p:spPr>
      </p:pic>
    </p:spTree>
    <p:extLst>
      <p:ext uri="{BB962C8B-B14F-4D97-AF65-F5344CB8AC3E}">
        <p14:creationId xmlns:p14="http://schemas.microsoft.com/office/powerpoint/2010/main" val="21707595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E2097-12C5-B67B-FF79-E99157BCCC1E}"/>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10596F4-3B37-7508-ACC7-4BB972B7E8F5}"/>
              </a:ext>
            </a:extLst>
          </p:cNvPr>
          <p:cNvSpPr>
            <a:spLocks noGrp="1"/>
          </p:cNvSpPr>
          <p:nvPr>
            <p:ph idx="1"/>
          </p:nvPr>
        </p:nvSpPr>
        <p:spPr>
          <a:xfrm>
            <a:off x="408215" y="457200"/>
            <a:ext cx="11462656" cy="6172200"/>
          </a:xfrm>
        </p:spPr>
        <p:txBody>
          <a:bodyPr>
            <a:normAutofit fontScale="77500" lnSpcReduction="20000"/>
          </a:bodyPr>
          <a:lstStyle/>
          <a:p>
            <a:pPr marL="0" indent="0">
              <a:buNone/>
            </a:pPr>
            <a:r>
              <a:rPr lang="en-NP" b="1" dirty="0"/>
              <a:t>Defining and opening Data File </a:t>
            </a:r>
            <a:endParaRPr lang="en-NP" dirty="0"/>
          </a:p>
          <a:p>
            <a:pPr marL="0" indent="0">
              <a:buNone/>
            </a:pPr>
            <a:r>
              <a:rPr lang="en-NP" b="1" u="sng" dirty="0"/>
              <a:t>Syntax:</a:t>
            </a:r>
            <a:r>
              <a:rPr lang="en-NP" b="1" dirty="0"/>
              <a:t> </a:t>
            </a:r>
            <a:endParaRPr lang="en-NP" dirty="0"/>
          </a:p>
          <a:p>
            <a:pPr marL="0" indent="0">
              <a:buNone/>
            </a:pPr>
            <a:r>
              <a:rPr lang="en-NP" dirty="0"/>
              <a:t>FILE *fp; </a:t>
            </a:r>
          </a:p>
          <a:p>
            <a:pPr marL="0" indent="0">
              <a:buNone/>
            </a:pPr>
            <a:r>
              <a:rPr lang="en-NP" dirty="0"/>
              <a:t>fp = fopen("filename.extension", "mode"); </a:t>
            </a:r>
          </a:p>
          <a:p>
            <a:pPr marL="0" indent="0">
              <a:buNone/>
            </a:pPr>
            <a:r>
              <a:rPr lang="en-NP" dirty="0"/>
              <a:t>The keyword </a:t>
            </a:r>
            <a:r>
              <a:rPr lang="en-NP" b="1" dirty="0"/>
              <a:t>FILE </a:t>
            </a:r>
            <a:r>
              <a:rPr lang="en-NP" dirty="0"/>
              <a:t>is used to declare file data type. The first statement defines file pointer  variable with data type </a:t>
            </a:r>
            <a:r>
              <a:rPr lang="en-NP" b="1" dirty="0"/>
              <a:t>FILE</a:t>
            </a:r>
            <a:r>
              <a:rPr lang="en-NP" dirty="0"/>
              <a:t>. The second statement create file with name 'filename' and  returns memory address that is assigned to the file pointer </a:t>
            </a:r>
            <a:r>
              <a:rPr lang="en-NP" b="1" dirty="0"/>
              <a:t>fp</a:t>
            </a:r>
            <a:r>
              <a:rPr lang="en-NP" dirty="0"/>
              <a:t>. The mode defines the  purpose of the file which can be one of the followings:  </a:t>
            </a:r>
          </a:p>
          <a:p>
            <a:pPr marL="0" indent="0">
              <a:buNone/>
            </a:pPr>
            <a:r>
              <a:rPr lang="en-NP" dirty="0"/>
              <a:t>∙ r - open a file in read mode </a:t>
            </a:r>
          </a:p>
          <a:p>
            <a:pPr marL="0" indent="0">
              <a:buNone/>
            </a:pPr>
            <a:r>
              <a:rPr lang="en-NP" dirty="0"/>
              <a:t>∙ w - opens or create a text file in write mode </a:t>
            </a:r>
          </a:p>
          <a:p>
            <a:pPr marL="0" indent="0">
              <a:buNone/>
            </a:pPr>
            <a:r>
              <a:rPr lang="en-NP" dirty="0"/>
              <a:t>∙ a - opens a file in append mode </a:t>
            </a:r>
          </a:p>
          <a:p>
            <a:pPr marL="0" indent="0">
              <a:buNone/>
            </a:pPr>
            <a:r>
              <a:rPr lang="en-NP" dirty="0"/>
              <a:t>∙ r+ - opens a file in both read and write mode </a:t>
            </a:r>
          </a:p>
          <a:p>
            <a:pPr marL="0" indent="0">
              <a:buNone/>
            </a:pPr>
            <a:r>
              <a:rPr lang="en-NP" dirty="0"/>
              <a:t>∙ a+ - opens a file in both read and write/append mode </a:t>
            </a:r>
          </a:p>
          <a:p>
            <a:pPr marL="0" indent="0">
              <a:buNone/>
            </a:pPr>
            <a:r>
              <a:rPr lang="en-NP" dirty="0"/>
              <a:t>∙ w+ - opens a file in both read and write mode </a:t>
            </a:r>
          </a:p>
          <a:p>
            <a:pPr marL="0" indent="0">
              <a:buNone/>
            </a:pPr>
            <a:r>
              <a:rPr lang="en-NP" dirty="0"/>
              <a:t>Compiler automatically assigns special character at the end of the file EOF. </a:t>
            </a:r>
            <a:r>
              <a:rPr lang="en-NP" b="1" dirty="0"/>
              <a:t>Closing Data File </a:t>
            </a:r>
            <a:endParaRPr lang="en-NP" dirty="0"/>
          </a:p>
          <a:p>
            <a:pPr marL="0" indent="0">
              <a:buNone/>
            </a:pPr>
            <a:r>
              <a:rPr lang="en-NP" b="1" u="sng" dirty="0"/>
              <a:t>Syntax:</a:t>
            </a:r>
            <a:r>
              <a:rPr lang="en-NP" b="1" dirty="0"/>
              <a:t> </a:t>
            </a:r>
            <a:endParaRPr lang="en-NP" dirty="0"/>
          </a:p>
          <a:p>
            <a:pPr marL="0" indent="0">
              <a:buNone/>
            </a:pPr>
            <a:r>
              <a:rPr lang="en-NP" dirty="0"/>
              <a:t>fclose( fp );  </a:t>
            </a:r>
          </a:p>
          <a:p>
            <a:pPr marL="0" indent="0" algn="just">
              <a:buNone/>
            </a:pPr>
            <a:endParaRPr lang="en-NP" dirty="0"/>
          </a:p>
        </p:txBody>
      </p:sp>
    </p:spTree>
    <p:extLst>
      <p:ext uri="{BB962C8B-B14F-4D97-AF65-F5344CB8AC3E}">
        <p14:creationId xmlns:p14="http://schemas.microsoft.com/office/powerpoint/2010/main" val="1292954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D25EE-6D8E-552E-4C87-107600CD7735}"/>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92E42A9-1458-C174-6E1F-EF7BD58D7250}"/>
              </a:ext>
            </a:extLst>
          </p:cNvPr>
          <p:cNvSpPr>
            <a:spLocks noGrp="1"/>
          </p:cNvSpPr>
          <p:nvPr>
            <p:ph idx="1"/>
          </p:nvPr>
        </p:nvSpPr>
        <p:spPr>
          <a:xfrm>
            <a:off x="166255" y="457200"/>
            <a:ext cx="11704616" cy="6172200"/>
          </a:xfrm>
        </p:spPr>
        <p:txBody>
          <a:bodyPr>
            <a:normAutofit fontScale="85000" lnSpcReduction="20000"/>
          </a:bodyPr>
          <a:lstStyle/>
          <a:p>
            <a:pPr marL="0" indent="0">
              <a:buNone/>
            </a:pPr>
            <a:r>
              <a:rPr lang="en-NP" b="1" i="1" u="sng" dirty="0"/>
              <a:t>General guidelines for solving file related problems:</a:t>
            </a:r>
            <a:r>
              <a:rPr lang="en-NP" b="1" i="1" dirty="0"/>
              <a:t> </a:t>
            </a:r>
            <a:endParaRPr lang="en-NP" dirty="0"/>
          </a:p>
          <a:p>
            <a:pPr marL="0" indent="0">
              <a:buNone/>
            </a:pPr>
            <a:r>
              <a:rPr lang="en-NP" dirty="0"/>
              <a:t>Step 1: Define file pointer variable with type FILE either inside or outside void main  function.  </a:t>
            </a:r>
          </a:p>
          <a:p>
            <a:pPr marL="0" indent="0">
              <a:buNone/>
            </a:pPr>
            <a:r>
              <a:rPr lang="en-NP" dirty="0"/>
              <a:t>FILE *fp; </a:t>
            </a:r>
          </a:p>
          <a:p>
            <a:pPr marL="0" indent="0">
              <a:buNone/>
            </a:pPr>
            <a:r>
              <a:rPr lang="en-NP" dirty="0"/>
              <a:t>Step 2: For the first time create new data file using fopen function in write mode. fp = fopen("filename.extension", "w"); </a:t>
            </a:r>
          </a:p>
          <a:p>
            <a:pPr marL="0" indent="0">
              <a:buNone/>
            </a:pPr>
            <a:r>
              <a:rPr lang="en-NP" dirty="0"/>
              <a:t>Step 3: Take data from keyboard using input functions: </a:t>
            </a:r>
            <a:r>
              <a:rPr lang="en-NP" b="1" dirty="0"/>
              <a:t>scanf ( ), gets ( ), getchar ( ) </a:t>
            </a:r>
            <a:r>
              <a:rPr lang="en-NP" dirty="0"/>
              <a:t>and  store data to the file using write functions: </a:t>
            </a:r>
            <a:r>
              <a:rPr lang="en-NP" b="1" dirty="0"/>
              <a:t>fprintf ( ), putc ( ), putw ( ) and  fwrite ( )</a:t>
            </a:r>
            <a:r>
              <a:rPr lang="en-NP" dirty="0"/>
              <a:t>.  </a:t>
            </a:r>
          </a:p>
          <a:p>
            <a:pPr marL="0" indent="0">
              <a:buNone/>
            </a:pPr>
            <a:r>
              <a:rPr lang="en-NP" dirty="0"/>
              <a:t>Step 4: During read operations, first open the data file in read mode.</a:t>
            </a:r>
          </a:p>
          <a:p>
            <a:pPr marL="0" indent="0">
              <a:buNone/>
            </a:pPr>
            <a:r>
              <a:rPr lang="en-NP" dirty="0"/>
              <a:t> </a:t>
            </a:r>
          </a:p>
          <a:p>
            <a:pPr marL="0" indent="0">
              <a:buNone/>
            </a:pPr>
            <a:r>
              <a:rPr lang="en-NP" dirty="0"/>
              <a:t>Page </a:t>
            </a:r>
            <a:r>
              <a:rPr lang="en-NP" b="1" dirty="0"/>
              <a:t>4</a:t>
            </a:r>
            <a:r>
              <a:rPr lang="en-US" b="1" dirty="0"/>
              <a:t>6 </a:t>
            </a:r>
            <a:r>
              <a:rPr lang="en-NP" dirty="0"/>
              <a:t>of </a:t>
            </a:r>
            <a:r>
              <a:rPr lang="en-NP" b="1" dirty="0"/>
              <a:t>6</a:t>
            </a:r>
            <a:r>
              <a:rPr lang="en-US" b="1" dirty="0"/>
              <a:t>0</a:t>
            </a:r>
            <a:endParaRPr lang="en-NP" dirty="0"/>
          </a:p>
          <a:p>
            <a:pPr marL="0" indent="0">
              <a:buNone/>
            </a:pPr>
            <a:r>
              <a:rPr lang="en-NP" dirty="0"/>
              <a:t>fp = fopen("filename.extension", "r"); </a:t>
            </a:r>
          </a:p>
          <a:p>
            <a:pPr marL="0" indent="0">
              <a:buNone/>
            </a:pPr>
            <a:r>
              <a:rPr lang="en-NP" dirty="0"/>
              <a:t>Step 5: Read the data from data file using functions</a:t>
            </a:r>
            <a:r>
              <a:rPr lang="en-NP" b="1" dirty="0"/>
              <a:t>: fscanf ( ), getc ( ), getw ( ) </a:t>
            </a:r>
            <a:r>
              <a:rPr lang="en-NP" dirty="0"/>
              <a:t>and </a:t>
            </a:r>
            <a:r>
              <a:rPr lang="en-NP" b="1" dirty="0"/>
              <a:t>fread  ( ) </a:t>
            </a:r>
            <a:r>
              <a:rPr lang="en-NP" dirty="0"/>
              <a:t>and display the data on the screen using output functions: </a:t>
            </a:r>
            <a:r>
              <a:rPr lang="en-NP" b="1" dirty="0"/>
              <a:t>printf ( ), puts ( ) </a:t>
            </a:r>
            <a:r>
              <a:rPr lang="en-NP" dirty="0"/>
              <a:t>and </a:t>
            </a:r>
            <a:r>
              <a:rPr lang="en-NP" b="1" dirty="0"/>
              <a:t>putchar ( ).  </a:t>
            </a:r>
            <a:endParaRPr lang="en-NP" dirty="0"/>
          </a:p>
          <a:p>
            <a:pPr marL="0" indent="0">
              <a:buNone/>
            </a:pPr>
            <a:r>
              <a:rPr lang="en-NP" dirty="0"/>
              <a:t>Step 6: Finally close the data file using function fclose( ). </a:t>
            </a:r>
          </a:p>
          <a:p>
            <a:pPr marL="0" indent="0">
              <a:buNone/>
            </a:pPr>
            <a:r>
              <a:rPr lang="en-NP" dirty="0"/>
              <a:t>fclose (fp); </a:t>
            </a:r>
          </a:p>
          <a:p>
            <a:pPr marL="0" indent="0" algn="just">
              <a:buNone/>
            </a:pPr>
            <a:endParaRPr lang="en-NP" dirty="0"/>
          </a:p>
        </p:txBody>
      </p:sp>
    </p:spTree>
    <p:extLst>
      <p:ext uri="{BB962C8B-B14F-4D97-AF65-F5344CB8AC3E}">
        <p14:creationId xmlns:p14="http://schemas.microsoft.com/office/powerpoint/2010/main" val="24255780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B08B-A007-C337-6981-F757F19F7443}"/>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0518441-F6F4-A415-8A1E-9E7EB3ED38E6}"/>
              </a:ext>
            </a:extLst>
          </p:cNvPr>
          <p:cNvSpPr>
            <a:spLocks noGrp="1"/>
          </p:cNvSpPr>
          <p:nvPr>
            <p:ph idx="1"/>
          </p:nvPr>
        </p:nvSpPr>
        <p:spPr>
          <a:xfrm>
            <a:off x="408215" y="457200"/>
            <a:ext cx="11462656" cy="6172200"/>
          </a:xfrm>
        </p:spPr>
        <p:txBody>
          <a:bodyPr>
            <a:normAutofit/>
          </a:bodyPr>
          <a:lstStyle/>
          <a:p>
            <a:pPr marL="0" indent="0">
              <a:buNone/>
            </a:pPr>
            <a:r>
              <a:rPr lang="en-NP" b="1" dirty="0"/>
              <a:t>putc( ) and getc( ) functions </a:t>
            </a:r>
            <a:endParaRPr lang="en-NP" dirty="0"/>
          </a:p>
          <a:p>
            <a:pPr marL="0" indent="0">
              <a:buNone/>
            </a:pPr>
            <a:r>
              <a:rPr lang="en-NP" b="1" dirty="0"/>
              <a:t>putc( ) </a:t>
            </a:r>
            <a:r>
              <a:rPr lang="en-NP" dirty="0"/>
              <a:t>function is used for writing a character into a file. </a:t>
            </a:r>
          </a:p>
          <a:p>
            <a:pPr marL="0" indent="0">
              <a:buNone/>
            </a:pPr>
            <a:r>
              <a:rPr lang="en-NP" b="1" u="sng" dirty="0"/>
              <a:t>Syntax:</a:t>
            </a:r>
            <a:r>
              <a:rPr lang="en-NP" b="1" dirty="0"/>
              <a:t> </a:t>
            </a:r>
            <a:endParaRPr lang="en-NP" dirty="0"/>
          </a:p>
          <a:p>
            <a:pPr marL="0" indent="0">
              <a:buNone/>
            </a:pPr>
            <a:r>
              <a:rPr lang="en-NP" dirty="0"/>
              <a:t>putc (char ch, FILE *fp); </a:t>
            </a:r>
          </a:p>
          <a:p>
            <a:pPr marL="0" indent="0">
              <a:buNone/>
            </a:pPr>
            <a:r>
              <a:rPr lang="en-NP" b="1" u="sng" dirty="0"/>
              <a:t>Example:</a:t>
            </a:r>
            <a:r>
              <a:rPr lang="en-NP" b="1" dirty="0"/>
              <a:t> </a:t>
            </a:r>
            <a:endParaRPr lang="en-NP" dirty="0"/>
          </a:p>
          <a:p>
            <a:pPr marL="0" indent="0">
              <a:buNone/>
            </a:pPr>
            <a:r>
              <a:rPr lang="en-NP" dirty="0"/>
              <a:t>FILE *fp; </a:t>
            </a:r>
          </a:p>
          <a:p>
            <a:pPr marL="0" indent="0">
              <a:buNone/>
            </a:pPr>
            <a:r>
              <a:rPr lang="en-NP" dirty="0"/>
              <a:t>char ch; </a:t>
            </a:r>
          </a:p>
          <a:p>
            <a:pPr marL="0" indent="0">
              <a:buNone/>
            </a:pPr>
            <a:r>
              <a:rPr lang="en-NP" dirty="0"/>
              <a:t>putc(ch, fp); </a:t>
            </a:r>
          </a:p>
          <a:p>
            <a:pPr marL="0" indent="0">
              <a:buNone/>
            </a:pPr>
            <a:r>
              <a:rPr lang="en-NP" b="1" dirty="0"/>
              <a:t>getc( ) </a:t>
            </a:r>
            <a:r>
              <a:rPr lang="en-NP" dirty="0"/>
              <a:t>function is used to read a character from file. </a:t>
            </a:r>
          </a:p>
          <a:p>
            <a:pPr marL="0" indent="0" algn="just">
              <a:buNone/>
            </a:pPr>
            <a:endParaRPr lang="en-NP" dirty="0"/>
          </a:p>
        </p:txBody>
      </p:sp>
    </p:spTree>
    <p:extLst>
      <p:ext uri="{BB962C8B-B14F-4D97-AF65-F5344CB8AC3E}">
        <p14:creationId xmlns:p14="http://schemas.microsoft.com/office/powerpoint/2010/main" val="19116656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5294F-20B3-AD71-8452-05F8F42AAB0D}"/>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4323E90-0861-693F-9F49-24126D48BBC1}"/>
              </a:ext>
            </a:extLst>
          </p:cNvPr>
          <p:cNvSpPr>
            <a:spLocks noGrp="1"/>
          </p:cNvSpPr>
          <p:nvPr>
            <p:ph idx="1"/>
          </p:nvPr>
        </p:nvSpPr>
        <p:spPr>
          <a:xfrm>
            <a:off x="408215" y="457200"/>
            <a:ext cx="11462656" cy="6172200"/>
          </a:xfrm>
        </p:spPr>
        <p:txBody>
          <a:bodyPr/>
          <a:lstStyle/>
          <a:p>
            <a:pPr marL="0" indent="0">
              <a:buNone/>
            </a:pPr>
            <a:r>
              <a:rPr lang="en-NP" b="1" u="sng" dirty="0"/>
              <a:t>Syntax:</a:t>
            </a:r>
            <a:r>
              <a:rPr lang="en-NP" b="1" dirty="0"/>
              <a:t> </a:t>
            </a:r>
            <a:endParaRPr lang="en-NP" dirty="0"/>
          </a:p>
          <a:p>
            <a:pPr marL="0" indent="0">
              <a:buNone/>
            </a:pPr>
            <a:r>
              <a:rPr lang="en-NP" dirty="0"/>
              <a:t>char getc (FILE *fp); </a:t>
            </a:r>
          </a:p>
          <a:p>
            <a:pPr marL="0" indent="0">
              <a:buNone/>
            </a:pPr>
            <a:r>
              <a:rPr lang="en-NP" b="1" u="sng" dirty="0"/>
              <a:t>Example:</a:t>
            </a:r>
            <a:r>
              <a:rPr lang="en-NP" b="1" dirty="0"/>
              <a:t> </a:t>
            </a:r>
            <a:endParaRPr lang="en-NP" dirty="0"/>
          </a:p>
          <a:p>
            <a:pPr marL="0" indent="0">
              <a:buNone/>
            </a:pPr>
            <a:r>
              <a:rPr lang="en-NP" dirty="0"/>
              <a:t>FILE *fp; </a:t>
            </a:r>
          </a:p>
          <a:p>
            <a:pPr marL="0" indent="0">
              <a:buNone/>
            </a:pPr>
            <a:r>
              <a:rPr lang="en-NP" dirty="0"/>
              <a:t>char ch; </a:t>
            </a:r>
          </a:p>
          <a:p>
            <a:pPr marL="0" indent="0">
              <a:buNone/>
            </a:pPr>
            <a:r>
              <a:rPr lang="en-NP" dirty="0"/>
              <a:t>ch = getc(fp); </a:t>
            </a:r>
          </a:p>
          <a:p>
            <a:pPr marL="0" indent="0" algn="just">
              <a:buNone/>
            </a:pPr>
            <a:endParaRPr lang="en-NP" dirty="0"/>
          </a:p>
        </p:txBody>
      </p:sp>
      <p:pic>
        <p:nvPicPr>
          <p:cNvPr id="2" name="image1.png">
            <a:extLst>
              <a:ext uri="{FF2B5EF4-FFF2-40B4-BE49-F238E27FC236}">
                <a16:creationId xmlns:a16="http://schemas.microsoft.com/office/drawing/2014/main" id="{BB22D998-6D95-DE2B-E1D7-78CB824D3B9A}"/>
              </a:ext>
            </a:extLst>
          </p:cNvPr>
          <p:cNvPicPr/>
          <p:nvPr/>
        </p:nvPicPr>
        <p:blipFill>
          <a:blip r:embed="rId2"/>
          <a:srcRect/>
          <a:stretch>
            <a:fillRect/>
          </a:stretch>
        </p:blipFill>
        <p:spPr>
          <a:xfrm>
            <a:off x="1065875" y="4004858"/>
            <a:ext cx="9269615" cy="2229687"/>
          </a:xfrm>
          <a:prstGeom prst="rect">
            <a:avLst/>
          </a:prstGeom>
          <a:ln/>
        </p:spPr>
      </p:pic>
    </p:spTree>
    <p:extLst>
      <p:ext uri="{BB962C8B-B14F-4D97-AF65-F5344CB8AC3E}">
        <p14:creationId xmlns:p14="http://schemas.microsoft.com/office/powerpoint/2010/main" val="14587208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635EA-9AA2-E163-C5CB-5885CCC4EC36}"/>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E98B65C-5149-102D-889F-7068B4A53106}"/>
              </a:ext>
            </a:extLst>
          </p:cNvPr>
          <p:cNvSpPr>
            <a:spLocks noGrp="1"/>
          </p:cNvSpPr>
          <p:nvPr>
            <p:ph idx="1"/>
          </p:nvPr>
        </p:nvSpPr>
        <p:spPr>
          <a:xfrm>
            <a:off x="131125" y="1197047"/>
            <a:ext cx="5964875" cy="5234925"/>
          </a:xfrm>
        </p:spPr>
        <p:txBody>
          <a:bodyPr>
            <a:normAutofit fontScale="92500"/>
          </a:bodyPr>
          <a:lstStyle/>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char </a:t>
            </a:r>
            <a:r>
              <a:rPr lang="en-US" sz="2400" b="1" dirty="0" err="1"/>
              <a:t>ch</a:t>
            </a:r>
            <a:r>
              <a:rPr lang="en-US" sz="2400" b="1" dirty="0"/>
              <a:t>;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err="1"/>
              <a:t>fp</a:t>
            </a:r>
            <a:r>
              <a:rPr lang="en-US" sz="2400" b="1" dirty="0"/>
              <a:t>=</a:t>
            </a:r>
            <a:r>
              <a:rPr lang="en-US" sz="2400" b="1" dirty="0" err="1"/>
              <a:t>fopen</a:t>
            </a:r>
            <a:r>
              <a:rPr lang="en-US" sz="2400" b="1" dirty="0"/>
              <a:t>("std1.txt","w"); </a:t>
            </a:r>
            <a:r>
              <a:rPr lang="en-US" sz="1700" b="1" i="1" dirty="0">
                <a:highlight>
                  <a:srgbClr val="FFFF00"/>
                </a:highlight>
              </a:rPr>
              <a:t>//opening file in write mode</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r>
              <a:rPr lang="en-US" sz="2400" b="1" i="1" dirty="0">
                <a:highlight>
                  <a:srgbClr val="FFFF00"/>
                </a:highlight>
              </a:rPr>
              <a:t> </a:t>
            </a:r>
          </a:p>
          <a:p>
            <a:pPr marL="0" indent="0">
              <a:spcBef>
                <a:spcPts val="0"/>
              </a:spcBef>
              <a:buNone/>
            </a:pPr>
            <a:r>
              <a:rPr lang="en-US" sz="2400" b="1" dirty="0" err="1"/>
              <a:t>printf</a:t>
            </a:r>
            <a:r>
              <a:rPr lang="en-US" sz="2400" b="1" dirty="0"/>
              <a:t>("enter the text press </a:t>
            </a:r>
            <a:r>
              <a:rPr lang="en-US" sz="2400" b="1" dirty="0" err="1"/>
              <a:t>cntrl</a:t>
            </a:r>
            <a:r>
              <a:rPr lang="en-US" sz="2400" b="1" dirty="0"/>
              <a:t> z to stop\n"); </a:t>
            </a:r>
          </a:p>
          <a:p>
            <a:pPr marL="0" indent="0">
              <a:spcBef>
                <a:spcPts val="0"/>
              </a:spcBef>
              <a:buNone/>
            </a:pPr>
            <a:r>
              <a:rPr lang="en-US" sz="2400" b="1" dirty="0"/>
              <a:t>while((</a:t>
            </a:r>
            <a:r>
              <a:rPr lang="en-US" sz="2400" b="1" dirty="0" err="1"/>
              <a:t>ch</a:t>
            </a:r>
            <a:r>
              <a:rPr lang="en-US" sz="2400" b="1" dirty="0"/>
              <a:t> = </a:t>
            </a:r>
            <a:r>
              <a:rPr lang="en-US" sz="2400" b="1" dirty="0" err="1"/>
              <a:t>getchar</a:t>
            </a:r>
            <a:r>
              <a:rPr lang="en-US" sz="2400" b="1" dirty="0"/>
              <a:t>())!=EOF) </a:t>
            </a:r>
          </a:p>
          <a:p>
            <a:pPr marL="0" indent="0">
              <a:spcBef>
                <a:spcPts val="0"/>
              </a:spcBef>
              <a:buNone/>
            </a:pPr>
            <a:r>
              <a:rPr lang="en-US" sz="2400" b="1" dirty="0"/>
              <a:t>{ </a:t>
            </a:r>
          </a:p>
          <a:p>
            <a:pPr marL="0" indent="0">
              <a:spcBef>
                <a:spcPts val="0"/>
              </a:spcBef>
              <a:buNone/>
            </a:pPr>
            <a:r>
              <a:rPr lang="en-US" sz="2400" b="1" dirty="0" err="1"/>
              <a:t>putc</a:t>
            </a:r>
            <a:r>
              <a:rPr lang="en-US" sz="2400" b="1" dirty="0"/>
              <a:t>(</a:t>
            </a:r>
            <a:r>
              <a:rPr lang="en-US" sz="2400" b="1" dirty="0" err="1"/>
              <a:t>ch,fp</a:t>
            </a:r>
            <a:r>
              <a:rPr lang="en-US" sz="2400" b="1" dirty="0"/>
              <a:t>); </a:t>
            </a:r>
            <a:r>
              <a:rPr lang="en-US" sz="2200" b="1" i="1" dirty="0">
                <a:highlight>
                  <a:srgbClr val="FFFF00"/>
                </a:highlight>
              </a:rPr>
              <a:t>// writing each character into the file </a:t>
            </a:r>
          </a:p>
          <a:p>
            <a:pPr marL="0" indent="0">
              <a:spcBef>
                <a:spcPts val="0"/>
              </a:spcBef>
              <a:buNone/>
            </a:pPr>
            <a:r>
              <a:rPr lang="en-US" sz="2400" b="1" dirty="0"/>
              <a:t>}</a:t>
            </a:r>
          </a:p>
          <a:p>
            <a:pPr marL="0" indent="0">
              <a:spcBef>
                <a:spcPts val="0"/>
              </a:spcBef>
              <a:buNone/>
            </a:pPr>
            <a:r>
              <a:rPr lang="en-US" sz="2400" b="1" dirty="0" err="1"/>
              <a:t>fclose</a:t>
            </a:r>
            <a:r>
              <a:rPr lang="en-US" sz="2400" b="1" dirty="0"/>
              <a:t>(</a:t>
            </a:r>
            <a:r>
              <a:rPr lang="en-US" sz="2400" b="1" dirty="0" err="1"/>
              <a:t>fp</a:t>
            </a:r>
            <a:r>
              <a:rPr lang="en-US" sz="2400" b="1" dirty="0"/>
              <a:t>); </a:t>
            </a:r>
          </a:p>
          <a:p>
            <a:pPr marL="0" indent="0" algn="just">
              <a:spcBef>
                <a:spcPts val="0"/>
              </a:spcBef>
              <a:buNone/>
            </a:pPr>
            <a:endParaRPr lang="en-NP" sz="2400" dirty="0"/>
          </a:p>
        </p:txBody>
      </p:sp>
      <p:sp>
        <p:nvSpPr>
          <p:cNvPr id="2" name="Content Placeholder 5">
            <a:extLst>
              <a:ext uri="{FF2B5EF4-FFF2-40B4-BE49-F238E27FC236}">
                <a16:creationId xmlns:a16="http://schemas.microsoft.com/office/drawing/2014/main" id="{2F4C2789-3DE3-35B0-9105-01CE9C88E146}"/>
              </a:ext>
            </a:extLst>
          </p:cNvPr>
          <p:cNvSpPr txBox="1">
            <a:spLocks/>
          </p:cNvSpPr>
          <p:nvPr/>
        </p:nvSpPr>
        <p:spPr>
          <a:xfrm>
            <a:off x="6096000" y="1048111"/>
            <a:ext cx="6414654" cy="58098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err="1"/>
              <a:t>fp</a:t>
            </a:r>
            <a:r>
              <a:rPr lang="en-US" sz="2400" b="1" dirty="0"/>
              <a:t>=</a:t>
            </a:r>
            <a:r>
              <a:rPr lang="en-US" sz="2400" b="1" dirty="0" err="1"/>
              <a:t>fopen</a:t>
            </a:r>
            <a:r>
              <a:rPr lang="en-US" sz="2400" b="1" dirty="0"/>
              <a:t>("std1.txt","r");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buNone/>
            </a:pPr>
            <a:r>
              <a:rPr lang="en-US" sz="2400" b="1" dirty="0" err="1"/>
              <a:t>printf</a:t>
            </a:r>
            <a:r>
              <a:rPr lang="en-US" sz="2400" b="1" dirty="0"/>
              <a:t>("text on the file:\n"); </a:t>
            </a:r>
          </a:p>
          <a:p>
            <a:pPr marL="0" indent="0">
              <a:buNone/>
            </a:pPr>
            <a:r>
              <a:rPr lang="en-US" sz="2400" b="1" dirty="0"/>
              <a:t>while ((</a:t>
            </a:r>
            <a:r>
              <a:rPr lang="en-US" sz="2400" b="1" dirty="0" err="1"/>
              <a:t>ch</a:t>
            </a:r>
            <a:r>
              <a:rPr lang="en-US" sz="2400" b="1" dirty="0"/>
              <a:t>=</a:t>
            </a:r>
            <a:r>
              <a:rPr lang="en-US" sz="2400" b="1" dirty="0" err="1"/>
              <a:t>getc</a:t>
            </a:r>
            <a:r>
              <a:rPr lang="en-US" sz="2400" b="1" dirty="0"/>
              <a:t>(</a:t>
            </a:r>
            <a:r>
              <a:rPr lang="en-US" sz="2400" b="1" dirty="0" err="1"/>
              <a:t>fp</a:t>
            </a:r>
            <a:r>
              <a:rPr lang="en-US" sz="2400" b="1" dirty="0"/>
              <a:t>))!=EOF) </a:t>
            </a:r>
            <a:r>
              <a:rPr lang="en-US" sz="1200" b="1" dirty="0">
                <a:highlight>
                  <a:srgbClr val="FFFF00"/>
                </a:highlight>
              </a:rPr>
              <a:t>// reading each character from file </a:t>
            </a:r>
            <a:endParaRPr lang="en-US" sz="1200" b="1" dirty="0"/>
          </a:p>
          <a:p>
            <a:pPr marL="0" indent="0">
              <a:buNone/>
            </a:pPr>
            <a:r>
              <a:rPr lang="en-US" sz="2400" b="1" dirty="0"/>
              <a:t>{</a:t>
            </a:r>
            <a:r>
              <a:rPr lang="en-US" sz="2400" b="1" dirty="0" err="1"/>
              <a:t>putchar</a:t>
            </a:r>
            <a:r>
              <a:rPr lang="en-US" sz="2400" b="1" dirty="0"/>
              <a:t>(</a:t>
            </a:r>
            <a:r>
              <a:rPr lang="en-US" sz="2400" b="1" dirty="0" err="1"/>
              <a:t>ch</a:t>
            </a:r>
            <a:r>
              <a:rPr lang="en-US" sz="2400" b="1" dirty="0"/>
              <a:t>); </a:t>
            </a:r>
            <a:r>
              <a:rPr lang="en-US" sz="1400" b="1" dirty="0">
                <a:highlight>
                  <a:srgbClr val="FFFF00"/>
                </a:highlight>
              </a:rPr>
              <a:t>// </a:t>
            </a:r>
            <a:r>
              <a:rPr lang="en-US" sz="1400" b="1" i="1" dirty="0">
                <a:highlight>
                  <a:srgbClr val="FFFF00"/>
                </a:highlight>
              </a:rPr>
              <a:t>displaying each character on to the screen </a:t>
            </a:r>
          </a:p>
          <a:p>
            <a:pPr marL="0" indent="0">
              <a:buNone/>
            </a:pPr>
            <a:r>
              <a:rPr lang="en-US" sz="2400" b="1" i="1" dirty="0"/>
              <a:t>} </a:t>
            </a:r>
          </a:p>
          <a:p>
            <a:pPr marL="0" indent="0">
              <a:buNone/>
            </a:pPr>
            <a:r>
              <a:rPr lang="en-US" sz="2400" b="1" dirty="0" err="1"/>
              <a:t>fclose</a:t>
            </a:r>
            <a:r>
              <a:rPr lang="en-US" sz="2400" b="1" dirty="0"/>
              <a:t>(</a:t>
            </a:r>
            <a:r>
              <a:rPr lang="en-US" sz="2400" b="1" dirty="0" err="1"/>
              <a:t>fp</a:t>
            </a:r>
            <a:r>
              <a:rPr lang="en-US" sz="2400" b="1" dirty="0"/>
              <a:t>); </a:t>
            </a:r>
          </a:p>
          <a:p>
            <a:pPr marL="0" indent="0">
              <a:buNone/>
            </a:pPr>
            <a:r>
              <a:rPr lang="en-US" sz="2400" b="1" dirty="0"/>
              <a:t>return 0;</a:t>
            </a:r>
          </a:p>
          <a:p>
            <a:pPr marL="0" indent="0">
              <a:buNone/>
            </a:pPr>
            <a:r>
              <a:rPr lang="en-US" sz="2400" b="1" dirty="0"/>
              <a:t>}</a:t>
            </a:r>
          </a:p>
        </p:txBody>
      </p:sp>
      <p:sp>
        <p:nvSpPr>
          <p:cNvPr id="3" name="TextBox 2">
            <a:extLst>
              <a:ext uri="{FF2B5EF4-FFF2-40B4-BE49-F238E27FC236}">
                <a16:creationId xmlns:a16="http://schemas.microsoft.com/office/drawing/2014/main" id="{63BF589D-EB2A-6AE7-AE9E-18212BFE8759}"/>
              </a:ext>
            </a:extLst>
          </p:cNvPr>
          <p:cNvSpPr txBox="1"/>
          <p:nvPr/>
        </p:nvSpPr>
        <p:spPr>
          <a:xfrm>
            <a:off x="241960" y="124688"/>
            <a:ext cx="11028217" cy="646331"/>
          </a:xfrm>
          <a:prstGeom prst="rect">
            <a:avLst/>
          </a:prstGeom>
          <a:noFill/>
        </p:spPr>
        <p:txBody>
          <a:bodyPr wrap="square" rtlCol="0">
            <a:spAutoFit/>
          </a:bodyPr>
          <a:lstStyle/>
          <a:p>
            <a:r>
              <a:rPr lang="en-US" i="1" dirty="0">
                <a:highlight>
                  <a:srgbClr val="FFFF00"/>
                </a:highlight>
              </a:rPr>
              <a:t>1) Write a C program using </a:t>
            </a:r>
            <a:r>
              <a:rPr lang="en-US" b="1" i="1" dirty="0" err="1">
                <a:highlight>
                  <a:srgbClr val="FFFF00"/>
                </a:highlight>
              </a:rPr>
              <a:t>getc</a:t>
            </a:r>
            <a:r>
              <a:rPr lang="en-US" b="1" i="1" dirty="0">
                <a:highlight>
                  <a:srgbClr val="FFFF00"/>
                </a:highlight>
              </a:rPr>
              <a:t>() and </a:t>
            </a:r>
            <a:r>
              <a:rPr lang="en-US" b="1" i="1" dirty="0" err="1">
                <a:highlight>
                  <a:srgbClr val="FFFF00"/>
                </a:highlight>
              </a:rPr>
              <a:t>putc</a:t>
            </a:r>
            <a:r>
              <a:rPr lang="en-US" b="1" i="1" dirty="0">
                <a:highlight>
                  <a:srgbClr val="FFFF00"/>
                </a:highlight>
              </a:rPr>
              <a:t>() </a:t>
            </a:r>
            <a:r>
              <a:rPr lang="en-US" i="1" dirty="0">
                <a:highlight>
                  <a:srgbClr val="FFFF00"/>
                </a:highlight>
              </a:rPr>
              <a:t>to read </a:t>
            </a:r>
            <a:r>
              <a:rPr lang="en-US" b="1" i="1" dirty="0">
                <a:highlight>
                  <a:srgbClr val="FFFF00"/>
                </a:highlight>
              </a:rPr>
              <a:t>characters</a:t>
            </a:r>
            <a:r>
              <a:rPr lang="en-US" i="1" dirty="0">
                <a:highlight>
                  <a:srgbClr val="FFFF00"/>
                </a:highlight>
              </a:rPr>
              <a:t> from the keyboard, store them in a file named </a:t>
            </a:r>
            <a:r>
              <a:rPr lang="en-US" b="1" i="1" dirty="0">
                <a:highlight>
                  <a:srgbClr val="FFFF00"/>
                </a:highlight>
              </a:rPr>
              <a:t>std1.txt </a:t>
            </a:r>
            <a:r>
              <a:rPr lang="en-US" i="1" dirty="0">
                <a:highlight>
                  <a:srgbClr val="FFFF00"/>
                </a:highlight>
              </a:rPr>
              <a:t>until </a:t>
            </a:r>
            <a:r>
              <a:rPr lang="en-US" b="1" i="1" dirty="0" err="1">
                <a:highlight>
                  <a:srgbClr val="FFFF00"/>
                </a:highlight>
              </a:rPr>
              <a:t>Ctrl+Z</a:t>
            </a:r>
            <a:r>
              <a:rPr lang="en-US" b="1" i="1" dirty="0">
                <a:highlight>
                  <a:srgbClr val="FFFF00"/>
                </a:highlight>
              </a:rPr>
              <a:t> </a:t>
            </a:r>
            <a:r>
              <a:rPr lang="en-US" i="1" dirty="0">
                <a:highlight>
                  <a:srgbClr val="FFFF00"/>
                </a:highlight>
              </a:rPr>
              <a:t>is pressed, and then display the file’s contents on the screen.</a:t>
            </a:r>
            <a:endParaRPr lang="en-NP" i="1" dirty="0">
              <a:highlight>
                <a:srgbClr val="FFFF00"/>
              </a:highlight>
            </a:endParaRPr>
          </a:p>
        </p:txBody>
      </p:sp>
      <p:cxnSp>
        <p:nvCxnSpPr>
          <p:cNvPr id="5" name="Straight Arrow Connector 4">
            <a:extLst>
              <a:ext uri="{FF2B5EF4-FFF2-40B4-BE49-F238E27FC236}">
                <a16:creationId xmlns:a16="http://schemas.microsoft.com/office/drawing/2014/main" id="{4A5E1798-54F0-EB2C-632A-818D810AE36C}"/>
              </a:ext>
            </a:extLst>
          </p:cNvPr>
          <p:cNvCxnSpPr>
            <a:cxnSpLocks/>
          </p:cNvCxnSpPr>
          <p:nvPr/>
        </p:nvCxnSpPr>
        <p:spPr>
          <a:xfrm flipV="1">
            <a:off x="6096000" y="771019"/>
            <a:ext cx="0" cy="6086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55803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2DC0A-FB10-72B8-F01E-9206000E2373}"/>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0205D41A-CAA6-73D5-90E1-9CEA4D83A9D8}"/>
              </a:ext>
            </a:extLst>
          </p:cNvPr>
          <p:cNvSpPr/>
          <p:nvPr/>
        </p:nvSpPr>
        <p:spPr>
          <a:xfrm>
            <a:off x="6785261" y="19299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E2833140-9EE6-0586-AB97-7FA729C835CA}"/>
              </a:ext>
            </a:extLst>
          </p:cNvPr>
          <p:cNvSpPr/>
          <p:nvPr/>
        </p:nvSpPr>
        <p:spPr>
          <a:xfrm>
            <a:off x="360218" y="27709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pic>
        <p:nvPicPr>
          <p:cNvPr id="3" name="Picture 2">
            <a:extLst>
              <a:ext uri="{FF2B5EF4-FFF2-40B4-BE49-F238E27FC236}">
                <a16:creationId xmlns:a16="http://schemas.microsoft.com/office/drawing/2014/main" id="{AF7D7378-03A0-FE89-B79C-00E655FF567E}"/>
              </a:ext>
            </a:extLst>
          </p:cNvPr>
          <p:cNvPicPr>
            <a:picLocks noChangeAspect="1"/>
          </p:cNvPicPr>
          <p:nvPr/>
        </p:nvPicPr>
        <p:blipFill>
          <a:blip r:embed="rId2"/>
          <a:stretch>
            <a:fillRect/>
          </a:stretch>
        </p:blipFill>
        <p:spPr>
          <a:xfrm>
            <a:off x="443213" y="1622048"/>
            <a:ext cx="3529443" cy="1432392"/>
          </a:xfrm>
          <a:prstGeom prst="rect">
            <a:avLst/>
          </a:prstGeom>
        </p:spPr>
      </p:pic>
      <p:pic>
        <p:nvPicPr>
          <p:cNvPr id="10" name="Picture 9">
            <a:extLst>
              <a:ext uri="{FF2B5EF4-FFF2-40B4-BE49-F238E27FC236}">
                <a16:creationId xmlns:a16="http://schemas.microsoft.com/office/drawing/2014/main" id="{04DEEFB2-7780-F9D4-D711-5D1D5C896A91}"/>
              </a:ext>
            </a:extLst>
          </p:cNvPr>
          <p:cNvPicPr>
            <a:picLocks noChangeAspect="1"/>
          </p:cNvPicPr>
          <p:nvPr/>
        </p:nvPicPr>
        <p:blipFill>
          <a:blip r:embed="rId3"/>
          <a:stretch>
            <a:fillRect/>
          </a:stretch>
        </p:blipFill>
        <p:spPr>
          <a:xfrm>
            <a:off x="7519001" y="1850588"/>
            <a:ext cx="4283340" cy="3071712"/>
          </a:xfrm>
          <a:prstGeom prst="rect">
            <a:avLst/>
          </a:prstGeom>
        </p:spPr>
      </p:pic>
      <p:sp>
        <p:nvSpPr>
          <p:cNvPr id="11" name="TextBox 10">
            <a:extLst>
              <a:ext uri="{FF2B5EF4-FFF2-40B4-BE49-F238E27FC236}">
                <a16:creationId xmlns:a16="http://schemas.microsoft.com/office/drawing/2014/main" id="{B59C1D7B-1645-01CD-5E1D-661CB5D8D448}"/>
              </a:ext>
            </a:extLst>
          </p:cNvPr>
          <p:cNvSpPr txBox="1"/>
          <p:nvPr/>
        </p:nvSpPr>
        <p:spPr>
          <a:xfrm>
            <a:off x="1105447" y="1217743"/>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AB6756D0-FFBA-CFDB-ECCF-AF923B17F91E}"/>
              </a:ext>
            </a:extLst>
          </p:cNvPr>
          <p:cNvSpPr txBox="1"/>
          <p:nvPr/>
        </p:nvSpPr>
        <p:spPr>
          <a:xfrm>
            <a:off x="7913863" y="1260309"/>
            <a:ext cx="3172690" cy="369332"/>
          </a:xfrm>
          <a:prstGeom prst="rect">
            <a:avLst/>
          </a:prstGeom>
          <a:noFill/>
        </p:spPr>
        <p:txBody>
          <a:bodyPr wrap="square" rtlCol="0">
            <a:spAutoFit/>
          </a:bodyPr>
          <a:lstStyle/>
          <a:p>
            <a:r>
              <a:rPr lang="en-US" dirty="0"/>
              <a:t>File name</a:t>
            </a:r>
            <a:r>
              <a:rPr lang="en-NP" dirty="0"/>
              <a:t> “std1.txt” (Notepad) </a:t>
            </a:r>
          </a:p>
        </p:txBody>
      </p:sp>
      <p:graphicFrame>
        <p:nvGraphicFramePr>
          <p:cNvPr id="13" name="Table 12">
            <a:extLst>
              <a:ext uri="{FF2B5EF4-FFF2-40B4-BE49-F238E27FC236}">
                <a16:creationId xmlns:a16="http://schemas.microsoft.com/office/drawing/2014/main" id="{1AD3A354-DDEE-9017-AEAA-05DB8B5DD55F}"/>
              </a:ext>
            </a:extLst>
          </p:cNvPr>
          <p:cNvGraphicFramePr>
            <a:graphicFrameLocks noGrp="1"/>
          </p:cNvGraphicFramePr>
          <p:nvPr>
            <p:extLst>
              <p:ext uri="{D42A27DB-BD31-4B8C-83A1-F6EECF244321}">
                <p14:modId xmlns:p14="http://schemas.microsoft.com/office/powerpoint/2010/main" val="1166156945"/>
              </p:ext>
            </p:extLst>
          </p:nvPr>
        </p:nvGraphicFramePr>
        <p:xfrm>
          <a:off x="5276849" y="1444975"/>
          <a:ext cx="1000443" cy="3296851"/>
        </p:xfrm>
        <a:graphic>
          <a:graphicData uri="http://schemas.openxmlformats.org/drawingml/2006/table">
            <a:tbl>
              <a:tblPr firstRow="1" bandRow="1">
                <a:tableStyleId>{5940675A-B579-460E-94D1-54222C63F5DA}</a:tableStyleId>
              </a:tblPr>
              <a:tblGrid>
                <a:gridCol w="1000443">
                  <a:extLst>
                    <a:ext uri="{9D8B030D-6E8A-4147-A177-3AD203B41FA5}">
                      <a16:colId xmlns:a16="http://schemas.microsoft.com/office/drawing/2014/main" val="2168637199"/>
                    </a:ext>
                  </a:extLst>
                </a:gridCol>
              </a:tblGrid>
              <a:tr h="767011">
                <a:tc>
                  <a:txBody>
                    <a:bodyPr/>
                    <a:lstStyle/>
                    <a:p>
                      <a:r>
                        <a:rPr lang="en-NP" dirty="0"/>
                        <a:t>    </a:t>
                      </a:r>
                      <a:r>
                        <a:rPr lang="en-NP" sz="3200" b="1" dirty="0"/>
                        <a:t>ch</a:t>
                      </a:r>
                    </a:p>
                  </a:txBody>
                  <a:tcPr/>
                </a:tc>
                <a:extLst>
                  <a:ext uri="{0D108BD9-81ED-4DB2-BD59-A6C34878D82A}">
                    <a16:rowId xmlns:a16="http://schemas.microsoft.com/office/drawing/2014/main" val="2768611096"/>
                  </a:ext>
                </a:extLst>
              </a:tr>
              <a:tr h="2205943">
                <a:tc>
                  <a:txBody>
                    <a:bodyPr/>
                    <a:lstStyle/>
                    <a:p>
                      <a:pPr algn="ctr"/>
                      <a:r>
                        <a:rPr lang="en-NP" sz="4000" b="1" strike="noStrike" dirty="0"/>
                        <a:t>a</a:t>
                      </a:r>
                    </a:p>
                    <a:p>
                      <a:pPr algn="ctr"/>
                      <a:r>
                        <a:rPr lang="en-US" sz="4000" b="1" strike="noStrike" dirty="0"/>
                        <a:t>b</a:t>
                      </a:r>
                    </a:p>
                    <a:p>
                      <a:pPr algn="ctr"/>
                      <a:r>
                        <a:rPr lang="en-US" sz="4000" b="1" strike="noStrike" dirty="0"/>
                        <a:t>c</a:t>
                      </a:r>
                      <a:endParaRPr lang="en-NP" sz="4000" b="1" strike="noStrike" dirty="0"/>
                    </a:p>
                    <a:p>
                      <a:pPr algn="ctr"/>
                      <a:endParaRPr lang="en-NP" sz="4000" b="1" strike="noStrike" dirty="0"/>
                    </a:p>
                  </a:txBody>
                  <a:tcPr/>
                </a:tc>
                <a:extLst>
                  <a:ext uri="{0D108BD9-81ED-4DB2-BD59-A6C34878D82A}">
                    <a16:rowId xmlns:a16="http://schemas.microsoft.com/office/drawing/2014/main" val="466307885"/>
                  </a:ext>
                </a:extLst>
              </a:tr>
            </a:tbl>
          </a:graphicData>
        </a:graphic>
      </p:graphicFrame>
      <p:sp>
        <p:nvSpPr>
          <p:cNvPr id="14" name="TextBox 13">
            <a:extLst>
              <a:ext uri="{FF2B5EF4-FFF2-40B4-BE49-F238E27FC236}">
                <a16:creationId xmlns:a16="http://schemas.microsoft.com/office/drawing/2014/main" id="{6D7FDDC9-0FBA-BA62-22FE-307E3CF6732F}"/>
              </a:ext>
            </a:extLst>
          </p:cNvPr>
          <p:cNvSpPr txBox="1"/>
          <p:nvPr/>
        </p:nvSpPr>
        <p:spPr>
          <a:xfrm>
            <a:off x="5209309" y="1039091"/>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018B6E23-9756-E58A-E79B-02497304D06E}"/>
              </a:ext>
            </a:extLst>
          </p:cNvPr>
          <p:cNvSpPr/>
          <p:nvPr/>
        </p:nvSpPr>
        <p:spPr>
          <a:xfrm>
            <a:off x="1046176" y="2230475"/>
            <a:ext cx="4201108" cy="266309"/>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20" name="TextBox 19">
            <a:extLst>
              <a:ext uri="{FF2B5EF4-FFF2-40B4-BE49-F238E27FC236}">
                <a16:creationId xmlns:a16="http://schemas.microsoft.com/office/drawing/2014/main" id="{8D5F20E4-A42A-42A4-68AA-000EE14CDF79}"/>
              </a:ext>
            </a:extLst>
          </p:cNvPr>
          <p:cNvSpPr txBox="1"/>
          <p:nvPr/>
        </p:nvSpPr>
        <p:spPr>
          <a:xfrm>
            <a:off x="3919103" y="1850588"/>
            <a:ext cx="1357746" cy="400110"/>
          </a:xfrm>
          <a:prstGeom prst="rect">
            <a:avLst/>
          </a:prstGeom>
          <a:noFill/>
        </p:spPr>
        <p:txBody>
          <a:bodyPr wrap="square" rtlCol="0">
            <a:spAutoFit/>
          </a:bodyPr>
          <a:lstStyle/>
          <a:p>
            <a:r>
              <a:rPr lang="en-US" sz="2000" b="1" dirty="0">
                <a:highlight>
                  <a:srgbClr val="FFFF00"/>
                </a:highlight>
              </a:rPr>
              <a:t>g</a:t>
            </a:r>
            <a:r>
              <a:rPr lang="en-NP" sz="2000" b="1" dirty="0">
                <a:highlight>
                  <a:srgbClr val="FFFF00"/>
                </a:highlight>
              </a:rPr>
              <a:t>etchar()</a:t>
            </a:r>
          </a:p>
        </p:txBody>
      </p:sp>
      <p:sp>
        <p:nvSpPr>
          <p:cNvPr id="21" name="TextBox 20">
            <a:extLst>
              <a:ext uri="{FF2B5EF4-FFF2-40B4-BE49-F238E27FC236}">
                <a16:creationId xmlns:a16="http://schemas.microsoft.com/office/drawing/2014/main" id="{8B17A5DA-AAD9-26E6-7816-667CF2B175BF}"/>
              </a:ext>
            </a:extLst>
          </p:cNvPr>
          <p:cNvSpPr txBox="1"/>
          <p:nvPr/>
        </p:nvSpPr>
        <p:spPr>
          <a:xfrm>
            <a:off x="523006" y="392760"/>
            <a:ext cx="4783286" cy="646331"/>
          </a:xfrm>
          <a:prstGeom prst="rect">
            <a:avLst/>
          </a:prstGeom>
          <a:noFill/>
        </p:spPr>
        <p:txBody>
          <a:bodyPr wrap="square" rtlCol="0">
            <a:spAutoFit/>
          </a:bodyPr>
          <a:lstStyle/>
          <a:p>
            <a:r>
              <a:rPr lang="en-US" dirty="0">
                <a:highlight>
                  <a:srgbClr val="FFFF00"/>
                </a:highlight>
              </a:rPr>
              <a:t>Note: g</a:t>
            </a:r>
            <a:r>
              <a:rPr lang="en-NP" dirty="0">
                <a:highlight>
                  <a:srgbClr val="FFFF00"/>
                </a:highlight>
              </a:rPr>
              <a:t>etchar() function is used to store /input single character  to memory from userscreen.</a:t>
            </a:r>
          </a:p>
        </p:txBody>
      </p:sp>
      <p:sp>
        <p:nvSpPr>
          <p:cNvPr id="22" name="Right Arrow 21">
            <a:extLst>
              <a:ext uri="{FF2B5EF4-FFF2-40B4-BE49-F238E27FC236}">
                <a16:creationId xmlns:a16="http://schemas.microsoft.com/office/drawing/2014/main" id="{5CD02D6C-5F6C-583B-ADDF-60D6BC200DB0}"/>
              </a:ext>
            </a:extLst>
          </p:cNvPr>
          <p:cNvSpPr/>
          <p:nvPr/>
        </p:nvSpPr>
        <p:spPr>
          <a:xfrm>
            <a:off x="6320864" y="3020291"/>
            <a:ext cx="1241710" cy="2597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23" name="TextBox 22">
            <a:extLst>
              <a:ext uri="{FF2B5EF4-FFF2-40B4-BE49-F238E27FC236}">
                <a16:creationId xmlns:a16="http://schemas.microsoft.com/office/drawing/2014/main" id="{53D5EF46-82C1-3CEF-B915-A5A85D6FAECA}"/>
              </a:ext>
            </a:extLst>
          </p:cNvPr>
          <p:cNvSpPr txBox="1"/>
          <p:nvPr/>
        </p:nvSpPr>
        <p:spPr>
          <a:xfrm>
            <a:off x="6402258" y="2650959"/>
            <a:ext cx="1357746" cy="369332"/>
          </a:xfrm>
          <a:prstGeom prst="rect">
            <a:avLst/>
          </a:prstGeom>
          <a:noFill/>
        </p:spPr>
        <p:txBody>
          <a:bodyPr wrap="square" rtlCol="0">
            <a:spAutoFit/>
          </a:bodyPr>
          <a:lstStyle/>
          <a:p>
            <a:r>
              <a:rPr lang="en-US" b="1" dirty="0" err="1">
                <a:highlight>
                  <a:srgbClr val="FFFF00"/>
                </a:highlight>
              </a:rPr>
              <a:t>putc</a:t>
            </a:r>
            <a:r>
              <a:rPr lang="en-NP" b="1" dirty="0">
                <a:highlight>
                  <a:srgbClr val="FFFF00"/>
                </a:highlight>
              </a:rPr>
              <a:t>()</a:t>
            </a:r>
          </a:p>
        </p:txBody>
      </p:sp>
      <p:sp>
        <p:nvSpPr>
          <p:cNvPr id="24" name="TextBox 23">
            <a:extLst>
              <a:ext uri="{FF2B5EF4-FFF2-40B4-BE49-F238E27FC236}">
                <a16:creationId xmlns:a16="http://schemas.microsoft.com/office/drawing/2014/main" id="{A485178B-D330-FE2E-86D2-9FC480F394CF}"/>
              </a:ext>
            </a:extLst>
          </p:cNvPr>
          <p:cNvSpPr txBox="1"/>
          <p:nvPr/>
        </p:nvSpPr>
        <p:spPr>
          <a:xfrm>
            <a:off x="6785261" y="246758"/>
            <a:ext cx="4753843" cy="923330"/>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putc</a:t>
            </a:r>
            <a:r>
              <a:rPr lang="en-NP" dirty="0">
                <a:highlight>
                  <a:srgbClr val="FFFF00"/>
                </a:highlight>
              </a:rPr>
              <a:t>() function is used to write single character to the file named “std1.txt” from memory.</a:t>
            </a:r>
          </a:p>
        </p:txBody>
      </p:sp>
      <p:sp>
        <p:nvSpPr>
          <p:cNvPr id="27" name="Right Arrow 26">
            <a:extLst>
              <a:ext uri="{FF2B5EF4-FFF2-40B4-BE49-F238E27FC236}">
                <a16:creationId xmlns:a16="http://schemas.microsoft.com/office/drawing/2014/main" id="{A9C67665-B748-48F6-CC86-8A0EAED614F7}"/>
              </a:ext>
            </a:extLst>
          </p:cNvPr>
          <p:cNvSpPr/>
          <p:nvPr/>
        </p:nvSpPr>
        <p:spPr>
          <a:xfrm rot="10800000">
            <a:off x="6277291" y="3618222"/>
            <a:ext cx="1241709" cy="2525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C0B3B71C-C6EC-2A7B-85A3-842299A46776}"/>
              </a:ext>
            </a:extLst>
          </p:cNvPr>
          <p:cNvSpPr txBox="1"/>
          <p:nvPr/>
        </p:nvSpPr>
        <p:spPr>
          <a:xfrm>
            <a:off x="6556117" y="3870737"/>
            <a:ext cx="1357746" cy="369332"/>
          </a:xfrm>
          <a:prstGeom prst="rect">
            <a:avLst/>
          </a:prstGeom>
          <a:noFill/>
        </p:spPr>
        <p:txBody>
          <a:bodyPr wrap="square" rtlCol="0">
            <a:spAutoFit/>
          </a:bodyPr>
          <a:lstStyle/>
          <a:p>
            <a:r>
              <a:rPr lang="en-US" b="1" dirty="0" err="1">
                <a:highlight>
                  <a:srgbClr val="FFFF00"/>
                </a:highlight>
              </a:rPr>
              <a:t>getc</a:t>
            </a:r>
            <a:r>
              <a:rPr lang="en-NP" b="1" dirty="0">
                <a:highlight>
                  <a:srgbClr val="FFFF00"/>
                </a:highlight>
              </a:rPr>
              <a:t>()</a:t>
            </a:r>
          </a:p>
        </p:txBody>
      </p:sp>
      <p:sp>
        <p:nvSpPr>
          <p:cNvPr id="31" name="TextBox 30">
            <a:extLst>
              <a:ext uri="{FF2B5EF4-FFF2-40B4-BE49-F238E27FC236}">
                <a16:creationId xmlns:a16="http://schemas.microsoft.com/office/drawing/2014/main" id="{1CA0AF00-CE00-70B2-1FDB-A5720F7172A2}"/>
              </a:ext>
            </a:extLst>
          </p:cNvPr>
          <p:cNvSpPr txBox="1"/>
          <p:nvPr/>
        </p:nvSpPr>
        <p:spPr>
          <a:xfrm>
            <a:off x="4035140" y="3870739"/>
            <a:ext cx="1439140" cy="369330"/>
          </a:xfrm>
          <a:prstGeom prst="rect">
            <a:avLst/>
          </a:prstGeom>
          <a:noFill/>
        </p:spPr>
        <p:txBody>
          <a:bodyPr wrap="square" rtlCol="0">
            <a:spAutoFit/>
          </a:bodyPr>
          <a:lstStyle/>
          <a:p>
            <a:r>
              <a:rPr lang="en-US" b="1" dirty="0" err="1">
                <a:highlight>
                  <a:srgbClr val="FFFF00"/>
                </a:highlight>
              </a:rPr>
              <a:t>putchar</a:t>
            </a:r>
            <a:r>
              <a:rPr lang="en-NP" b="1" dirty="0">
                <a:highlight>
                  <a:srgbClr val="FFFF00"/>
                </a:highlight>
              </a:rPr>
              <a:t>()</a:t>
            </a:r>
          </a:p>
        </p:txBody>
      </p:sp>
      <p:sp>
        <p:nvSpPr>
          <p:cNvPr id="32" name="Rectangle 31">
            <a:extLst>
              <a:ext uri="{FF2B5EF4-FFF2-40B4-BE49-F238E27FC236}">
                <a16:creationId xmlns:a16="http://schemas.microsoft.com/office/drawing/2014/main" id="{84FCE18E-4433-BA37-9DE3-17A77B5352CE}"/>
              </a:ext>
            </a:extLst>
          </p:cNvPr>
          <p:cNvSpPr/>
          <p:nvPr/>
        </p:nvSpPr>
        <p:spPr>
          <a:xfrm>
            <a:off x="550593" y="510503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5EA15149-022B-DAAA-A749-F4564AA60477}"/>
              </a:ext>
            </a:extLst>
          </p:cNvPr>
          <p:cNvSpPr txBox="1"/>
          <p:nvPr/>
        </p:nvSpPr>
        <p:spPr>
          <a:xfrm>
            <a:off x="661429" y="5105038"/>
            <a:ext cx="4475018" cy="646331"/>
          </a:xfrm>
          <a:prstGeom prst="rect">
            <a:avLst/>
          </a:prstGeom>
          <a:noFill/>
        </p:spPr>
        <p:txBody>
          <a:bodyPr wrap="square" rtlCol="0">
            <a:spAutoFit/>
          </a:bodyPr>
          <a:lstStyle/>
          <a:p>
            <a:r>
              <a:rPr lang="en-US" dirty="0">
                <a:highlight>
                  <a:srgbClr val="FFFF00"/>
                </a:highlight>
              </a:rPr>
              <a:t>Note: put</a:t>
            </a:r>
            <a:r>
              <a:rPr lang="en-NP" dirty="0">
                <a:highlight>
                  <a:srgbClr val="FFFF00"/>
                </a:highlight>
              </a:rPr>
              <a:t>char() function is use to  display single character from Memory</a:t>
            </a:r>
          </a:p>
        </p:txBody>
      </p:sp>
      <p:sp>
        <p:nvSpPr>
          <p:cNvPr id="34" name="Rectangle 33">
            <a:extLst>
              <a:ext uri="{FF2B5EF4-FFF2-40B4-BE49-F238E27FC236}">
                <a16:creationId xmlns:a16="http://schemas.microsoft.com/office/drawing/2014/main" id="{99C85D55-D716-CABE-C508-D050D2C131DB}"/>
              </a:ext>
            </a:extLst>
          </p:cNvPr>
          <p:cNvSpPr/>
          <p:nvPr/>
        </p:nvSpPr>
        <p:spPr>
          <a:xfrm>
            <a:off x="6944716" y="506262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8628A9BD-D4D6-4489-D477-9283D8CC8BA0}"/>
              </a:ext>
            </a:extLst>
          </p:cNvPr>
          <p:cNvSpPr txBox="1"/>
          <p:nvPr/>
        </p:nvSpPr>
        <p:spPr>
          <a:xfrm>
            <a:off x="7166389" y="5095902"/>
            <a:ext cx="4475018" cy="923330"/>
          </a:xfrm>
          <a:prstGeom prst="rect">
            <a:avLst/>
          </a:prstGeom>
          <a:noFill/>
        </p:spPr>
        <p:txBody>
          <a:bodyPr wrap="square" rtlCol="0">
            <a:spAutoFit/>
          </a:bodyPr>
          <a:lstStyle/>
          <a:p>
            <a:r>
              <a:rPr lang="en-US" dirty="0">
                <a:highlight>
                  <a:srgbClr val="FFFF00"/>
                </a:highlight>
              </a:rPr>
              <a:t>Note: </a:t>
            </a:r>
            <a:r>
              <a:rPr lang="en-NP" dirty="0">
                <a:highlight>
                  <a:srgbClr val="FFFF00"/>
                </a:highlight>
              </a:rPr>
              <a:t>getc() function is used to store /input  single character to memory from datafile “std1.txt”</a:t>
            </a:r>
          </a:p>
        </p:txBody>
      </p:sp>
      <p:pic>
        <p:nvPicPr>
          <p:cNvPr id="2" name="Picture 1">
            <a:extLst>
              <a:ext uri="{FF2B5EF4-FFF2-40B4-BE49-F238E27FC236}">
                <a16:creationId xmlns:a16="http://schemas.microsoft.com/office/drawing/2014/main" id="{B1F67C17-7E24-996C-CC33-400F54DC01C2}"/>
              </a:ext>
            </a:extLst>
          </p:cNvPr>
          <p:cNvPicPr>
            <a:picLocks noChangeAspect="1"/>
          </p:cNvPicPr>
          <p:nvPr/>
        </p:nvPicPr>
        <p:blipFill>
          <a:blip r:embed="rId4"/>
          <a:stretch>
            <a:fillRect/>
          </a:stretch>
        </p:blipFill>
        <p:spPr>
          <a:xfrm>
            <a:off x="443213" y="3020291"/>
            <a:ext cx="3529443" cy="1175038"/>
          </a:xfrm>
          <a:prstGeom prst="rect">
            <a:avLst/>
          </a:prstGeom>
        </p:spPr>
      </p:pic>
      <p:sp>
        <p:nvSpPr>
          <p:cNvPr id="30" name="Right Arrow 29">
            <a:extLst>
              <a:ext uri="{FF2B5EF4-FFF2-40B4-BE49-F238E27FC236}">
                <a16:creationId xmlns:a16="http://schemas.microsoft.com/office/drawing/2014/main" id="{109EFDB6-BBBE-C636-E4F5-7C9D4A8DD443}"/>
              </a:ext>
            </a:extLst>
          </p:cNvPr>
          <p:cNvSpPr/>
          <p:nvPr/>
        </p:nvSpPr>
        <p:spPr>
          <a:xfrm rot="10800000">
            <a:off x="1105447" y="3604429"/>
            <a:ext cx="4171402" cy="266307"/>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dirty="0"/>
          </a:p>
        </p:txBody>
      </p:sp>
      <p:sp>
        <p:nvSpPr>
          <p:cNvPr id="4" name="Right Brace 3">
            <a:extLst>
              <a:ext uri="{FF2B5EF4-FFF2-40B4-BE49-F238E27FC236}">
                <a16:creationId xmlns:a16="http://schemas.microsoft.com/office/drawing/2014/main" id="{2321F953-642F-243D-EB2A-2BF1D7DD5BC5}"/>
              </a:ext>
            </a:extLst>
          </p:cNvPr>
          <p:cNvSpPr/>
          <p:nvPr/>
        </p:nvSpPr>
        <p:spPr>
          <a:xfrm>
            <a:off x="790414" y="1955267"/>
            <a:ext cx="201478" cy="783852"/>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5" name="Right Brace 4">
            <a:extLst>
              <a:ext uri="{FF2B5EF4-FFF2-40B4-BE49-F238E27FC236}">
                <a16:creationId xmlns:a16="http://schemas.microsoft.com/office/drawing/2014/main" id="{C1FD44F8-3E3B-BB44-0754-90AF736493FA}"/>
              </a:ext>
            </a:extLst>
          </p:cNvPr>
          <p:cNvSpPr/>
          <p:nvPr/>
        </p:nvSpPr>
        <p:spPr>
          <a:xfrm>
            <a:off x="844698" y="3320863"/>
            <a:ext cx="201478" cy="783852"/>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28324602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8C76-C01A-C85F-5518-5BF5C49EABC2}"/>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7FE27EF-BE7D-E08D-79F4-FE08B02C3935}"/>
              </a:ext>
            </a:extLst>
          </p:cNvPr>
          <p:cNvSpPr>
            <a:spLocks noGrp="1"/>
          </p:cNvSpPr>
          <p:nvPr>
            <p:ph idx="1"/>
          </p:nvPr>
        </p:nvSpPr>
        <p:spPr>
          <a:xfrm>
            <a:off x="408215" y="1038998"/>
            <a:ext cx="5687785" cy="5805055"/>
          </a:xfrm>
        </p:spPr>
        <p:txBody>
          <a:bodyPr>
            <a:noAutofit/>
          </a:bodyPr>
          <a:lstStyle/>
          <a:p>
            <a:pPr marL="0" indent="0">
              <a:spcBef>
                <a:spcPts val="0"/>
              </a:spcBef>
              <a:buNone/>
            </a:pPr>
            <a:r>
              <a:rPr lang="en-US" sz="2400" b="1" dirty="0"/>
              <a:t>#include&lt;</a:t>
            </a:r>
            <a:r>
              <a:rPr lang="en-US" sz="2400" b="1" dirty="0" err="1"/>
              <a:t>stdio.h</a:t>
            </a:r>
            <a:r>
              <a:rPr lang="en-US" sz="2400" b="1" dirty="0"/>
              <a:t>&gt; </a:t>
            </a:r>
          </a:p>
          <a:p>
            <a:pPr marL="0" indent="0">
              <a:spcBef>
                <a:spcPts val="0"/>
              </a:spcBef>
              <a:buNone/>
            </a:pPr>
            <a:r>
              <a:rPr lang="en-US" sz="2400" b="1" dirty="0"/>
              <a:t>int main( ){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a:t>int </a:t>
            </a:r>
            <a:r>
              <a:rPr lang="en-US" sz="2400" b="1" dirty="0" err="1"/>
              <a:t>i</a:t>
            </a:r>
            <a:r>
              <a:rPr lang="en-US" sz="2400" b="1" dirty="0"/>
              <a:t>; </a:t>
            </a:r>
          </a:p>
          <a:p>
            <a:pPr marL="0" indent="0">
              <a:spcBef>
                <a:spcPts val="0"/>
              </a:spcBef>
              <a:buNone/>
            </a:pPr>
            <a:r>
              <a:rPr lang="en-US" sz="2400" b="1" dirty="0" err="1"/>
              <a:t>fp</a:t>
            </a:r>
            <a:r>
              <a:rPr lang="en-US" sz="2400" b="1" dirty="0"/>
              <a:t> = </a:t>
            </a:r>
            <a:r>
              <a:rPr lang="en-US" sz="2400" b="1" dirty="0" err="1"/>
              <a:t>fopen</a:t>
            </a:r>
            <a:r>
              <a:rPr lang="en-US" sz="2400" b="1" dirty="0"/>
              <a:t> ("</a:t>
            </a:r>
            <a:r>
              <a:rPr lang="en-US" sz="2400" b="1" dirty="0" err="1"/>
              <a:t>num.txt</a:t>
            </a:r>
            <a:r>
              <a:rPr lang="en-US" sz="2400" b="1" dirty="0"/>
              <a:t>", "w");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r>
              <a:rPr lang="en-US" sz="2400" b="1" dirty="0"/>
              <a:t>for (</a:t>
            </a:r>
            <a:r>
              <a:rPr lang="en-US" sz="2400" b="1" dirty="0" err="1"/>
              <a:t>i</a:t>
            </a:r>
            <a:r>
              <a:rPr lang="en-US" sz="2400" b="1" dirty="0"/>
              <a:t> =1; </a:t>
            </a:r>
            <a:r>
              <a:rPr lang="en-US" sz="2400" b="1" dirty="0" err="1"/>
              <a:t>i</a:t>
            </a:r>
            <a:r>
              <a:rPr lang="en-US" sz="2400" b="1" dirty="0"/>
              <a:t>&lt;= 10; </a:t>
            </a:r>
            <a:r>
              <a:rPr lang="en-US" sz="2400" b="1" dirty="0" err="1"/>
              <a:t>i</a:t>
            </a:r>
            <a:r>
              <a:rPr lang="en-US" sz="2400" b="1" dirty="0"/>
              <a:t>++) { </a:t>
            </a:r>
          </a:p>
          <a:p>
            <a:pPr marL="0" indent="0">
              <a:spcBef>
                <a:spcPts val="0"/>
              </a:spcBef>
              <a:buNone/>
            </a:pPr>
            <a:r>
              <a:rPr lang="en-US" sz="2400" b="1" dirty="0" err="1"/>
              <a:t>putw</a:t>
            </a:r>
            <a:r>
              <a:rPr lang="en-US" sz="2400" b="1" dirty="0"/>
              <a:t> (</a:t>
            </a:r>
            <a:r>
              <a:rPr lang="en-US" sz="2400" b="1" dirty="0" err="1"/>
              <a:t>i</a:t>
            </a:r>
            <a:r>
              <a:rPr lang="en-US" sz="2400" b="1" dirty="0"/>
              <a:t>, </a:t>
            </a:r>
            <a:r>
              <a:rPr lang="en-US" sz="2400" b="1" dirty="0" err="1"/>
              <a:t>fp</a:t>
            </a:r>
            <a:r>
              <a:rPr lang="en-US" sz="2400" b="1" dirty="0"/>
              <a:t>); </a:t>
            </a:r>
          </a:p>
          <a:p>
            <a:pPr marL="0" indent="0">
              <a:spcBef>
                <a:spcPts val="0"/>
              </a:spcBef>
              <a:buNone/>
            </a:pPr>
            <a:r>
              <a:rPr lang="en-US" sz="2400" b="1" dirty="0"/>
              <a:t>} </a:t>
            </a:r>
          </a:p>
          <a:p>
            <a:pPr marL="0" indent="0">
              <a:spcBef>
                <a:spcPts val="0"/>
              </a:spcBef>
              <a:buNone/>
            </a:pPr>
            <a:r>
              <a:rPr lang="en-US" sz="2400" b="1" dirty="0" err="1"/>
              <a:t>fclose</a:t>
            </a:r>
            <a:r>
              <a:rPr lang="en-US" sz="2400" b="1" dirty="0"/>
              <a:t> (</a:t>
            </a:r>
            <a:r>
              <a:rPr lang="en-US" sz="2400" b="1" dirty="0" err="1"/>
              <a:t>fp</a:t>
            </a:r>
            <a:r>
              <a:rPr lang="en-US" sz="2400" b="1" dirty="0"/>
              <a:t>); </a:t>
            </a:r>
          </a:p>
          <a:p>
            <a:pPr marL="0" indent="0">
              <a:spcBef>
                <a:spcPts val="0"/>
              </a:spcBef>
              <a:buNone/>
            </a:pPr>
            <a:endParaRPr lang="en-US" sz="2000" dirty="0"/>
          </a:p>
        </p:txBody>
      </p:sp>
      <p:sp>
        <p:nvSpPr>
          <p:cNvPr id="3" name="TextBox 2">
            <a:extLst>
              <a:ext uri="{FF2B5EF4-FFF2-40B4-BE49-F238E27FC236}">
                <a16:creationId xmlns:a16="http://schemas.microsoft.com/office/drawing/2014/main" id="{D7EB210F-5F3E-FF39-FAE1-E3AE9BB8632D}"/>
              </a:ext>
            </a:extLst>
          </p:cNvPr>
          <p:cNvSpPr txBox="1"/>
          <p:nvPr/>
        </p:nvSpPr>
        <p:spPr>
          <a:xfrm>
            <a:off x="96982" y="129523"/>
            <a:ext cx="11686803" cy="923330"/>
          </a:xfrm>
          <a:prstGeom prst="rect">
            <a:avLst/>
          </a:prstGeom>
          <a:noFill/>
        </p:spPr>
        <p:txBody>
          <a:bodyPr wrap="square" rtlCol="0">
            <a:spAutoFit/>
          </a:bodyPr>
          <a:lstStyle/>
          <a:p>
            <a:r>
              <a:rPr lang="en-US" i="1" dirty="0">
                <a:highlight>
                  <a:srgbClr val="FFFF00"/>
                </a:highlight>
              </a:rPr>
              <a:t>2)Write a C program using </a:t>
            </a:r>
            <a:r>
              <a:rPr lang="en-US" b="1" i="1" dirty="0" err="1">
                <a:highlight>
                  <a:srgbClr val="FFFF00"/>
                </a:highlight>
              </a:rPr>
              <a:t>putw</a:t>
            </a:r>
            <a:r>
              <a:rPr lang="en-US" b="1" i="1" dirty="0">
                <a:highlight>
                  <a:srgbClr val="FFFF00"/>
                </a:highlight>
              </a:rPr>
              <a:t>()</a:t>
            </a:r>
            <a:r>
              <a:rPr lang="en-US" i="1" dirty="0">
                <a:highlight>
                  <a:srgbClr val="FFFF00"/>
                </a:highlight>
              </a:rPr>
              <a:t> and </a:t>
            </a:r>
            <a:r>
              <a:rPr lang="en-US" b="1" i="1" dirty="0" err="1">
                <a:highlight>
                  <a:srgbClr val="FFFF00"/>
                </a:highlight>
              </a:rPr>
              <a:t>getw</a:t>
            </a:r>
            <a:r>
              <a:rPr lang="en-US" b="1" i="1" dirty="0">
                <a:highlight>
                  <a:srgbClr val="FFFF00"/>
                </a:highlight>
              </a:rPr>
              <a:t>()</a:t>
            </a:r>
            <a:r>
              <a:rPr lang="en-US" i="1" dirty="0">
                <a:highlight>
                  <a:srgbClr val="FFFF00"/>
                </a:highlight>
              </a:rPr>
              <a:t> functions to </a:t>
            </a:r>
            <a:r>
              <a:rPr lang="en-US" b="1" i="1" dirty="0">
                <a:highlight>
                  <a:srgbClr val="FFFF00"/>
                </a:highlight>
              </a:rPr>
              <a:t>store integers from 1 to 10</a:t>
            </a:r>
            <a:r>
              <a:rPr lang="en-US" i="1" dirty="0">
                <a:highlight>
                  <a:srgbClr val="FFFF00"/>
                </a:highlight>
              </a:rPr>
              <a:t> into a file named </a:t>
            </a:r>
            <a:r>
              <a:rPr lang="en-US" b="1" i="1" dirty="0" err="1">
                <a:highlight>
                  <a:srgbClr val="FFFF00"/>
                </a:highlight>
              </a:rPr>
              <a:t>num.txt</a:t>
            </a:r>
            <a:r>
              <a:rPr lang="en-US" i="1" dirty="0">
                <a:highlight>
                  <a:srgbClr val="FFFF00"/>
                </a:highlight>
              </a:rPr>
              <a:t>, and then </a:t>
            </a:r>
            <a:r>
              <a:rPr lang="en-US" b="1" i="1" dirty="0">
                <a:highlight>
                  <a:srgbClr val="FFFF00"/>
                </a:highlight>
              </a:rPr>
              <a:t>read and display</a:t>
            </a:r>
            <a:r>
              <a:rPr lang="en-US" i="1" dirty="0">
                <a:highlight>
                  <a:srgbClr val="FFFF00"/>
                </a:highlight>
              </a:rPr>
              <a:t> the contents of the file on the screen.</a:t>
            </a:r>
          </a:p>
          <a:p>
            <a:endParaRPr lang="en-NP" dirty="0"/>
          </a:p>
        </p:txBody>
      </p:sp>
      <p:sp>
        <p:nvSpPr>
          <p:cNvPr id="4" name="Content Placeholder 5">
            <a:extLst>
              <a:ext uri="{FF2B5EF4-FFF2-40B4-BE49-F238E27FC236}">
                <a16:creationId xmlns:a16="http://schemas.microsoft.com/office/drawing/2014/main" id="{C5D9E706-1657-4E41-45FB-3AC14F1A74B0}"/>
              </a:ext>
            </a:extLst>
          </p:cNvPr>
          <p:cNvSpPr txBox="1">
            <a:spLocks/>
          </p:cNvSpPr>
          <p:nvPr/>
        </p:nvSpPr>
        <p:spPr>
          <a:xfrm>
            <a:off x="6096000" y="1052945"/>
            <a:ext cx="5687785" cy="580505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2400" b="1" dirty="0" err="1"/>
              <a:t>fp</a:t>
            </a:r>
            <a:r>
              <a:rPr lang="en-US" sz="2400" b="1" dirty="0"/>
              <a:t> =</a:t>
            </a:r>
            <a:r>
              <a:rPr lang="en-US" sz="2400" b="1" dirty="0" err="1"/>
              <a:t>fopen</a:t>
            </a:r>
            <a:r>
              <a:rPr lang="en-US" sz="2400" b="1" dirty="0"/>
              <a:t> ("</a:t>
            </a:r>
            <a:r>
              <a:rPr lang="en-US" sz="2400" b="1" dirty="0" err="1"/>
              <a:t>num.txt</a:t>
            </a:r>
            <a:r>
              <a:rPr lang="en-US" sz="2400" b="1" dirty="0"/>
              <a:t>", "r");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p>
          <a:p>
            <a:pPr marL="0" indent="0">
              <a:spcBef>
                <a:spcPts val="0"/>
              </a:spcBef>
              <a:buNone/>
            </a:pPr>
            <a:r>
              <a:rPr lang="en-US" sz="2400" b="1" dirty="0" err="1"/>
              <a:t>printf</a:t>
            </a:r>
            <a:r>
              <a:rPr lang="en-US" sz="2400" b="1" dirty="0"/>
              <a:t> ("file content is"); </a:t>
            </a:r>
          </a:p>
          <a:p>
            <a:pPr marL="0" indent="0">
              <a:spcBef>
                <a:spcPts val="0"/>
              </a:spcBef>
              <a:buNone/>
            </a:pPr>
            <a:r>
              <a:rPr lang="en-US" sz="2400" b="1" dirty="0"/>
              <a:t>for (</a:t>
            </a:r>
            <a:r>
              <a:rPr lang="en-US" sz="2400" b="1" dirty="0" err="1"/>
              <a:t>i</a:t>
            </a:r>
            <a:r>
              <a:rPr lang="en-US" sz="2400" b="1" dirty="0"/>
              <a:t> =1; </a:t>
            </a:r>
            <a:r>
              <a:rPr lang="en-US" sz="2400" b="1" dirty="0" err="1"/>
              <a:t>i</a:t>
            </a:r>
            <a:r>
              <a:rPr lang="en-US" sz="2400" b="1" dirty="0"/>
              <a:t>&lt;= 10; </a:t>
            </a:r>
            <a:r>
              <a:rPr lang="en-US" sz="2400" b="1" dirty="0" err="1"/>
              <a:t>i</a:t>
            </a:r>
            <a:r>
              <a:rPr lang="en-US" sz="2400" b="1" dirty="0"/>
              <a:t>++)</a:t>
            </a:r>
          </a:p>
          <a:p>
            <a:pPr marL="0" indent="0">
              <a:spcBef>
                <a:spcPts val="0"/>
              </a:spcBef>
              <a:buNone/>
            </a:pPr>
            <a:r>
              <a:rPr lang="en-US" sz="2400" b="1" dirty="0"/>
              <a:t>{ </a:t>
            </a:r>
          </a:p>
          <a:p>
            <a:pPr marL="0" indent="0">
              <a:spcBef>
                <a:spcPts val="0"/>
              </a:spcBef>
              <a:buNone/>
            </a:pPr>
            <a:r>
              <a:rPr lang="en-US" sz="2400" b="1" dirty="0"/>
              <a:t>     </a:t>
            </a:r>
            <a:r>
              <a:rPr lang="en-US" sz="2400" b="1" dirty="0" err="1"/>
              <a:t>printf</a:t>
            </a:r>
            <a:r>
              <a:rPr lang="en-US" sz="2400" b="1" dirty="0"/>
              <a:t> ("\</a:t>
            </a:r>
            <a:r>
              <a:rPr lang="en-US" sz="2400" b="1" dirty="0" err="1"/>
              <a:t>n%d</a:t>
            </a:r>
            <a:r>
              <a:rPr lang="en-US" sz="2400" b="1" dirty="0"/>
              <a:t>", </a:t>
            </a:r>
            <a:r>
              <a:rPr lang="en-US" sz="2400" b="1" dirty="0" err="1"/>
              <a:t>getw</a:t>
            </a:r>
            <a:r>
              <a:rPr lang="en-US" sz="2400" b="1" dirty="0"/>
              <a:t>(</a:t>
            </a:r>
            <a:r>
              <a:rPr lang="en-US" sz="2400" b="1" dirty="0" err="1"/>
              <a:t>fp</a:t>
            </a:r>
            <a:r>
              <a:rPr lang="en-US" sz="2400" b="1" dirty="0"/>
              <a:t>)); </a:t>
            </a:r>
            <a:r>
              <a:rPr lang="en-US" sz="2400" b="1" dirty="0">
                <a:highlight>
                  <a:srgbClr val="FFFF00"/>
                </a:highlight>
              </a:rPr>
              <a:t>//</a:t>
            </a:r>
            <a:r>
              <a:rPr lang="en-US" sz="2400" b="1" dirty="0" err="1">
                <a:highlight>
                  <a:srgbClr val="FFFF00"/>
                </a:highlight>
              </a:rPr>
              <a:t>i</a:t>
            </a:r>
            <a:r>
              <a:rPr lang="en-US" sz="2400" b="1" dirty="0">
                <a:highlight>
                  <a:srgbClr val="FFFF00"/>
                </a:highlight>
              </a:rPr>
              <a:t>= </a:t>
            </a:r>
            <a:r>
              <a:rPr lang="en-US" sz="2400" b="1" dirty="0" err="1">
                <a:highlight>
                  <a:srgbClr val="FFFF00"/>
                </a:highlight>
              </a:rPr>
              <a:t>getw</a:t>
            </a:r>
            <a:r>
              <a:rPr lang="en-US" sz="2400" b="1" dirty="0">
                <a:highlight>
                  <a:srgbClr val="FFFF00"/>
                </a:highlight>
              </a:rPr>
              <a:t>(</a:t>
            </a:r>
            <a:r>
              <a:rPr lang="en-US" sz="2400" b="1" dirty="0" err="1">
                <a:highlight>
                  <a:srgbClr val="FFFF00"/>
                </a:highlight>
              </a:rPr>
              <a:t>fp</a:t>
            </a:r>
            <a:r>
              <a:rPr lang="en-US" sz="2400" b="1" dirty="0">
                <a:highlight>
                  <a:srgbClr val="FFFF00"/>
                </a:highlight>
              </a:rPr>
              <a:t>); </a:t>
            </a:r>
          </a:p>
          <a:p>
            <a:pPr marL="0" indent="0">
              <a:spcBef>
                <a:spcPts val="0"/>
              </a:spcBef>
              <a:buNone/>
            </a:pPr>
            <a:r>
              <a:rPr lang="en-US" sz="2400" b="1" dirty="0"/>
              <a:t>} </a:t>
            </a:r>
          </a:p>
          <a:p>
            <a:pPr marL="0" indent="0">
              <a:spcBef>
                <a:spcPts val="0"/>
              </a:spcBef>
              <a:buNone/>
            </a:pPr>
            <a:r>
              <a:rPr lang="en-US" sz="2400" b="1" dirty="0" err="1"/>
              <a:t>fclose</a:t>
            </a:r>
            <a:r>
              <a:rPr lang="en-US" sz="2400" b="1" dirty="0"/>
              <a:t> (</a:t>
            </a:r>
            <a:r>
              <a:rPr lang="en-US" sz="2400" b="1" dirty="0" err="1"/>
              <a:t>fp</a:t>
            </a:r>
            <a:r>
              <a:rPr lang="en-US" sz="2400" b="1" dirty="0"/>
              <a:t>); </a:t>
            </a:r>
          </a:p>
          <a:p>
            <a:pPr marL="0" indent="0">
              <a:spcBef>
                <a:spcPts val="0"/>
              </a:spcBef>
              <a:buNone/>
            </a:pPr>
            <a:r>
              <a:rPr lang="en-US" sz="2400" b="1" dirty="0"/>
              <a:t>return 0;</a:t>
            </a:r>
          </a:p>
          <a:p>
            <a:pPr marL="0" indent="0">
              <a:spcBef>
                <a:spcPts val="0"/>
              </a:spcBef>
              <a:buNone/>
            </a:pPr>
            <a:r>
              <a:rPr lang="en-US" sz="2400" b="1" dirty="0"/>
              <a:t>} </a:t>
            </a:r>
          </a:p>
          <a:p>
            <a:pPr marL="0" indent="0">
              <a:spcBef>
                <a:spcPts val="0"/>
              </a:spcBef>
              <a:buNone/>
            </a:pPr>
            <a:br>
              <a:rPr lang="en-US" sz="1800" b="1" dirty="0"/>
            </a:br>
            <a:endParaRPr lang="en-US" sz="2000" b="1" dirty="0"/>
          </a:p>
        </p:txBody>
      </p:sp>
    </p:spTree>
    <p:extLst>
      <p:ext uri="{BB962C8B-B14F-4D97-AF65-F5344CB8AC3E}">
        <p14:creationId xmlns:p14="http://schemas.microsoft.com/office/powerpoint/2010/main" val="20855382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F996-6D68-4D63-6779-365DB83FF48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1AF48402-23D3-F2C4-83B9-055F3DA9D3BC}"/>
              </a:ext>
            </a:extLst>
          </p:cNvPr>
          <p:cNvSpPr/>
          <p:nvPr/>
        </p:nvSpPr>
        <p:spPr>
          <a:xfrm>
            <a:off x="6785261" y="19299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8BB410CD-F4A1-D274-7EB1-9D56442FE5B3}"/>
              </a:ext>
            </a:extLst>
          </p:cNvPr>
          <p:cNvSpPr txBox="1"/>
          <p:nvPr/>
        </p:nvSpPr>
        <p:spPr>
          <a:xfrm>
            <a:off x="1052946" y="1339426"/>
            <a:ext cx="1967346" cy="461665"/>
          </a:xfrm>
          <a:prstGeom prst="rect">
            <a:avLst/>
          </a:prstGeom>
          <a:noFill/>
        </p:spPr>
        <p:txBody>
          <a:bodyPr wrap="square" rtlCol="0">
            <a:spAutoFit/>
          </a:bodyPr>
          <a:lstStyle/>
          <a:p>
            <a:r>
              <a:rPr lang="en-US" sz="2400" dirty="0"/>
              <a:t>U</a:t>
            </a:r>
            <a:r>
              <a:rPr lang="en-NP" sz="2400" dirty="0"/>
              <a:t>ser screen</a:t>
            </a:r>
          </a:p>
        </p:txBody>
      </p:sp>
      <p:sp>
        <p:nvSpPr>
          <p:cNvPr id="12" name="TextBox 11">
            <a:extLst>
              <a:ext uri="{FF2B5EF4-FFF2-40B4-BE49-F238E27FC236}">
                <a16:creationId xmlns:a16="http://schemas.microsoft.com/office/drawing/2014/main" id="{BB4F1A18-0379-1DA1-BAAB-1EDD4D2DF2ED}"/>
              </a:ext>
            </a:extLst>
          </p:cNvPr>
          <p:cNvSpPr txBox="1"/>
          <p:nvPr/>
        </p:nvSpPr>
        <p:spPr>
          <a:xfrm>
            <a:off x="7234990" y="1293259"/>
            <a:ext cx="4517625" cy="461665"/>
          </a:xfrm>
          <a:prstGeom prst="rect">
            <a:avLst/>
          </a:prstGeom>
          <a:noFill/>
        </p:spPr>
        <p:txBody>
          <a:bodyPr wrap="square" rtlCol="0">
            <a:spAutoFit/>
          </a:bodyPr>
          <a:lstStyle/>
          <a:p>
            <a:r>
              <a:rPr lang="en-US" sz="2400" dirty="0"/>
              <a:t>File name</a:t>
            </a:r>
            <a:r>
              <a:rPr lang="en-NP" sz="2400" dirty="0"/>
              <a:t> “num.txt” (Notepad) </a:t>
            </a:r>
          </a:p>
        </p:txBody>
      </p:sp>
      <p:graphicFrame>
        <p:nvGraphicFramePr>
          <p:cNvPr id="13" name="Table 12">
            <a:extLst>
              <a:ext uri="{FF2B5EF4-FFF2-40B4-BE49-F238E27FC236}">
                <a16:creationId xmlns:a16="http://schemas.microsoft.com/office/drawing/2014/main" id="{F1E7AB81-B232-2CB2-7BEB-98B2E6C295EA}"/>
              </a:ext>
            </a:extLst>
          </p:cNvPr>
          <p:cNvGraphicFramePr>
            <a:graphicFrameLocks noGrp="1"/>
          </p:cNvGraphicFramePr>
          <p:nvPr>
            <p:extLst>
              <p:ext uri="{D42A27DB-BD31-4B8C-83A1-F6EECF244321}">
                <p14:modId xmlns:p14="http://schemas.microsoft.com/office/powerpoint/2010/main" val="1196915836"/>
              </p:ext>
            </p:extLst>
          </p:nvPr>
        </p:nvGraphicFramePr>
        <p:xfrm>
          <a:off x="5276849" y="1444975"/>
          <a:ext cx="1000443" cy="3053011"/>
        </p:xfrm>
        <a:graphic>
          <a:graphicData uri="http://schemas.openxmlformats.org/drawingml/2006/table">
            <a:tbl>
              <a:tblPr firstRow="1" bandRow="1">
                <a:tableStyleId>{5940675A-B579-460E-94D1-54222C63F5DA}</a:tableStyleId>
              </a:tblPr>
              <a:tblGrid>
                <a:gridCol w="1000443">
                  <a:extLst>
                    <a:ext uri="{9D8B030D-6E8A-4147-A177-3AD203B41FA5}">
                      <a16:colId xmlns:a16="http://schemas.microsoft.com/office/drawing/2014/main" val="2168637199"/>
                    </a:ext>
                  </a:extLst>
                </a:gridCol>
              </a:tblGrid>
              <a:tr h="767011">
                <a:tc>
                  <a:txBody>
                    <a:bodyPr/>
                    <a:lstStyle/>
                    <a:p>
                      <a:pPr algn="ctr"/>
                      <a:r>
                        <a:rPr lang="en-NP" sz="4000" b="1" dirty="0"/>
                        <a:t>i</a:t>
                      </a:r>
                    </a:p>
                  </a:txBody>
                  <a:tcPr/>
                </a:tc>
                <a:extLst>
                  <a:ext uri="{0D108BD9-81ED-4DB2-BD59-A6C34878D82A}">
                    <a16:rowId xmlns:a16="http://schemas.microsoft.com/office/drawing/2014/main" val="2768611096"/>
                  </a:ext>
                </a:extLst>
              </a:tr>
              <a:tr h="2205943">
                <a:tc>
                  <a:txBody>
                    <a:bodyPr/>
                    <a:lstStyle/>
                    <a:p>
                      <a:pPr algn="ctr"/>
                      <a:r>
                        <a:rPr lang="en-NP" sz="2400" b="1" strike="sngStrike" dirty="0"/>
                        <a:t>1</a:t>
                      </a:r>
                    </a:p>
                    <a:p>
                      <a:pPr algn="ctr"/>
                      <a:r>
                        <a:rPr lang="en-NP" sz="2400" b="1" strike="sngStrike" dirty="0"/>
                        <a:t>2</a:t>
                      </a:r>
                      <a:endParaRPr lang="en-US" sz="2400" b="1" strike="sngStrike" dirty="0"/>
                    </a:p>
                    <a:p>
                      <a:pPr algn="ctr"/>
                      <a:r>
                        <a:rPr lang="en-NP" sz="2400" b="1" strike="sngStrike" dirty="0"/>
                        <a:t>3</a:t>
                      </a:r>
                    </a:p>
                    <a:p>
                      <a:pPr algn="ctr"/>
                      <a:r>
                        <a:rPr lang="en-NP" sz="2400" b="1" strike="noStrike" dirty="0"/>
                        <a:t>.</a:t>
                      </a:r>
                    </a:p>
                    <a:p>
                      <a:pPr algn="ctr"/>
                      <a:r>
                        <a:rPr lang="en-NP" sz="2400" b="1" strike="noStrike" dirty="0"/>
                        <a:t>.</a:t>
                      </a:r>
                    </a:p>
                    <a:p>
                      <a:pPr algn="ctr"/>
                      <a:r>
                        <a:rPr lang="en-NP" sz="2400" b="1" strike="noStrike" dirty="0"/>
                        <a:t>10</a:t>
                      </a:r>
                    </a:p>
                  </a:txBody>
                  <a:tcPr/>
                </a:tc>
                <a:extLst>
                  <a:ext uri="{0D108BD9-81ED-4DB2-BD59-A6C34878D82A}">
                    <a16:rowId xmlns:a16="http://schemas.microsoft.com/office/drawing/2014/main" val="466307885"/>
                  </a:ext>
                </a:extLst>
              </a:tr>
            </a:tbl>
          </a:graphicData>
        </a:graphic>
      </p:graphicFrame>
      <p:sp>
        <p:nvSpPr>
          <p:cNvPr id="14" name="TextBox 13">
            <a:extLst>
              <a:ext uri="{FF2B5EF4-FFF2-40B4-BE49-F238E27FC236}">
                <a16:creationId xmlns:a16="http://schemas.microsoft.com/office/drawing/2014/main" id="{4E38FCFB-BCEF-42FD-E136-C1DD0C780D1E}"/>
              </a:ext>
            </a:extLst>
          </p:cNvPr>
          <p:cNvSpPr txBox="1"/>
          <p:nvPr/>
        </p:nvSpPr>
        <p:spPr>
          <a:xfrm>
            <a:off x="5044512" y="1011093"/>
            <a:ext cx="1276352" cy="369332"/>
          </a:xfrm>
          <a:prstGeom prst="rect">
            <a:avLst/>
          </a:prstGeom>
          <a:noFill/>
        </p:spPr>
        <p:txBody>
          <a:bodyPr wrap="square" rtlCol="0">
            <a:spAutoFit/>
          </a:bodyPr>
          <a:lstStyle/>
          <a:p>
            <a:r>
              <a:rPr lang="en-NP" dirty="0"/>
              <a:t>    Memory</a:t>
            </a:r>
          </a:p>
        </p:txBody>
      </p:sp>
      <p:sp>
        <p:nvSpPr>
          <p:cNvPr id="22" name="Right Arrow 21">
            <a:extLst>
              <a:ext uri="{FF2B5EF4-FFF2-40B4-BE49-F238E27FC236}">
                <a16:creationId xmlns:a16="http://schemas.microsoft.com/office/drawing/2014/main" id="{31C371BA-4785-919E-8D82-20CD3A4F40E5}"/>
              </a:ext>
            </a:extLst>
          </p:cNvPr>
          <p:cNvSpPr/>
          <p:nvPr/>
        </p:nvSpPr>
        <p:spPr>
          <a:xfrm>
            <a:off x="6320864" y="3020292"/>
            <a:ext cx="1198137" cy="191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3" name="TextBox 22">
            <a:extLst>
              <a:ext uri="{FF2B5EF4-FFF2-40B4-BE49-F238E27FC236}">
                <a16:creationId xmlns:a16="http://schemas.microsoft.com/office/drawing/2014/main" id="{5F775EB9-C255-51A9-89E8-EABED459B749}"/>
              </a:ext>
            </a:extLst>
          </p:cNvPr>
          <p:cNvSpPr txBox="1"/>
          <p:nvPr/>
        </p:nvSpPr>
        <p:spPr>
          <a:xfrm>
            <a:off x="6402258" y="2650959"/>
            <a:ext cx="1357746" cy="369332"/>
          </a:xfrm>
          <a:prstGeom prst="rect">
            <a:avLst/>
          </a:prstGeom>
          <a:noFill/>
        </p:spPr>
        <p:txBody>
          <a:bodyPr wrap="square" rtlCol="0">
            <a:spAutoFit/>
          </a:bodyPr>
          <a:lstStyle/>
          <a:p>
            <a:r>
              <a:rPr lang="en-US" b="1" dirty="0" err="1">
                <a:highlight>
                  <a:srgbClr val="FFFF00"/>
                </a:highlight>
              </a:rPr>
              <a:t>putw</a:t>
            </a:r>
            <a:r>
              <a:rPr lang="en-NP" b="1" dirty="0">
                <a:highlight>
                  <a:srgbClr val="FFFF00"/>
                </a:highlight>
              </a:rPr>
              <a:t>()</a:t>
            </a:r>
          </a:p>
        </p:txBody>
      </p:sp>
      <p:sp>
        <p:nvSpPr>
          <p:cNvPr id="24" name="TextBox 23">
            <a:extLst>
              <a:ext uri="{FF2B5EF4-FFF2-40B4-BE49-F238E27FC236}">
                <a16:creationId xmlns:a16="http://schemas.microsoft.com/office/drawing/2014/main" id="{19E647B2-1216-05E3-D605-B7B2768931A1}"/>
              </a:ext>
            </a:extLst>
          </p:cNvPr>
          <p:cNvSpPr txBox="1"/>
          <p:nvPr/>
        </p:nvSpPr>
        <p:spPr>
          <a:xfrm>
            <a:off x="6785261" y="246758"/>
            <a:ext cx="4753843" cy="923330"/>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putw</a:t>
            </a:r>
            <a:r>
              <a:rPr lang="en-NP" dirty="0">
                <a:highlight>
                  <a:srgbClr val="FFFF00"/>
                </a:highlight>
              </a:rPr>
              <a:t>() function is used to write single integer to the file named “num.txt” from memory</a:t>
            </a:r>
          </a:p>
        </p:txBody>
      </p:sp>
      <p:sp>
        <p:nvSpPr>
          <p:cNvPr id="27" name="Right Arrow 26">
            <a:extLst>
              <a:ext uri="{FF2B5EF4-FFF2-40B4-BE49-F238E27FC236}">
                <a16:creationId xmlns:a16="http://schemas.microsoft.com/office/drawing/2014/main" id="{C9988474-0883-B587-6CEC-8FADA2B32499}"/>
              </a:ext>
            </a:extLst>
          </p:cNvPr>
          <p:cNvSpPr/>
          <p:nvPr/>
        </p:nvSpPr>
        <p:spPr>
          <a:xfrm rot="10800000">
            <a:off x="6277292" y="3604429"/>
            <a:ext cx="1256114" cy="19165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7BA9C660-DF6A-F2A0-F872-F723E5369A8F}"/>
              </a:ext>
            </a:extLst>
          </p:cNvPr>
          <p:cNvSpPr txBox="1"/>
          <p:nvPr/>
        </p:nvSpPr>
        <p:spPr>
          <a:xfrm>
            <a:off x="6556117" y="3870737"/>
            <a:ext cx="1357746" cy="369332"/>
          </a:xfrm>
          <a:prstGeom prst="rect">
            <a:avLst/>
          </a:prstGeom>
          <a:noFill/>
        </p:spPr>
        <p:txBody>
          <a:bodyPr wrap="square" rtlCol="0">
            <a:spAutoFit/>
          </a:bodyPr>
          <a:lstStyle/>
          <a:p>
            <a:r>
              <a:rPr lang="en-US" b="1" dirty="0" err="1">
                <a:highlight>
                  <a:srgbClr val="FFFF00"/>
                </a:highlight>
              </a:rPr>
              <a:t>getw</a:t>
            </a:r>
            <a:r>
              <a:rPr lang="en-NP" b="1" dirty="0">
                <a:highlight>
                  <a:srgbClr val="FFFF00"/>
                </a:highlight>
              </a:rPr>
              <a:t>()</a:t>
            </a:r>
          </a:p>
        </p:txBody>
      </p:sp>
      <p:sp>
        <p:nvSpPr>
          <p:cNvPr id="30" name="Right Arrow 29">
            <a:extLst>
              <a:ext uri="{FF2B5EF4-FFF2-40B4-BE49-F238E27FC236}">
                <a16:creationId xmlns:a16="http://schemas.microsoft.com/office/drawing/2014/main" id="{E5CC0EBE-A4E1-4C09-B224-1C0BEF723EA3}"/>
              </a:ext>
            </a:extLst>
          </p:cNvPr>
          <p:cNvSpPr/>
          <p:nvPr/>
        </p:nvSpPr>
        <p:spPr>
          <a:xfrm rot="10800000">
            <a:off x="3592946" y="3604430"/>
            <a:ext cx="1683903" cy="1916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AE6F9D14-CC00-2918-AAD9-43E61F760487}"/>
              </a:ext>
            </a:extLst>
          </p:cNvPr>
          <p:cNvSpPr txBox="1"/>
          <p:nvPr/>
        </p:nvSpPr>
        <p:spPr>
          <a:xfrm>
            <a:off x="4035140" y="3870739"/>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C65B4BFB-A1C5-DD2E-9257-DD73D9C03DEC}"/>
              </a:ext>
            </a:extLst>
          </p:cNvPr>
          <p:cNvSpPr/>
          <p:nvPr/>
        </p:nvSpPr>
        <p:spPr>
          <a:xfrm>
            <a:off x="878484" y="5687912"/>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7EE822AE-1A96-12D7-3376-FD96ED3909CB}"/>
              </a:ext>
            </a:extLst>
          </p:cNvPr>
          <p:cNvSpPr txBox="1"/>
          <p:nvPr/>
        </p:nvSpPr>
        <p:spPr>
          <a:xfrm>
            <a:off x="908794" y="5865987"/>
            <a:ext cx="4475018"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printf</a:t>
            </a:r>
            <a:r>
              <a:rPr lang="en-NP" dirty="0">
                <a:highlight>
                  <a:srgbClr val="FFFF00"/>
                </a:highlight>
              </a:rPr>
              <a:t>() function is used to  display data from Memory</a:t>
            </a:r>
          </a:p>
        </p:txBody>
      </p:sp>
      <p:sp>
        <p:nvSpPr>
          <p:cNvPr id="34" name="Rectangle 33">
            <a:extLst>
              <a:ext uri="{FF2B5EF4-FFF2-40B4-BE49-F238E27FC236}">
                <a16:creationId xmlns:a16="http://schemas.microsoft.com/office/drawing/2014/main" id="{9467FABD-6C69-321D-2686-09FA563AEF24}"/>
              </a:ext>
            </a:extLst>
          </p:cNvPr>
          <p:cNvSpPr/>
          <p:nvPr/>
        </p:nvSpPr>
        <p:spPr>
          <a:xfrm>
            <a:off x="6442363" y="5718341"/>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B14E09C-A5C7-84B8-11BF-2448FA8615CC}"/>
              </a:ext>
            </a:extLst>
          </p:cNvPr>
          <p:cNvSpPr txBox="1"/>
          <p:nvPr/>
        </p:nvSpPr>
        <p:spPr>
          <a:xfrm>
            <a:off x="6553200" y="5741677"/>
            <a:ext cx="4475018" cy="923330"/>
          </a:xfrm>
          <a:prstGeom prst="rect">
            <a:avLst/>
          </a:prstGeom>
          <a:noFill/>
        </p:spPr>
        <p:txBody>
          <a:bodyPr wrap="square" rtlCol="0">
            <a:spAutoFit/>
          </a:bodyPr>
          <a:lstStyle/>
          <a:p>
            <a:r>
              <a:rPr lang="en-US" dirty="0">
                <a:highlight>
                  <a:srgbClr val="FFFF00"/>
                </a:highlight>
              </a:rPr>
              <a:t>Note: </a:t>
            </a:r>
            <a:r>
              <a:rPr lang="en-NP" dirty="0">
                <a:highlight>
                  <a:srgbClr val="FFFF00"/>
                </a:highlight>
              </a:rPr>
              <a:t>getw() function is used to store /input  single integer to memory from datafile “num.txt”</a:t>
            </a:r>
          </a:p>
        </p:txBody>
      </p:sp>
      <p:pic>
        <p:nvPicPr>
          <p:cNvPr id="2" name="Picture 1">
            <a:extLst>
              <a:ext uri="{FF2B5EF4-FFF2-40B4-BE49-F238E27FC236}">
                <a16:creationId xmlns:a16="http://schemas.microsoft.com/office/drawing/2014/main" id="{55E68102-0054-0228-DD35-09A649E83A20}"/>
              </a:ext>
            </a:extLst>
          </p:cNvPr>
          <p:cNvPicPr>
            <a:picLocks noChangeAspect="1"/>
          </p:cNvPicPr>
          <p:nvPr/>
        </p:nvPicPr>
        <p:blipFill>
          <a:blip r:embed="rId2"/>
          <a:stretch>
            <a:fillRect/>
          </a:stretch>
        </p:blipFill>
        <p:spPr>
          <a:xfrm>
            <a:off x="360218" y="1860732"/>
            <a:ext cx="3227559" cy="3657842"/>
          </a:xfrm>
          <a:prstGeom prst="rect">
            <a:avLst/>
          </a:prstGeom>
        </p:spPr>
      </p:pic>
      <p:pic>
        <p:nvPicPr>
          <p:cNvPr id="4" name="Picture 3">
            <a:extLst>
              <a:ext uri="{FF2B5EF4-FFF2-40B4-BE49-F238E27FC236}">
                <a16:creationId xmlns:a16="http://schemas.microsoft.com/office/drawing/2014/main" id="{800AEFF9-1884-96C0-F3E8-B042808FE10F}"/>
              </a:ext>
            </a:extLst>
          </p:cNvPr>
          <p:cNvPicPr>
            <a:picLocks noChangeAspect="1"/>
          </p:cNvPicPr>
          <p:nvPr/>
        </p:nvPicPr>
        <p:blipFill>
          <a:blip r:embed="rId3"/>
          <a:stretch>
            <a:fillRect/>
          </a:stretch>
        </p:blipFill>
        <p:spPr>
          <a:xfrm>
            <a:off x="7562573" y="2030070"/>
            <a:ext cx="3812009" cy="3657842"/>
          </a:xfrm>
          <a:prstGeom prst="rect">
            <a:avLst/>
          </a:prstGeom>
        </p:spPr>
      </p:pic>
    </p:spTree>
    <p:extLst>
      <p:ext uri="{BB962C8B-B14F-4D97-AF65-F5344CB8AC3E}">
        <p14:creationId xmlns:p14="http://schemas.microsoft.com/office/powerpoint/2010/main" val="8918852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4F928-4888-6939-C21C-1869BC81F7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80193-3F1E-75CF-D938-B9210F508B87}"/>
              </a:ext>
            </a:extLst>
          </p:cNvPr>
          <p:cNvSpPr>
            <a:spLocks noGrp="1"/>
          </p:cNvSpPr>
          <p:nvPr>
            <p:ph idx="1"/>
          </p:nvPr>
        </p:nvSpPr>
        <p:spPr>
          <a:xfrm>
            <a:off x="152400" y="1276712"/>
            <a:ext cx="5943591" cy="5567433"/>
          </a:xfrm>
        </p:spPr>
        <p:txBody>
          <a:bodyPr>
            <a:noAutofit/>
          </a:bodyPr>
          <a:lstStyle/>
          <a:p>
            <a:pPr marL="0" indent="0">
              <a:spcBef>
                <a:spcPts val="0"/>
              </a:spcBef>
              <a:buNone/>
            </a:pPr>
            <a:r>
              <a:rPr lang="en-US" sz="2400" b="1" dirty="0"/>
              <a:t>#include &lt;</a:t>
            </a:r>
            <a:r>
              <a:rPr lang="en-US" sz="2400" b="1" dirty="0" err="1"/>
              <a:t>stdio.h</a:t>
            </a:r>
            <a:r>
              <a:rPr lang="en-US" sz="2400" b="1" dirty="0"/>
              <a:t>&gt; </a:t>
            </a:r>
          </a:p>
          <a:p>
            <a:pPr marL="0" indent="0">
              <a:spcBef>
                <a:spcPts val="0"/>
              </a:spcBef>
              <a:buNone/>
            </a:pPr>
            <a:r>
              <a:rPr lang="en-US" sz="2400" b="1" dirty="0"/>
              <a:t>int main() </a:t>
            </a:r>
          </a:p>
          <a:p>
            <a:pPr marL="0" indent="0">
              <a:spcBef>
                <a:spcPts val="0"/>
              </a:spcBef>
              <a:buNone/>
            </a:pPr>
            <a:r>
              <a:rPr lang="en-US" sz="2400" b="1" dirty="0"/>
              <a:t>{ </a:t>
            </a:r>
          </a:p>
          <a:p>
            <a:pPr marL="0" indent="0">
              <a:spcBef>
                <a:spcPts val="0"/>
              </a:spcBef>
              <a:buNone/>
            </a:pPr>
            <a:r>
              <a:rPr lang="en-US" sz="2400" b="1" dirty="0"/>
              <a:t>FILE *</a:t>
            </a:r>
            <a:r>
              <a:rPr lang="en-US" sz="2400" b="1" dirty="0" err="1"/>
              <a:t>fp</a:t>
            </a:r>
            <a:r>
              <a:rPr lang="en-US" sz="2400" b="1" dirty="0"/>
              <a:t>; </a:t>
            </a:r>
          </a:p>
          <a:p>
            <a:pPr marL="0" indent="0">
              <a:spcBef>
                <a:spcPts val="0"/>
              </a:spcBef>
              <a:buNone/>
            </a:pPr>
            <a:r>
              <a:rPr lang="en-US" sz="2400" b="1" dirty="0"/>
              <a:t>int id; </a:t>
            </a:r>
          </a:p>
          <a:p>
            <a:pPr marL="0" indent="0">
              <a:spcBef>
                <a:spcPts val="0"/>
              </a:spcBef>
              <a:buNone/>
            </a:pPr>
            <a:r>
              <a:rPr lang="en-US" sz="2400" b="1" dirty="0"/>
              <a:t>char name[30]; </a:t>
            </a:r>
          </a:p>
          <a:p>
            <a:pPr marL="0" indent="0">
              <a:spcBef>
                <a:spcPts val="0"/>
              </a:spcBef>
              <a:buNone/>
            </a:pPr>
            <a:r>
              <a:rPr lang="en-US" sz="2400" b="1" dirty="0"/>
              <a:t>float salary; </a:t>
            </a:r>
          </a:p>
          <a:p>
            <a:pPr marL="0" indent="0">
              <a:spcBef>
                <a:spcPts val="0"/>
              </a:spcBef>
              <a:buNone/>
            </a:pPr>
            <a:r>
              <a:rPr lang="en-US" sz="2400" b="1" dirty="0" err="1"/>
              <a:t>fp</a:t>
            </a:r>
            <a:r>
              <a:rPr lang="en-US" sz="2400" b="1" dirty="0"/>
              <a:t> = </a:t>
            </a:r>
            <a:r>
              <a:rPr lang="en-US" sz="2400" b="1" dirty="0" err="1"/>
              <a:t>fopen</a:t>
            </a:r>
            <a:r>
              <a:rPr lang="en-US" sz="2400" b="1" dirty="0"/>
              <a:t>("</a:t>
            </a:r>
            <a:r>
              <a:rPr lang="en-US" sz="2400" b="1" dirty="0" err="1"/>
              <a:t>emp.txt</a:t>
            </a:r>
            <a:r>
              <a:rPr lang="en-US" sz="2400" b="1" dirty="0"/>
              <a:t>", "w");    </a:t>
            </a:r>
            <a:r>
              <a:rPr lang="en-US" sz="1800" b="1" i="1" dirty="0">
                <a:highlight>
                  <a:srgbClr val="FFFF00"/>
                </a:highlight>
              </a:rPr>
              <a:t>//open for writing </a:t>
            </a:r>
          </a:p>
          <a:p>
            <a:pPr marL="0" indent="0">
              <a:spcBef>
                <a:spcPts val="0"/>
              </a:spcBef>
              <a:buNone/>
            </a:pPr>
            <a:r>
              <a:rPr lang="en-US" sz="2400" b="1" dirty="0"/>
              <a:t>if (</a:t>
            </a:r>
            <a:r>
              <a:rPr lang="en-US" sz="2400" b="1" dirty="0" err="1"/>
              <a:t>fp</a:t>
            </a:r>
            <a:r>
              <a:rPr lang="en-US" sz="2400" b="1" dirty="0"/>
              <a:t> == NULL) {</a:t>
            </a:r>
          </a:p>
          <a:p>
            <a:pPr marL="0" indent="0">
              <a:spcBef>
                <a:spcPts val="0"/>
              </a:spcBef>
              <a:buNone/>
            </a:pPr>
            <a:r>
              <a:rPr lang="en-US" sz="2400" b="1" dirty="0" err="1"/>
              <a:t>printf</a:t>
            </a:r>
            <a:r>
              <a:rPr lang="en-US" sz="2400" b="1" dirty="0"/>
              <a:t>("Error opening file for writing.\n");</a:t>
            </a:r>
          </a:p>
          <a:p>
            <a:pPr marL="0" indent="0">
              <a:spcBef>
                <a:spcPts val="0"/>
              </a:spcBef>
              <a:buNone/>
            </a:pPr>
            <a:r>
              <a:rPr lang="en-US" sz="2400" b="1" dirty="0"/>
              <a:t>return 0;</a:t>
            </a:r>
          </a:p>
          <a:p>
            <a:pPr marL="0" indent="0">
              <a:spcBef>
                <a:spcPts val="0"/>
              </a:spcBef>
              <a:buNone/>
            </a:pPr>
            <a:r>
              <a:rPr lang="en-US" sz="2400" b="1" dirty="0"/>
              <a:t>}</a:t>
            </a:r>
            <a:endParaRPr lang="en-US" sz="2400" b="1" i="1" dirty="0">
              <a:highlight>
                <a:srgbClr val="FFFF00"/>
              </a:highlight>
            </a:endParaRPr>
          </a:p>
          <a:p>
            <a:pPr marL="0" indent="0">
              <a:spcBef>
                <a:spcPts val="0"/>
              </a:spcBef>
              <a:buNone/>
            </a:pPr>
            <a:r>
              <a:rPr lang="en-US" sz="2400" b="1" dirty="0" err="1"/>
              <a:t>printf</a:t>
            </a:r>
            <a:r>
              <a:rPr lang="en-US" sz="2400" b="1" dirty="0"/>
              <a:t>("Enter the id, Name and Salary \n"); </a:t>
            </a:r>
          </a:p>
          <a:p>
            <a:pPr marL="0" indent="0">
              <a:spcBef>
                <a:spcPts val="0"/>
              </a:spcBef>
              <a:buNone/>
            </a:pPr>
            <a:r>
              <a:rPr lang="en-US" sz="2400" b="1" dirty="0" err="1"/>
              <a:t>scanf</a:t>
            </a:r>
            <a:r>
              <a:rPr lang="en-US" sz="2400" b="1" dirty="0"/>
              <a:t>("%d %s %f", &amp;id, name, &amp;salary); </a:t>
            </a:r>
          </a:p>
          <a:p>
            <a:pPr marL="0" indent="0">
              <a:spcBef>
                <a:spcPts val="0"/>
              </a:spcBef>
              <a:buNone/>
            </a:pPr>
            <a:r>
              <a:rPr lang="en-US" sz="2400" b="1" dirty="0" err="1"/>
              <a:t>fprintf</a:t>
            </a:r>
            <a:r>
              <a:rPr lang="en-US" sz="2400" b="1" dirty="0"/>
              <a:t>(</a:t>
            </a:r>
            <a:r>
              <a:rPr lang="en-US" sz="2400" b="1" dirty="0" err="1"/>
              <a:t>fp</a:t>
            </a:r>
            <a:r>
              <a:rPr lang="en-US" sz="2400" b="1" dirty="0"/>
              <a:t>, "%d %s %f", id, name, salary); </a:t>
            </a:r>
          </a:p>
          <a:p>
            <a:pPr marL="0" indent="0">
              <a:spcBef>
                <a:spcPts val="0"/>
              </a:spcBef>
              <a:buNone/>
            </a:pPr>
            <a:r>
              <a:rPr lang="en-US" sz="2400" b="1" dirty="0" err="1"/>
              <a:t>fclose</a:t>
            </a:r>
            <a:r>
              <a:rPr lang="en-US" sz="2400" b="1" dirty="0"/>
              <a:t>(</a:t>
            </a:r>
            <a:r>
              <a:rPr lang="en-US" sz="2400" b="1" dirty="0" err="1"/>
              <a:t>fp</a:t>
            </a:r>
            <a:r>
              <a:rPr lang="en-US" sz="2400" b="1" dirty="0"/>
              <a:t>); </a:t>
            </a:r>
          </a:p>
        </p:txBody>
      </p:sp>
      <p:sp>
        <p:nvSpPr>
          <p:cNvPr id="8" name="Content Placeholder 2">
            <a:extLst>
              <a:ext uri="{FF2B5EF4-FFF2-40B4-BE49-F238E27FC236}">
                <a16:creationId xmlns:a16="http://schemas.microsoft.com/office/drawing/2014/main" id="{E3A98B48-18F6-E511-45A1-23254FC4A6F5}"/>
              </a:ext>
            </a:extLst>
          </p:cNvPr>
          <p:cNvSpPr txBox="1">
            <a:spLocks/>
          </p:cNvSpPr>
          <p:nvPr/>
        </p:nvSpPr>
        <p:spPr>
          <a:xfrm>
            <a:off x="6220691" y="692728"/>
            <a:ext cx="5597239" cy="537556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p>
          <a:p>
            <a:pPr marL="0" indent="0">
              <a:buNone/>
            </a:pPr>
            <a:endParaRPr lang="en-US" sz="2400" dirty="0"/>
          </a:p>
          <a:p>
            <a:pPr marL="0" indent="0">
              <a:buNone/>
            </a:pPr>
            <a:r>
              <a:rPr lang="en-US" sz="2600" b="1" dirty="0" err="1"/>
              <a:t>fp</a:t>
            </a:r>
            <a:r>
              <a:rPr lang="en-US" sz="2600" b="1" dirty="0"/>
              <a:t> = </a:t>
            </a:r>
            <a:r>
              <a:rPr lang="en-US" sz="2600" b="1" dirty="0" err="1"/>
              <a:t>fopen</a:t>
            </a:r>
            <a:r>
              <a:rPr lang="en-US" sz="2600" b="1" dirty="0"/>
              <a:t>("</a:t>
            </a:r>
            <a:r>
              <a:rPr lang="en-US" sz="2600" b="1" dirty="0" err="1"/>
              <a:t>emp.txt</a:t>
            </a:r>
            <a:r>
              <a:rPr lang="en-US" sz="2600" b="1" dirty="0"/>
              <a:t>", "r"); </a:t>
            </a:r>
            <a:r>
              <a:rPr lang="en-US" sz="1700" b="1" dirty="0">
                <a:highlight>
                  <a:srgbClr val="FFFF00"/>
                </a:highlight>
              </a:rPr>
              <a:t>//open for reading</a:t>
            </a:r>
          </a:p>
          <a:p>
            <a:pPr marL="0" indent="0">
              <a:spcBef>
                <a:spcPts val="0"/>
              </a:spcBef>
              <a:buNone/>
            </a:pPr>
            <a:r>
              <a:rPr lang="en-US" sz="2600" b="1" dirty="0"/>
              <a:t>if (</a:t>
            </a:r>
            <a:r>
              <a:rPr lang="en-US" sz="2600" b="1" dirty="0" err="1"/>
              <a:t>fp</a:t>
            </a:r>
            <a:r>
              <a:rPr lang="en-US" sz="2600" b="1" dirty="0"/>
              <a:t> == NULL) {</a:t>
            </a:r>
          </a:p>
          <a:p>
            <a:pPr marL="0" indent="0">
              <a:spcBef>
                <a:spcPts val="0"/>
              </a:spcBef>
              <a:buNone/>
            </a:pPr>
            <a:r>
              <a:rPr lang="en-US" sz="2600" b="1" dirty="0" err="1"/>
              <a:t>printf</a:t>
            </a:r>
            <a:r>
              <a:rPr lang="en-US" sz="2600" b="1" dirty="0"/>
              <a:t>("Error opening file for writing.\n");</a:t>
            </a:r>
          </a:p>
          <a:p>
            <a:pPr marL="0" indent="0">
              <a:spcBef>
                <a:spcPts val="0"/>
              </a:spcBef>
              <a:buNone/>
            </a:pPr>
            <a:r>
              <a:rPr lang="en-US" sz="2600" b="1" dirty="0"/>
              <a:t>return 0;</a:t>
            </a:r>
          </a:p>
          <a:p>
            <a:pPr marL="0" indent="0">
              <a:spcBef>
                <a:spcPts val="0"/>
              </a:spcBef>
              <a:buNone/>
            </a:pPr>
            <a:r>
              <a:rPr lang="en-US" sz="2600" b="1" dirty="0"/>
              <a:t>}</a:t>
            </a:r>
            <a:endParaRPr lang="en-US" sz="2600" b="1" dirty="0">
              <a:highlight>
                <a:srgbClr val="FFFF00"/>
              </a:highlight>
            </a:endParaRPr>
          </a:p>
          <a:p>
            <a:pPr marL="0" indent="0">
              <a:buNone/>
            </a:pPr>
            <a:r>
              <a:rPr lang="en-US" sz="2600" b="1" dirty="0" err="1"/>
              <a:t>fscanf</a:t>
            </a:r>
            <a:r>
              <a:rPr lang="en-US" sz="2600" b="1" dirty="0"/>
              <a:t>(</a:t>
            </a:r>
            <a:r>
              <a:rPr lang="en-US" sz="2600" b="1" dirty="0" err="1"/>
              <a:t>fp</a:t>
            </a:r>
            <a:r>
              <a:rPr lang="en-US" sz="2600" b="1" dirty="0"/>
              <a:t>, "%d %s %f", &amp;id, name, &amp;salary); </a:t>
            </a:r>
          </a:p>
          <a:p>
            <a:pPr marL="0" indent="0">
              <a:buNone/>
            </a:pPr>
            <a:r>
              <a:rPr lang="en-US" sz="2600" b="1" dirty="0" err="1"/>
              <a:t>printf</a:t>
            </a:r>
            <a:r>
              <a:rPr lang="en-US" sz="2600" b="1" dirty="0"/>
              <a:t>("Id: \t Name \t Salary \n"); </a:t>
            </a:r>
          </a:p>
          <a:p>
            <a:pPr marL="0" indent="0">
              <a:buNone/>
            </a:pPr>
            <a:r>
              <a:rPr lang="en-US" sz="2600" b="1" dirty="0" err="1"/>
              <a:t>printf</a:t>
            </a:r>
            <a:r>
              <a:rPr lang="en-US" sz="2600" b="1" dirty="0"/>
              <a:t>("%d \t %s \t %f ", id, name, salary); </a:t>
            </a:r>
          </a:p>
          <a:p>
            <a:pPr marL="0" indent="0">
              <a:buNone/>
            </a:pPr>
            <a:r>
              <a:rPr lang="en-US" sz="2600" b="1" dirty="0" err="1"/>
              <a:t>fclose</a:t>
            </a:r>
            <a:r>
              <a:rPr lang="en-US" sz="2600" b="1" dirty="0"/>
              <a:t>(</a:t>
            </a:r>
            <a:r>
              <a:rPr lang="en-US" sz="2600" b="1" dirty="0" err="1"/>
              <a:t>fp</a:t>
            </a:r>
            <a:r>
              <a:rPr lang="en-US" sz="2600" b="1" dirty="0"/>
              <a:t>); </a:t>
            </a:r>
          </a:p>
          <a:p>
            <a:pPr marL="0" indent="0">
              <a:buNone/>
            </a:pPr>
            <a:r>
              <a:rPr lang="en-US" sz="2600" b="1" dirty="0"/>
              <a:t>return 0;</a:t>
            </a:r>
          </a:p>
          <a:p>
            <a:pPr marL="0" indent="0">
              <a:buNone/>
            </a:pPr>
            <a:r>
              <a:rPr lang="en-US" sz="2600" b="1" dirty="0"/>
              <a:t>} </a:t>
            </a:r>
          </a:p>
          <a:p>
            <a:pPr marL="0" indent="0">
              <a:buNone/>
            </a:pPr>
            <a:br>
              <a:rPr lang="en-US" sz="2600" dirty="0"/>
            </a:br>
            <a:endParaRPr lang="en-US" sz="2600" dirty="0"/>
          </a:p>
        </p:txBody>
      </p:sp>
      <p:cxnSp>
        <p:nvCxnSpPr>
          <p:cNvPr id="12" name="Straight Arrow Connector 11">
            <a:extLst>
              <a:ext uri="{FF2B5EF4-FFF2-40B4-BE49-F238E27FC236}">
                <a16:creationId xmlns:a16="http://schemas.microsoft.com/office/drawing/2014/main" id="{ACCC1F66-3D79-9757-EC10-39F321259D58}"/>
              </a:ext>
            </a:extLst>
          </p:cNvPr>
          <p:cNvCxnSpPr>
            <a:cxnSpLocks/>
          </p:cNvCxnSpPr>
          <p:nvPr/>
        </p:nvCxnSpPr>
        <p:spPr>
          <a:xfrm flipV="1">
            <a:off x="6095991" y="1108364"/>
            <a:ext cx="0" cy="5209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D8ED750-BD46-712A-BDE7-05ED23461538}"/>
              </a:ext>
            </a:extLst>
          </p:cNvPr>
          <p:cNvSpPr txBox="1"/>
          <p:nvPr/>
        </p:nvSpPr>
        <p:spPr>
          <a:xfrm>
            <a:off x="152400" y="117763"/>
            <a:ext cx="11776362" cy="707886"/>
          </a:xfrm>
          <a:prstGeom prst="rect">
            <a:avLst/>
          </a:prstGeom>
          <a:noFill/>
        </p:spPr>
        <p:txBody>
          <a:bodyPr wrap="square" rtlCol="0">
            <a:spAutoFit/>
          </a:bodyPr>
          <a:lstStyle/>
          <a:p>
            <a:r>
              <a:rPr lang="en-US" sz="2000" dirty="0">
                <a:highlight>
                  <a:srgbClr val="FFFF00"/>
                </a:highlight>
              </a:rPr>
              <a:t>3) Write a C program using </a:t>
            </a:r>
            <a:r>
              <a:rPr lang="en-US" sz="2000" b="1" dirty="0" err="1">
                <a:highlight>
                  <a:srgbClr val="FFFF00"/>
                </a:highlight>
              </a:rPr>
              <a:t>fprintf</a:t>
            </a:r>
            <a:r>
              <a:rPr lang="en-US" sz="2000" b="1" dirty="0">
                <a:highlight>
                  <a:srgbClr val="FFFF00"/>
                </a:highlight>
              </a:rPr>
              <a:t>()</a:t>
            </a:r>
            <a:r>
              <a:rPr lang="en-US" sz="2000" dirty="0">
                <a:highlight>
                  <a:srgbClr val="FFFF00"/>
                </a:highlight>
              </a:rPr>
              <a:t> and </a:t>
            </a:r>
            <a:r>
              <a:rPr lang="en-US" sz="2000" b="1" dirty="0" err="1">
                <a:highlight>
                  <a:srgbClr val="FFFF00"/>
                </a:highlight>
              </a:rPr>
              <a:t>fscanf</a:t>
            </a:r>
            <a:r>
              <a:rPr lang="en-US" sz="2000" b="1" dirty="0">
                <a:highlight>
                  <a:srgbClr val="FFFF00"/>
                </a:highlight>
              </a:rPr>
              <a:t>()</a:t>
            </a:r>
            <a:r>
              <a:rPr lang="en-US" sz="2000" dirty="0">
                <a:highlight>
                  <a:srgbClr val="FFFF00"/>
                </a:highlight>
              </a:rPr>
              <a:t> to </a:t>
            </a:r>
            <a:r>
              <a:rPr lang="en-US" sz="2000" b="1" dirty="0">
                <a:highlight>
                  <a:srgbClr val="FFFF00"/>
                </a:highlight>
              </a:rPr>
              <a:t>store and read employee details</a:t>
            </a:r>
            <a:r>
              <a:rPr lang="en-US" sz="2000" dirty="0">
                <a:highlight>
                  <a:srgbClr val="FFFF00"/>
                </a:highlight>
              </a:rPr>
              <a:t> such as </a:t>
            </a:r>
            <a:r>
              <a:rPr lang="en-US" sz="2000" b="1" dirty="0">
                <a:highlight>
                  <a:srgbClr val="FFFF00"/>
                </a:highlight>
              </a:rPr>
              <a:t>ID, Name, and Salary</a:t>
            </a:r>
            <a:r>
              <a:rPr lang="en-US" sz="2000" dirty="0">
                <a:highlight>
                  <a:srgbClr val="FFFF00"/>
                </a:highlight>
              </a:rPr>
              <a:t> in a file named </a:t>
            </a:r>
            <a:r>
              <a:rPr lang="en-US" sz="2000" b="1" dirty="0" err="1">
                <a:highlight>
                  <a:srgbClr val="FFFF00"/>
                </a:highlight>
              </a:rPr>
              <a:t>emp.txt</a:t>
            </a:r>
            <a:r>
              <a:rPr lang="en-US" sz="2000" dirty="0">
                <a:highlight>
                  <a:srgbClr val="FFFF00"/>
                </a:highlight>
              </a:rPr>
              <a:t>, and then </a:t>
            </a:r>
            <a:r>
              <a:rPr lang="en-US" sz="2000" b="1" dirty="0">
                <a:highlight>
                  <a:srgbClr val="FFFF00"/>
                </a:highlight>
              </a:rPr>
              <a:t>display the stored information</a:t>
            </a:r>
            <a:r>
              <a:rPr lang="en-US" sz="2000" dirty="0">
                <a:highlight>
                  <a:srgbClr val="FFFF00"/>
                </a:highlight>
              </a:rPr>
              <a:t> on the screen.</a:t>
            </a:r>
            <a:endParaRPr lang="en-NP" sz="2000" dirty="0">
              <a:highlight>
                <a:srgbClr val="FFFF00"/>
              </a:highlight>
            </a:endParaRPr>
          </a:p>
        </p:txBody>
      </p:sp>
    </p:spTree>
    <p:extLst>
      <p:ext uri="{BB962C8B-B14F-4D97-AF65-F5344CB8AC3E}">
        <p14:creationId xmlns:p14="http://schemas.microsoft.com/office/powerpoint/2010/main" val="21246389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F1E2A-D04B-E647-0910-EA61B64CE4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EFAFAE7-21C8-D55D-123A-1CA8AAF93489}"/>
              </a:ext>
            </a:extLst>
          </p:cNvPr>
          <p:cNvPicPr>
            <a:picLocks noChangeAspect="1"/>
          </p:cNvPicPr>
          <p:nvPr/>
        </p:nvPicPr>
        <p:blipFill>
          <a:blip r:embed="rId2"/>
          <a:stretch>
            <a:fillRect/>
          </a:stretch>
        </p:blipFill>
        <p:spPr>
          <a:xfrm>
            <a:off x="195119" y="1956619"/>
            <a:ext cx="3100785" cy="2449856"/>
          </a:xfrm>
          <a:prstGeom prst="rect">
            <a:avLst/>
          </a:prstGeom>
        </p:spPr>
      </p:pic>
      <p:sp>
        <p:nvSpPr>
          <p:cNvPr id="26" name="Rectangle 25">
            <a:extLst>
              <a:ext uri="{FF2B5EF4-FFF2-40B4-BE49-F238E27FC236}">
                <a16:creationId xmlns:a16="http://schemas.microsoft.com/office/drawing/2014/main" id="{6FA0E957-0EB1-D874-E6AC-B7786532C4D9}"/>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BCCBE798-B506-2C9B-954E-2D476812DCD5}"/>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1BE5C108-4EA3-2936-04CB-06813EE6EA5E}"/>
              </a:ext>
            </a:extLst>
          </p:cNvPr>
          <p:cNvSpPr txBox="1"/>
          <p:nvPr/>
        </p:nvSpPr>
        <p:spPr>
          <a:xfrm>
            <a:off x="947303" y="1527087"/>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9F6B5BF2-C448-6BF9-3AF8-D38DE7996204}"/>
              </a:ext>
            </a:extLst>
          </p:cNvPr>
          <p:cNvSpPr txBox="1"/>
          <p:nvPr/>
        </p:nvSpPr>
        <p:spPr>
          <a:xfrm>
            <a:off x="7955426" y="1629641"/>
            <a:ext cx="3172690" cy="369332"/>
          </a:xfrm>
          <a:prstGeom prst="rect">
            <a:avLst/>
          </a:prstGeom>
          <a:noFill/>
        </p:spPr>
        <p:txBody>
          <a:bodyPr wrap="square" rtlCol="0">
            <a:spAutoFit/>
          </a:bodyPr>
          <a:lstStyle/>
          <a:p>
            <a:r>
              <a:rPr lang="en-US" dirty="0"/>
              <a:t>File name</a:t>
            </a:r>
            <a:r>
              <a:rPr lang="en-NP" dirty="0"/>
              <a:t> “emp.txt” (Notepad) </a:t>
            </a:r>
          </a:p>
        </p:txBody>
      </p:sp>
      <p:sp>
        <p:nvSpPr>
          <p:cNvPr id="14" name="TextBox 13">
            <a:extLst>
              <a:ext uri="{FF2B5EF4-FFF2-40B4-BE49-F238E27FC236}">
                <a16:creationId xmlns:a16="http://schemas.microsoft.com/office/drawing/2014/main" id="{5F13CA45-E48B-A3F1-B2DD-8F72AF6BC948}"/>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B361A724-D01A-8C96-EA2F-9406AB3C8AD5}"/>
              </a:ext>
            </a:extLst>
          </p:cNvPr>
          <p:cNvSpPr/>
          <p:nvPr/>
        </p:nvSpPr>
        <p:spPr>
          <a:xfrm>
            <a:off x="1658318" y="2399437"/>
            <a:ext cx="2615197" cy="302019"/>
          </a:xfrm>
          <a:prstGeom prst="rightArrow">
            <a:avLst/>
          </a:prstGeom>
          <a:ln w="222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6E0F1173-9187-BFA2-A34C-7083DCD1AB89}"/>
              </a:ext>
            </a:extLst>
          </p:cNvPr>
          <p:cNvSpPr txBox="1"/>
          <p:nvPr/>
        </p:nvSpPr>
        <p:spPr>
          <a:xfrm>
            <a:off x="3032961" y="2043460"/>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78D1F56A-B5A9-A4E5-52C2-908602158D7E}"/>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EE28C34E-D466-DB06-7EA4-67FEEDB6D8C1}"/>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fprintf</a:t>
            </a:r>
            <a:r>
              <a:rPr lang="en-NP" b="1" dirty="0">
                <a:highlight>
                  <a:srgbClr val="FFFF00"/>
                </a:highlight>
              </a:rPr>
              <a:t>()</a:t>
            </a:r>
          </a:p>
        </p:txBody>
      </p:sp>
      <p:sp>
        <p:nvSpPr>
          <p:cNvPr id="24" name="TextBox 23">
            <a:extLst>
              <a:ext uri="{FF2B5EF4-FFF2-40B4-BE49-F238E27FC236}">
                <a16:creationId xmlns:a16="http://schemas.microsoft.com/office/drawing/2014/main" id="{E610B640-5E53-4B0C-C37A-325E0A9FCC96}"/>
              </a:ext>
            </a:extLst>
          </p:cNvPr>
          <p:cNvSpPr txBox="1"/>
          <p:nvPr/>
        </p:nvSpPr>
        <p:spPr>
          <a:xfrm>
            <a:off x="7135091" y="492894"/>
            <a:ext cx="4753843"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fprintf</a:t>
            </a:r>
            <a:r>
              <a:rPr lang="en-NP" dirty="0">
                <a:highlight>
                  <a:srgbClr val="FFFF00"/>
                </a:highlight>
              </a:rPr>
              <a:t>() function is used to write data to the file named “emp.txt.txt” from memory.</a:t>
            </a:r>
          </a:p>
        </p:txBody>
      </p:sp>
      <p:sp>
        <p:nvSpPr>
          <p:cNvPr id="27" name="Right Arrow 26">
            <a:extLst>
              <a:ext uri="{FF2B5EF4-FFF2-40B4-BE49-F238E27FC236}">
                <a16:creationId xmlns:a16="http://schemas.microsoft.com/office/drawing/2014/main" id="{B5F3A250-6401-DB44-E1C3-AF93706AF002}"/>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FEDB99FB-BE1B-98E7-83DF-F27A18CB3E77}"/>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fscanf</a:t>
            </a:r>
            <a:r>
              <a:rPr lang="en-NP" b="1" dirty="0">
                <a:highlight>
                  <a:srgbClr val="FFFF00"/>
                </a:highlight>
              </a:rPr>
              <a:t>()</a:t>
            </a:r>
          </a:p>
        </p:txBody>
      </p:sp>
      <p:sp>
        <p:nvSpPr>
          <p:cNvPr id="30" name="Right Arrow 29">
            <a:extLst>
              <a:ext uri="{FF2B5EF4-FFF2-40B4-BE49-F238E27FC236}">
                <a16:creationId xmlns:a16="http://schemas.microsoft.com/office/drawing/2014/main" id="{0ED4E5DF-84FE-1045-E661-1654468D0738}"/>
              </a:ext>
            </a:extLst>
          </p:cNvPr>
          <p:cNvSpPr/>
          <p:nvPr/>
        </p:nvSpPr>
        <p:spPr>
          <a:xfrm rot="10800000">
            <a:off x="3308955" y="3072848"/>
            <a:ext cx="911226" cy="302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FDC8535B-9CA7-C930-E511-08CF5D210010}"/>
              </a:ext>
            </a:extLst>
          </p:cNvPr>
          <p:cNvSpPr txBox="1"/>
          <p:nvPr/>
        </p:nvSpPr>
        <p:spPr>
          <a:xfrm>
            <a:off x="3308955" y="3449265"/>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0556B027-1C98-0766-272F-975F4B9338EC}"/>
              </a:ext>
            </a:extLst>
          </p:cNvPr>
          <p:cNvSpPr/>
          <p:nvPr/>
        </p:nvSpPr>
        <p:spPr>
          <a:xfrm>
            <a:off x="195119" y="485020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5B4C8B2B-D408-3928-FADF-E01C1C4AD0D1}"/>
              </a:ext>
            </a:extLst>
          </p:cNvPr>
          <p:cNvSpPr txBox="1"/>
          <p:nvPr/>
        </p:nvSpPr>
        <p:spPr>
          <a:xfrm>
            <a:off x="195119" y="497621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3A0906A9-B9A5-7C44-710A-21FBF882C8FC}"/>
              </a:ext>
            </a:extLst>
          </p:cNvPr>
          <p:cNvSpPr/>
          <p:nvPr/>
        </p:nvSpPr>
        <p:spPr>
          <a:xfrm>
            <a:off x="6741416" y="475754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16A80D1-E197-9A53-6FD1-DB5F5507EA73}"/>
              </a:ext>
            </a:extLst>
          </p:cNvPr>
          <p:cNvSpPr txBox="1"/>
          <p:nvPr/>
        </p:nvSpPr>
        <p:spPr>
          <a:xfrm>
            <a:off x="6852253" y="4780884"/>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fscanf() function is used to store /input data to memory from datafile “emp.txt”</a:t>
            </a:r>
          </a:p>
        </p:txBody>
      </p:sp>
      <p:pic>
        <p:nvPicPr>
          <p:cNvPr id="5" name="Picture 4">
            <a:extLst>
              <a:ext uri="{FF2B5EF4-FFF2-40B4-BE49-F238E27FC236}">
                <a16:creationId xmlns:a16="http://schemas.microsoft.com/office/drawing/2014/main" id="{194A1E23-409A-B938-7147-D6049882DB44}"/>
              </a:ext>
            </a:extLst>
          </p:cNvPr>
          <p:cNvPicPr>
            <a:picLocks noChangeAspect="1"/>
          </p:cNvPicPr>
          <p:nvPr/>
        </p:nvPicPr>
        <p:blipFill>
          <a:blip r:embed="rId3"/>
          <a:stretch>
            <a:fillRect/>
          </a:stretch>
        </p:blipFill>
        <p:spPr>
          <a:xfrm>
            <a:off x="8588469" y="2132963"/>
            <a:ext cx="3182148" cy="2078897"/>
          </a:xfrm>
          <a:prstGeom prst="rect">
            <a:avLst/>
          </a:prstGeom>
        </p:spPr>
      </p:pic>
      <p:graphicFrame>
        <p:nvGraphicFramePr>
          <p:cNvPr id="6" name="Table 5">
            <a:extLst>
              <a:ext uri="{FF2B5EF4-FFF2-40B4-BE49-F238E27FC236}">
                <a16:creationId xmlns:a16="http://schemas.microsoft.com/office/drawing/2014/main" id="{03807F29-1733-1FE6-2357-61CE0E3ED695}"/>
              </a:ext>
            </a:extLst>
          </p:cNvPr>
          <p:cNvGraphicFramePr>
            <a:graphicFrameLocks noGrp="1"/>
          </p:cNvGraphicFramePr>
          <p:nvPr>
            <p:extLst>
              <p:ext uri="{D42A27DB-BD31-4B8C-83A1-F6EECF244321}">
                <p14:modId xmlns:p14="http://schemas.microsoft.com/office/powerpoint/2010/main" val="1188506552"/>
              </p:ext>
            </p:extLst>
          </p:nvPr>
        </p:nvGraphicFramePr>
        <p:xfrm>
          <a:off x="4286567" y="2199750"/>
          <a:ext cx="3368582" cy="1949878"/>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598868">
                <a:tc>
                  <a:txBody>
                    <a:bodyPr/>
                    <a:lstStyle/>
                    <a:p>
                      <a:r>
                        <a:rPr lang="en-US" sz="2000" b="1" dirty="0" err="1"/>
                        <a:t>i</a:t>
                      </a:r>
                      <a:r>
                        <a:rPr lang="en-NP" sz="2000" b="1" dirty="0"/>
                        <a:t>nt id</a:t>
                      </a:r>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03442">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349727">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581808">
                <a:tc>
                  <a:txBody>
                    <a:bodyPr/>
                    <a:lstStyle/>
                    <a:p>
                      <a:r>
                        <a:rPr lang="en-US" sz="2000" b="1" dirty="0"/>
                        <a:t>S</a:t>
                      </a:r>
                      <a:r>
                        <a:rPr lang="en-NP" sz="2000" b="1" dirty="0"/>
                        <a:t>alary</a:t>
                      </a:r>
                    </a:p>
                  </a:txBody>
                  <a:tcPr/>
                </a:tc>
                <a:tc gridSpan="5">
                  <a:txBody>
                    <a:bodyPr/>
                    <a:lstStyle/>
                    <a:p>
                      <a:r>
                        <a:rPr lang="en-NP" b="1" dirty="0"/>
                        <a:t>2000.00000</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8C717787-8884-D2F4-8197-0FEF1D9EE103}"/>
              </a:ext>
            </a:extLst>
          </p:cNvPr>
          <p:cNvSpPr/>
          <p:nvPr/>
        </p:nvSpPr>
        <p:spPr>
          <a:xfrm>
            <a:off x="7655150" y="2797483"/>
            <a:ext cx="833896" cy="2796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 name="Right Brace 2">
            <a:extLst>
              <a:ext uri="{FF2B5EF4-FFF2-40B4-BE49-F238E27FC236}">
                <a16:creationId xmlns:a16="http://schemas.microsoft.com/office/drawing/2014/main" id="{63C8180E-C76F-D1FA-E4B4-0FB6BE75796E}"/>
              </a:ext>
            </a:extLst>
          </p:cNvPr>
          <p:cNvSpPr/>
          <p:nvPr/>
        </p:nvSpPr>
        <p:spPr>
          <a:xfrm>
            <a:off x="2914649" y="2792525"/>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spTree>
    <p:extLst>
      <p:ext uri="{BB962C8B-B14F-4D97-AF65-F5344CB8AC3E}">
        <p14:creationId xmlns:p14="http://schemas.microsoft.com/office/powerpoint/2010/main" val="14630140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8FB4-131D-7104-10E0-EE646DC928FB}"/>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2CD2355-4EBE-39C4-758C-3E49205C811F}"/>
              </a:ext>
            </a:extLst>
          </p:cNvPr>
          <p:cNvSpPr>
            <a:spLocks noGrp="1"/>
          </p:cNvSpPr>
          <p:nvPr>
            <p:ph idx="1"/>
          </p:nvPr>
        </p:nvSpPr>
        <p:spPr>
          <a:xfrm>
            <a:off x="678871" y="609597"/>
            <a:ext cx="6879217" cy="6248403"/>
          </a:xfrm>
        </p:spPr>
        <p:txBody>
          <a:bodyPr>
            <a:noAutofit/>
          </a:bodyPr>
          <a:lstStyle/>
          <a:p>
            <a:pPr marL="0" indent="0">
              <a:spcBef>
                <a:spcPts val="0"/>
              </a:spcBef>
              <a:buNone/>
            </a:pPr>
            <a:r>
              <a:rPr lang="en-US" sz="1800" b="1" dirty="0"/>
              <a:t>#include &lt;</a:t>
            </a:r>
            <a:r>
              <a:rPr lang="en-US" sz="1800" b="1" dirty="0" err="1"/>
              <a:t>stdio.h</a:t>
            </a:r>
            <a:r>
              <a:rPr lang="en-US" sz="1800" b="1" dirty="0"/>
              <a:t>&gt;</a:t>
            </a:r>
          </a:p>
          <a:p>
            <a:pPr marL="0" indent="0">
              <a:spcBef>
                <a:spcPts val="0"/>
              </a:spcBef>
              <a:buNone/>
            </a:pPr>
            <a:r>
              <a:rPr lang="en-US" sz="1800" b="1" dirty="0"/>
              <a:t>struct student {</a:t>
            </a:r>
          </a:p>
          <a:p>
            <a:pPr marL="0" indent="0">
              <a:spcBef>
                <a:spcPts val="0"/>
              </a:spcBef>
              <a:buNone/>
            </a:pPr>
            <a:r>
              <a:rPr lang="en-US" sz="1800" b="1" dirty="0"/>
              <a:t>    int no, age;</a:t>
            </a:r>
          </a:p>
          <a:p>
            <a:pPr marL="0" indent="0">
              <a:spcBef>
                <a:spcPts val="0"/>
              </a:spcBef>
              <a:buNone/>
            </a:pPr>
            <a:r>
              <a:rPr lang="en-US" sz="1800" b="1" dirty="0"/>
              <a:t>    char name[30];</a:t>
            </a:r>
          </a:p>
          <a:p>
            <a:pPr marL="0" indent="0">
              <a:spcBef>
                <a:spcPts val="0"/>
              </a:spcBef>
              <a:buNone/>
            </a:pPr>
            <a:r>
              <a:rPr lang="en-US" sz="1800" b="1" dirty="0"/>
              <a:t>};</a:t>
            </a:r>
          </a:p>
          <a:p>
            <a:pPr marL="0" indent="0">
              <a:spcBef>
                <a:spcPts val="0"/>
              </a:spcBef>
              <a:buNone/>
            </a:pPr>
            <a:r>
              <a:rPr lang="en-US" sz="1800" b="1" dirty="0"/>
              <a:t>int main() {</a:t>
            </a:r>
          </a:p>
          <a:p>
            <a:pPr marL="0" indent="0">
              <a:spcBef>
                <a:spcPts val="0"/>
              </a:spcBef>
              <a:buNone/>
            </a:pPr>
            <a:r>
              <a:rPr lang="en-US" sz="1800" b="1" dirty="0"/>
              <a:t>    struct student s;</a:t>
            </a:r>
          </a:p>
          <a:p>
            <a:pPr marL="0" indent="0">
              <a:spcBef>
                <a:spcPts val="0"/>
              </a:spcBef>
              <a:buNone/>
            </a:pPr>
            <a:r>
              <a:rPr lang="en-US" sz="1800" b="1" dirty="0"/>
              <a:t>    FILE *</a:t>
            </a:r>
            <a:r>
              <a:rPr lang="en-US" sz="1800" b="1" dirty="0" err="1"/>
              <a:t>fp</a:t>
            </a:r>
            <a:r>
              <a:rPr lang="en-US" sz="1800" b="1" dirty="0"/>
              <a:t>;</a:t>
            </a:r>
          </a:p>
          <a:p>
            <a:pPr marL="0" indent="0">
              <a:spcBef>
                <a:spcPts val="0"/>
              </a:spcBef>
              <a:buNone/>
            </a:pPr>
            <a:r>
              <a:rPr lang="en-US" sz="1800" b="1" dirty="0"/>
              <a:t>    char </a:t>
            </a:r>
            <a:r>
              <a:rPr lang="en-US" sz="1800" b="1" dirty="0" err="1"/>
              <a:t>ch</a:t>
            </a:r>
            <a:r>
              <a:rPr lang="en-US" sz="1800" b="1" dirty="0"/>
              <a:t> = 'y';</a:t>
            </a:r>
          </a:p>
          <a:p>
            <a:pPr marL="0" indent="0">
              <a:spcBef>
                <a:spcPts val="0"/>
              </a:spcBef>
              <a:buNone/>
            </a:pPr>
            <a:r>
              <a:rPr lang="en-US" sz="1800" b="1" dirty="0" err="1"/>
              <a:t>fp</a:t>
            </a:r>
            <a:r>
              <a:rPr lang="en-US" sz="1800" b="1" dirty="0"/>
              <a:t> = </a:t>
            </a:r>
            <a:r>
              <a:rPr lang="en-US" sz="1800" b="1" dirty="0" err="1"/>
              <a:t>fopen</a:t>
            </a:r>
            <a:r>
              <a:rPr lang="en-US" sz="1800" b="1" dirty="0"/>
              <a:t>("student1.txt", "w");</a:t>
            </a:r>
          </a:p>
          <a:p>
            <a:pPr marL="0" indent="0">
              <a:spcBef>
                <a:spcPts val="0"/>
              </a:spcBef>
              <a:buNone/>
            </a:pPr>
            <a:r>
              <a:rPr lang="en-US" sz="1800" b="1" dirty="0"/>
              <a:t>    if (</a:t>
            </a:r>
            <a:r>
              <a:rPr lang="en-US" sz="1800" b="1" dirty="0" err="1"/>
              <a:t>fp</a:t>
            </a:r>
            <a:r>
              <a:rPr lang="en-US" sz="1800" b="1" dirty="0"/>
              <a:t> == NULL) {</a:t>
            </a:r>
          </a:p>
          <a:p>
            <a:pPr marL="0" indent="0">
              <a:spcBef>
                <a:spcPts val="0"/>
              </a:spcBef>
              <a:buNone/>
            </a:pPr>
            <a:r>
              <a:rPr lang="en-US" sz="1800" b="1" dirty="0"/>
              <a:t>        </a:t>
            </a:r>
            <a:r>
              <a:rPr lang="en-US" sz="1800" b="1" dirty="0" err="1"/>
              <a:t>printf</a:t>
            </a:r>
            <a:r>
              <a:rPr lang="en-US" sz="1800" b="1" dirty="0"/>
              <a:t>("Error opening file for writing.\n");</a:t>
            </a:r>
          </a:p>
          <a:p>
            <a:pPr marL="0" indent="0">
              <a:spcBef>
                <a:spcPts val="0"/>
              </a:spcBef>
              <a:buNone/>
            </a:pPr>
            <a:r>
              <a:rPr lang="en-US" sz="1800" b="1" dirty="0"/>
              <a:t>        return 0; }</a:t>
            </a:r>
          </a:p>
          <a:p>
            <a:pPr marL="0" indent="0">
              <a:spcBef>
                <a:spcPts val="0"/>
              </a:spcBef>
              <a:buNone/>
            </a:pPr>
            <a:r>
              <a:rPr lang="en-US" sz="1800" b="1" dirty="0"/>
              <a:t>while (</a:t>
            </a:r>
            <a:r>
              <a:rPr lang="en-US" sz="1800" b="1" dirty="0" err="1"/>
              <a:t>ch</a:t>
            </a:r>
            <a:r>
              <a:rPr lang="en-US" sz="1800" b="1" dirty="0"/>
              <a:t> == 'y' || </a:t>
            </a:r>
            <a:r>
              <a:rPr lang="en-US" sz="1800" b="1" dirty="0" err="1"/>
              <a:t>ch</a:t>
            </a:r>
            <a:r>
              <a:rPr lang="en-US" sz="1800" b="1" dirty="0"/>
              <a:t> == 'Y') {</a:t>
            </a:r>
          </a:p>
          <a:p>
            <a:pPr marL="0" indent="0">
              <a:spcBef>
                <a:spcPts val="0"/>
              </a:spcBef>
              <a:buNone/>
            </a:pPr>
            <a:r>
              <a:rPr lang="en-US" sz="1800" b="1" dirty="0"/>
              <a:t>        </a:t>
            </a:r>
            <a:r>
              <a:rPr lang="en-US" sz="1800" b="1" dirty="0" err="1"/>
              <a:t>printf</a:t>
            </a:r>
            <a:r>
              <a:rPr lang="en-US" sz="1800" b="1" dirty="0"/>
              <a:t>("Serial number: ");</a:t>
            </a:r>
          </a:p>
          <a:p>
            <a:pPr marL="0" indent="0">
              <a:spcBef>
                <a:spcPts val="0"/>
              </a:spcBef>
              <a:buNone/>
            </a:pPr>
            <a:r>
              <a:rPr lang="en-US" sz="1800" b="1" dirty="0"/>
              <a:t>        </a:t>
            </a:r>
            <a:r>
              <a:rPr lang="en-US" sz="1800" b="1" dirty="0" err="1"/>
              <a:t>scanf</a:t>
            </a:r>
            <a:r>
              <a:rPr lang="en-US" sz="1800" b="1" dirty="0"/>
              <a:t>("%d", &amp;</a:t>
            </a:r>
            <a:r>
              <a:rPr lang="en-US" sz="1800" b="1" dirty="0" err="1"/>
              <a:t>s.no</a:t>
            </a:r>
            <a:r>
              <a:rPr lang="en-US" sz="1800" b="1" dirty="0"/>
              <a:t>);</a:t>
            </a:r>
          </a:p>
          <a:p>
            <a:pPr marL="0" indent="0">
              <a:spcBef>
                <a:spcPts val="0"/>
              </a:spcBef>
              <a:buNone/>
            </a:pPr>
            <a:r>
              <a:rPr lang="en-US" sz="1800" b="1" dirty="0"/>
              <a:t>        </a:t>
            </a:r>
            <a:r>
              <a:rPr lang="en-US" sz="1800" b="1" dirty="0" err="1"/>
              <a:t>printf</a:t>
            </a:r>
            <a:r>
              <a:rPr lang="en-US" sz="1800" b="1" dirty="0"/>
              <a:t>("Student name: ");</a:t>
            </a:r>
          </a:p>
          <a:p>
            <a:pPr marL="0" indent="0">
              <a:spcBef>
                <a:spcPts val="0"/>
              </a:spcBef>
              <a:buNone/>
            </a:pPr>
            <a:r>
              <a:rPr lang="en-US" sz="1800" b="1" dirty="0"/>
              <a:t>        </a:t>
            </a:r>
            <a:r>
              <a:rPr lang="en-US" sz="1800" b="1" dirty="0" err="1"/>
              <a:t>scanf</a:t>
            </a:r>
            <a:r>
              <a:rPr lang="en-US" sz="1800" b="1" dirty="0"/>
              <a:t>("%s", </a:t>
            </a:r>
            <a:r>
              <a:rPr lang="en-US" sz="1800" b="1" dirty="0" err="1"/>
              <a:t>s.name</a:t>
            </a:r>
            <a:r>
              <a:rPr lang="en-US" sz="1800" b="1" dirty="0"/>
              <a:t>);</a:t>
            </a:r>
          </a:p>
          <a:p>
            <a:pPr marL="0" indent="0">
              <a:spcBef>
                <a:spcPts val="0"/>
              </a:spcBef>
              <a:buNone/>
            </a:pPr>
            <a:r>
              <a:rPr lang="en-US" sz="1800" b="1" dirty="0"/>
              <a:t>        </a:t>
            </a:r>
            <a:r>
              <a:rPr lang="en-US" sz="1800" b="1" dirty="0" err="1"/>
              <a:t>printf</a:t>
            </a:r>
            <a:r>
              <a:rPr lang="en-US" sz="1800" b="1" dirty="0"/>
              <a:t>("Student age: ");</a:t>
            </a:r>
          </a:p>
          <a:p>
            <a:pPr marL="0" indent="0">
              <a:spcBef>
                <a:spcPts val="0"/>
              </a:spcBef>
              <a:buNone/>
            </a:pPr>
            <a:r>
              <a:rPr lang="en-US" sz="1800" b="1" dirty="0"/>
              <a:t>        </a:t>
            </a:r>
            <a:r>
              <a:rPr lang="en-US" sz="1800" b="1" dirty="0" err="1"/>
              <a:t>scanf</a:t>
            </a:r>
            <a:r>
              <a:rPr lang="en-US" sz="1800" b="1" dirty="0"/>
              <a:t>("%d", &amp;</a:t>
            </a:r>
            <a:r>
              <a:rPr lang="en-US" sz="1800" b="1" dirty="0" err="1"/>
              <a:t>s.age</a:t>
            </a:r>
            <a:r>
              <a:rPr lang="en-US" sz="1800" b="1" dirty="0"/>
              <a:t>);</a:t>
            </a:r>
          </a:p>
          <a:p>
            <a:pPr marL="0" indent="0">
              <a:spcBef>
                <a:spcPts val="0"/>
              </a:spcBef>
              <a:buNone/>
            </a:pPr>
            <a:r>
              <a:rPr lang="en-US" sz="1800" b="1" dirty="0"/>
              <a:t>        </a:t>
            </a:r>
            <a:r>
              <a:rPr lang="en-US" sz="1800" b="1" dirty="0" err="1"/>
              <a:t>fwrite</a:t>
            </a:r>
            <a:r>
              <a:rPr lang="en-US" sz="1800" b="1" dirty="0"/>
              <a:t>(&amp;s, </a:t>
            </a:r>
            <a:r>
              <a:rPr lang="en-US" sz="1800" b="1" dirty="0" err="1"/>
              <a:t>sizeof</a:t>
            </a:r>
            <a:r>
              <a:rPr lang="en-US" sz="1800" b="1" dirty="0"/>
              <a:t>(s), 1, </a:t>
            </a:r>
            <a:r>
              <a:rPr lang="en-US" sz="1800" b="1" dirty="0" err="1"/>
              <a:t>fp</a:t>
            </a:r>
            <a:r>
              <a:rPr lang="en-US" sz="1800" b="1" dirty="0"/>
              <a:t>); </a:t>
            </a:r>
            <a:r>
              <a:rPr lang="en-US" sz="1400" b="1" i="1" dirty="0">
                <a:highlight>
                  <a:srgbClr val="FFFF00"/>
                </a:highlight>
              </a:rPr>
              <a:t>// write structure to file</a:t>
            </a:r>
          </a:p>
          <a:p>
            <a:pPr marL="0" indent="0">
              <a:spcBef>
                <a:spcPts val="0"/>
              </a:spcBef>
              <a:buNone/>
            </a:pPr>
            <a:r>
              <a:rPr lang="en-US" sz="1800" b="1" dirty="0"/>
              <a:t>        </a:t>
            </a:r>
            <a:r>
              <a:rPr lang="en-US" sz="1800" b="1" dirty="0" err="1"/>
              <a:t>printf</a:t>
            </a:r>
            <a:r>
              <a:rPr lang="en-US" sz="1800" b="1" dirty="0"/>
              <a:t>("Do you want to add more (y/n): ");</a:t>
            </a:r>
          </a:p>
          <a:p>
            <a:pPr marL="0" indent="0">
              <a:spcBef>
                <a:spcPts val="0"/>
              </a:spcBef>
              <a:buNone/>
            </a:pPr>
            <a:r>
              <a:rPr lang="en-US" sz="1800" b="1" dirty="0"/>
              <a:t>        </a:t>
            </a:r>
            <a:r>
              <a:rPr lang="en-US" sz="1800" b="1" dirty="0" err="1"/>
              <a:t>scanf</a:t>
            </a:r>
            <a:r>
              <a:rPr lang="en-US" sz="1800" b="1" dirty="0"/>
              <a:t>(" %c", &amp;</a:t>
            </a:r>
            <a:r>
              <a:rPr lang="en-US" sz="1800" b="1" dirty="0" err="1"/>
              <a:t>ch</a:t>
            </a:r>
            <a:r>
              <a:rPr lang="en-US" sz="1800" b="1" dirty="0"/>
              <a:t>); </a:t>
            </a:r>
            <a:r>
              <a:rPr lang="en-US" sz="1400" b="1" i="1" dirty="0">
                <a:highlight>
                  <a:srgbClr val="FFFF00"/>
                </a:highlight>
              </a:rPr>
              <a:t>// space before %c to consume newline</a:t>
            </a:r>
          </a:p>
          <a:p>
            <a:pPr marL="0" indent="0">
              <a:spcBef>
                <a:spcPts val="0"/>
              </a:spcBef>
              <a:buNone/>
            </a:pPr>
            <a:r>
              <a:rPr lang="en-US" sz="1800" b="1" dirty="0"/>
              <a:t>    }</a:t>
            </a:r>
          </a:p>
          <a:p>
            <a:pPr marL="0" indent="0">
              <a:spcBef>
                <a:spcPts val="0"/>
              </a:spcBef>
              <a:buNone/>
            </a:pPr>
            <a:r>
              <a:rPr lang="en-US" sz="1800" b="1" dirty="0"/>
              <a:t>    </a:t>
            </a:r>
            <a:r>
              <a:rPr lang="en-US" sz="1800" b="1" dirty="0" err="1"/>
              <a:t>fclose</a:t>
            </a:r>
            <a:r>
              <a:rPr lang="en-US" sz="1800" b="1" dirty="0"/>
              <a:t>(</a:t>
            </a:r>
            <a:r>
              <a:rPr lang="en-US" sz="1800" b="1" dirty="0" err="1"/>
              <a:t>fp</a:t>
            </a:r>
            <a:r>
              <a:rPr lang="en-US" sz="1800" b="1" dirty="0"/>
              <a:t>);</a:t>
            </a:r>
          </a:p>
          <a:p>
            <a:pPr marL="0" indent="0">
              <a:spcBef>
                <a:spcPts val="0"/>
              </a:spcBef>
              <a:buNone/>
            </a:pPr>
            <a:endParaRPr lang="en-US" sz="1600" b="1" dirty="0"/>
          </a:p>
          <a:p>
            <a:pPr marL="0" indent="0">
              <a:spcBef>
                <a:spcPts val="0"/>
              </a:spcBef>
              <a:buNone/>
            </a:pPr>
            <a:endParaRPr lang="en-NP" sz="1600" b="1" dirty="0"/>
          </a:p>
        </p:txBody>
      </p:sp>
      <p:sp>
        <p:nvSpPr>
          <p:cNvPr id="3" name="Content Placeholder 5">
            <a:extLst>
              <a:ext uri="{FF2B5EF4-FFF2-40B4-BE49-F238E27FC236}">
                <a16:creationId xmlns:a16="http://schemas.microsoft.com/office/drawing/2014/main" id="{7B511D07-F426-7215-B8A7-A41D56E4E833}"/>
              </a:ext>
            </a:extLst>
          </p:cNvPr>
          <p:cNvSpPr txBox="1">
            <a:spLocks/>
          </p:cNvSpPr>
          <p:nvPr/>
        </p:nvSpPr>
        <p:spPr>
          <a:xfrm>
            <a:off x="6736338" y="833935"/>
            <a:ext cx="6165271" cy="56297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400" b="1" i="1" dirty="0">
                <a:highlight>
                  <a:srgbClr val="FFFF00"/>
                </a:highlight>
              </a:rPr>
              <a:t>// Open file for reading</a:t>
            </a:r>
          </a:p>
          <a:p>
            <a:pPr marL="0" indent="0">
              <a:spcBef>
                <a:spcPts val="0"/>
              </a:spcBef>
              <a:buNone/>
            </a:pPr>
            <a:r>
              <a:rPr lang="en-US" sz="1800" b="1" dirty="0"/>
              <a:t>    </a:t>
            </a:r>
            <a:r>
              <a:rPr lang="en-US" sz="1800" b="1" dirty="0" err="1"/>
              <a:t>fp</a:t>
            </a:r>
            <a:r>
              <a:rPr lang="en-US" sz="1800" b="1" dirty="0"/>
              <a:t> = </a:t>
            </a:r>
            <a:r>
              <a:rPr lang="en-US" sz="1800" b="1" dirty="0" err="1"/>
              <a:t>fopen</a:t>
            </a:r>
            <a:r>
              <a:rPr lang="en-US" sz="1800" b="1" dirty="0"/>
              <a:t>("student1.txt", "r");</a:t>
            </a:r>
          </a:p>
          <a:p>
            <a:pPr marL="0" indent="0">
              <a:spcBef>
                <a:spcPts val="0"/>
              </a:spcBef>
              <a:buNone/>
            </a:pPr>
            <a:r>
              <a:rPr lang="en-US" sz="1800" b="1" dirty="0"/>
              <a:t>    if (</a:t>
            </a:r>
            <a:r>
              <a:rPr lang="en-US" sz="1800" b="1" dirty="0" err="1"/>
              <a:t>fp</a:t>
            </a:r>
            <a:r>
              <a:rPr lang="en-US" sz="1800" b="1" dirty="0"/>
              <a:t> == NULL) {</a:t>
            </a:r>
          </a:p>
          <a:p>
            <a:pPr marL="0" indent="0">
              <a:spcBef>
                <a:spcPts val="0"/>
              </a:spcBef>
              <a:buNone/>
            </a:pPr>
            <a:r>
              <a:rPr lang="en-US" sz="1800" b="1" dirty="0"/>
              <a:t>        </a:t>
            </a:r>
            <a:r>
              <a:rPr lang="en-US" sz="1800" b="1" dirty="0" err="1"/>
              <a:t>printf</a:t>
            </a:r>
            <a:r>
              <a:rPr lang="en-US" sz="1800" b="1" dirty="0"/>
              <a:t>("Error opening file for reading.\n");</a:t>
            </a:r>
          </a:p>
          <a:p>
            <a:pPr marL="0" indent="0">
              <a:spcBef>
                <a:spcPts val="0"/>
              </a:spcBef>
              <a:buNone/>
            </a:pPr>
            <a:r>
              <a:rPr lang="en-US" sz="1800" b="1" dirty="0"/>
              <a:t>        return 0;</a:t>
            </a:r>
          </a:p>
          <a:p>
            <a:pPr marL="0" indent="0">
              <a:spcBef>
                <a:spcPts val="0"/>
              </a:spcBef>
              <a:buNone/>
            </a:pPr>
            <a:r>
              <a:rPr lang="en-US" sz="1800" b="1" dirty="0"/>
              <a:t>    }</a:t>
            </a:r>
          </a:p>
          <a:p>
            <a:pPr marL="0" indent="0">
              <a:spcBef>
                <a:spcPts val="0"/>
              </a:spcBef>
              <a:buNone/>
            </a:pPr>
            <a:endParaRPr lang="en-US" sz="1800" b="1" dirty="0"/>
          </a:p>
          <a:p>
            <a:pPr marL="0" indent="0">
              <a:spcBef>
                <a:spcPts val="0"/>
              </a:spcBef>
              <a:buNone/>
            </a:pPr>
            <a:r>
              <a:rPr lang="en-US" sz="1800" b="1" dirty="0"/>
              <a:t>    </a:t>
            </a:r>
            <a:r>
              <a:rPr lang="en-US" sz="1800" b="1" dirty="0" err="1"/>
              <a:t>printf</a:t>
            </a:r>
            <a:r>
              <a:rPr lang="en-US" sz="1800" b="1" dirty="0"/>
              <a:t>("\</a:t>
            </a:r>
            <a:r>
              <a:rPr lang="en-US" sz="1800" b="1" dirty="0" err="1"/>
              <a:t>nSN</a:t>
            </a:r>
            <a:r>
              <a:rPr lang="en-US" sz="1800" b="1" dirty="0"/>
              <a:t>\</a:t>
            </a:r>
            <a:r>
              <a:rPr lang="en-US" sz="1800" b="1" dirty="0" err="1"/>
              <a:t>tName</a:t>
            </a:r>
            <a:r>
              <a:rPr lang="en-US" sz="1800" b="1" dirty="0"/>
              <a:t>\</a:t>
            </a:r>
            <a:r>
              <a:rPr lang="en-US" sz="1800" b="1" dirty="0" err="1"/>
              <a:t>tAge</a:t>
            </a:r>
            <a:r>
              <a:rPr lang="en-US" sz="1800" b="1" dirty="0"/>
              <a:t>\n");</a:t>
            </a:r>
          </a:p>
          <a:p>
            <a:pPr marL="0" indent="0">
              <a:spcBef>
                <a:spcPts val="0"/>
              </a:spcBef>
              <a:buNone/>
            </a:pPr>
            <a:endParaRPr lang="en-US" sz="1800" b="1" dirty="0"/>
          </a:p>
          <a:p>
            <a:pPr marL="0" indent="0">
              <a:spcBef>
                <a:spcPts val="0"/>
              </a:spcBef>
              <a:buNone/>
            </a:pPr>
            <a:r>
              <a:rPr lang="en-US" sz="1400" b="1" i="1" dirty="0">
                <a:highlight>
                  <a:srgbClr val="FFFF00"/>
                </a:highlight>
              </a:rPr>
              <a:t>    // Read data using </a:t>
            </a:r>
            <a:r>
              <a:rPr lang="en-US" sz="1400" b="1" i="1" dirty="0" err="1">
                <a:highlight>
                  <a:srgbClr val="FFFF00"/>
                </a:highlight>
              </a:rPr>
              <a:t>fread</a:t>
            </a:r>
            <a:endParaRPr lang="en-US" sz="1400" b="1" i="1" dirty="0">
              <a:highlight>
                <a:srgbClr val="FFFF00"/>
              </a:highlight>
            </a:endParaRPr>
          </a:p>
          <a:p>
            <a:pPr marL="0" indent="0">
              <a:spcBef>
                <a:spcPts val="0"/>
              </a:spcBef>
              <a:buNone/>
            </a:pPr>
            <a:r>
              <a:rPr lang="en-US" sz="1800" b="1" dirty="0"/>
              <a:t>    while (</a:t>
            </a:r>
            <a:r>
              <a:rPr lang="en-US" sz="1800" b="1" dirty="0" err="1"/>
              <a:t>fread</a:t>
            </a:r>
            <a:r>
              <a:rPr lang="en-US" sz="1800" b="1" dirty="0"/>
              <a:t>(&amp;s, </a:t>
            </a:r>
            <a:r>
              <a:rPr lang="en-US" sz="1800" b="1" dirty="0" err="1"/>
              <a:t>sizeof</a:t>
            </a:r>
            <a:r>
              <a:rPr lang="en-US" sz="1800" b="1" dirty="0"/>
              <a:t>(s), 1, </a:t>
            </a:r>
            <a:r>
              <a:rPr lang="en-US" sz="1800" b="1" dirty="0" err="1"/>
              <a:t>fp</a:t>
            </a:r>
            <a:r>
              <a:rPr lang="en-US" sz="1800" b="1" dirty="0"/>
              <a:t>) == 1) {</a:t>
            </a:r>
          </a:p>
          <a:p>
            <a:pPr marL="0" indent="0">
              <a:spcBef>
                <a:spcPts val="0"/>
              </a:spcBef>
              <a:buNone/>
            </a:pPr>
            <a:r>
              <a:rPr lang="en-US" sz="1800" b="1" dirty="0"/>
              <a:t>        </a:t>
            </a:r>
            <a:r>
              <a:rPr lang="en-US" sz="1800" b="1" dirty="0" err="1"/>
              <a:t>printf</a:t>
            </a:r>
            <a:r>
              <a:rPr lang="en-US" sz="1800" b="1" dirty="0"/>
              <a:t>("%d\</a:t>
            </a:r>
            <a:r>
              <a:rPr lang="en-US" sz="1800" b="1" dirty="0" err="1"/>
              <a:t>t%s</a:t>
            </a:r>
            <a:r>
              <a:rPr lang="en-US" sz="1800" b="1" dirty="0"/>
              <a:t>\</a:t>
            </a:r>
            <a:r>
              <a:rPr lang="en-US" sz="1800" b="1" dirty="0" err="1"/>
              <a:t>t%d</a:t>
            </a:r>
            <a:r>
              <a:rPr lang="en-US" sz="1800" b="1" dirty="0"/>
              <a:t>\n", </a:t>
            </a:r>
            <a:r>
              <a:rPr lang="en-US" sz="1800" b="1" dirty="0" err="1"/>
              <a:t>s.no</a:t>
            </a:r>
            <a:r>
              <a:rPr lang="en-US" sz="1800" b="1" dirty="0"/>
              <a:t>, </a:t>
            </a:r>
            <a:r>
              <a:rPr lang="en-US" sz="1800" b="1" dirty="0" err="1"/>
              <a:t>s.name</a:t>
            </a:r>
            <a:r>
              <a:rPr lang="en-US" sz="1800" b="1" dirty="0"/>
              <a:t>, </a:t>
            </a:r>
            <a:r>
              <a:rPr lang="en-US" sz="1800" b="1" dirty="0" err="1"/>
              <a:t>s.age</a:t>
            </a:r>
            <a:r>
              <a:rPr lang="en-US" sz="1800" b="1" dirty="0"/>
              <a:t>);</a:t>
            </a:r>
          </a:p>
          <a:p>
            <a:pPr marL="0" indent="0">
              <a:spcBef>
                <a:spcPts val="0"/>
              </a:spcBef>
              <a:buNone/>
            </a:pPr>
            <a:r>
              <a:rPr lang="en-US" sz="1800" b="1" dirty="0"/>
              <a:t>    }</a:t>
            </a:r>
          </a:p>
          <a:p>
            <a:pPr marL="0" indent="0">
              <a:spcBef>
                <a:spcPts val="0"/>
              </a:spcBef>
              <a:buNone/>
            </a:pPr>
            <a:endParaRPr lang="en-US" sz="1800" b="1" dirty="0"/>
          </a:p>
          <a:p>
            <a:pPr marL="0" indent="0">
              <a:spcBef>
                <a:spcPts val="0"/>
              </a:spcBef>
              <a:buNone/>
            </a:pPr>
            <a:r>
              <a:rPr lang="en-US" sz="1800" b="1" dirty="0"/>
              <a:t>    </a:t>
            </a:r>
            <a:r>
              <a:rPr lang="en-US" sz="1800" b="1" dirty="0" err="1"/>
              <a:t>fclose</a:t>
            </a:r>
            <a:r>
              <a:rPr lang="en-US" sz="1800" b="1" dirty="0"/>
              <a:t>(</a:t>
            </a:r>
            <a:r>
              <a:rPr lang="en-US" sz="1800" b="1" dirty="0" err="1"/>
              <a:t>fp</a:t>
            </a:r>
            <a:r>
              <a:rPr lang="en-US" sz="1800" b="1" dirty="0"/>
              <a:t>);</a:t>
            </a:r>
          </a:p>
          <a:p>
            <a:pPr marL="0" indent="0">
              <a:spcBef>
                <a:spcPts val="0"/>
              </a:spcBef>
              <a:buNone/>
            </a:pPr>
            <a:r>
              <a:rPr lang="en-US" sz="1800" b="1" dirty="0"/>
              <a:t>    return 0;</a:t>
            </a:r>
          </a:p>
          <a:p>
            <a:pPr marL="0" indent="0">
              <a:spcBef>
                <a:spcPts val="0"/>
              </a:spcBef>
              <a:buNone/>
            </a:pPr>
            <a:r>
              <a:rPr lang="en-US" sz="1800" b="1" dirty="0"/>
              <a:t>}</a:t>
            </a:r>
            <a:br>
              <a:rPr lang="en-US" sz="1800" dirty="0"/>
            </a:br>
            <a:endParaRPr lang="en-US" sz="1800" dirty="0"/>
          </a:p>
        </p:txBody>
      </p:sp>
      <p:sp>
        <p:nvSpPr>
          <p:cNvPr id="4" name="Content Placeholder 5">
            <a:extLst>
              <a:ext uri="{FF2B5EF4-FFF2-40B4-BE49-F238E27FC236}">
                <a16:creationId xmlns:a16="http://schemas.microsoft.com/office/drawing/2014/main" id="{6942D842-893F-F00A-AF87-F276850C74F7}"/>
              </a:ext>
            </a:extLst>
          </p:cNvPr>
          <p:cNvSpPr txBox="1">
            <a:spLocks/>
          </p:cNvSpPr>
          <p:nvPr/>
        </p:nvSpPr>
        <p:spPr>
          <a:xfrm>
            <a:off x="4924798" y="235527"/>
            <a:ext cx="11462656" cy="63938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br>
              <a:rPr lang="en-US" sz="2000" dirty="0"/>
            </a:br>
            <a:endParaRPr lang="en-NP" sz="2000" dirty="0"/>
          </a:p>
        </p:txBody>
      </p:sp>
      <p:cxnSp>
        <p:nvCxnSpPr>
          <p:cNvPr id="7" name="Straight Arrow Connector 6">
            <a:extLst>
              <a:ext uri="{FF2B5EF4-FFF2-40B4-BE49-F238E27FC236}">
                <a16:creationId xmlns:a16="http://schemas.microsoft.com/office/drawing/2014/main" id="{D274CBED-4080-9A02-22EB-11164050C483}"/>
              </a:ext>
            </a:extLst>
          </p:cNvPr>
          <p:cNvCxnSpPr>
            <a:cxnSpLocks/>
          </p:cNvCxnSpPr>
          <p:nvPr/>
        </p:nvCxnSpPr>
        <p:spPr>
          <a:xfrm flipV="1">
            <a:off x="6381750" y="766465"/>
            <a:ext cx="0" cy="58629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E36D779-4518-271E-3550-98A54C8FEE65}"/>
              </a:ext>
            </a:extLst>
          </p:cNvPr>
          <p:cNvSpPr txBox="1"/>
          <p:nvPr/>
        </p:nvSpPr>
        <p:spPr>
          <a:xfrm>
            <a:off x="364671" y="6928"/>
            <a:ext cx="11628911" cy="646331"/>
          </a:xfrm>
          <a:prstGeom prst="rect">
            <a:avLst/>
          </a:prstGeom>
          <a:noFill/>
        </p:spPr>
        <p:txBody>
          <a:bodyPr wrap="square" rtlCol="0">
            <a:spAutoFit/>
          </a:bodyPr>
          <a:lstStyle/>
          <a:p>
            <a:r>
              <a:rPr lang="en-US" i="1" dirty="0">
                <a:highlight>
                  <a:srgbClr val="FFFF00"/>
                </a:highlight>
              </a:rPr>
              <a:t>4) Write a C program using structure and file handling to store student details (serial number, name, and age) in a binary file </a:t>
            </a:r>
            <a:r>
              <a:rPr lang="en-US" b="1" i="1" dirty="0">
                <a:highlight>
                  <a:srgbClr val="FFFF00"/>
                </a:highlight>
              </a:rPr>
              <a:t>using </a:t>
            </a:r>
            <a:r>
              <a:rPr lang="en-US" b="1" i="1" dirty="0" err="1">
                <a:highlight>
                  <a:srgbClr val="FFFF00"/>
                </a:highlight>
              </a:rPr>
              <a:t>fwrite</a:t>
            </a:r>
            <a:r>
              <a:rPr lang="en-US" b="1" i="1" dirty="0">
                <a:highlight>
                  <a:srgbClr val="FFFF00"/>
                </a:highlight>
              </a:rPr>
              <a:t>()</a:t>
            </a:r>
            <a:r>
              <a:rPr lang="en-US" i="1" dirty="0">
                <a:highlight>
                  <a:srgbClr val="FFFF00"/>
                </a:highlight>
              </a:rPr>
              <a:t> and then read and display all the records </a:t>
            </a:r>
            <a:r>
              <a:rPr lang="en-US" b="1" i="1" dirty="0">
                <a:highlight>
                  <a:srgbClr val="FFFF00"/>
                </a:highlight>
              </a:rPr>
              <a:t>using </a:t>
            </a:r>
            <a:r>
              <a:rPr lang="en-US" b="1" i="1" dirty="0" err="1">
                <a:highlight>
                  <a:srgbClr val="FFFF00"/>
                </a:highlight>
              </a:rPr>
              <a:t>fread</a:t>
            </a:r>
            <a:r>
              <a:rPr lang="en-US" b="1" i="1" dirty="0">
                <a:highlight>
                  <a:srgbClr val="FFFF00"/>
                </a:highlight>
              </a:rPr>
              <a:t>()</a:t>
            </a:r>
            <a:r>
              <a:rPr lang="en-US" i="1" dirty="0">
                <a:highlight>
                  <a:srgbClr val="FFFF00"/>
                </a:highlight>
              </a:rPr>
              <a:t>.</a:t>
            </a:r>
            <a:endParaRPr lang="en-NP" i="1" dirty="0">
              <a:highlight>
                <a:srgbClr val="FFFF00"/>
              </a:highlight>
            </a:endParaRPr>
          </a:p>
        </p:txBody>
      </p:sp>
    </p:spTree>
    <p:extLst>
      <p:ext uri="{BB962C8B-B14F-4D97-AF65-F5344CB8AC3E}">
        <p14:creationId xmlns:p14="http://schemas.microsoft.com/office/powerpoint/2010/main" val="23568822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25E98-3847-CBA5-D41E-6AD84A25E0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1CB9191-E688-FBD0-C323-999B74E0A131}"/>
              </a:ext>
            </a:extLst>
          </p:cNvPr>
          <p:cNvPicPr>
            <a:picLocks noChangeAspect="1"/>
          </p:cNvPicPr>
          <p:nvPr/>
        </p:nvPicPr>
        <p:blipFill>
          <a:blip r:embed="rId2"/>
          <a:stretch>
            <a:fillRect/>
          </a:stretch>
        </p:blipFill>
        <p:spPr>
          <a:xfrm>
            <a:off x="259002" y="2199751"/>
            <a:ext cx="3206715" cy="2353454"/>
          </a:xfrm>
          <a:prstGeom prst="rect">
            <a:avLst/>
          </a:prstGeom>
        </p:spPr>
      </p:pic>
      <p:sp>
        <p:nvSpPr>
          <p:cNvPr id="26" name="Rectangle 25">
            <a:extLst>
              <a:ext uri="{FF2B5EF4-FFF2-40B4-BE49-F238E27FC236}">
                <a16:creationId xmlns:a16="http://schemas.microsoft.com/office/drawing/2014/main" id="{0281F12C-C001-B6A0-C8BD-505A3FDBDBCF}"/>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5860C507-0249-5DD3-03A2-5FF262627AB6}"/>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E2896E8F-8199-7074-07D4-FEDF43CFC9AC}"/>
              </a:ext>
            </a:extLst>
          </p:cNvPr>
          <p:cNvSpPr txBox="1"/>
          <p:nvPr/>
        </p:nvSpPr>
        <p:spPr>
          <a:xfrm>
            <a:off x="947303" y="1707749"/>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01299D00-42ED-E021-7F1E-938B5AB17B9F}"/>
              </a:ext>
            </a:extLst>
          </p:cNvPr>
          <p:cNvSpPr txBox="1"/>
          <p:nvPr/>
        </p:nvSpPr>
        <p:spPr>
          <a:xfrm>
            <a:off x="7955426" y="1629641"/>
            <a:ext cx="3172690" cy="646331"/>
          </a:xfrm>
          <a:prstGeom prst="rect">
            <a:avLst/>
          </a:prstGeom>
          <a:noFill/>
        </p:spPr>
        <p:txBody>
          <a:bodyPr wrap="square" rtlCol="0">
            <a:spAutoFit/>
          </a:bodyPr>
          <a:lstStyle/>
          <a:p>
            <a:r>
              <a:rPr lang="en-US" dirty="0"/>
              <a:t>File name</a:t>
            </a:r>
            <a:r>
              <a:rPr lang="en-NP" dirty="0"/>
              <a:t> “student1.txt” (Notepad) </a:t>
            </a:r>
          </a:p>
        </p:txBody>
      </p:sp>
      <p:sp>
        <p:nvSpPr>
          <p:cNvPr id="14" name="TextBox 13">
            <a:extLst>
              <a:ext uri="{FF2B5EF4-FFF2-40B4-BE49-F238E27FC236}">
                <a16:creationId xmlns:a16="http://schemas.microsoft.com/office/drawing/2014/main" id="{D1EA77D9-79CE-A7C2-C431-2A45684815CC}"/>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B19DAE4B-3572-A933-E234-7F487EE33AB0}"/>
              </a:ext>
            </a:extLst>
          </p:cNvPr>
          <p:cNvSpPr/>
          <p:nvPr/>
        </p:nvSpPr>
        <p:spPr>
          <a:xfrm>
            <a:off x="2729848" y="2649010"/>
            <a:ext cx="1556718" cy="230148"/>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237EF137-7782-6EB5-D18C-49BC9056BB15}"/>
              </a:ext>
            </a:extLst>
          </p:cNvPr>
          <p:cNvSpPr txBox="1"/>
          <p:nvPr/>
        </p:nvSpPr>
        <p:spPr>
          <a:xfrm>
            <a:off x="3138677" y="2239714"/>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079645B5-C5B8-BB44-34D1-CC9BD981F9A7}"/>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9A961AB9-084E-5F61-8AFD-199B44B0FE3E}"/>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fwrite</a:t>
            </a:r>
            <a:r>
              <a:rPr lang="en-NP" b="1" dirty="0">
                <a:highlight>
                  <a:srgbClr val="FFFF00"/>
                </a:highlight>
              </a:rPr>
              <a:t>()</a:t>
            </a:r>
          </a:p>
        </p:txBody>
      </p:sp>
      <p:sp>
        <p:nvSpPr>
          <p:cNvPr id="24" name="TextBox 23">
            <a:extLst>
              <a:ext uri="{FF2B5EF4-FFF2-40B4-BE49-F238E27FC236}">
                <a16:creationId xmlns:a16="http://schemas.microsoft.com/office/drawing/2014/main" id="{2D4F6D29-AE12-AE59-8ECA-83CA2AB4B067}"/>
              </a:ext>
            </a:extLst>
          </p:cNvPr>
          <p:cNvSpPr txBox="1"/>
          <p:nvPr/>
        </p:nvSpPr>
        <p:spPr>
          <a:xfrm>
            <a:off x="7135091" y="492894"/>
            <a:ext cx="4753843" cy="923330"/>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fwrite</a:t>
            </a:r>
            <a:r>
              <a:rPr lang="en-NP" dirty="0">
                <a:highlight>
                  <a:srgbClr val="FFFF00"/>
                </a:highlight>
              </a:rPr>
              <a:t>() function is used to write </a:t>
            </a:r>
            <a:r>
              <a:rPr lang="en-NP" dirty="0">
                <a:solidFill>
                  <a:srgbClr val="FF0000"/>
                </a:solidFill>
                <a:highlight>
                  <a:srgbClr val="FFFF00"/>
                </a:highlight>
              </a:rPr>
              <a:t>structure type data </a:t>
            </a:r>
            <a:r>
              <a:rPr lang="en-NP" dirty="0">
                <a:highlight>
                  <a:srgbClr val="FFFF00"/>
                </a:highlight>
              </a:rPr>
              <a:t>to the file named “student1.txt” from memory.</a:t>
            </a:r>
          </a:p>
        </p:txBody>
      </p:sp>
      <p:sp>
        <p:nvSpPr>
          <p:cNvPr id="27" name="Right Arrow 26">
            <a:extLst>
              <a:ext uri="{FF2B5EF4-FFF2-40B4-BE49-F238E27FC236}">
                <a16:creationId xmlns:a16="http://schemas.microsoft.com/office/drawing/2014/main" id="{E41BF61C-D854-DB55-14FB-D4C88112C561}"/>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62B7E0C8-2886-F319-E832-7B80CEA38620}"/>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fread</a:t>
            </a:r>
            <a:r>
              <a:rPr lang="en-NP" b="1" dirty="0">
                <a:highlight>
                  <a:srgbClr val="FFFF00"/>
                </a:highlight>
              </a:rPr>
              <a:t>()</a:t>
            </a:r>
          </a:p>
        </p:txBody>
      </p:sp>
      <p:sp>
        <p:nvSpPr>
          <p:cNvPr id="30" name="Right Arrow 29">
            <a:extLst>
              <a:ext uri="{FF2B5EF4-FFF2-40B4-BE49-F238E27FC236}">
                <a16:creationId xmlns:a16="http://schemas.microsoft.com/office/drawing/2014/main" id="{93DEE607-B409-4870-7B5C-978ED2C1E745}"/>
              </a:ext>
            </a:extLst>
          </p:cNvPr>
          <p:cNvSpPr/>
          <p:nvPr/>
        </p:nvSpPr>
        <p:spPr>
          <a:xfrm rot="10800000">
            <a:off x="2650180" y="3957597"/>
            <a:ext cx="1556718" cy="230148"/>
          </a:xfrm>
          <a:prstGeom prst="rightArrow">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3FEDB039-F11C-4A55-320B-EA7502BF8183}"/>
              </a:ext>
            </a:extLst>
          </p:cNvPr>
          <p:cNvSpPr txBox="1"/>
          <p:nvPr/>
        </p:nvSpPr>
        <p:spPr>
          <a:xfrm>
            <a:off x="3414334" y="4114094"/>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D3FC4097-A8DA-703F-A320-1D608B7ACD6D}"/>
              </a:ext>
            </a:extLst>
          </p:cNvPr>
          <p:cNvSpPr/>
          <p:nvPr/>
        </p:nvSpPr>
        <p:spPr>
          <a:xfrm>
            <a:off x="422562" y="469882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87BF7C1F-20B9-41D9-E113-3CBE84BB9F20}"/>
              </a:ext>
            </a:extLst>
          </p:cNvPr>
          <p:cNvSpPr txBox="1"/>
          <p:nvPr/>
        </p:nvSpPr>
        <p:spPr>
          <a:xfrm>
            <a:off x="422562" y="482483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C1909076-8F6E-32A1-8BDA-794DAF320842}"/>
              </a:ext>
            </a:extLst>
          </p:cNvPr>
          <p:cNvSpPr/>
          <p:nvPr/>
        </p:nvSpPr>
        <p:spPr>
          <a:xfrm>
            <a:off x="6576407" y="4553205"/>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BF1BBBE4-8CB2-76A2-ACA2-628CF1EC13C3}"/>
              </a:ext>
            </a:extLst>
          </p:cNvPr>
          <p:cNvSpPr txBox="1"/>
          <p:nvPr/>
        </p:nvSpPr>
        <p:spPr>
          <a:xfrm>
            <a:off x="6653098" y="4607700"/>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fread() function is used to </a:t>
            </a:r>
            <a:r>
              <a:rPr lang="en-NP" dirty="0">
                <a:solidFill>
                  <a:srgbClr val="FF0000"/>
                </a:solidFill>
              </a:rPr>
              <a:t>(store or input or to read)</a:t>
            </a:r>
            <a:r>
              <a:rPr lang="en-NP" dirty="0"/>
              <a:t> </a:t>
            </a:r>
            <a:r>
              <a:rPr lang="en-NP" dirty="0">
                <a:solidFill>
                  <a:srgbClr val="FF0000"/>
                </a:solidFill>
                <a:highlight>
                  <a:srgbClr val="FFFF00"/>
                </a:highlight>
              </a:rPr>
              <a:t>structure type data </a:t>
            </a:r>
            <a:r>
              <a:rPr lang="en-NP" dirty="0">
                <a:highlight>
                  <a:srgbClr val="FFFF00"/>
                </a:highlight>
              </a:rPr>
              <a:t>to memory from datafile “emp.txt”</a:t>
            </a:r>
          </a:p>
        </p:txBody>
      </p:sp>
      <p:graphicFrame>
        <p:nvGraphicFramePr>
          <p:cNvPr id="6" name="Table 5">
            <a:extLst>
              <a:ext uri="{FF2B5EF4-FFF2-40B4-BE49-F238E27FC236}">
                <a16:creationId xmlns:a16="http://schemas.microsoft.com/office/drawing/2014/main" id="{4CFB9634-DB4D-9788-FAD9-E2569FFD8B8E}"/>
              </a:ext>
            </a:extLst>
          </p:cNvPr>
          <p:cNvGraphicFramePr>
            <a:graphicFrameLocks noGrp="1"/>
          </p:cNvGraphicFramePr>
          <p:nvPr>
            <p:extLst>
              <p:ext uri="{D42A27DB-BD31-4B8C-83A1-F6EECF244321}">
                <p14:modId xmlns:p14="http://schemas.microsoft.com/office/powerpoint/2010/main" val="2623908649"/>
              </p:ext>
            </p:extLst>
          </p:nvPr>
        </p:nvGraphicFramePr>
        <p:xfrm>
          <a:off x="4286567" y="2199749"/>
          <a:ext cx="3368582" cy="2214883"/>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680259">
                <a:tc>
                  <a:txBody>
                    <a:bodyPr/>
                    <a:lstStyle/>
                    <a:p>
                      <a:r>
                        <a:rPr lang="en-US" sz="2000" b="1" dirty="0" err="1"/>
                        <a:t>i</a:t>
                      </a:r>
                      <a:r>
                        <a:rPr lang="en-NP" sz="2000" b="1" dirty="0"/>
                        <a:t>nt no</a:t>
                      </a:r>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58273">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415470">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660881">
                <a:tc>
                  <a:txBody>
                    <a:bodyPr/>
                    <a:lstStyle/>
                    <a:p>
                      <a:r>
                        <a:rPr lang="en-US" sz="2000" b="1" dirty="0"/>
                        <a:t>age</a:t>
                      </a:r>
                      <a:endParaRPr lang="en-NP" sz="2000" b="1" dirty="0"/>
                    </a:p>
                  </a:txBody>
                  <a:tcPr/>
                </a:tc>
                <a:tc gridSpan="5">
                  <a:txBody>
                    <a:bodyPr/>
                    <a:lstStyle/>
                    <a:p>
                      <a:r>
                        <a:rPr lang="en-NP" b="1" dirty="0"/>
                        <a:t>24</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3B0883F8-9B48-B72A-A174-D14313F3CDFB}"/>
              </a:ext>
            </a:extLst>
          </p:cNvPr>
          <p:cNvSpPr/>
          <p:nvPr/>
        </p:nvSpPr>
        <p:spPr>
          <a:xfrm>
            <a:off x="7655150" y="2797482"/>
            <a:ext cx="872232" cy="2620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pic>
        <p:nvPicPr>
          <p:cNvPr id="8" name="Picture 7">
            <a:extLst>
              <a:ext uri="{FF2B5EF4-FFF2-40B4-BE49-F238E27FC236}">
                <a16:creationId xmlns:a16="http://schemas.microsoft.com/office/drawing/2014/main" id="{F2BFC7E7-D6DA-1BCE-F9F8-E0C308A8D9B5}"/>
              </a:ext>
            </a:extLst>
          </p:cNvPr>
          <p:cNvPicPr>
            <a:picLocks noChangeAspect="1"/>
          </p:cNvPicPr>
          <p:nvPr/>
        </p:nvPicPr>
        <p:blipFill>
          <a:blip r:embed="rId3"/>
          <a:stretch>
            <a:fillRect/>
          </a:stretch>
        </p:blipFill>
        <p:spPr>
          <a:xfrm>
            <a:off x="8527382" y="2277514"/>
            <a:ext cx="3304399" cy="1780136"/>
          </a:xfrm>
          <a:prstGeom prst="rect">
            <a:avLst/>
          </a:prstGeom>
        </p:spPr>
      </p:pic>
      <p:sp>
        <p:nvSpPr>
          <p:cNvPr id="5" name="Right Brace 4">
            <a:extLst>
              <a:ext uri="{FF2B5EF4-FFF2-40B4-BE49-F238E27FC236}">
                <a16:creationId xmlns:a16="http://schemas.microsoft.com/office/drawing/2014/main" id="{E24CFDF7-8A21-F1E2-152E-9C36F8F69B0E}"/>
              </a:ext>
            </a:extLst>
          </p:cNvPr>
          <p:cNvSpPr/>
          <p:nvPr/>
        </p:nvSpPr>
        <p:spPr>
          <a:xfrm>
            <a:off x="2199604" y="2213567"/>
            <a:ext cx="432047" cy="1048794"/>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
        <p:nvSpPr>
          <p:cNvPr id="9" name="Right Brace 8">
            <a:extLst>
              <a:ext uri="{FF2B5EF4-FFF2-40B4-BE49-F238E27FC236}">
                <a16:creationId xmlns:a16="http://schemas.microsoft.com/office/drawing/2014/main" id="{04E31759-80D2-2137-0CE0-725729C94BE7}"/>
              </a:ext>
            </a:extLst>
          </p:cNvPr>
          <p:cNvSpPr/>
          <p:nvPr/>
        </p:nvSpPr>
        <p:spPr>
          <a:xfrm>
            <a:off x="2186225" y="3818414"/>
            <a:ext cx="432047" cy="647973"/>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a:p>
        </p:txBody>
      </p:sp>
    </p:spTree>
    <p:extLst>
      <p:ext uri="{BB962C8B-B14F-4D97-AF65-F5344CB8AC3E}">
        <p14:creationId xmlns:p14="http://schemas.microsoft.com/office/powerpoint/2010/main" val="868146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F3A48-8E06-1B8A-5B59-445AC5D328A2}"/>
              </a:ext>
            </a:extLst>
          </p:cNvPr>
          <p:cNvSpPr>
            <a:spLocks noGrp="1"/>
          </p:cNvSpPr>
          <p:nvPr>
            <p:ph idx="1"/>
          </p:nvPr>
        </p:nvSpPr>
        <p:spPr>
          <a:xfrm>
            <a:off x="200891" y="581890"/>
            <a:ext cx="6206836" cy="6276110"/>
          </a:xfrm>
        </p:spPr>
        <p:txBody>
          <a:bodyPr>
            <a:noAutofit/>
          </a:bodyPr>
          <a:lstStyle/>
          <a:p>
            <a:pPr marL="0" indent="0">
              <a:spcBef>
                <a:spcPts val="0"/>
              </a:spcBef>
              <a:buNone/>
            </a:pPr>
            <a:r>
              <a:rPr lang="en-US" sz="2200" dirty="0"/>
              <a:t>#include&lt;</a:t>
            </a:r>
            <a:r>
              <a:rPr lang="en-US" sz="2200" dirty="0" err="1"/>
              <a:t>stdio.h</a:t>
            </a:r>
            <a:r>
              <a:rPr lang="en-US" sz="2200" dirty="0"/>
              <a:t>&gt; </a:t>
            </a:r>
          </a:p>
          <a:p>
            <a:pPr marL="0" indent="0">
              <a:spcBef>
                <a:spcPts val="0"/>
              </a:spcBef>
              <a:buNone/>
            </a:pPr>
            <a:r>
              <a:rPr lang="en-US" sz="2200" dirty="0"/>
              <a:t>int main() </a:t>
            </a:r>
          </a:p>
          <a:p>
            <a:pPr marL="0" indent="0">
              <a:spcBef>
                <a:spcPts val="0"/>
              </a:spcBef>
              <a:buNone/>
            </a:pPr>
            <a:r>
              <a:rPr lang="en-US" sz="2200" dirty="0"/>
              <a:t>{ </a:t>
            </a:r>
          </a:p>
          <a:p>
            <a:pPr marL="0" indent="0">
              <a:spcBef>
                <a:spcPts val="0"/>
              </a:spcBef>
              <a:buNone/>
            </a:pPr>
            <a:r>
              <a:rPr lang="en-US" sz="2200" dirty="0"/>
              <a:t>char name[30]; </a:t>
            </a:r>
          </a:p>
          <a:p>
            <a:pPr marL="0" indent="0">
              <a:spcBef>
                <a:spcPts val="0"/>
              </a:spcBef>
              <a:buNone/>
            </a:pPr>
            <a:r>
              <a:rPr lang="en-US" sz="2200" dirty="0"/>
              <a:t>int edition; </a:t>
            </a:r>
          </a:p>
          <a:p>
            <a:pPr marL="0" indent="0">
              <a:spcBef>
                <a:spcPts val="0"/>
              </a:spcBef>
              <a:buNone/>
            </a:pPr>
            <a:r>
              <a:rPr lang="en-US" sz="2200" dirty="0"/>
              <a:t>float price; </a:t>
            </a:r>
          </a:p>
          <a:p>
            <a:pPr marL="0" indent="0">
              <a:spcBef>
                <a:spcPts val="0"/>
              </a:spcBef>
              <a:buNone/>
            </a:pPr>
            <a:r>
              <a:rPr lang="en-US" sz="2200" dirty="0"/>
              <a:t>char </a:t>
            </a:r>
            <a:r>
              <a:rPr lang="en-US" sz="2200" dirty="0" err="1"/>
              <a:t>ch</a:t>
            </a:r>
            <a:r>
              <a:rPr lang="en-US" sz="2200" dirty="0"/>
              <a:t>='y'; </a:t>
            </a:r>
          </a:p>
          <a:p>
            <a:pPr marL="0" indent="0">
              <a:spcBef>
                <a:spcPts val="0"/>
              </a:spcBef>
              <a:buNone/>
            </a:pPr>
            <a:r>
              <a:rPr lang="en-US" sz="2200" dirty="0"/>
              <a:t>FILE *</a:t>
            </a:r>
            <a:r>
              <a:rPr lang="en-US" sz="2200" dirty="0" err="1"/>
              <a:t>fp</a:t>
            </a:r>
            <a:r>
              <a:rPr lang="en-US" sz="2200" dirty="0"/>
              <a:t>; </a:t>
            </a:r>
          </a:p>
          <a:p>
            <a:pPr marL="0" indent="0">
              <a:spcBef>
                <a:spcPts val="0"/>
              </a:spcBef>
              <a:buNone/>
            </a:pPr>
            <a:r>
              <a:rPr lang="en-US" sz="2200" dirty="0" err="1"/>
              <a:t>fp</a:t>
            </a:r>
            <a:r>
              <a:rPr lang="en-US" sz="2200" dirty="0"/>
              <a:t>=</a:t>
            </a:r>
            <a:r>
              <a:rPr lang="en-US" sz="2200" dirty="0" err="1"/>
              <a:t>fopen</a:t>
            </a:r>
            <a:r>
              <a:rPr lang="en-US" sz="2200" dirty="0"/>
              <a:t>("</a:t>
            </a:r>
            <a:r>
              <a:rPr lang="en-US" sz="2200" dirty="0" err="1"/>
              <a:t>book.txt","w</a:t>
            </a:r>
            <a:r>
              <a:rPr lang="en-US" sz="2200" dirty="0"/>
              <a:t>"); </a:t>
            </a:r>
          </a:p>
          <a:p>
            <a:pPr marL="0" indent="0">
              <a:spcBef>
                <a:spcPts val="0"/>
              </a:spcBef>
              <a:buNone/>
            </a:pPr>
            <a:r>
              <a:rPr lang="en-US" sz="2200" dirty="0"/>
              <a:t>while(</a:t>
            </a:r>
            <a:r>
              <a:rPr lang="en-US" sz="2200" dirty="0" err="1"/>
              <a:t>ch</a:t>
            </a:r>
            <a:r>
              <a:rPr lang="en-US" sz="2200" dirty="0"/>
              <a:t>=='y') </a:t>
            </a:r>
          </a:p>
          <a:p>
            <a:pPr marL="0" indent="0">
              <a:spcBef>
                <a:spcPts val="0"/>
              </a:spcBef>
              <a:buNone/>
            </a:pPr>
            <a:r>
              <a:rPr lang="en-US" sz="2200" dirty="0"/>
              <a:t>{ </a:t>
            </a:r>
            <a:r>
              <a:rPr lang="en-US" sz="2200" dirty="0" err="1"/>
              <a:t>printf</a:t>
            </a:r>
            <a:r>
              <a:rPr lang="en-US" sz="2200" dirty="0"/>
              <a:t>("Enter book name : " ); </a:t>
            </a:r>
          </a:p>
          <a:p>
            <a:pPr marL="0" indent="0">
              <a:spcBef>
                <a:spcPts val="0"/>
              </a:spcBef>
              <a:buNone/>
            </a:pPr>
            <a:r>
              <a:rPr lang="en-US" sz="2200" dirty="0" err="1"/>
              <a:t>scanf</a:t>
            </a:r>
            <a:r>
              <a:rPr lang="en-US" sz="2200" dirty="0"/>
              <a:t>("%s", name); </a:t>
            </a:r>
          </a:p>
          <a:p>
            <a:pPr marL="0" indent="0">
              <a:spcBef>
                <a:spcPts val="0"/>
              </a:spcBef>
              <a:buNone/>
            </a:pPr>
            <a:r>
              <a:rPr lang="en-US" sz="2200" dirty="0" err="1"/>
              <a:t>printf</a:t>
            </a:r>
            <a:r>
              <a:rPr lang="en-US" sz="2200" dirty="0"/>
              <a:t>("Enter book edition : " ); </a:t>
            </a:r>
          </a:p>
          <a:p>
            <a:pPr marL="0" indent="0">
              <a:spcBef>
                <a:spcPts val="0"/>
              </a:spcBef>
              <a:buNone/>
            </a:pPr>
            <a:r>
              <a:rPr lang="en-US" sz="2200" dirty="0" err="1"/>
              <a:t>scanf</a:t>
            </a:r>
            <a:r>
              <a:rPr lang="en-US" sz="2200" dirty="0"/>
              <a:t>("%d", &amp;edition); </a:t>
            </a:r>
          </a:p>
          <a:p>
            <a:pPr marL="0" indent="0">
              <a:spcBef>
                <a:spcPts val="0"/>
              </a:spcBef>
              <a:buNone/>
            </a:pPr>
            <a:r>
              <a:rPr lang="en-US" sz="2200" dirty="0" err="1"/>
              <a:t>printf</a:t>
            </a:r>
            <a:r>
              <a:rPr lang="en-US" sz="2200" dirty="0"/>
              <a:t>("Enter book price : " ); </a:t>
            </a:r>
          </a:p>
          <a:p>
            <a:pPr marL="0" indent="0">
              <a:spcBef>
                <a:spcPts val="0"/>
              </a:spcBef>
              <a:buNone/>
            </a:pPr>
            <a:r>
              <a:rPr lang="en-US" sz="2200" dirty="0" err="1"/>
              <a:t>scanf</a:t>
            </a:r>
            <a:r>
              <a:rPr lang="en-US" sz="2200" dirty="0"/>
              <a:t>("%f", &amp;price); </a:t>
            </a:r>
          </a:p>
          <a:p>
            <a:pPr marL="0" indent="0">
              <a:spcBef>
                <a:spcPts val="0"/>
              </a:spcBef>
              <a:buNone/>
            </a:pPr>
            <a:r>
              <a:rPr lang="en-US" sz="2200" dirty="0" err="1"/>
              <a:t>fprintf</a:t>
            </a:r>
            <a:r>
              <a:rPr lang="en-US" sz="2200" dirty="0"/>
              <a:t>(</a:t>
            </a:r>
            <a:r>
              <a:rPr lang="en-US" sz="2200" dirty="0" err="1"/>
              <a:t>fp</a:t>
            </a:r>
            <a:r>
              <a:rPr lang="en-US" sz="2200" dirty="0"/>
              <a:t>,"%s\t %d\t %f\n", name, edition, price); </a:t>
            </a:r>
          </a:p>
          <a:p>
            <a:pPr marL="0" indent="0">
              <a:spcBef>
                <a:spcPts val="0"/>
              </a:spcBef>
              <a:buNone/>
            </a:pPr>
            <a:r>
              <a:rPr lang="en-US" sz="2200" dirty="0" err="1"/>
              <a:t>printf</a:t>
            </a:r>
            <a:r>
              <a:rPr lang="en-US" sz="2200" dirty="0"/>
              <a:t>("Add more records (y/n) : "); </a:t>
            </a:r>
          </a:p>
          <a:p>
            <a:pPr marL="0" indent="0">
              <a:spcBef>
                <a:spcPts val="0"/>
              </a:spcBef>
              <a:buNone/>
            </a:pPr>
            <a:r>
              <a:rPr lang="en-US" sz="2200" dirty="0" err="1"/>
              <a:t>scanf</a:t>
            </a:r>
            <a:r>
              <a:rPr lang="en-US" sz="2200" dirty="0"/>
              <a:t>(" %c",&amp;</a:t>
            </a:r>
            <a:r>
              <a:rPr lang="en-US" sz="2200" dirty="0" err="1"/>
              <a:t>ch</a:t>
            </a:r>
            <a:r>
              <a:rPr lang="en-US" sz="2200" dirty="0"/>
              <a:t>); </a:t>
            </a:r>
          </a:p>
          <a:p>
            <a:pPr marL="0" indent="0">
              <a:spcBef>
                <a:spcPts val="0"/>
              </a:spcBef>
              <a:buNone/>
            </a:pPr>
            <a:r>
              <a:rPr lang="en-US" sz="2200" dirty="0"/>
              <a:t>} </a:t>
            </a:r>
          </a:p>
          <a:p>
            <a:pPr marL="0" indent="0">
              <a:spcBef>
                <a:spcPts val="0"/>
              </a:spcBef>
              <a:buNone/>
            </a:pPr>
            <a:endParaRPr lang="en-US" sz="2000" dirty="0"/>
          </a:p>
        </p:txBody>
      </p:sp>
      <p:sp>
        <p:nvSpPr>
          <p:cNvPr id="4" name="Content Placeholder 2">
            <a:extLst>
              <a:ext uri="{FF2B5EF4-FFF2-40B4-BE49-F238E27FC236}">
                <a16:creationId xmlns:a16="http://schemas.microsoft.com/office/drawing/2014/main" id="{CA3A0B8F-2D83-A585-3CE4-858E41155C91}"/>
              </a:ext>
            </a:extLst>
          </p:cNvPr>
          <p:cNvSpPr txBox="1">
            <a:spLocks/>
          </p:cNvSpPr>
          <p:nvPr/>
        </p:nvSpPr>
        <p:spPr>
          <a:xfrm>
            <a:off x="5929746" y="581891"/>
            <a:ext cx="5056909" cy="6442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1800" dirty="0"/>
          </a:p>
          <a:p>
            <a:pPr marL="0" indent="0">
              <a:spcBef>
                <a:spcPts val="0"/>
              </a:spcBef>
              <a:buFont typeface="Arial" panose="020B0604020202020204" pitchFamily="34" charset="0"/>
              <a:buNone/>
            </a:pPr>
            <a:r>
              <a:rPr lang="en-US" sz="1800" dirty="0"/>
              <a:t> </a:t>
            </a:r>
            <a:endParaRPr lang="en-NP" sz="1800" dirty="0"/>
          </a:p>
        </p:txBody>
      </p:sp>
      <p:sp>
        <p:nvSpPr>
          <p:cNvPr id="6" name="Content Placeholder 2">
            <a:extLst>
              <a:ext uri="{FF2B5EF4-FFF2-40B4-BE49-F238E27FC236}">
                <a16:creationId xmlns:a16="http://schemas.microsoft.com/office/drawing/2014/main" id="{3FB0F14A-A37B-4943-F53D-8EFFB7A4C8CA}"/>
              </a:ext>
            </a:extLst>
          </p:cNvPr>
          <p:cNvSpPr txBox="1">
            <a:spLocks/>
          </p:cNvSpPr>
          <p:nvPr/>
        </p:nvSpPr>
        <p:spPr>
          <a:xfrm>
            <a:off x="5320145" y="193964"/>
            <a:ext cx="6816437" cy="6664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2400" dirty="0"/>
          </a:p>
          <a:p>
            <a:pPr marL="0" indent="0">
              <a:spcBef>
                <a:spcPts val="0"/>
              </a:spcBef>
              <a:buFont typeface="Arial" panose="020B0604020202020204" pitchFamily="34" charset="0"/>
              <a:buNone/>
            </a:pPr>
            <a:r>
              <a:rPr lang="en-US" sz="2400" dirty="0" err="1"/>
              <a:t>fclose</a:t>
            </a:r>
            <a:r>
              <a:rPr lang="en-US" sz="2400" dirty="0"/>
              <a:t>(</a:t>
            </a:r>
            <a:r>
              <a:rPr lang="en-US" sz="2400" dirty="0" err="1"/>
              <a:t>fp</a:t>
            </a:r>
            <a:r>
              <a:rPr lang="en-US" sz="2400" dirty="0"/>
              <a:t>); </a:t>
            </a:r>
          </a:p>
          <a:p>
            <a:pPr marL="0" indent="0">
              <a:spcBef>
                <a:spcPts val="0"/>
              </a:spcBef>
              <a:buFont typeface="Arial" panose="020B0604020202020204" pitchFamily="34" charset="0"/>
              <a:buNone/>
            </a:pPr>
            <a:r>
              <a:rPr lang="en-US" sz="2400" dirty="0" err="1"/>
              <a:t>fp</a:t>
            </a:r>
            <a:r>
              <a:rPr lang="en-US" sz="2400" dirty="0"/>
              <a:t>=</a:t>
            </a:r>
            <a:r>
              <a:rPr lang="en-US" sz="2400" dirty="0" err="1"/>
              <a:t>fopen</a:t>
            </a:r>
            <a:r>
              <a:rPr lang="en-US" sz="2400" dirty="0"/>
              <a:t>("</a:t>
            </a:r>
            <a:r>
              <a:rPr lang="en-US" sz="2400" dirty="0" err="1"/>
              <a:t>book.txt","r</a:t>
            </a:r>
            <a:r>
              <a:rPr lang="en-US" sz="2400" dirty="0"/>
              <a:t>"); </a:t>
            </a:r>
          </a:p>
          <a:p>
            <a:pPr marL="0" indent="0">
              <a:spcBef>
                <a:spcPts val="0"/>
              </a:spcBef>
              <a:buFont typeface="Arial" panose="020B0604020202020204" pitchFamily="34" charset="0"/>
              <a:buNone/>
            </a:pPr>
            <a:r>
              <a:rPr lang="en-US" sz="2400" dirty="0" err="1"/>
              <a:t>printf</a:t>
            </a:r>
            <a:r>
              <a:rPr lang="en-US" sz="2400" dirty="0"/>
              <a:t>("Book Name \t Edition \t Price\n"); </a:t>
            </a:r>
          </a:p>
          <a:p>
            <a:pPr marL="0" indent="0">
              <a:spcBef>
                <a:spcPts val="0"/>
              </a:spcBef>
              <a:buFont typeface="Arial" panose="020B0604020202020204" pitchFamily="34" charset="0"/>
              <a:buNone/>
            </a:pPr>
            <a:r>
              <a:rPr lang="en-US" sz="2400" dirty="0"/>
              <a:t>while(</a:t>
            </a:r>
            <a:r>
              <a:rPr lang="en-US" sz="2400" dirty="0" err="1"/>
              <a:t>fscanf</a:t>
            </a:r>
            <a:r>
              <a:rPr lang="en-US" sz="2400" dirty="0"/>
              <a:t>(</a:t>
            </a:r>
            <a:r>
              <a:rPr lang="en-US" sz="2400" dirty="0" err="1"/>
              <a:t>fp</a:t>
            </a:r>
            <a:r>
              <a:rPr lang="en-US" sz="2400" dirty="0"/>
              <a:t>,"%</a:t>
            </a:r>
            <a:r>
              <a:rPr lang="en-US" sz="2400" dirty="0" err="1"/>
              <a:t>s%d%f</a:t>
            </a:r>
            <a:r>
              <a:rPr lang="en-US" sz="2400" dirty="0"/>
              <a:t>", name, &amp;edition, &amp;price)!=EOF) </a:t>
            </a:r>
          </a:p>
          <a:p>
            <a:pPr marL="0" indent="0">
              <a:spcBef>
                <a:spcPts val="0"/>
              </a:spcBef>
              <a:buFont typeface="Arial" panose="020B0604020202020204" pitchFamily="34" charset="0"/>
              <a:buNone/>
            </a:pPr>
            <a:r>
              <a:rPr lang="en-US" sz="2400" dirty="0"/>
              <a:t>{ </a:t>
            </a:r>
          </a:p>
          <a:p>
            <a:pPr marL="0" indent="0">
              <a:spcBef>
                <a:spcPts val="0"/>
              </a:spcBef>
              <a:buFont typeface="Arial" panose="020B0604020202020204" pitchFamily="34" charset="0"/>
              <a:buNone/>
            </a:pPr>
            <a:r>
              <a:rPr lang="en-US" sz="2400" dirty="0" err="1"/>
              <a:t>printf</a:t>
            </a:r>
            <a:r>
              <a:rPr lang="en-US" sz="2400" dirty="0"/>
              <a:t>("%s\t\t %d\t %.2f\n ", name, edition, price); </a:t>
            </a:r>
          </a:p>
          <a:p>
            <a:pPr marL="0" indent="0">
              <a:spcBef>
                <a:spcPts val="0"/>
              </a:spcBef>
              <a:buFont typeface="Arial" panose="020B0604020202020204" pitchFamily="34" charset="0"/>
              <a:buNone/>
            </a:pPr>
            <a:r>
              <a:rPr lang="en-US" sz="2400" dirty="0"/>
              <a:t>} </a:t>
            </a:r>
          </a:p>
          <a:p>
            <a:pPr marL="0" indent="0">
              <a:spcBef>
                <a:spcPts val="0"/>
              </a:spcBef>
              <a:buFont typeface="Arial" panose="020B0604020202020204" pitchFamily="34" charset="0"/>
              <a:buNone/>
            </a:pPr>
            <a:r>
              <a:rPr lang="en-US" sz="2400" dirty="0" err="1"/>
              <a:t>fclose</a:t>
            </a:r>
            <a:r>
              <a:rPr lang="en-US" sz="2400" dirty="0"/>
              <a:t>(</a:t>
            </a:r>
            <a:r>
              <a:rPr lang="en-US" sz="2400" dirty="0" err="1"/>
              <a:t>fp</a:t>
            </a:r>
            <a:r>
              <a:rPr lang="en-US" sz="2400" dirty="0"/>
              <a:t>); </a:t>
            </a:r>
          </a:p>
          <a:p>
            <a:pPr marL="0" indent="0">
              <a:spcBef>
                <a:spcPts val="0"/>
              </a:spcBef>
              <a:buFont typeface="Arial" panose="020B0604020202020204" pitchFamily="34" charset="0"/>
              <a:buNone/>
            </a:pPr>
            <a:r>
              <a:rPr lang="en-US" sz="2400" dirty="0"/>
              <a:t>return 0;</a:t>
            </a:r>
          </a:p>
          <a:p>
            <a:pPr marL="0" indent="0">
              <a:spcBef>
                <a:spcPts val="0"/>
              </a:spcBef>
              <a:buFont typeface="Arial" panose="020B0604020202020204" pitchFamily="34" charset="0"/>
              <a:buNone/>
            </a:pPr>
            <a:r>
              <a:rPr lang="en-US" sz="2400" dirty="0"/>
              <a:t>}</a:t>
            </a:r>
          </a:p>
          <a:p>
            <a:pPr marL="0" indent="0">
              <a:spcBef>
                <a:spcPts val="0"/>
              </a:spcBef>
              <a:buFont typeface="Arial" panose="020B0604020202020204" pitchFamily="34" charset="0"/>
              <a:buNone/>
            </a:pPr>
            <a:br>
              <a:rPr lang="en-US" dirty="0"/>
            </a:br>
            <a:endParaRPr lang="en-US" dirty="0"/>
          </a:p>
          <a:p>
            <a:pPr marL="0" indent="0">
              <a:spcBef>
                <a:spcPts val="0"/>
              </a:spcBef>
              <a:buFont typeface="Arial" panose="020B0604020202020204" pitchFamily="34" charset="0"/>
              <a:buNone/>
            </a:pPr>
            <a:endParaRPr lang="en-NP" sz="1800" dirty="0"/>
          </a:p>
        </p:txBody>
      </p:sp>
      <p:cxnSp>
        <p:nvCxnSpPr>
          <p:cNvPr id="8" name="Straight Arrow Connector 7">
            <a:extLst>
              <a:ext uri="{FF2B5EF4-FFF2-40B4-BE49-F238E27FC236}">
                <a16:creationId xmlns:a16="http://schemas.microsoft.com/office/drawing/2014/main" id="{58D5E46A-BCAE-F374-79B1-90D6D9EC0BBC}"/>
              </a:ext>
            </a:extLst>
          </p:cNvPr>
          <p:cNvCxnSpPr>
            <a:cxnSpLocks/>
          </p:cNvCxnSpPr>
          <p:nvPr/>
        </p:nvCxnSpPr>
        <p:spPr>
          <a:xfrm flipV="1">
            <a:off x="5167745" y="360218"/>
            <a:ext cx="0" cy="4946073"/>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D02CEFE3-F7FC-9700-752E-FFCF779BE63F}"/>
              </a:ext>
            </a:extLst>
          </p:cNvPr>
          <p:cNvCxnSpPr/>
          <p:nvPr/>
        </p:nvCxnSpPr>
        <p:spPr>
          <a:xfrm>
            <a:off x="5167745" y="5306291"/>
            <a:ext cx="1316182" cy="0"/>
          </a:xfrm>
          <a:prstGeom prst="line">
            <a:avLst/>
          </a:prstGeom>
          <a:ln w="44450"/>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D9799FD-FD9F-5956-DEE8-B2498D478667}"/>
              </a:ext>
            </a:extLst>
          </p:cNvPr>
          <p:cNvCxnSpPr>
            <a:cxnSpLocks/>
          </p:cNvCxnSpPr>
          <p:nvPr/>
        </p:nvCxnSpPr>
        <p:spPr>
          <a:xfrm>
            <a:off x="6483927" y="5306291"/>
            <a:ext cx="0" cy="1551709"/>
          </a:xfrm>
          <a:prstGeom prst="line">
            <a:avLst/>
          </a:prstGeom>
          <a:ln w="44450"/>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F7A359B-E32B-0DD1-1147-C6421F3EBC18}"/>
              </a:ext>
            </a:extLst>
          </p:cNvPr>
          <p:cNvSpPr txBox="1"/>
          <p:nvPr/>
        </p:nvSpPr>
        <p:spPr>
          <a:xfrm>
            <a:off x="371475" y="142875"/>
            <a:ext cx="11487150" cy="369332"/>
          </a:xfrm>
          <a:prstGeom prst="rect">
            <a:avLst/>
          </a:prstGeom>
          <a:noFill/>
        </p:spPr>
        <p:txBody>
          <a:bodyPr wrap="square" rtlCol="0">
            <a:spAutoFit/>
          </a:bodyPr>
          <a:lstStyle/>
          <a:p>
            <a:r>
              <a:rPr lang="en-NP" b="1" dirty="0"/>
              <a:t>5) WAP to store book’s name, edition and price in a data file “book.txt” using user  choice. </a:t>
            </a:r>
            <a:endParaRPr lang="en-NP" dirty="0"/>
          </a:p>
        </p:txBody>
      </p:sp>
    </p:spTree>
    <p:extLst>
      <p:ext uri="{BB962C8B-B14F-4D97-AF65-F5344CB8AC3E}">
        <p14:creationId xmlns:p14="http://schemas.microsoft.com/office/powerpoint/2010/main" val="5237470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4058-122D-0BB2-11D4-0FBF121B533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74344EC-78B3-A6FE-4E67-E79C48BDE986}"/>
              </a:ext>
            </a:extLst>
          </p:cNvPr>
          <p:cNvPicPr>
            <a:picLocks noChangeAspect="1"/>
          </p:cNvPicPr>
          <p:nvPr/>
        </p:nvPicPr>
        <p:blipFill>
          <a:blip r:embed="rId2"/>
          <a:stretch>
            <a:fillRect/>
          </a:stretch>
        </p:blipFill>
        <p:spPr>
          <a:xfrm>
            <a:off x="76579" y="2025610"/>
            <a:ext cx="3171723" cy="1949877"/>
          </a:xfrm>
          <a:prstGeom prst="rect">
            <a:avLst/>
          </a:prstGeom>
        </p:spPr>
      </p:pic>
      <p:sp>
        <p:nvSpPr>
          <p:cNvPr id="26" name="Rectangle 25">
            <a:extLst>
              <a:ext uri="{FF2B5EF4-FFF2-40B4-BE49-F238E27FC236}">
                <a16:creationId xmlns:a16="http://schemas.microsoft.com/office/drawing/2014/main" id="{FD592D34-102D-C96A-FC90-BA3CAC9D21D1}"/>
              </a:ext>
            </a:extLst>
          </p:cNvPr>
          <p:cNvSpPr/>
          <p:nvPr/>
        </p:nvSpPr>
        <p:spPr>
          <a:xfrm>
            <a:off x="7135091" y="439129"/>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25" name="Rectangle 24">
            <a:extLst>
              <a:ext uri="{FF2B5EF4-FFF2-40B4-BE49-F238E27FC236}">
                <a16:creationId xmlns:a16="http://schemas.microsoft.com/office/drawing/2014/main" id="{E9578F31-4D9F-FCA7-73EA-C729CBCA18EA}"/>
              </a:ext>
            </a:extLst>
          </p:cNvPr>
          <p:cNvSpPr/>
          <p:nvPr/>
        </p:nvSpPr>
        <p:spPr>
          <a:xfrm>
            <a:off x="346363" y="488351"/>
            <a:ext cx="48490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11" name="TextBox 10">
            <a:extLst>
              <a:ext uri="{FF2B5EF4-FFF2-40B4-BE49-F238E27FC236}">
                <a16:creationId xmlns:a16="http://schemas.microsoft.com/office/drawing/2014/main" id="{352AEA23-2133-4D4A-C778-9BDF391D074C}"/>
              </a:ext>
            </a:extLst>
          </p:cNvPr>
          <p:cNvSpPr txBox="1"/>
          <p:nvPr/>
        </p:nvSpPr>
        <p:spPr>
          <a:xfrm>
            <a:off x="947303" y="1527087"/>
            <a:ext cx="1967346" cy="369332"/>
          </a:xfrm>
          <a:prstGeom prst="rect">
            <a:avLst/>
          </a:prstGeom>
          <a:noFill/>
        </p:spPr>
        <p:txBody>
          <a:bodyPr wrap="square" rtlCol="0">
            <a:spAutoFit/>
          </a:bodyPr>
          <a:lstStyle/>
          <a:p>
            <a:r>
              <a:rPr lang="en-US" dirty="0"/>
              <a:t>U</a:t>
            </a:r>
            <a:r>
              <a:rPr lang="en-NP" dirty="0"/>
              <a:t>ser screen</a:t>
            </a:r>
          </a:p>
        </p:txBody>
      </p:sp>
      <p:sp>
        <p:nvSpPr>
          <p:cNvPr id="12" name="TextBox 11">
            <a:extLst>
              <a:ext uri="{FF2B5EF4-FFF2-40B4-BE49-F238E27FC236}">
                <a16:creationId xmlns:a16="http://schemas.microsoft.com/office/drawing/2014/main" id="{6C372EAD-5906-47ED-8BD4-CEBF5CACE596}"/>
              </a:ext>
            </a:extLst>
          </p:cNvPr>
          <p:cNvSpPr txBox="1"/>
          <p:nvPr/>
        </p:nvSpPr>
        <p:spPr>
          <a:xfrm>
            <a:off x="7955426" y="1629641"/>
            <a:ext cx="3172690" cy="369332"/>
          </a:xfrm>
          <a:prstGeom prst="rect">
            <a:avLst/>
          </a:prstGeom>
          <a:noFill/>
        </p:spPr>
        <p:txBody>
          <a:bodyPr wrap="square" rtlCol="0">
            <a:spAutoFit/>
          </a:bodyPr>
          <a:lstStyle/>
          <a:p>
            <a:r>
              <a:rPr lang="en-US" dirty="0"/>
              <a:t>File name</a:t>
            </a:r>
            <a:r>
              <a:rPr lang="en-NP" dirty="0"/>
              <a:t> “emp.txt” (Notepad) </a:t>
            </a:r>
          </a:p>
        </p:txBody>
      </p:sp>
      <p:sp>
        <p:nvSpPr>
          <p:cNvPr id="14" name="TextBox 13">
            <a:extLst>
              <a:ext uri="{FF2B5EF4-FFF2-40B4-BE49-F238E27FC236}">
                <a16:creationId xmlns:a16="http://schemas.microsoft.com/office/drawing/2014/main" id="{57AB25F5-ACF5-39A4-E7F3-F3CD6D4221A9}"/>
              </a:ext>
            </a:extLst>
          </p:cNvPr>
          <p:cNvSpPr txBox="1"/>
          <p:nvPr/>
        </p:nvSpPr>
        <p:spPr>
          <a:xfrm>
            <a:off x="5195454" y="1792253"/>
            <a:ext cx="1276352" cy="369332"/>
          </a:xfrm>
          <a:prstGeom prst="rect">
            <a:avLst/>
          </a:prstGeom>
          <a:noFill/>
        </p:spPr>
        <p:txBody>
          <a:bodyPr wrap="square" rtlCol="0">
            <a:spAutoFit/>
          </a:bodyPr>
          <a:lstStyle/>
          <a:p>
            <a:r>
              <a:rPr lang="en-NP" dirty="0"/>
              <a:t>    Memory</a:t>
            </a:r>
          </a:p>
        </p:txBody>
      </p:sp>
      <p:sp>
        <p:nvSpPr>
          <p:cNvPr id="19" name="Right Arrow 18">
            <a:extLst>
              <a:ext uri="{FF2B5EF4-FFF2-40B4-BE49-F238E27FC236}">
                <a16:creationId xmlns:a16="http://schemas.microsoft.com/office/drawing/2014/main" id="{1F1D3323-3812-373A-26CE-C57581A040FA}"/>
              </a:ext>
            </a:extLst>
          </p:cNvPr>
          <p:cNvSpPr/>
          <p:nvPr/>
        </p:nvSpPr>
        <p:spPr>
          <a:xfrm>
            <a:off x="2574176" y="2399437"/>
            <a:ext cx="1699339" cy="285095"/>
          </a:xfrm>
          <a:prstGeom prst="rightArrow">
            <a:avLst>
              <a:gd name="adj1" fmla="val 42080"/>
              <a:gd name="adj2" fmla="val 50000"/>
            </a:avLst>
          </a:prstGeom>
          <a:ln w="2222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0" name="TextBox 19">
            <a:extLst>
              <a:ext uri="{FF2B5EF4-FFF2-40B4-BE49-F238E27FC236}">
                <a16:creationId xmlns:a16="http://schemas.microsoft.com/office/drawing/2014/main" id="{0ED1801A-4FC1-97F2-1BAB-78A00AF2A9A3}"/>
              </a:ext>
            </a:extLst>
          </p:cNvPr>
          <p:cNvSpPr txBox="1"/>
          <p:nvPr/>
        </p:nvSpPr>
        <p:spPr>
          <a:xfrm>
            <a:off x="3032961" y="2043460"/>
            <a:ext cx="1357746" cy="369332"/>
          </a:xfrm>
          <a:prstGeom prst="rect">
            <a:avLst/>
          </a:prstGeom>
          <a:noFill/>
        </p:spPr>
        <p:txBody>
          <a:bodyPr wrap="square" rtlCol="0">
            <a:spAutoFit/>
          </a:bodyPr>
          <a:lstStyle/>
          <a:p>
            <a:r>
              <a:rPr lang="en-US" b="1" dirty="0"/>
              <a:t>      </a:t>
            </a:r>
            <a:r>
              <a:rPr lang="en-US" b="1" dirty="0" err="1">
                <a:highlight>
                  <a:srgbClr val="FFFF00"/>
                </a:highlight>
              </a:rPr>
              <a:t>scanf</a:t>
            </a:r>
            <a:r>
              <a:rPr lang="en-NP" b="1" dirty="0">
                <a:highlight>
                  <a:srgbClr val="FFFF00"/>
                </a:highlight>
              </a:rPr>
              <a:t>()</a:t>
            </a:r>
          </a:p>
        </p:txBody>
      </p:sp>
      <p:sp>
        <p:nvSpPr>
          <p:cNvPr id="21" name="TextBox 20">
            <a:extLst>
              <a:ext uri="{FF2B5EF4-FFF2-40B4-BE49-F238E27FC236}">
                <a16:creationId xmlns:a16="http://schemas.microsoft.com/office/drawing/2014/main" id="{9931FEE7-DF1C-F6DA-228F-749024624BF8}"/>
              </a:ext>
            </a:extLst>
          </p:cNvPr>
          <p:cNvSpPr txBox="1"/>
          <p:nvPr/>
        </p:nvSpPr>
        <p:spPr>
          <a:xfrm>
            <a:off x="523006" y="600892"/>
            <a:ext cx="4783286"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scanf</a:t>
            </a:r>
            <a:r>
              <a:rPr lang="en-NP" dirty="0">
                <a:highlight>
                  <a:srgbClr val="FFFF00"/>
                </a:highlight>
              </a:rPr>
              <a:t>() function is used to store/input data to memory from userscreen.</a:t>
            </a:r>
          </a:p>
        </p:txBody>
      </p:sp>
      <p:sp>
        <p:nvSpPr>
          <p:cNvPr id="23" name="TextBox 22">
            <a:extLst>
              <a:ext uri="{FF2B5EF4-FFF2-40B4-BE49-F238E27FC236}">
                <a16:creationId xmlns:a16="http://schemas.microsoft.com/office/drawing/2014/main" id="{7A295272-A99E-20C5-03AB-352F43171AAF}"/>
              </a:ext>
            </a:extLst>
          </p:cNvPr>
          <p:cNvSpPr txBox="1"/>
          <p:nvPr/>
        </p:nvSpPr>
        <p:spPr>
          <a:xfrm>
            <a:off x="7567007" y="2416484"/>
            <a:ext cx="1357746" cy="369332"/>
          </a:xfrm>
          <a:prstGeom prst="rect">
            <a:avLst/>
          </a:prstGeom>
          <a:noFill/>
        </p:spPr>
        <p:txBody>
          <a:bodyPr wrap="square" rtlCol="0">
            <a:spAutoFit/>
          </a:bodyPr>
          <a:lstStyle/>
          <a:p>
            <a:r>
              <a:rPr lang="en-US" b="1" dirty="0">
                <a:highlight>
                  <a:srgbClr val="FFFF00"/>
                </a:highlight>
              </a:rPr>
              <a:t> </a:t>
            </a:r>
            <a:r>
              <a:rPr lang="en-US" b="1" dirty="0" err="1">
                <a:highlight>
                  <a:srgbClr val="FFFF00"/>
                </a:highlight>
              </a:rPr>
              <a:t>fprintf</a:t>
            </a:r>
            <a:r>
              <a:rPr lang="en-NP" b="1" dirty="0">
                <a:highlight>
                  <a:srgbClr val="FFFF00"/>
                </a:highlight>
              </a:rPr>
              <a:t>()</a:t>
            </a:r>
          </a:p>
        </p:txBody>
      </p:sp>
      <p:sp>
        <p:nvSpPr>
          <p:cNvPr id="24" name="TextBox 23">
            <a:extLst>
              <a:ext uri="{FF2B5EF4-FFF2-40B4-BE49-F238E27FC236}">
                <a16:creationId xmlns:a16="http://schemas.microsoft.com/office/drawing/2014/main" id="{543069FF-99A3-D866-F6FE-6E706B32AD81}"/>
              </a:ext>
            </a:extLst>
          </p:cNvPr>
          <p:cNvSpPr txBox="1"/>
          <p:nvPr/>
        </p:nvSpPr>
        <p:spPr>
          <a:xfrm>
            <a:off x="7135091" y="492894"/>
            <a:ext cx="4753843" cy="646331"/>
          </a:xfrm>
          <a:prstGeom prst="rect">
            <a:avLst/>
          </a:prstGeom>
          <a:noFill/>
        </p:spPr>
        <p:txBody>
          <a:bodyPr wrap="square" rtlCol="0">
            <a:spAutoFit/>
          </a:bodyPr>
          <a:lstStyle/>
          <a:p>
            <a:r>
              <a:rPr lang="en-US" dirty="0">
                <a:highlight>
                  <a:srgbClr val="FFFF00"/>
                </a:highlight>
              </a:rPr>
              <a:t>Note: </a:t>
            </a:r>
            <a:r>
              <a:rPr lang="en-US" dirty="0" err="1">
                <a:highlight>
                  <a:srgbClr val="FFFF00"/>
                </a:highlight>
              </a:rPr>
              <a:t>fprintf</a:t>
            </a:r>
            <a:r>
              <a:rPr lang="en-NP" dirty="0">
                <a:highlight>
                  <a:srgbClr val="FFFF00"/>
                </a:highlight>
              </a:rPr>
              <a:t>() function is used to write data to the file named “emp.txt.txt” from memory.</a:t>
            </a:r>
          </a:p>
        </p:txBody>
      </p:sp>
      <p:sp>
        <p:nvSpPr>
          <p:cNvPr id="27" name="Right Arrow 26">
            <a:extLst>
              <a:ext uri="{FF2B5EF4-FFF2-40B4-BE49-F238E27FC236}">
                <a16:creationId xmlns:a16="http://schemas.microsoft.com/office/drawing/2014/main" id="{7EA2BFAD-2721-275E-9363-92046F0A273E}"/>
              </a:ext>
            </a:extLst>
          </p:cNvPr>
          <p:cNvSpPr/>
          <p:nvPr/>
        </p:nvSpPr>
        <p:spPr>
          <a:xfrm rot="10800000">
            <a:off x="7668200" y="3284741"/>
            <a:ext cx="820846" cy="2376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29" name="TextBox 28">
            <a:extLst>
              <a:ext uri="{FF2B5EF4-FFF2-40B4-BE49-F238E27FC236}">
                <a16:creationId xmlns:a16="http://schemas.microsoft.com/office/drawing/2014/main" id="{0786027D-0762-5315-444B-E8154ACB3EEE}"/>
              </a:ext>
            </a:extLst>
          </p:cNvPr>
          <p:cNvSpPr txBox="1"/>
          <p:nvPr/>
        </p:nvSpPr>
        <p:spPr>
          <a:xfrm>
            <a:off x="7623157" y="3572659"/>
            <a:ext cx="1357746" cy="369332"/>
          </a:xfrm>
          <a:prstGeom prst="rect">
            <a:avLst/>
          </a:prstGeom>
          <a:noFill/>
        </p:spPr>
        <p:txBody>
          <a:bodyPr wrap="square" rtlCol="0">
            <a:spAutoFit/>
          </a:bodyPr>
          <a:lstStyle/>
          <a:p>
            <a:r>
              <a:rPr lang="en-US" b="1" dirty="0" err="1">
                <a:highlight>
                  <a:srgbClr val="FFFF00"/>
                </a:highlight>
              </a:rPr>
              <a:t>fscanf</a:t>
            </a:r>
            <a:r>
              <a:rPr lang="en-NP" b="1" dirty="0">
                <a:highlight>
                  <a:srgbClr val="FFFF00"/>
                </a:highlight>
              </a:rPr>
              <a:t>()</a:t>
            </a:r>
          </a:p>
        </p:txBody>
      </p:sp>
      <p:sp>
        <p:nvSpPr>
          <p:cNvPr id="30" name="Right Arrow 29">
            <a:extLst>
              <a:ext uri="{FF2B5EF4-FFF2-40B4-BE49-F238E27FC236}">
                <a16:creationId xmlns:a16="http://schemas.microsoft.com/office/drawing/2014/main" id="{2E8CA56E-6A1F-A1A9-D5E8-A7E3C8842847}"/>
              </a:ext>
            </a:extLst>
          </p:cNvPr>
          <p:cNvSpPr/>
          <p:nvPr/>
        </p:nvSpPr>
        <p:spPr>
          <a:xfrm rot="10800000">
            <a:off x="3261353" y="3449679"/>
            <a:ext cx="1004938" cy="3020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1" name="TextBox 30">
            <a:extLst>
              <a:ext uri="{FF2B5EF4-FFF2-40B4-BE49-F238E27FC236}">
                <a16:creationId xmlns:a16="http://schemas.microsoft.com/office/drawing/2014/main" id="{5118139E-AEE4-6E96-6DD5-DFABA151F53B}"/>
              </a:ext>
            </a:extLst>
          </p:cNvPr>
          <p:cNvSpPr txBox="1"/>
          <p:nvPr/>
        </p:nvSpPr>
        <p:spPr>
          <a:xfrm>
            <a:off x="3391787" y="3804139"/>
            <a:ext cx="1439140" cy="369330"/>
          </a:xfrm>
          <a:prstGeom prst="rect">
            <a:avLst/>
          </a:prstGeom>
          <a:noFill/>
        </p:spPr>
        <p:txBody>
          <a:bodyPr wrap="square" rtlCol="0">
            <a:spAutoFit/>
          </a:bodyPr>
          <a:lstStyle/>
          <a:p>
            <a:r>
              <a:rPr lang="en-US" b="1" dirty="0" err="1">
                <a:highlight>
                  <a:srgbClr val="FFFF00"/>
                </a:highlight>
              </a:rPr>
              <a:t>printf</a:t>
            </a:r>
            <a:r>
              <a:rPr lang="en-NP" b="1" dirty="0">
                <a:highlight>
                  <a:srgbClr val="FFFF00"/>
                </a:highlight>
              </a:rPr>
              <a:t>()</a:t>
            </a:r>
          </a:p>
        </p:txBody>
      </p:sp>
      <p:sp>
        <p:nvSpPr>
          <p:cNvPr id="32" name="Rectangle 31">
            <a:extLst>
              <a:ext uri="{FF2B5EF4-FFF2-40B4-BE49-F238E27FC236}">
                <a16:creationId xmlns:a16="http://schemas.microsoft.com/office/drawing/2014/main" id="{EC307408-6722-D9A4-2665-B294A426BE61}"/>
              </a:ext>
            </a:extLst>
          </p:cNvPr>
          <p:cNvSpPr/>
          <p:nvPr/>
        </p:nvSpPr>
        <p:spPr>
          <a:xfrm>
            <a:off x="195119" y="4850203"/>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3" name="TextBox 32">
            <a:extLst>
              <a:ext uri="{FF2B5EF4-FFF2-40B4-BE49-F238E27FC236}">
                <a16:creationId xmlns:a16="http://schemas.microsoft.com/office/drawing/2014/main" id="{69311CB2-8095-D803-8098-AF8D012207EC}"/>
              </a:ext>
            </a:extLst>
          </p:cNvPr>
          <p:cNvSpPr txBox="1"/>
          <p:nvPr/>
        </p:nvSpPr>
        <p:spPr>
          <a:xfrm>
            <a:off x="195119" y="4976212"/>
            <a:ext cx="4475018" cy="646331"/>
          </a:xfrm>
          <a:prstGeom prst="rect">
            <a:avLst/>
          </a:prstGeom>
          <a:noFill/>
        </p:spPr>
        <p:txBody>
          <a:bodyPr wrap="square" rtlCol="0">
            <a:spAutoFit/>
          </a:bodyPr>
          <a:lstStyle/>
          <a:p>
            <a:pPr algn="just"/>
            <a:r>
              <a:rPr lang="en-US" dirty="0">
                <a:highlight>
                  <a:srgbClr val="FFFF00"/>
                </a:highlight>
              </a:rPr>
              <a:t>Note: </a:t>
            </a:r>
            <a:r>
              <a:rPr lang="en-US" dirty="0" err="1">
                <a:highlight>
                  <a:srgbClr val="FFFF00"/>
                </a:highlight>
              </a:rPr>
              <a:t>printf</a:t>
            </a:r>
            <a:r>
              <a:rPr lang="en-US" dirty="0">
                <a:highlight>
                  <a:srgbClr val="FFFF00"/>
                </a:highlight>
              </a:rPr>
              <a:t>() </a:t>
            </a:r>
            <a:r>
              <a:rPr lang="en-NP" dirty="0">
                <a:highlight>
                  <a:srgbClr val="FFFF00"/>
                </a:highlight>
              </a:rPr>
              <a:t> function is used to  display/output information from Memory </a:t>
            </a:r>
          </a:p>
        </p:txBody>
      </p:sp>
      <p:sp>
        <p:nvSpPr>
          <p:cNvPr id="34" name="Rectangle 33">
            <a:extLst>
              <a:ext uri="{FF2B5EF4-FFF2-40B4-BE49-F238E27FC236}">
                <a16:creationId xmlns:a16="http://schemas.microsoft.com/office/drawing/2014/main" id="{654D72EF-A06A-CE5E-BFDA-824896B3D34C}"/>
              </a:ext>
            </a:extLst>
          </p:cNvPr>
          <p:cNvSpPr/>
          <p:nvPr/>
        </p:nvSpPr>
        <p:spPr>
          <a:xfrm>
            <a:off x="6741416" y="4757548"/>
            <a:ext cx="4696691" cy="9466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NP"/>
          </a:p>
        </p:txBody>
      </p:sp>
      <p:sp>
        <p:nvSpPr>
          <p:cNvPr id="35" name="TextBox 34">
            <a:extLst>
              <a:ext uri="{FF2B5EF4-FFF2-40B4-BE49-F238E27FC236}">
                <a16:creationId xmlns:a16="http://schemas.microsoft.com/office/drawing/2014/main" id="{19126FFF-3BBC-06CF-9FC5-DA4D4F5E2CFD}"/>
              </a:ext>
            </a:extLst>
          </p:cNvPr>
          <p:cNvSpPr txBox="1"/>
          <p:nvPr/>
        </p:nvSpPr>
        <p:spPr>
          <a:xfrm>
            <a:off x="6852253" y="4780884"/>
            <a:ext cx="4475018" cy="923330"/>
          </a:xfrm>
          <a:prstGeom prst="rect">
            <a:avLst/>
          </a:prstGeom>
          <a:noFill/>
        </p:spPr>
        <p:txBody>
          <a:bodyPr wrap="square" rtlCol="0">
            <a:spAutoFit/>
          </a:bodyPr>
          <a:lstStyle/>
          <a:p>
            <a:pPr algn="just"/>
            <a:r>
              <a:rPr lang="en-US" dirty="0">
                <a:highlight>
                  <a:srgbClr val="FFFF00"/>
                </a:highlight>
              </a:rPr>
              <a:t>Note: </a:t>
            </a:r>
            <a:r>
              <a:rPr lang="en-NP" dirty="0">
                <a:highlight>
                  <a:srgbClr val="FFFF00"/>
                </a:highlight>
              </a:rPr>
              <a:t>fscanf() function is used to store /input data to memory from datafile “emp.txt”</a:t>
            </a:r>
          </a:p>
        </p:txBody>
      </p:sp>
      <p:graphicFrame>
        <p:nvGraphicFramePr>
          <p:cNvPr id="6" name="Table 5">
            <a:extLst>
              <a:ext uri="{FF2B5EF4-FFF2-40B4-BE49-F238E27FC236}">
                <a16:creationId xmlns:a16="http://schemas.microsoft.com/office/drawing/2014/main" id="{1C8C7F8A-2B98-8AE9-3324-10C85BF113D4}"/>
              </a:ext>
            </a:extLst>
          </p:cNvPr>
          <p:cNvGraphicFramePr>
            <a:graphicFrameLocks noGrp="1"/>
          </p:cNvGraphicFramePr>
          <p:nvPr>
            <p:extLst>
              <p:ext uri="{D42A27DB-BD31-4B8C-83A1-F6EECF244321}">
                <p14:modId xmlns:p14="http://schemas.microsoft.com/office/powerpoint/2010/main" val="3578001111"/>
              </p:ext>
            </p:extLst>
          </p:nvPr>
        </p:nvGraphicFramePr>
        <p:xfrm>
          <a:off x="4286567" y="2199750"/>
          <a:ext cx="3368582" cy="1949878"/>
        </p:xfrm>
        <a:graphic>
          <a:graphicData uri="http://schemas.openxmlformats.org/drawingml/2006/table">
            <a:tbl>
              <a:tblPr firstRow="1" bandRow="1">
                <a:tableStyleId>{5940675A-B579-460E-94D1-54222C63F5DA}</a:tableStyleId>
              </a:tblPr>
              <a:tblGrid>
                <a:gridCol w="1420636">
                  <a:extLst>
                    <a:ext uri="{9D8B030D-6E8A-4147-A177-3AD203B41FA5}">
                      <a16:colId xmlns:a16="http://schemas.microsoft.com/office/drawing/2014/main" val="3710158319"/>
                    </a:ext>
                  </a:extLst>
                </a:gridCol>
                <a:gridCol w="419015">
                  <a:extLst>
                    <a:ext uri="{9D8B030D-6E8A-4147-A177-3AD203B41FA5}">
                      <a16:colId xmlns:a16="http://schemas.microsoft.com/office/drawing/2014/main" val="1784644541"/>
                    </a:ext>
                  </a:extLst>
                </a:gridCol>
                <a:gridCol w="358226">
                  <a:extLst>
                    <a:ext uri="{9D8B030D-6E8A-4147-A177-3AD203B41FA5}">
                      <a16:colId xmlns:a16="http://schemas.microsoft.com/office/drawing/2014/main" val="1773301112"/>
                    </a:ext>
                  </a:extLst>
                </a:gridCol>
                <a:gridCol w="418514">
                  <a:extLst>
                    <a:ext uri="{9D8B030D-6E8A-4147-A177-3AD203B41FA5}">
                      <a16:colId xmlns:a16="http://schemas.microsoft.com/office/drawing/2014/main" val="214715944"/>
                    </a:ext>
                  </a:extLst>
                </a:gridCol>
                <a:gridCol w="373673">
                  <a:extLst>
                    <a:ext uri="{9D8B030D-6E8A-4147-A177-3AD203B41FA5}">
                      <a16:colId xmlns:a16="http://schemas.microsoft.com/office/drawing/2014/main" val="2954235873"/>
                    </a:ext>
                  </a:extLst>
                </a:gridCol>
                <a:gridCol w="378518">
                  <a:extLst>
                    <a:ext uri="{9D8B030D-6E8A-4147-A177-3AD203B41FA5}">
                      <a16:colId xmlns:a16="http://schemas.microsoft.com/office/drawing/2014/main" val="1581475516"/>
                    </a:ext>
                  </a:extLst>
                </a:gridCol>
              </a:tblGrid>
              <a:tr h="598868">
                <a:tc>
                  <a:txBody>
                    <a:bodyPr/>
                    <a:lstStyle/>
                    <a:p>
                      <a:r>
                        <a:rPr lang="en-US" sz="2000" b="1" dirty="0"/>
                        <a:t>edition</a:t>
                      </a:r>
                      <a:endParaRPr lang="en-NP" sz="2000" b="1" dirty="0"/>
                    </a:p>
                  </a:txBody>
                  <a:tcPr/>
                </a:tc>
                <a:tc gridSpan="5">
                  <a:txBody>
                    <a:bodyPr/>
                    <a:lstStyle/>
                    <a:p>
                      <a:r>
                        <a:rPr lang="en-NP" b="1" dirty="0"/>
                        <a:t>101</a:t>
                      </a:r>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tc hMerge="1">
                  <a:txBody>
                    <a:bodyPr/>
                    <a:lstStyle/>
                    <a:p>
                      <a:endParaRPr lang="en-NP" dirty="0"/>
                    </a:p>
                  </a:txBody>
                  <a:tcPr/>
                </a:tc>
                <a:extLst>
                  <a:ext uri="{0D108BD9-81ED-4DB2-BD59-A6C34878D82A}">
                    <a16:rowId xmlns:a16="http://schemas.microsoft.com/office/drawing/2014/main" val="2889791797"/>
                  </a:ext>
                </a:extLst>
              </a:tr>
              <a:tr h="403442">
                <a:tc rowSpan="2">
                  <a:txBody>
                    <a:bodyPr/>
                    <a:lstStyle/>
                    <a:p>
                      <a:r>
                        <a:rPr lang="en-US" sz="2000" b="1" dirty="0"/>
                        <a:t>char n</a:t>
                      </a:r>
                      <a:r>
                        <a:rPr lang="en-NP" sz="2000" b="1" dirty="0"/>
                        <a:t>ame[30]</a:t>
                      </a:r>
                    </a:p>
                  </a:txBody>
                  <a:tcPr/>
                </a:tc>
                <a:tc>
                  <a:txBody>
                    <a:bodyPr/>
                    <a:lstStyle/>
                    <a:p>
                      <a:r>
                        <a:rPr lang="en-NP" b="1" dirty="0"/>
                        <a:t>0</a:t>
                      </a:r>
                    </a:p>
                  </a:txBody>
                  <a:tcPr/>
                </a:tc>
                <a:tc>
                  <a:txBody>
                    <a:bodyPr/>
                    <a:lstStyle/>
                    <a:p>
                      <a:r>
                        <a:rPr lang="en-NP" b="1" dirty="0"/>
                        <a:t>1</a:t>
                      </a:r>
                    </a:p>
                  </a:txBody>
                  <a:tcPr/>
                </a:tc>
                <a:tc>
                  <a:txBody>
                    <a:bodyPr/>
                    <a:lstStyle/>
                    <a:p>
                      <a:r>
                        <a:rPr lang="en-NP" b="1" dirty="0"/>
                        <a:t>2</a:t>
                      </a:r>
                    </a:p>
                  </a:txBody>
                  <a:tcPr/>
                </a:tc>
                <a:tc gridSpan="2">
                  <a:txBody>
                    <a:bodyPr/>
                    <a:lstStyle/>
                    <a:p>
                      <a:r>
                        <a:rPr lang="en-NP" b="1" dirty="0"/>
                        <a:t>---29</a:t>
                      </a:r>
                    </a:p>
                  </a:txBody>
                  <a:tcPr/>
                </a:tc>
                <a:tc hMerge="1">
                  <a:txBody>
                    <a:bodyPr/>
                    <a:lstStyle/>
                    <a:p>
                      <a:endParaRPr lang="en-NP" b="1" dirty="0"/>
                    </a:p>
                  </a:txBody>
                  <a:tcPr/>
                </a:tc>
                <a:extLst>
                  <a:ext uri="{0D108BD9-81ED-4DB2-BD59-A6C34878D82A}">
                    <a16:rowId xmlns:a16="http://schemas.microsoft.com/office/drawing/2014/main" val="523820557"/>
                  </a:ext>
                </a:extLst>
              </a:tr>
              <a:tr h="349727">
                <a:tc vMerge="1">
                  <a:txBody>
                    <a:bodyPr/>
                    <a:lstStyle/>
                    <a:p>
                      <a:endParaRPr lang="en-NP" sz="2000" b="1" dirty="0"/>
                    </a:p>
                  </a:txBody>
                  <a:tcPr/>
                </a:tc>
                <a:tc>
                  <a:txBody>
                    <a:bodyPr/>
                    <a:lstStyle/>
                    <a:p>
                      <a:r>
                        <a:rPr lang="en-NP" b="1" dirty="0"/>
                        <a:t>R</a:t>
                      </a:r>
                    </a:p>
                  </a:txBody>
                  <a:tcPr/>
                </a:tc>
                <a:tc>
                  <a:txBody>
                    <a:bodyPr/>
                    <a:lstStyle/>
                    <a:p>
                      <a:r>
                        <a:rPr lang="en-NP" b="1" dirty="0"/>
                        <a:t>a</a:t>
                      </a:r>
                    </a:p>
                  </a:txBody>
                  <a:tcPr/>
                </a:tc>
                <a:tc>
                  <a:txBody>
                    <a:bodyPr/>
                    <a:lstStyle/>
                    <a:p>
                      <a:r>
                        <a:rPr lang="en-NP" b="1" dirty="0"/>
                        <a:t>m</a:t>
                      </a:r>
                    </a:p>
                  </a:txBody>
                  <a:tcPr/>
                </a:tc>
                <a:tc>
                  <a:txBody>
                    <a:bodyPr/>
                    <a:lstStyle/>
                    <a:p>
                      <a:endParaRPr lang="en-NP" b="1" dirty="0"/>
                    </a:p>
                  </a:txBody>
                  <a:tcPr/>
                </a:tc>
                <a:tc>
                  <a:txBody>
                    <a:bodyPr/>
                    <a:lstStyle/>
                    <a:p>
                      <a:endParaRPr lang="en-NP" b="1" dirty="0"/>
                    </a:p>
                  </a:txBody>
                  <a:tcPr/>
                </a:tc>
                <a:extLst>
                  <a:ext uri="{0D108BD9-81ED-4DB2-BD59-A6C34878D82A}">
                    <a16:rowId xmlns:a16="http://schemas.microsoft.com/office/drawing/2014/main" val="597480122"/>
                  </a:ext>
                </a:extLst>
              </a:tr>
              <a:tr h="581808">
                <a:tc>
                  <a:txBody>
                    <a:bodyPr/>
                    <a:lstStyle/>
                    <a:p>
                      <a:r>
                        <a:rPr lang="en-US" sz="2000" b="1" dirty="0"/>
                        <a:t>price</a:t>
                      </a:r>
                      <a:endParaRPr lang="en-NP" sz="2000" b="1" dirty="0"/>
                    </a:p>
                  </a:txBody>
                  <a:tcPr/>
                </a:tc>
                <a:tc gridSpan="5">
                  <a:txBody>
                    <a:bodyPr/>
                    <a:lstStyle/>
                    <a:p>
                      <a:r>
                        <a:rPr lang="en-NP" b="1" dirty="0"/>
                        <a:t>2000.00000</a:t>
                      </a:r>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tc hMerge="1">
                  <a:txBody>
                    <a:bodyPr/>
                    <a:lstStyle/>
                    <a:p>
                      <a:endParaRPr lang="en-NP" b="1" dirty="0"/>
                    </a:p>
                  </a:txBody>
                  <a:tcPr/>
                </a:tc>
                <a:extLst>
                  <a:ext uri="{0D108BD9-81ED-4DB2-BD59-A6C34878D82A}">
                    <a16:rowId xmlns:a16="http://schemas.microsoft.com/office/drawing/2014/main" val="3347116339"/>
                  </a:ext>
                </a:extLst>
              </a:tr>
            </a:tbl>
          </a:graphicData>
        </a:graphic>
      </p:graphicFrame>
      <p:sp>
        <p:nvSpPr>
          <p:cNvPr id="7" name="Right Arrow 6">
            <a:extLst>
              <a:ext uri="{FF2B5EF4-FFF2-40B4-BE49-F238E27FC236}">
                <a16:creationId xmlns:a16="http://schemas.microsoft.com/office/drawing/2014/main" id="{D341D86A-17E1-0776-EAFE-0318E73BC38A}"/>
              </a:ext>
            </a:extLst>
          </p:cNvPr>
          <p:cNvSpPr/>
          <p:nvPr/>
        </p:nvSpPr>
        <p:spPr>
          <a:xfrm>
            <a:off x="7655150" y="2797483"/>
            <a:ext cx="833896" cy="27962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p>
        </p:txBody>
      </p:sp>
      <p:sp>
        <p:nvSpPr>
          <p:cNvPr id="3" name="Right Brace 2">
            <a:extLst>
              <a:ext uri="{FF2B5EF4-FFF2-40B4-BE49-F238E27FC236}">
                <a16:creationId xmlns:a16="http://schemas.microsoft.com/office/drawing/2014/main" id="{3A8A6117-3616-4B4F-34DD-75AD645CD04B}"/>
              </a:ext>
            </a:extLst>
          </p:cNvPr>
          <p:cNvSpPr/>
          <p:nvPr/>
        </p:nvSpPr>
        <p:spPr>
          <a:xfrm>
            <a:off x="2911109" y="3190366"/>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sp>
        <p:nvSpPr>
          <p:cNvPr id="8" name="Right Brace 7">
            <a:extLst>
              <a:ext uri="{FF2B5EF4-FFF2-40B4-BE49-F238E27FC236}">
                <a16:creationId xmlns:a16="http://schemas.microsoft.com/office/drawing/2014/main" id="{D7D81753-909E-6D88-8FFF-7C1266ED7EAF}"/>
              </a:ext>
            </a:extLst>
          </p:cNvPr>
          <p:cNvSpPr/>
          <p:nvPr/>
        </p:nvSpPr>
        <p:spPr>
          <a:xfrm>
            <a:off x="2147911" y="2161585"/>
            <a:ext cx="381255" cy="745706"/>
          </a:xfrm>
          <a:prstGeom prst="rightBrace">
            <a:avLst/>
          </a:prstGeom>
          <a:ln w="53975">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NP" dirty="0"/>
          </a:p>
        </p:txBody>
      </p:sp>
      <p:pic>
        <p:nvPicPr>
          <p:cNvPr id="9" name="Picture 8">
            <a:extLst>
              <a:ext uri="{FF2B5EF4-FFF2-40B4-BE49-F238E27FC236}">
                <a16:creationId xmlns:a16="http://schemas.microsoft.com/office/drawing/2014/main" id="{D033BFE2-AD76-1DEB-C74F-B178F6B2C2CE}"/>
              </a:ext>
            </a:extLst>
          </p:cNvPr>
          <p:cNvPicPr>
            <a:picLocks noChangeAspect="1"/>
          </p:cNvPicPr>
          <p:nvPr/>
        </p:nvPicPr>
        <p:blipFill>
          <a:blip r:embed="rId3"/>
          <a:stretch>
            <a:fillRect/>
          </a:stretch>
        </p:blipFill>
        <p:spPr>
          <a:xfrm>
            <a:off x="8549929" y="2309085"/>
            <a:ext cx="3598956" cy="1588715"/>
          </a:xfrm>
          <a:prstGeom prst="rect">
            <a:avLst/>
          </a:prstGeom>
        </p:spPr>
      </p:pic>
    </p:spTree>
    <p:extLst>
      <p:ext uri="{BB962C8B-B14F-4D97-AF65-F5344CB8AC3E}">
        <p14:creationId xmlns:p14="http://schemas.microsoft.com/office/powerpoint/2010/main" val="26612758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5CC0-3934-9F18-8298-20BFF3A203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7061DD-5EB1-9519-16A6-E6C230CD67E7}"/>
              </a:ext>
            </a:extLst>
          </p:cNvPr>
          <p:cNvSpPr>
            <a:spLocks noGrp="1"/>
          </p:cNvSpPr>
          <p:nvPr>
            <p:ph idx="1"/>
          </p:nvPr>
        </p:nvSpPr>
        <p:spPr>
          <a:xfrm>
            <a:off x="200891" y="581890"/>
            <a:ext cx="4427553" cy="5231888"/>
          </a:xfrm>
        </p:spPr>
        <p:txBody>
          <a:bodyPr>
            <a:noAutofit/>
          </a:bodyPr>
          <a:lstStyle/>
          <a:p>
            <a:pPr marL="0" indent="0">
              <a:spcBef>
                <a:spcPts val="0"/>
              </a:spcBef>
              <a:buNone/>
            </a:pPr>
            <a:r>
              <a:rPr lang="en-US" sz="2000" i="1" dirty="0">
                <a:highlight>
                  <a:srgbClr val="FFFF00"/>
                </a:highlight>
              </a:rPr>
              <a:t>At First,</a:t>
            </a:r>
          </a:p>
          <a:p>
            <a:pPr marL="0" indent="0">
              <a:spcBef>
                <a:spcPts val="0"/>
              </a:spcBef>
              <a:buNone/>
            </a:pPr>
            <a:r>
              <a:rPr lang="en-US" sz="2000" dirty="0"/>
              <a:t>#include&lt;</a:t>
            </a:r>
            <a:r>
              <a:rPr lang="en-US" sz="2000" dirty="0" err="1"/>
              <a:t>stdio.h</a:t>
            </a:r>
            <a:r>
              <a:rPr lang="en-US" sz="2000" dirty="0"/>
              <a:t>&gt; </a:t>
            </a:r>
            <a:endParaRPr lang="en-US" sz="2000" b="1" dirty="0"/>
          </a:p>
          <a:p>
            <a:pPr marL="0" indent="0">
              <a:spcBef>
                <a:spcPts val="0"/>
              </a:spcBef>
              <a:buNone/>
            </a:pPr>
            <a:r>
              <a:rPr lang="en-US" sz="2000" b="1" dirty="0"/>
              <a:t>int</a:t>
            </a:r>
            <a:r>
              <a:rPr lang="en-US" sz="2000" dirty="0"/>
              <a:t> main() </a:t>
            </a:r>
          </a:p>
          <a:p>
            <a:pPr marL="0" indent="0">
              <a:spcBef>
                <a:spcPts val="0"/>
              </a:spcBef>
              <a:buNone/>
            </a:pPr>
            <a:r>
              <a:rPr lang="en-US" sz="2000" dirty="0"/>
              <a:t>{ </a:t>
            </a:r>
          </a:p>
          <a:p>
            <a:pPr marL="0" indent="0">
              <a:spcBef>
                <a:spcPts val="0"/>
              </a:spcBef>
              <a:buNone/>
            </a:pPr>
            <a:r>
              <a:rPr lang="en-US" sz="2000" dirty="0"/>
              <a:t>FILE *</a:t>
            </a:r>
            <a:r>
              <a:rPr lang="en-US" sz="2000" dirty="0" err="1"/>
              <a:t>fp</a:t>
            </a:r>
            <a:r>
              <a:rPr lang="en-US" sz="2000" dirty="0"/>
              <a:t>; </a:t>
            </a:r>
          </a:p>
          <a:p>
            <a:pPr marL="0" indent="0">
              <a:spcBef>
                <a:spcPts val="0"/>
              </a:spcBef>
              <a:buNone/>
            </a:pPr>
            <a:r>
              <a:rPr lang="en-US" sz="2000" b="1" dirty="0"/>
              <a:t>char</a:t>
            </a:r>
            <a:r>
              <a:rPr lang="en-US" sz="2000" dirty="0"/>
              <a:t> name[30];</a:t>
            </a:r>
          </a:p>
          <a:p>
            <a:pPr marL="0" indent="0">
              <a:spcBef>
                <a:spcPts val="0"/>
              </a:spcBef>
              <a:buNone/>
            </a:pPr>
            <a:r>
              <a:rPr lang="en-US" sz="2000" dirty="0" err="1"/>
              <a:t>fp</a:t>
            </a:r>
            <a:r>
              <a:rPr lang="en-US" sz="2000" dirty="0"/>
              <a:t>=</a:t>
            </a:r>
            <a:r>
              <a:rPr lang="en-US" sz="2000" dirty="0" err="1"/>
              <a:t>fopen</a:t>
            </a:r>
            <a:r>
              <a:rPr lang="en-US" sz="2000" dirty="0"/>
              <a:t>("</a:t>
            </a:r>
            <a:r>
              <a:rPr lang="en-US" sz="2000" dirty="0" err="1"/>
              <a:t>oldfile.txt","w</a:t>
            </a:r>
            <a:r>
              <a:rPr lang="en-US" sz="2000" dirty="0"/>
              <a:t>"); </a:t>
            </a:r>
          </a:p>
          <a:p>
            <a:pPr marL="0" indent="0">
              <a:spcBef>
                <a:spcPts val="0"/>
              </a:spcBef>
              <a:buNone/>
            </a:pPr>
            <a:r>
              <a:rPr lang="en-US" sz="2000" dirty="0" err="1"/>
              <a:t>fclose</a:t>
            </a:r>
            <a:r>
              <a:rPr lang="en-US" sz="2000" dirty="0"/>
              <a:t>(</a:t>
            </a:r>
            <a:r>
              <a:rPr lang="en-US" sz="2000" dirty="0" err="1"/>
              <a:t>fp</a:t>
            </a:r>
            <a:r>
              <a:rPr lang="en-US" sz="2000" dirty="0"/>
              <a:t>); </a:t>
            </a:r>
          </a:p>
          <a:p>
            <a:pPr marL="0" indent="0">
              <a:spcBef>
                <a:spcPts val="0"/>
              </a:spcBef>
              <a:buNone/>
            </a:pPr>
            <a:r>
              <a:rPr lang="en-US" sz="2000" dirty="0"/>
              <a:t>} </a:t>
            </a:r>
          </a:p>
          <a:p>
            <a:pPr marL="0" indent="0">
              <a:spcBef>
                <a:spcPts val="0"/>
              </a:spcBef>
              <a:buNone/>
            </a:pPr>
            <a:endParaRPr lang="en-US" sz="2000" dirty="0"/>
          </a:p>
          <a:p>
            <a:pPr marL="0" indent="0">
              <a:spcBef>
                <a:spcPts val="0"/>
              </a:spcBef>
              <a:buNone/>
            </a:pPr>
            <a:r>
              <a:rPr lang="en-US" sz="1600" b="1" i="1" dirty="0"/>
              <a:t>                          </a:t>
            </a:r>
            <a:r>
              <a:rPr lang="en-US" sz="1600" b="1" i="1" dirty="0">
                <a:highlight>
                  <a:srgbClr val="FFFF00"/>
                </a:highlight>
              </a:rPr>
              <a:t> file name : </a:t>
            </a:r>
            <a:r>
              <a:rPr lang="en-US" sz="1600" b="1" i="1" dirty="0" err="1">
                <a:highlight>
                  <a:srgbClr val="FFFF00"/>
                </a:highlight>
              </a:rPr>
              <a:t>alpha.txt</a:t>
            </a:r>
            <a:endParaRPr lang="en-US" sz="1600" b="1" i="1" dirty="0">
              <a:highlight>
                <a:srgbClr val="FFFF00"/>
              </a:highlight>
            </a:endParaRPr>
          </a:p>
        </p:txBody>
      </p:sp>
      <p:sp>
        <p:nvSpPr>
          <p:cNvPr id="4" name="Content Placeholder 2">
            <a:extLst>
              <a:ext uri="{FF2B5EF4-FFF2-40B4-BE49-F238E27FC236}">
                <a16:creationId xmlns:a16="http://schemas.microsoft.com/office/drawing/2014/main" id="{F19672F8-E884-F72B-9ACF-D48D1BAB0308}"/>
              </a:ext>
            </a:extLst>
          </p:cNvPr>
          <p:cNvSpPr txBox="1">
            <a:spLocks/>
          </p:cNvSpPr>
          <p:nvPr/>
        </p:nvSpPr>
        <p:spPr>
          <a:xfrm>
            <a:off x="5929746" y="581891"/>
            <a:ext cx="5056909" cy="64423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endParaRPr lang="en-US" sz="1800" dirty="0"/>
          </a:p>
          <a:p>
            <a:pPr marL="0" indent="0">
              <a:spcBef>
                <a:spcPts val="0"/>
              </a:spcBef>
              <a:buFont typeface="Arial" panose="020B0604020202020204" pitchFamily="34" charset="0"/>
              <a:buNone/>
            </a:pPr>
            <a:r>
              <a:rPr lang="en-US" sz="1800" dirty="0"/>
              <a:t> </a:t>
            </a:r>
            <a:endParaRPr lang="en-NP" sz="1800" dirty="0"/>
          </a:p>
        </p:txBody>
      </p:sp>
      <p:sp>
        <p:nvSpPr>
          <p:cNvPr id="6" name="Content Placeholder 2">
            <a:extLst>
              <a:ext uri="{FF2B5EF4-FFF2-40B4-BE49-F238E27FC236}">
                <a16:creationId xmlns:a16="http://schemas.microsoft.com/office/drawing/2014/main" id="{626AC161-7B39-841B-1BF8-E6069DFCBA89}"/>
              </a:ext>
            </a:extLst>
          </p:cNvPr>
          <p:cNvSpPr txBox="1">
            <a:spLocks/>
          </p:cNvSpPr>
          <p:nvPr/>
        </p:nvSpPr>
        <p:spPr>
          <a:xfrm>
            <a:off x="5320145" y="193964"/>
            <a:ext cx="6816437" cy="666403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br>
              <a:rPr lang="en-US" dirty="0"/>
            </a:br>
            <a:endParaRPr lang="en-US" dirty="0"/>
          </a:p>
          <a:p>
            <a:pPr marL="0" indent="0">
              <a:spcBef>
                <a:spcPts val="0"/>
              </a:spcBef>
              <a:buFont typeface="Arial" panose="020B0604020202020204" pitchFamily="34" charset="0"/>
              <a:buNone/>
            </a:pPr>
            <a:endParaRPr lang="en-NP" sz="1800" dirty="0"/>
          </a:p>
        </p:txBody>
      </p:sp>
      <p:sp>
        <p:nvSpPr>
          <p:cNvPr id="16" name="TextBox 15">
            <a:extLst>
              <a:ext uri="{FF2B5EF4-FFF2-40B4-BE49-F238E27FC236}">
                <a16:creationId xmlns:a16="http://schemas.microsoft.com/office/drawing/2014/main" id="{E6E782BA-7993-89A3-3F53-52CCB2C6E834}"/>
              </a:ext>
            </a:extLst>
          </p:cNvPr>
          <p:cNvSpPr txBox="1"/>
          <p:nvPr/>
        </p:nvSpPr>
        <p:spPr>
          <a:xfrm>
            <a:off x="352425" y="212558"/>
            <a:ext cx="11487150" cy="369332"/>
          </a:xfrm>
          <a:prstGeom prst="rect">
            <a:avLst/>
          </a:prstGeom>
          <a:noFill/>
        </p:spPr>
        <p:txBody>
          <a:bodyPr wrap="square" rtlCol="0">
            <a:spAutoFit/>
          </a:bodyPr>
          <a:lstStyle/>
          <a:p>
            <a:r>
              <a:rPr lang="en-NP" b="1" dirty="0"/>
              <a:t>5) Write C program to show the concept of rename()functions. </a:t>
            </a:r>
            <a:endParaRPr lang="en-NP" dirty="0"/>
          </a:p>
        </p:txBody>
      </p:sp>
      <p:pic>
        <p:nvPicPr>
          <p:cNvPr id="7" name="Picture 6">
            <a:extLst>
              <a:ext uri="{FF2B5EF4-FFF2-40B4-BE49-F238E27FC236}">
                <a16:creationId xmlns:a16="http://schemas.microsoft.com/office/drawing/2014/main" id="{A4E96E1A-92E6-66E2-7009-5CABC077A4A6}"/>
              </a:ext>
            </a:extLst>
          </p:cNvPr>
          <p:cNvPicPr>
            <a:picLocks noChangeAspect="1"/>
          </p:cNvPicPr>
          <p:nvPr/>
        </p:nvPicPr>
        <p:blipFill>
          <a:blip r:embed="rId3"/>
          <a:stretch>
            <a:fillRect/>
          </a:stretch>
        </p:blipFill>
        <p:spPr>
          <a:xfrm>
            <a:off x="310813" y="3729242"/>
            <a:ext cx="3817793" cy="1706682"/>
          </a:xfrm>
          <a:prstGeom prst="rect">
            <a:avLst/>
          </a:prstGeom>
        </p:spPr>
      </p:pic>
      <p:sp>
        <p:nvSpPr>
          <p:cNvPr id="13" name="Content Placeholder 2">
            <a:extLst>
              <a:ext uri="{FF2B5EF4-FFF2-40B4-BE49-F238E27FC236}">
                <a16:creationId xmlns:a16="http://schemas.microsoft.com/office/drawing/2014/main" id="{741B0D0E-5428-FDE7-052A-A1B97F47C6F8}"/>
              </a:ext>
            </a:extLst>
          </p:cNvPr>
          <p:cNvSpPr txBox="1">
            <a:spLocks/>
          </p:cNvSpPr>
          <p:nvPr/>
        </p:nvSpPr>
        <p:spPr>
          <a:xfrm>
            <a:off x="4628445" y="600484"/>
            <a:ext cx="3533808" cy="5231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i="1" dirty="0">
                <a:highlight>
                  <a:srgbClr val="FFFF00"/>
                </a:highlight>
              </a:rPr>
              <a:t>At Second,</a:t>
            </a:r>
          </a:p>
          <a:p>
            <a:pPr marL="0" indent="0">
              <a:spcBef>
                <a:spcPts val="0"/>
              </a:spcBef>
              <a:buFont typeface="Arial" panose="020B0604020202020204" pitchFamily="34" charset="0"/>
              <a:buNone/>
            </a:pPr>
            <a:r>
              <a:rPr lang="en-US" sz="2000" dirty="0"/>
              <a:t>#include&lt;</a:t>
            </a:r>
            <a:r>
              <a:rPr lang="en-US" sz="2000" dirty="0" err="1"/>
              <a:t>stdio.h</a:t>
            </a:r>
            <a:r>
              <a:rPr lang="en-US" sz="2000" dirty="0"/>
              <a:t>&gt; </a:t>
            </a:r>
          </a:p>
          <a:p>
            <a:pPr marL="0" indent="0">
              <a:spcBef>
                <a:spcPts val="0"/>
              </a:spcBef>
              <a:buFont typeface="Arial" panose="020B0604020202020204" pitchFamily="34" charset="0"/>
              <a:buNone/>
            </a:pPr>
            <a:r>
              <a:rPr lang="en-US" sz="2000" dirty="0"/>
              <a:t>int main()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r>
              <a:rPr lang="en-US" sz="2000" dirty="0"/>
              <a:t>FILE *</a:t>
            </a:r>
            <a:r>
              <a:rPr lang="en-US" sz="2000" dirty="0" err="1"/>
              <a:t>fp</a:t>
            </a:r>
            <a:r>
              <a:rPr lang="en-US" sz="2000" dirty="0"/>
              <a:t>; </a:t>
            </a:r>
          </a:p>
          <a:p>
            <a:pPr marL="0" indent="0">
              <a:spcBef>
                <a:spcPts val="0"/>
              </a:spcBef>
              <a:buFont typeface="Arial" panose="020B0604020202020204" pitchFamily="34" charset="0"/>
              <a:buNone/>
            </a:pPr>
            <a:r>
              <a:rPr lang="en-US" sz="2000" dirty="0"/>
              <a:t>char name[30];</a:t>
            </a:r>
          </a:p>
          <a:p>
            <a:pPr marL="0" indent="0">
              <a:spcBef>
                <a:spcPts val="0"/>
              </a:spcBef>
              <a:buFont typeface="Arial" panose="020B0604020202020204" pitchFamily="34" charset="0"/>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Font typeface="Arial" panose="020B0604020202020204" pitchFamily="34" charset="0"/>
              <a:buNone/>
            </a:pPr>
            <a:r>
              <a:rPr lang="en-US" sz="2000" dirty="0"/>
              <a:t>rename("alpha.txt","</a:t>
            </a:r>
            <a:r>
              <a:rPr lang="en-US" sz="2000" dirty="0" err="1"/>
              <a:t>beta.txt</a:t>
            </a:r>
            <a:r>
              <a:rPr lang="en-US" sz="2000" dirty="0"/>
              <a:t>"); </a:t>
            </a:r>
          </a:p>
          <a:p>
            <a:pPr marL="0" indent="0">
              <a:spcBef>
                <a:spcPts val="0"/>
              </a:spcBef>
              <a:buFont typeface="Arial" panose="020B0604020202020204" pitchFamily="34" charset="0"/>
              <a:buNone/>
            </a:pPr>
            <a:r>
              <a:rPr lang="en-US" sz="2000" dirty="0" err="1"/>
              <a:t>fclose</a:t>
            </a:r>
            <a:r>
              <a:rPr lang="en-US" sz="2000" dirty="0"/>
              <a:t>(</a:t>
            </a:r>
            <a:r>
              <a:rPr lang="en-US" sz="2000" dirty="0" err="1"/>
              <a:t>fp</a:t>
            </a:r>
            <a:r>
              <a:rPr lang="en-US" sz="2000" dirty="0"/>
              <a:t>); </a:t>
            </a:r>
          </a:p>
          <a:p>
            <a:pPr marL="0" indent="0">
              <a:spcBef>
                <a:spcPts val="0"/>
              </a:spcBef>
              <a:buFont typeface="Arial" panose="020B0604020202020204" pitchFamily="34" charset="0"/>
              <a:buNone/>
            </a:pPr>
            <a:r>
              <a:rPr lang="en-US" sz="2000" dirty="0"/>
              <a:t>} </a:t>
            </a:r>
          </a:p>
          <a:p>
            <a:pPr marL="0" indent="0">
              <a:spcBef>
                <a:spcPts val="0"/>
              </a:spcBef>
              <a:buNone/>
            </a:pPr>
            <a:br>
              <a:rPr lang="en-US" sz="2000" dirty="0"/>
            </a:br>
            <a:r>
              <a:rPr lang="en-US" sz="2000" b="1" i="1" dirty="0">
                <a:highlight>
                  <a:srgbClr val="FFFF00"/>
                </a:highlight>
              </a:rPr>
              <a:t>file name : </a:t>
            </a:r>
            <a:r>
              <a:rPr lang="en-US" sz="2000" b="1" i="1" dirty="0" err="1">
                <a:highlight>
                  <a:srgbClr val="FFFF00"/>
                </a:highlight>
              </a:rPr>
              <a:t>beta.txt</a:t>
            </a:r>
            <a:endParaRPr lang="en-US" sz="2000" dirty="0"/>
          </a:p>
          <a:p>
            <a:pPr marL="0" indent="0">
              <a:spcBef>
                <a:spcPts val="0"/>
              </a:spcBef>
              <a:buFont typeface="Arial" panose="020B0604020202020204" pitchFamily="34" charset="0"/>
              <a:buNone/>
            </a:pPr>
            <a:endParaRPr lang="en-US" sz="2000" dirty="0"/>
          </a:p>
        </p:txBody>
      </p:sp>
      <p:pic>
        <p:nvPicPr>
          <p:cNvPr id="14" name="Picture 13">
            <a:extLst>
              <a:ext uri="{FF2B5EF4-FFF2-40B4-BE49-F238E27FC236}">
                <a16:creationId xmlns:a16="http://schemas.microsoft.com/office/drawing/2014/main" id="{2DF36572-F34B-D0FA-C225-58C059AC609D}"/>
              </a:ext>
            </a:extLst>
          </p:cNvPr>
          <p:cNvPicPr>
            <a:picLocks noChangeAspect="1"/>
          </p:cNvPicPr>
          <p:nvPr/>
        </p:nvPicPr>
        <p:blipFill>
          <a:blip r:embed="rId4"/>
          <a:stretch>
            <a:fillRect/>
          </a:stretch>
        </p:blipFill>
        <p:spPr>
          <a:xfrm>
            <a:off x="4477987" y="3997678"/>
            <a:ext cx="3374800" cy="1816100"/>
          </a:xfrm>
          <a:prstGeom prst="rect">
            <a:avLst/>
          </a:prstGeom>
        </p:spPr>
      </p:pic>
      <p:cxnSp>
        <p:nvCxnSpPr>
          <p:cNvPr id="17" name="Straight Arrow Connector 16">
            <a:extLst>
              <a:ext uri="{FF2B5EF4-FFF2-40B4-BE49-F238E27FC236}">
                <a16:creationId xmlns:a16="http://schemas.microsoft.com/office/drawing/2014/main" id="{637CF15F-E150-8217-0D27-3DE01FD6984B}"/>
              </a:ext>
            </a:extLst>
          </p:cNvPr>
          <p:cNvCxnSpPr>
            <a:cxnSpLocks/>
          </p:cNvCxnSpPr>
          <p:nvPr/>
        </p:nvCxnSpPr>
        <p:spPr>
          <a:xfrm flipH="1" flipV="1">
            <a:off x="4368800" y="600484"/>
            <a:ext cx="67349" cy="62575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Content Placeholder 2">
            <a:extLst>
              <a:ext uri="{FF2B5EF4-FFF2-40B4-BE49-F238E27FC236}">
                <a16:creationId xmlns:a16="http://schemas.microsoft.com/office/drawing/2014/main" id="{E59B464E-6032-D2C4-F3DE-B12A9E37F0D3}"/>
              </a:ext>
            </a:extLst>
          </p:cNvPr>
          <p:cNvSpPr txBox="1">
            <a:spLocks/>
          </p:cNvSpPr>
          <p:nvPr/>
        </p:nvSpPr>
        <p:spPr>
          <a:xfrm>
            <a:off x="8149794" y="581890"/>
            <a:ext cx="3948192" cy="52318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i="1" dirty="0">
                <a:highlight>
                  <a:srgbClr val="FFFF00"/>
                </a:highlight>
              </a:rPr>
              <a:t>At Last,</a:t>
            </a:r>
          </a:p>
          <a:p>
            <a:pPr marL="0" indent="0">
              <a:spcBef>
                <a:spcPts val="0"/>
              </a:spcBef>
              <a:buFont typeface="Arial" panose="020B0604020202020204" pitchFamily="34" charset="0"/>
              <a:buNone/>
            </a:pPr>
            <a:r>
              <a:rPr lang="en-US" sz="2000" dirty="0"/>
              <a:t>#include&lt;</a:t>
            </a:r>
            <a:r>
              <a:rPr lang="en-US" sz="2000" dirty="0" err="1"/>
              <a:t>stdio.h</a:t>
            </a:r>
            <a:r>
              <a:rPr lang="en-US" sz="2000" dirty="0"/>
              <a:t>&gt; </a:t>
            </a:r>
          </a:p>
          <a:p>
            <a:pPr marL="0" indent="0">
              <a:spcBef>
                <a:spcPts val="0"/>
              </a:spcBef>
              <a:buFont typeface="Arial" panose="020B0604020202020204" pitchFamily="34" charset="0"/>
              <a:buNone/>
            </a:pPr>
            <a:r>
              <a:rPr lang="en-US" sz="2000" dirty="0"/>
              <a:t>int main()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r>
              <a:rPr lang="en-US" sz="2000" dirty="0"/>
              <a:t>FILE *</a:t>
            </a:r>
            <a:r>
              <a:rPr lang="en-US" sz="2000" dirty="0" err="1"/>
              <a:t>fp</a:t>
            </a:r>
            <a:r>
              <a:rPr lang="en-US" sz="2000" dirty="0"/>
              <a:t>; </a:t>
            </a:r>
          </a:p>
          <a:p>
            <a:pPr marL="0" indent="0">
              <a:spcBef>
                <a:spcPts val="0"/>
              </a:spcBef>
              <a:buFont typeface="Arial" panose="020B0604020202020204" pitchFamily="34" charset="0"/>
              <a:buNone/>
            </a:pPr>
            <a:r>
              <a:rPr lang="en-US" sz="2000" dirty="0"/>
              <a:t>char name[30];</a:t>
            </a:r>
          </a:p>
          <a:p>
            <a:pPr marL="0" indent="0">
              <a:spcBef>
                <a:spcPts val="0"/>
              </a:spcBef>
              <a:buFont typeface="Arial" panose="020B0604020202020204" pitchFamily="34" charset="0"/>
              <a:buNone/>
            </a:pPr>
            <a:r>
              <a:rPr lang="en-US" sz="2000" dirty="0" err="1"/>
              <a:t>fp</a:t>
            </a:r>
            <a:r>
              <a:rPr lang="en-US" sz="2000" dirty="0"/>
              <a:t>=</a:t>
            </a:r>
            <a:r>
              <a:rPr lang="en-US" sz="2000" dirty="0" err="1"/>
              <a:t>fopen</a:t>
            </a:r>
            <a:r>
              <a:rPr lang="en-US" sz="2000" dirty="0"/>
              <a:t>("</a:t>
            </a:r>
            <a:r>
              <a:rPr lang="en-US" sz="2000" dirty="0" err="1"/>
              <a:t>alpha.txt","w</a:t>
            </a:r>
            <a:r>
              <a:rPr lang="en-US" sz="2000" dirty="0"/>
              <a:t>"); </a:t>
            </a:r>
          </a:p>
          <a:p>
            <a:pPr marL="0" indent="0">
              <a:spcBef>
                <a:spcPts val="0"/>
              </a:spcBef>
              <a:buFont typeface="Arial" panose="020B0604020202020204" pitchFamily="34" charset="0"/>
              <a:buNone/>
            </a:pPr>
            <a:r>
              <a:rPr lang="en-US" sz="2000" dirty="0"/>
              <a:t>rename("alpha.txt","</a:t>
            </a:r>
            <a:r>
              <a:rPr lang="en-US" sz="2000" dirty="0" err="1"/>
              <a:t>beta.txt</a:t>
            </a:r>
            <a:r>
              <a:rPr lang="en-US" sz="2000" dirty="0"/>
              <a:t>"); </a:t>
            </a:r>
          </a:p>
          <a:p>
            <a:pPr marL="0" indent="0">
              <a:spcBef>
                <a:spcPts val="0"/>
              </a:spcBef>
              <a:buFont typeface="Arial" panose="020B0604020202020204" pitchFamily="34" charset="0"/>
              <a:buNone/>
            </a:pPr>
            <a:r>
              <a:rPr lang="en-US" sz="2000" dirty="0"/>
              <a:t>remove("</a:t>
            </a:r>
            <a:r>
              <a:rPr lang="en-US" sz="2000" dirty="0" err="1"/>
              <a:t>beta.txt</a:t>
            </a:r>
            <a:r>
              <a:rPr lang="en-US" sz="2000" dirty="0"/>
              <a:t>"); </a:t>
            </a:r>
          </a:p>
          <a:p>
            <a:pPr marL="0" indent="0">
              <a:spcBef>
                <a:spcPts val="0"/>
              </a:spcBef>
              <a:buFont typeface="Arial" panose="020B0604020202020204" pitchFamily="34" charset="0"/>
              <a:buNone/>
            </a:pPr>
            <a:r>
              <a:rPr lang="en-US" sz="2000" dirty="0" err="1"/>
              <a:t>fclose</a:t>
            </a:r>
            <a:r>
              <a:rPr lang="en-US" sz="2000" dirty="0"/>
              <a:t>(</a:t>
            </a:r>
            <a:r>
              <a:rPr lang="en-US" sz="2000" dirty="0" err="1"/>
              <a:t>fp</a:t>
            </a:r>
            <a:r>
              <a:rPr lang="en-US" sz="2000" dirty="0"/>
              <a:t>); </a:t>
            </a:r>
          </a:p>
          <a:p>
            <a:pPr marL="0" indent="0">
              <a:spcBef>
                <a:spcPts val="0"/>
              </a:spcBef>
              <a:buFont typeface="Arial" panose="020B0604020202020204" pitchFamily="34" charset="0"/>
              <a:buNone/>
            </a:pPr>
            <a:r>
              <a:rPr lang="en-US" sz="2000" dirty="0"/>
              <a:t>} </a:t>
            </a:r>
          </a:p>
          <a:p>
            <a:pPr marL="0" indent="0">
              <a:spcBef>
                <a:spcPts val="0"/>
              </a:spcBef>
              <a:buFont typeface="Arial" panose="020B0604020202020204" pitchFamily="34" charset="0"/>
              <a:buNone/>
            </a:pPr>
            <a:endParaRPr lang="en-US" sz="2000" dirty="0"/>
          </a:p>
          <a:p>
            <a:pPr marL="0" indent="0">
              <a:spcBef>
                <a:spcPts val="0"/>
              </a:spcBef>
              <a:buNone/>
            </a:pPr>
            <a:r>
              <a:rPr lang="en-US" sz="2000" b="1" i="1" dirty="0"/>
              <a:t>                   </a:t>
            </a:r>
            <a:r>
              <a:rPr lang="en-US" sz="2000" b="1" i="1" dirty="0">
                <a:highlight>
                  <a:srgbClr val="FFFF00"/>
                </a:highlight>
              </a:rPr>
              <a:t>No File</a:t>
            </a:r>
            <a:endParaRPr lang="en-US" sz="2000" dirty="0"/>
          </a:p>
          <a:p>
            <a:pPr marL="0" indent="0">
              <a:spcBef>
                <a:spcPts val="0"/>
              </a:spcBef>
              <a:buFont typeface="Arial" panose="020B0604020202020204" pitchFamily="34" charset="0"/>
              <a:buNone/>
            </a:pPr>
            <a:r>
              <a:rPr lang="en-US" sz="2000" dirty="0"/>
              <a:t>// </a:t>
            </a:r>
            <a:r>
              <a:rPr lang="en-US" sz="2000" dirty="0" err="1"/>
              <a:t>Afer</a:t>
            </a:r>
            <a:r>
              <a:rPr lang="en-US" sz="2000" dirty="0"/>
              <a:t> remove() function </a:t>
            </a:r>
          </a:p>
          <a:p>
            <a:pPr marL="0" indent="0">
              <a:spcBef>
                <a:spcPts val="0"/>
              </a:spcBef>
              <a:buFont typeface="Arial" panose="020B0604020202020204" pitchFamily="34" charset="0"/>
              <a:buNone/>
            </a:pPr>
            <a:r>
              <a:rPr lang="en-US" sz="2000" dirty="0"/>
              <a:t>There is no file present.</a:t>
            </a:r>
            <a:br>
              <a:rPr lang="en-US" sz="2000" dirty="0"/>
            </a:br>
            <a:endParaRPr lang="en-US" sz="2000" dirty="0"/>
          </a:p>
          <a:p>
            <a:pPr marL="0" indent="0">
              <a:spcBef>
                <a:spcPts val="0"/>
              </a:spcBef>
              <a:buFont typeface="Arial" panose="020B0604020202020204" pitchFamily="34" charset="0"/>
              <a:buNone/>
            </a:pPr>
            <a:br>
              <a:rPr lang="en-US" sz="2000" dirty="0"/>
            </a:br>
            <a:endParaRPr lang="en-US" sz="2000" dirty="0"/>
          </a:p>
          <a:p>
            <a:pPr marL="0" indent="0">
              <a:spcBef>
                <a:spcPts val="0"/>
              </a:spcBef>
              <a:buFont typeface="Arial" panose="020B0604020202020204" pitchFamily="34" charset="0"/>
              <a:buNone/>
            </a:pPr>
            <a:endParaRPr lang="en-US" sz="2000" dirty="0"/>
          </a:p>
        </p:txBody>
      </p:sp>
      <p:cxnSp>
        <p:nvCxnSpPr>
          <p:cNvPr id="20" name="Straight Arrow Connector 19">
            <a:extLst>
              <a:ext uri="{FF2B5EF4-FFF2-40B4-BE49-F238E27FC236}">
                <a16:creationId xmlns:a16="http://schemas.microsoft.com/office/drawing/2014/main" id="{DD66BA03-ADF0-EF1D-345E-A1639032CBE2}"/>
              </a:ext>
            </a:extLst>
          </p:cNvPr>
          <p:cNvCxnSpPr>
            <a:cxnSpLocks/>
          </p:cNvCxnSpPr>
          <p:nvPr/>
        </p:nvCxnSpPr>
        <p:spPr>
          <a:xfrm flipH="1" flipV="1">
            <a:off x="7891383" y="300242"/>
            <a:ext cx="128589" cy="65577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4601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3858</TotalTime>
  <Words>13960</Words>
  <Application>Microsoft Macintosh PowerPoint</Application>
  <PresentationFormat>Widescreen</PresentationFormat>
  <Paragraphs>2509</Paragraphs>
  <Slides>87</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Void statement: If a function does not return any value to the calling module, then it is called the function’s return type is void. In this function, the function accepts the values though the arguments and execute the result within the function after the manipulation with that values.  Example: Write a program to input length and breadth of rectangle and find area.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9.WAP to calculate and display sum of n numbers using array and function. </vt:lpstr>
      <vt:lpstr>  10.WAP to calculate and display to sum of  two Metrix.  </vt:lpstr>
      <vt:lpstr> Recursive function  </vt:lpstr>
      <vt:lpstr>PowerPoint Presentation</vt:lpstr>
      <vt:lpstr>PowerPoint Presentation</vt:lpstr>
      <vt:lpstr>  2.Write C program to print fibonacci series upto nth term of  a number using recursive function. </vt:lpstr>
      <vt:lpstr>    3.Write C program to print Sum of ‘n’ numbers using recursive function.  </vt:lpstr>
      <vt:lpstr>PowerPoint Presentation</vt:lpstr>
      <vt:lpstr>PowerPoint Presentation</vt:lpstr>
      <vt:lpstr>PowerPoint Presentation</vt:lpstr>
      <vt:lpstr>  1. Write a C Program  to store a student records like rollNo, name and address using structure variable. </vt:lpstr>
      <vt:lpstr>  2. Write a C Program using structure variable to store n students records like rollNo, name and address using array  and loop. </vt:lpstr>
      <vt:lpstr>PowerPoint Presentation</vt:lpstr>
      <vt:lpstr>   3. Program to store n students records like name and address using array and loop.  Print the sorted record on the basis of name.   </vt:lpstr>
      <vt:lpstr>PowerPoint Presentation</vt:lpstr>
      <vt:lpstr>   4. Program to store n students records like name and address using array and loop.  Print the sorted record in ascending order on the basis of rollno.  </vt:lpstr>
      <vt:lpstr>PowerPoint Presentation</vt:lpstr>
      <vt:lpstr>  5. Write a C Program using structure variable Program to store n students records like name, address and age using array and  loop. Print the record on the basis of age between 20 and 30.  </vt:lpstr>
      <vt:lpstr>PowerPoint Presentation</vt:lpstr>
      <vt:lpstr>PowerPoint Presentation</vt:lpstr>
      <vt:lpstr>7. Write a program that takes roll_no,fname,lname and date of birth and output the information on screen using  nested structure</vt:lpstr>
      <vt:lpstr> 8.WAP to input n students id, name, address and age. Then search record on the basis of id. </vt:lpstr>
      <vt:lpstr>PowerPoint Presentation</vt:lpstr>
      <vt:lpstr> 9.WAP to input n students id, name, address and age. Then search record on the basis of name.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Milan Bista</dc:creator>
  <cp:lastModifiedBy>Milan Bista</cp:lastModifiedBy>
  <cp:revision>178</cp:revision>
  <dcterms:created xsi:type="dcterms:W3CDTF">2025-07-20T03:24:14Z</dcterms:created>
  <dcterms:modified xsi:type="dcterms:W3CDTF">2025-11-04T04:45:25Z</dcterms:modified>
</cp:coreProperties>
</file>